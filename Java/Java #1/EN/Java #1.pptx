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08D88B-3C81-49A5-AF31-FFAEAC50662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28B9CD-78AB-4834-BF22-D350C1B3B5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261246-CEB1-4CE0-A085-3CF9B9559F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9B97FE-9CB3-4572-9189-EA7579E632A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256B82-0BA8-485F-A05A-1E0A930195D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FBB67A-2BBF-4230-A4DE-201A1BB9B8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F7DBE8-5398-4501-8473-EF9F34D805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8CCCF7-6DF7-4677-9C53-0337AF7E0A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4BB42A-EE27-4AEE-9246-6D6D52724D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CD8E81-299A-4D06-BB6B-936E7DC8CB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2F116A-0447-4201-BDB3-713920B8884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F6DF32-BE63-46E5-9F7F-3E81E514D15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A4DDAF-BAE7-4DDA-91C2-466AAB49E43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br>
              <a:rPr sz="1800"/>
            </a:b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	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...more!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7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27680" cy="316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6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5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0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6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6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7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610280" y="1107360"/>
            <a:ext cx="8890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The Enterprise Boom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3708360" y="2266200"/>
            <a:ext cx="5324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became the backbone of enterprise software.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8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79"/>
          <p:cNvSpPr/>
          <p:nvPr/>
        </p:nvSpPr>
        <p:spPr>
          <a:xfrm>
            <a:off x="10065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early 2000s: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usage exploded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E-commerce started to grow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large-scale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be: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Reliable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Secure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- Scalable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0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1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ounded Rectangle 82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systemOnline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(systemOnline)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"Enterprise systems are running 24/7."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83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Why Java dominated this era: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server-side programming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Multi-tier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model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4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1154160" y="1107360"/>
            <a:ext cx="9803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Between 2000–2005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4301280" y="226620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foundation of modern enterprise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5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6"/>
          <p:cNvSpPr/>
          <p:nvPr/>
        </p:nvSpPr>
        <p:spPr>
          <a:xfrm>
            <a:off x="10065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7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8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89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90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With these technologies: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Dynamic web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Database-driven systems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Transaction management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Distributed applications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1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2151360" y="1107360"/>
            <a:ext cx="7810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Technologies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2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3"/>
          <p:cNvSpPr/>
          <p:nvPr/>
        </p:nvSpPr>
        <p:spPr>
          <a:xfrm>
            <a:off x="10065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Technologies (What emerged):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(Inversion of Control, Dependency Injection)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(Object–Relational Mapping)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(Annotations replace XML-heavy configs)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(Component-based UI)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(Standard build &amp; dependency management)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4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5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96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ounded Rectangle 97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this era mattered: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XML-heavy enterprise Java was simplified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Boilerplate code dramatically reduced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Loose coupling became standard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and layered architecture spread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gained productivity and flexibility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Before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complex, verbose, hard to maintain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After 2005: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Java = cleaner, modular, framework-driven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8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586960" y="1107360"/>
            <a:ext cx="6940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&amp; Cloud Era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5032440" y="2266200"/>
            <a:ext cx="267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Framework Revolution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99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0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(Key technologies):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(Lambdas, Streams)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1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2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103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104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apps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Microservice scalability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Fast deployment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Functional programming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(LTS)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5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3785400" y="1107360"/>
            <a:ext cx="4542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After 2015: 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4500360" y="2266200"/>
            <a:ext cx="373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grows up: faster, cleaner, smarter.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6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7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Expressions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Functional Interfaces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(Async programming)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(immutable data carriers)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8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09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110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1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More expressive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Less boilerplate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Better performance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Parallel &amp; async processing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programming paradigms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Readability + maintainability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 8: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Imperative, verbose, loop-heavy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After Java 8+: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Declarative, functional, fluent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2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012680" y="1107360"/>
            <a:ext cx="100915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Today: Enterprise, Cloud &amp; Beyond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3928320" y="2266200"/>
            <a:ext cx="488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no longer just enterprise — it’s everywhere.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3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4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Cloud-native backends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High-performance APIs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Financial systems &amp; banking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Big data &amp; streaming platforms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(core language roots)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Game servers &amp; real-time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5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6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17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ResponseEntity.ok("Service is running");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ounded Rectangle 118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Reactive programming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Kubernetes-native deployments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Observability (metrics, 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Long-term support stability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19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2129400" y="1107360"/>
            <a:ext cx="78577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in Practice: From Idea to Code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2773080" y="2266200"/>
            <a:ext cx="719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focuses on turning ideas into clean, structured, and maintainable code.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0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1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for clarity and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Strong typing prevents many runtime errors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Code readability improves long-term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Suitable for large and long-lived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2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3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124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ounded Rectangle 125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Solution Planning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Class &amp; Method Design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6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2240640" y="1107360"/>
            <a:ext cx="7633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 Features – An Overview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3222000" y="2266200"/>
            <a:ext cx="6295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A first look at the fundamental features that shape Java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7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8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is designed with a set of core features that help developers write programs in a clear, structured, and predictable way.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These features reduce common programming errors, improve code readability, and make applications easier to maintain over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Rather than focusing on low-level system details, Java allows developers to concentrate on program logic and problem-solving.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29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0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131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 number");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ounded Rectangle 132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Want to Do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Java Allows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 Must Write It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How It Executes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What I Get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3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4180320" y="1107360"/>
            <a:ext cx="3753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Object-Oriented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2378880" y="2266200"/>
            <a:ext cx="7982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an object-oriented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means Java programs are built using objects, which represent real-world things.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4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5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in Java is based on classes and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class is a blueprint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 object is a real instance of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 makes programs easier to understand and manage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Student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6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7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138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Rounded Rectangle 139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Real World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Logic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Explanation: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First, we define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Then, we create objects from that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Objects are used inside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0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5227200" y="1107360"/>
            <a:ext cx="1659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Secure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651600" y="2266200"/>
            <a:ext cx="11437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designed to be a secure programming language.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It allows developers to build virus-free and tamper-free applications.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security is based on strong concepts like public-key encryption, bytecode verification, and controlled memory access.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1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2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allow direct memory access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pointers like in C/C++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run inside the Java Virtual Machine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is verified before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problems like: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- Memory leaks</a:t>
            </a:r>
            <a:br>
              <a:rPr sz="1400"/>
            </a:b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Additional security advantages: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exception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garbage collection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class loading mechanism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3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4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145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System.out.println("Error handled safely");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146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Compiler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Security Check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Safe Execution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7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4704480" y="1107360"/>
            <a:ext cx="270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012400" y="2266200"/>
            <a:ext cx="8714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code is executed through an intermediate step instead of running directly on hardware.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8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49"/>
          <p:cNvSpPr/>
          <p:nvPr/>
        </p:nvSpPr>
        <p:spPr>
          <a:xfrm>
            <a:off x="10209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is first compiled into Bytecode, not machine code.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Bytecode is translated on the fly into native machine instructions while the program runs.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translated instructions are not stored permanently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Because of this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Development is faster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Compilation and linking are lightweight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Code analysis and debugging become easier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0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1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152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runs through the JVM");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ounded Rectangle 153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How Java Executes: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Instructions (runtime)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4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430720" y="1107360"/>
            <a:ext cx="7254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High Performance &amp; Distributed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3008160" y="2266200"/>
            <a:ext cx="6722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combines performance and networking support in its core design.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5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6"/>
          <p:cNvSpPr/>
          <p:nvPr/>
        </p:nvSpPr>
        <p:spPr>
          <a:xfrm>
            <a:off x="1020960" y="2971800"/>
            <a:ext cx="3620520" cy="346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achieves high performance using Just-In-Time (JIT) compilation.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JVM compiles frequently used Bytecode into optimized native code while the program is running.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JIT optimizations include: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 inlining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Dead code elimination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Constant folding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Optimized method calls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Faster execution over time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Near native performance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7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8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159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System.out.println("Fast and distributed Java applications");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Box 6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ounded Rectangle 160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is designed for distributed environments, especially the Internet.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It provides built-in support for: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Networking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Remote method calls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Distributed systems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Java applications can easily communicate over networks and run on multiple machines.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1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1630080" y="1107360"/>
            <a:ext cx="8855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Some Other Important Features of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1341720" y="226620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provides several unique features that help developers write clean, stable, and maintainable programs.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2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3"/>
          <p:cNvSpPr/>
          <p:nvPr/>
        </p:nvSpPr>
        <p:spPr>
          <a:xfrm>
            <a:off x="1020960" y="2971800"/>
            <a:ext cx="3620520" cy="346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Simple &amp; Easy to Learn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a clear and readable syntax. Complex features like pointers are removed, making it easier for beginners.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Strongly Typed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Every variable has a defined type. This helps detect errors at compile time instead of runtime.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automatically manages memory using Garbage Collection, so developers do not need to free memory manually.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Multithreaded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supports multithreading, allowing programs to perform multiple tasks at the same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a large set of built-in libraries for collections, file handling, networking, and more.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4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5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166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easy and powerful");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Rounded Rectangle 167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Simple Syntax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Easy to Learn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Strong Typing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Automatic Memory Management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Multithreading Support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Rich Standard Library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Clean &amp; Maintainable Java Programs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369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70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71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72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73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374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375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376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377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378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379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380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381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82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83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84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168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73"/>
          <p:cNvSpPr/>
          <p:nvPr/>
        </p:nvSpPr>
        <p:spPr>
          <a:xfrm>
            <a:off x="3201840" y="1107360"/>
            <a:ext cx="5710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A High-Level Comparison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74"/>
          <p:cNvSpPr/>
          <p:nvPr/>
        </p:nvSpPr>
        <p:spPr>
          <a:xfrm>
            <a:off x="2435040" y="2266200"/>
            <a:ext cx="7868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169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170"/>
          <p:cNvSpPr/>
          <p:nvPr/>
        </p:nvSpPr>
        <p:spPr>
          <a:xfrm>
            <a:off x="1020960" y="2971800"/>
            <a:ext cx="3620520" cy="346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Runs on the Java Virtual Machine (JVM)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safety, portability, and maintainability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enterprise, web, and cloud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Compiled directly to native machine code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Platform-dependent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(pointers, memory allocation)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Focuses on performance and low-level control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system software, game engines,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Rounded Rectangle 171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172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173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strongly typed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hides complexity"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Rounded Rectangle 174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Source → Bytecode → JVM → Any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Source  → Native Code → Specific 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Rectangle 385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86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87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88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89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390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391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392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393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394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395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396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397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98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99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400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175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76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77"/>
          <p:cNvSpPr/>
          <p:nvPr/>
        </p:nvSpPr>
        <p:spPr>
          <a:xfrm>
            <a:off x="2435040" y="2266200"/>
            <a:ext cx="7868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ounded Rectangle 176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ounded Rectangle 177"/>
          <p:cNvSpPr/>
          <p:nvPr/>
        </p:nvSpPr>
        <p:spPr>
          <a:xfrm>
            <a:off x="1020960" y="3506040"/>
            <a:ext cx="3620520" cy="289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independent (Write Once, Run Anywhere)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Safer execution (no pointers, JVM security checks)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Easier to learn and read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Rich standard library and frameworks</a:t>
            </a:r>
            <a:br>
              <a:rPr sz="1180"/>
            </a:b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large, long-term, enterprise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Slightly slower than native C++ in some cases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Less control over hardware and memory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JVM overhead (startup time, memory usage)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Rounded Rectangle 178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ounded Rectangle 179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180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focuses on safety and portability");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Rounded Rectangle 181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Type?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runs everywhere)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(Low-level control)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 &amp; maintainability?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    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Rectangle 401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40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40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40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40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40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40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40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40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41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41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41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41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41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41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41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ounded Rectangle 182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TextBox 79"/>
          <p:cNvSpPr/>
          <p:nvPr/>
        </p:nvSpPr>
        <p:spPr>
          <a:xfrm>
            <a:off x="1291320" y="1107360"/>
            <a:ext cx="9532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Advantages &amp; Disadvantages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80"/>
          <p:cNvSpPr/>
          <p:nvPr/>
        </p:nvSpPr>
        <p:spPr>
          <a:xfrm>
            <a:off x="2435040" y="2266200"/>
            <a:ext cx="7868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introduces the fundamental differences between Java and C++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by comparing their design philosophy, execution model, and developer experience.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Rounded Rectangle 183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ounded Rectangle 184"/>
          <p:cNvSpPr/>
          <p:nvPr/>
        </p:nvSpPr>
        <p:spPr>
          <a:xfrm>
            <a:off x="1020960" y="3506040"/>
            <a:ext cx="3620520" cy="289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Very high performance (native execution)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Full control over memory and hardware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No virtual machine overhead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Ideal for system-level and performance-critical software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game engines and embedded systems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 dependent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Manual memory management (risk of memory leaks)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More complex syntax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Harder to learn and maintain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Higher chance of runtime errors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Rounded Rectangle 185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ounded Rectangle 186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187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#include &lt;iostream&gt;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using namespace std;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 main()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cout &lt;&lt; "C++ focuses on performance and control";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0;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TextBox 8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Rounded Rectangle 188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Application Requirement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Need low-level memory control?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System / Game / Embedded?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  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YES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       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Rectangle 417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18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419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420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21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422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423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424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425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426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427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428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429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30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31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32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ounded Rectangle 189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Box 82"/>
          <p:cNvSpPr/>
          <p:nvPr/>
        </p:nvSpPr>
        <p:spPr>
          <a:xfrm>
            <a:off x="2846520" y="1107360"/>
            <a:ext cx="6422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When to Choose Java vs C++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Box 83"/>
          <p:cNvSpPr/>
          <p:nvPr/>
        </p:nvSpPr>
        <p:spPr>
          <a:xfrm>
            <a:off x="1255680" y="2266200"/>
            <a:ext cx="10227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Making the right language choice depends on performance needs, portability, and long-term maintainability.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Rounded Rectangle 190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ounded Rectangle 191"/>
          <p:cNvSpPr/>
          <p:nvPr/>
        </p:nvSpPr>
        <p:spPr>
          <a:xfrm>
            <a:off x="1020960" y="3506040"/>
            <a:ext cx="3620520" cy="289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Programming languages are designed for different goals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prioritizes portability, safety, and maintainability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C++ prioritizes performance and low-level control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correct choice depends on the problem domain, not popularity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There is no “best language” — only the right tool for the job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Rounded Rectangle 192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ounded Rectangle 193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194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Java: Focus on safety and portability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ChoiceExample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System.out.println("Choose Java for scalable and maintainable systems");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TextBox 8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Rounded Rectangle 195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What is your main goal?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portability &amp; long-term maintenance?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maximum performance &amp; hardware control?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C++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NO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Need safety, scalability, enterprise support?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        ↓ </a:t>
            </a: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YES → Java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2026-01-16T19:58:44Z</dcterms:modified>
  <cp:revision>73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