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_rels/slideMaster1.xml.rels" ContentType="application/vnd.openxmlformats-package.relationshi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_rels/slideLayout1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_rels/presentation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1076792-F458-4D4F-A458-6BA8A7193C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B4A4909-A62C-4496-A179-3CB5B87F2095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D084580-6157-435D-861C-1AB83DBE38AA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3518A6B2-5C61-47B6-BDD6-1BC7BCF6EF6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C855FC0-5622-4475-A252-3D975DFDF4FD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457200" y="273600"/>
            <a:ext cx="822924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E193E59-8586-48F1-ABA0-5C7C38C049D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7CBB68C-C053-410E-9B53-C9C2E23CE10F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9115456F-0348-426C-A3F6-2A9E40792512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F34B22E4-47D4-4DFE-AD44-19BB06530CF9}" type="slidenum">
              <a:t>&lt;#&gt;</a:t>
            </a:fld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457200" y="3682080"/>
            <a:ext cx="82292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A969FC5D-332C-4B53-B37C-45A96468C8D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4674240" y="160452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45720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4674240" y="3682080"/>
            <a:ext cx="40158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2343228-E8BA-4703-8FCD-2AF1D8B558E2}" type="slidenum">
              <a:t>&lt;#&gt;</a:t>
            </a:fld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45720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23964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022080" y="160452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45720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23964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022080" y="3682080"/>
            <a:ext cx="264960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763599D-1916-44C1-B8C7-05487F673A4E}" type="slidenum">
              <a:t>&lt;#&gt;</a:t>
            </a:fld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3124080" y="6356520"/>
            <a:ext cx="289368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655308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200" spc="-1" strike="noStrike">
                <a:solidFill>
                  <a:srgbClr val="8b8b8b"/>
                </a:solidFill>
                <a:latin typeface="Calibri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D160896-877A-4296-A3CC-5E4E8B715B6A}" type="slidenum">
              <a:rPr b="0" lang="en-US" sz="1200" spc="-1" strike="noStrike">
                <a:solidFill>
                  <a:srgbClr val="8b8b8b"/>
                </a:solidFill>
                <a:latin typeface="Calibri"/>
              </a:rPr>
              <a:t>&lt;number&gt;</a:t>
            </a:fld>
            <a:endParaRPr b="0" lang="en-US" sz="12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457200" y="6356520"/>
            <a:ext cx="2131920" cy="3632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ctr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457200" y="273600"/>
            <a:ext cx="822924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92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Rectangle 1"/>
          <p:cNvSpPr/>
          <p:nvPr/>
        </p:nvSpPr>
        <p:spPr>
          <a:xfrm>
            <a:off x="0" y="0"/>
            <a:ext cx="12187080" cy="685620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2" name="Rectangle 2"/>
          <p:cNvSpPr/>
          <p:nvPr/>
        </p:nvSpPr>
        <p:spPr>
          <a:xfrm>
            <a:off x="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3" name="Rectangle 3"/>
          <p:cNvSpPr/>
          <p:nvPr/>
        </p:nvSpPr>
        <p:spPr>
          <a:xfrm>
            <a:off x="914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4" name="Rectangle 4"/>
          <p:cNvSpPr/>
          <p:nvPr/>
        </p:nvSpPr>
        <p:spPr>
          <a:xfrm>
            <a:off x="1828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5" name="Rectangle 5"/>
          <p:cNvSpPr/>
          <p:nvPr/>
        </p:nvSpPr>
        <p:spPr>
          <a:xfrm>
            <a:off x="2743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6" name="Rectangle 6"/>
          <p:cNvSpPr/>
          <p:nvPr/>
        </p:nvSpPr>
        <p:spPr>
          <a:xfrm>
            <a:off x="3657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7" name="Rectangle 7"/>
          <p:cNvSpPr/>
          <p:nvPr/>
        </p:nvSpPr>
        <p:spPr>
          <a:xfrm>
            <a:off x="4572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8" name="Rectangle 8"/>
          <p:cNvSpPr/>
          <p:nvPr/>
        </p:nvSpPr>
        <p:spPr>
          <a:xfrm>
            <a:off x="5486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49" name="Rectangle 9"/>
          <p:cNvSpPr/>
          <p:nvPr/>
        </p:nvSpPr>
        <p:spPr>
          <a:xfrm>
            <a:off x="6400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0" name="Rectangle 10"/>
          <p:cNvSpPr/>
          <p:nvPr/>
        </p:nvSpPr>
        <p:spPr>
          <a:xfrm>
            <a:off x="7315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1" name="Rectangle 11"/>
          <p:cNvSpPr/>
          <p:nvPr/>
        </p:nvSpPr>
        <p:spPr>
          <a:xfrm>
            <a:off x="82296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2" name="Rectangle 12"/>
          <p:cNvSpPr/>
          <p:nvPr/>
        </p:nvSpPr>
        <p:spPr>
          <a:xfrm>
            <a:off x="91440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3" name="Rectangle 13"/>
          <p:cNvSpPr/>
          <p:nvPr/>
        </p:nvSpPr>
        <p:spPr>
          <a:xfrm>
            <a:off x="100584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4" name="Rectangle 14"/>
          <p:cNvSpPr/>
          <p:nvPr/>
        </p:nvSpPr>
        <p:spPr>
          <a:xfrm>
            <a:off x="109728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5" name="Rectangle 15"/>
          <p:cNvSpPr/>
          <p:nvPr/>
        </p:nvSpPr>
        <p:spPr>
          <a:xfrm>
            <a:off x="11887200" y="0"/>
            <a:ext cx="16560" cy="685620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6" name="Rectangle 16"/>
          <p:cNvSpPr/>
          <p:nvPr/>
        </p:nvSpPr>
        <p:spPr>
          <a:xfrm>
            <a:off x="0" y="0"/>
            <a:ext cx="318240" cy="685620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57" name="Rounded Rectangle 17"/>
          <p:cNvSpPr/>
          <p:nvPr/>
        </p:nvSpPr>
        <p:spPr>
          <a:xfrm>
            <a:off x="9875520" y="365760"/>
            <a:ext cx="2009880" cy="50112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TextBox 18"/>
          <p:cNvSpPr/>
          <p:nvPr/>
        </p:nvSpPr>
        <p:spPr>
          <a:xfrm>
            <a:off x="3070440" y="779400"/>
            <a:ext cx="4830840" cy="82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4800" spc="-1" strike="noStrike">
                <a:solidFill>
                  <a:srgbClr val="f5f5f5"/>
                </a:solidFill>
                <a:latin typeface="Calibri"/>
                <a:ea typeface="DejaVu Sans"/>
              </a:rPr>
              <a:t>JAVA DATE &amp; TIME</a:t>
            </a:r>
            <a:endParaRPr b="0" lang="en-US" sz="4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TextBox 19"/>
          <p:cNvSpPr/>
          <p:nvPr/>
        </p:nvSpPr>
        <p:spPr>
          <a:xfrm>
            <a:off x="1548720" y="1785240"/>
            <a:ext cx="8508960" cy="95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Date and time operations in Java are managed using the java.time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package introduced in Java 8. Unlike legacy date classes, 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900" spc="-1" strike="noStrike">
                <a:solidFill>
                  <a:srgbClr val="aaaaaa"/>
                </a:solidFill>
                <a:latin typeface="Calibri"/>
                <a:ea typeface="DejaVu Sans"/>
              </a:rPr>
              <a:t>this new API provides a much safer (thread-safe), clearer, and more flexible structure.</a:t>
            </a:r>
            <a:endParaRPr b="0" lang="en-US" sz="19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Rounded Rectangle 20"/>
          <p:cNvSpPr/>
          <p:nvPr/>
        </p:nvSpPr>
        <p:spPr>
          <a:xfrm>
            <a:off x="98748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1" name="Rounded Rectangle 21"/>
          <p:cNvSpPr/>
          <p:nvPr/>
        </p:nvSpPr>
        <p:spPr>
          <a:xfrm>
            <a:off x="91440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The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java.time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package introduced with Java 8 allows us to manage regional time (Timezone) and dates precisely. Using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and </a:t>
            </a:r>
            <a:r>
              <a:rPr b="1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ZoneId</a:t>
            </a: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 classes, you can instantly access the local time zone and current date data of your current location (e.g., Istanbul, Turkey) and print it in the desired format.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Rounded Rectangle 22"/>
          <p:cNvSpPr/>
          <p:nvPr/>
        </p:nvSpPr>
        <p:spPr>
          <a:xfrm>
            <a:off x="450792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3" name="Rounded Rectangle 23"/>
          <p:cNvSpPr/>
          <p:nvPr/>
        </p:nvSpPr>
        <p:spPr>
          <a:xfrm>
            <a:off x="4434840" y="310896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Zone (ZoneId) is Defined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(ZonedDateTime) is Retrieved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Format is Determined (DateTimeFormatter)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chemeClr val="lt1"/>
                </a:solidFill>
                <a:latin typeface="Calibri"/>
                <a:ea typeface="DejaVu Sans"/>
              </a:rPr>
              <a:t>Printed to Screen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Rounded Rectangle 24"/>
          <p:cNvSpPr/>
          <p:nvPr/>
        </p:nvSpPr>
        <p:spPr>
          <a:xfrm>
            <a:off x="8028360" y="3182040"/>
            <a:ext cx="3290040" cy="274140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5" name="Rounded Rectangle 25"/>
          <p:cNvSpPr/>
          <p:nvPr/>
        </p:nvSpPr>
        <p:spPr>
          <a:xfrm>
            <a:off x="7955280" y="2971800"/>
            <a:ext cx="3931200" cy="3656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DateAndTimeContext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location to Istanbul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zone = ZoneId.of("Europe/Istanbul");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Get current time in Istanbul timezone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now = ZonedDateTime.now(zone);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// Set desired format (e.g., Tuesday, April 28, 2026 at 10:28 PM +03)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DateTimeFormatter formatter = DateTimeFormatter.ofPattern("EEEE, MMMM dd, yyyy 'at' hh:mm a xxx", Locale.ENGLISH);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System.out.println("Current time is " + now.format(formatter) + ".");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System.out.println("Remember the current location is Istanbul, İstanbul, Türkiye.");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1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1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Box 26"/>
          <p:cNvSpPr/>
          <p:nvPr/>
        </p:nvSpPr>
        <p:spPr>
          <a:xfrm>
            <a:off x="4600080" y="6446520"/>
            <a:ext cx="305100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Rectangle 32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8" name="Rectangle 17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69" name="Rectangle 18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0" name="Rectangle 19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1" name="Rectangle 20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2" name="Rectangle 21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3" name="Rectangle 22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4" name="Rectangle 23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5" name="Rectangle 24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6" name="Rectangle 25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7" name="Rectangle 26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8" name="Rectangle 27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79" name="Rectangle 28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0" name="Rectangle 29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1" name="Rectangle 30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2" name="Rectangle 31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3" name="Rounded Rectangle 8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TextBox 4"/>
          <p:cNvSpPr/>
          <p:nvPr/>
        </p:nvSpPr>
        <p:spPr>
          <a:xfrm>
            <a:off x="2219760" y="914400"/>
            <a:ext cx="653112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Java Timezone and Regional Time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TextBox 5"/>
          <p:cNvSpPr/>
          <p:nvPr/>
        </p:nvSpPr>
        <p:spPr>
          <a:xfrm>
            <a:off x="612000" y="1828800"/>
            <a:ext cx="1026504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Timezone management in Java is used to accurately handle time across different regions.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With ZoneId, a specific region is selected, and with ZonedDateTime, the current date and time of that region are obtained.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This structure ensures that global applications display the correct time for every user.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Rounded Rectangle 9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7" name="Rounded Rectangle 10"/>
          <p:cNvSpPr/>
          <p:nvPr/>
        </p:nvSpPr>
        <p:spPr>
          <a:xfrm>
            <a:off x="914400" y="3108960"/>
            <a:ext cx="329040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ZoneId → Represents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ZonedDateTime → Holds date and time along with the time zone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Different UTC offsets are calculated automatically for each region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Daylight saving time changes are handled automatically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8" name="Rounded Rectangle 11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89" name="Rounded Rectangle 12"/>
          <p:cNvSpPr/>
          <p:nvPr/>
        </p:nvSpPr>
        <p:spPr>
          <a:xfrm>
            <a:off x="4434840" y="29718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Time Zone is Selected 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Time of the Region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 to the User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Rounded Rectangle 13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1" name="Rounded Rectangle 14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TimezoneExample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istanbul = ZoneId.of("Europe/Istanbul");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ZoneId newYork = ZoneId.of("America/New_York");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timeInIstanbul = ZonedDateTime.now(istanbul);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ZonedDateTime timeInNewYork = ZonedDateTime.now(newYork);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System.out.println("Istanbul Time: " + timeInIstanbul);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System.out.println("New York Time: " + timeInNewYork);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TextBox 6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33"/>
          <p:cNvSpPr/>
          <p:nvPr/>
        </p:nvSpPr>
        <p:spPr>
          <a:xfrm>
            <a:off x="0" y="0"/>
            <a:ext cx="12187440" cy="6856560"/>
          </a:xfrm>
          <a:prstGeom prst="rect">
            <a:avLst/>
          </a:prstGeom>
          <a:solidFill>
            <a:srgbClr val="0b0b0d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4" name="Rectangle 34"/>
          <p:cNvSpPr/>
          <p:nvPr/>
        </p:nvSpPr>
        <p:spPr>
          <a:xfrm>
            <a:off x="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5" name="Rectangle 35"/>
          <p:cNvSpPr/>
          <p:nvPr/>
        </p:nvSpPr>
        <p:spPr>
          <a:xfrm>
            <a:off x="914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6" name="Rectangle 36"/>
          <p:cNvSpPr/>
          <p:nvPr/>
        </p:nvSpPr>
        <p:spPr>
          <a:xfrm>
            <a:off x="1828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7" name="Rectangle 37"/>
          <p:cNvSpPr/>
          <p:nvPr/>
        </p:nvSpPr>
        <p:spPr>
          <a:xfrm>
            <a:off x="2743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8" name="Rectangle 38"/>
          <p:cNvSpPr/>
          <p:nvPr/>
        </p:nvSpPr>
        <p:spPr>
          <a:xfrm>
            <a:off x="3657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99" name="Rectangle 39"/>
          <p:cNvSpPr/>
          <p:nvPr/>
        </p:nvSpPr>
        <p:spPr>
          <a:xfrm>
            <a:off x="4572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0" name="Rectangle 40"/>
          <p:cNvSpPr/>
          <p:nvPr/>
        </p:nvSpPr>
        <p:spPr>
          <a:xfrm>
            <a:off x="5486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1" name="Rectangle 41"/>
          <p:cNvSpPr/>
          <p:nvPr/>
        </p:nvSpPr>
        <p:spPr>
          <a:xfrm>
            <a:off x="6400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2" name="Rectangle 42"/>
          <p:cNvSpPr/>
          <p:nvPr/>
        </p:nvSpPr>
        <p:spPr>
          <a:xfrm>
            <a:off x="7315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3" name="Rectangle 43"/>
          <p:cNvSpPr/>
          <p:nvPr/>
        </p:nvSpPr>
        <p:spPr>
          <a:xfrm>
            <a:off x="82296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4" name="Rectangle 44"/>
          <p:cNvSpPr/>
          <p:nvPr/>
        </p:nvSpPr>
        <p:spPr>
          <a:xfrm>
            <a:off x="91440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5" name="Rectangle 45"/>
          <p:cNvSpPr/>
          <p:nvPr/>
        </p:nvSpPr>
        <p:spPr>
          <a:xfrm>
            <a:off x="100584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6" name="Rectangle 46"/>
          <p:cNvSpPr/>
          <p:nvPr/>
        </p:nvSpPr>
        <p:spPr>
          <a:xfrm>
            <a:off x="109728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7" name="Rectangle 47"/>
          <p:cNvSpPr/>
          <p:nvPr/>
        </p:nvSpPr>
        <p:spPr>
          <a:xfrm>
            <a:off x="11887200" y="0"/>
            <a:ext cx="16920" cy="6856560"/>
          </a:xfrm>
          <a:prstGeom prst="rect">
            <a:avLst/>
          </a:prstGeom>
          <a:solidFill>
            <a:srgbClr val="12121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8" name="Rectangle 48"/>
          <p:cNvSpPr/>
          <p:nvPr/>
        </p:nvSpPr>
        <p:spPr>
          <a:xfrm>
            <a:off x="0" y="0"/>
            <a:ext cx="318600" cy="6856560"/>
          </a:xfrm>
          <a:prstGeom prst="rect">
            <a:avLst/>
          </a:prstGeom>
          <a:solidFill>
            <a:srgbClr val="ff8c0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09" name="Rounded Rectangle 15"/>
          <p:cNvSpPr/>
          <p:nvPr/>
        </p:nvSpPr>
        <p:spPr>
          <a:xfrm>
            <a:off x="9875520" y="365760"/>
            <a:ext cx="2010240" cy="501480"/>
          </a:xfrm>
          <a:prstGeom prst="roundRect">
            <a:avLst>
              <a:gd name="adj" fmla="val 16667"/>
            </a:avLst>
          </a:prstGeom>
          <a:solidFill>
            <a:srgbClr val="1e1e24"/>
          </a:solidFill>
          <a:ln>
            <a:solidFill>
              <a:srgbClr val="ff8c00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1" lang="en-US" sz="1400" spc="-1" strike="noStrike">
                <a:solidFill>
                  <a:srgbClr val="ffb45a"/>
                </a:solidFill>
                <a:latin typeface="Calibri"/>
                <a:ea typeface="DejaVu Sans"/>
              </a:rPr>
              <a:t>JAVA CORE</a:t>
            </a: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0" name="TextBox 7"/>
          <p:cNvSpPr/>
          <p:nvPr/>
        </p:nvSpPr>
        <p:spPr>
          <a:xfrm>
            <a:off x="855000" y="914400"/>
            <a:ext cx="926100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1" lang="en-US" sz="3600" spc="-1" strike="noStrike">
                <a:solidFill>
                  <a:srgbClr val="f5f5f5"/>
                </a:solidFill>
                <a:latin typeface="Calibri"/>
                <a:ea typeface="DejaVu Sans"/>
              </a:rPr>
              <a:t>LocalDate, LocalTime and LocalDateTime in Java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TextBox 8"/>
          <p:cNvSpPr/>
          <p:nvPr/>
        </p:nvSpPr>
        <p:spPr>
          <a:xfrm>
            <a:off x="1304280" y="1828800"/>
            <a:ext cx="8880120" cy="81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In Java, date and time handling is not always dependent on time zones. In some cases, only the date, only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the time, or both together are needed. 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600" spc="-1" strike="noStrike">
                <a:solidFill>
                  <a:srgbClr val="aaaaaa"/>
                </a:solidFill>
                <a:latin typeface="Calibri"/>
                <a:ea typeface="DejaVu Sans"/>
              </a:rPr>
              <a:t>For these purposes, LocalDate, LocalTime, and LocalDateTime classes are used.</a:t>
            </a:r>
            <a:endParaRPr b="0" lang="en-US" sz="1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Rounded Rectangle 16"/>
          <p:cNvSpPr/>
          <p:nvPr/>
        </p:nvSpPr>
        <p:spPr>
          <a:xfrm>
            <a:off x="98748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3" name="Rounded Rectangle 18"/>
          <p:cNvSpPr/>
          <p:nvPr/>
        </p:nvSpPr>
        <p:spPr>
          <a:xfrm>
            <a:off x="685800" y="2971800"/>
            <a:ext cx="3519000" cy="32000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 → Stores only date information (year, month, day)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LocalTime → Stores only time information (hour, minute, second)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LocalDateTime → Stores both date and time together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They do not include time zone information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ffffff"/>
              </a:buClr>
              <a:buFont typeface="Wingdings" charset="2"/>
              <a:buChar char=""/>
            </a:pPr>
            <a:r>
              <a:rPr b="1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Provide a simpler and more efficient usage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4" name="Rounded Rectangle 19"/>
          <p:cNvSpPr/>
          <p:nvPr/>
        </p:nvSpPr>
        <p:spPr>
          <a:xfrm>
            <a:off x="450792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5" name="Rounded Rectangle 26"/>
          <p:cNvSpPr/>
          <p:nvPr/>
        </p:nvSpPr>
        <p:spPr>
          <a:xfrm>
            <a:off x="4434840" y="2971800"/>
            <a:ext cx="3290400" cy="342864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Program Starts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Appropriate Class is Selected (LocalDate / LocalTime / LocalDateTime)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Current Value is Retrieved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Processing / Formatting is Applied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↓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chemeClr val="lt1"/>
                </a:solidFill>
                <a:latin typeface="Calibri"/>
                <a:ea typeface="DejaVu Sans"/>
              </a:rPr>
              <a:t>Result is Displayed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Rounded Rectangle 27"/>
          <p:cNvSpPr/>
          <p:nvPr/>
        </p:nvSpPr>
        <p:spPr>
          <a:xfrm>
            <a:off x="8028360" y="3182040"/>
            <a:ext cx="3290400" cy="2741760"/>
          </a:xfrm>
          <a:prstGeom prst="roundRect">
            <a:avLst>
              <a:gd name="adj" fmla="val 16667"/>
            </a:avLst>
          </a:prstGeom>
          <a:solidFill>
            <a:srgbClr val="08080a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pc="-1" strike="noStrike">
              <a:solidFill>
                <a:schemeClr val="lt1"/>
              </a:solidFill>
              <a:latin typeface="Calibri"/>
              <a:ea typeface="DejaVu Sans"/>
            </a:endParaRPr>
          </a:p>
        </p:txBody>
      </p:sp>
      <p:sp>
        <p:nvSpPr>
          <p:cNvPr id="117" name="Rounded Rectangle 28"/>
          <p:cNvSpPr/>
          <p:nvPr/>
        </p:nvSpPr>
        <p:spPr>
          <a:xfrm>
            <a:off x="7955280" y="3108960"/>
            <a:ext cx="3702960" cy="3062880"/>
          </a:xfrm>
          <a:prstGeom prst="roundRect">
            <a:avLst>
              <a:gd name="adj" fmla="val 16667"/>
            </a:avLst>
          </a:prstGeom>
          <a:solidFill>
            <a:srgbClr val="16161c"/>
          </a:solidFill>
          <a:ln>
            <a:solidFill>
              <a:srgbClr val="464655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class LocalDateTimeExample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public static void main(String[] args) {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 date = LocalDate.now();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LocalTime time = LocalTime.now();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LocalDateTime dateTime = LocalDateTime.now();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System.out.println("Date: " + date);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System.out.println("Time: " + 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System.out.println("Date and Time: " + dateTime);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    </a:t>
            </a: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b="0" lang="en-US" sz="1200" spc="-1" strike="noStrike">
                <a:solidFill>
                  <a:srgbClr val="78ffc8"/>
                </a:solidFill>
                <a:latin typeface="Consolas"/>
                <a:ea typeface="DejaVu Sans"/>
              </a:rPr>
              <a:t>}</a:t>
            </a:r>
            <a:endParaRPr b="0" lang="en-US" sz="1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8" name="TextBox 9"/>
          <p:cNvSpPr/>
          <p:nvPr/>
        </p:nvSpPr>
        <p:spPr>
          <a:xfrm>
            <a:off x="4600080" y="6446520"/>
            <a:ext cx="305136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Calibri"/>
                <a:ea typeface="DejaVu Sans"/>
              </a:rPr>
              <a:t>Java • Ultra Premium Template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</TotalTime>
  <Application>LibreOffice/7.4.2.3$Windows_X86_64 LibreOffice_project/382eef1f22670f7f4118c8c2dd222ec7ad009daf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2026-04-30T22:54:02Z</dcterms:modified>
  <cp:revision>6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