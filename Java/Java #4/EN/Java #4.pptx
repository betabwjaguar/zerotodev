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866A808-1C0D-4CCB-B620-F72D8EE4F63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94E1EB-D3DD-40DC-A241-D0E4F2516F2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5EA2A6-C4E5-43BF-8BD5-FD27113C6B9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2E9FAB8-00C9-4D94-A3A0-3F4CA2A79CC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32E5FE-2997-41E5-BD8E-28C9DB1DCFC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19CE00-536C-478F-BD44-575651E47B7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87E01D8-D7E0-423B-9955-3CD94EFAAC4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613654A-57B1-41AB-8DD8-C529F79F7FF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E6009C5-D43C-4562-9366-6745C6FE34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F38CCA5-8601-479E-81D0-B99C3C15071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0A9A5B-3E80-4364-BD0D-12E062BEE75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358E69-CC0A-4C7B-9B78-B46F30BECB6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A12C4D-BB88-48A0-BB94-0046A68DA03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364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2840" cy="3055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284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5400" cy="3055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1440" cy="319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284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5400" cy="3055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1440" cy="319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284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24720" cy="387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004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284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6788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39680" cy="410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248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1120" cy="4108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008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28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1480" cy="4108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2743200"/>
            <a:ext cx="32824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743200"/>
            <a:ext cx="32824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50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2120" cy="328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3200400"/>
            <a:ext cx="3282120" cy="319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036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10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2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1000" y="2743200"/>
            <a:ext cx="342396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10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2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743200"/>
            <a:ext cx="342396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10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2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328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64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2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39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876240" y="1600200"/>
            <a:ext cx="981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64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2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39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597400" y="732600"/>
            <a:ext cx="577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522720" y="1600200"/>
            <a:ext cx="10521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64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2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39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756800" y="732600"/>
            <a:ext cx="7452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926280" y="1466280"/>
            <a:ext cx="9729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64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24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39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20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1433520" y="732600"/>
            <a:ext cx="8100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921960" y="1466280"/>
            <a:ext cx="9736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1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2"/>
          <p:cNvSpPr/>
          <p:nvPr/>
        </p:nvSpPr>
        <p:spPr>
          <a:xfrm>
            <a:off x="685800" y="2743200"/>
            <a:ext cx="31964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3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4"/>
          <p:cNvSpPr/>
          <p:nvPr/>
        </p:nvSpPr>
        <p:spPr>
          <a:xfrm>
            <a:off x="4257360" y="2743200"/>
            <a:ext cx="32824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125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126"/>
          <p:cNvSpPr/>
          <p:nvPr/>
        </p:nvSpPr>
        <p:spPr>
          <a:xfrm>
            <a:off x="8001000" y="2514600"/>
            <a:ext cx="34239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7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1849680" y="732600"/>
            <a:ext cx="7266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Object States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1215000" y="1466280"/>
            <a:ext cx="9149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dictates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to detach a variable from an object (using 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 lock its memory address (using final) is crucial for effective memory management.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8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9"/>
          <p:cNvSpPr/>
          <p:nvPr/>
        </p:nvSpPr>
        <p:spPr>
          <a:xfrm>
            <a:off x="685800" y="2514600"/>
            <a:ext cx="319644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1. Mutating vs. Reassigning: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Mutating: Changing the internal data of an existing object (e.g., arr[0] = 5;). The memory address stays the same.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Reassigning: Pointing the variable to a completely new object (e.g., arr = new int[]{1, 2};). The old memory address is abandoned.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2. The null Assignment: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Assigning null to a reference variable completely disconnects it from the object.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an object in memory has zero variables pointing to it, the Garbage Collector (GC) automatically deletes it to free up RAM.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3. The final Reference Trap: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 reference variable is marked final, you cannot reassign it to a new memory address using =.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However, you can still mutate (modify) its internal data!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30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1"/>
          <p:cNvSpPr/>
          <p:nvPr/>
        </p:nvSpPr>
        <p:spPr>
          <a:xfrm>
            <a:off x="4257360" y="2743200"/>
            <a:ext cx="32824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MEMORY STATE TRACKER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1: int[] x = {100};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2: int[]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3: x = null;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[ NULL / EMPTY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Data survives because 'y' still holds it!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ounded Rectangle 132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133"/>
          <p:cNvSpPr/>
          <p:nvPr/>
        </p:nvSpPr>
        <p:spPr>
          <a:xfrm>
            <a:off x="8001000" y="2514600"/>
            <a:ext cx="34239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1: SURVIVING NULL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dataA = { 50 };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dataB = dataA; // Share address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dataA = null; // Cut connection for 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Will this crash? No! B still has it.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System.out.println("DataB: " + dataB[0]);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50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2: FINAL REFERENCE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final StringBuilder text = new StringBuilder("A");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ERROR: Cannot assign new memory!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text = new StringBuilder("B");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SUCCESS: Can mutate internal state!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text.append("B");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AB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4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1361880" y="732600"/>
            <a:ext cx="8241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Reference Management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1068120" y="1466280"/>
            <a:ext cx="9442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determines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effective memory management, understanding how to detach 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from an object (null) or lock its memory address (final) is crucial.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5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6"/>
          <p:cNvSpPr/>
          <p:nvPr/>
        </p:nvSpPr>
        <p:spPr>
          <a:xfrm>
            <a:off x="685800" y="2514600"/>
            <a:ext cx="319644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For primitive types (int, double), the = operator copies the value. However, for objects (Object, Array), it only copies the "address" (reference) in memory. Knowing this behavior is essential to manage objects in memory properly.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Copy (Primitives): Creates fully independent copies. Changing one doesn't affect the other.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Sharing (Objects): Two variables link to the same memory box. A change in one instantly hits the other!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Detaching (null): Cuts the variable's link to the memory address. Objects with no variables holding them are deleted by the Garbage Collector (GC).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Locking Address (final): Forbids assigning the variable to a new memory address. But beware: Data inside the object can still be modified.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7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8"/>
          <p:cNvSpPr/>
          <p:nvPr/>
        </p:nvSpPr>
        <p:spPr>
          <a:xfrm>
            <a:off x="4485960" y="2976120"/>
            <a:ext cx="2827440" cy="2965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Reference Sharing &amp; Mutation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(Memory Box is now { 9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Printing b[0] outputs 9!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Rounded Rectangle 139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ounded Rectangle 140"/>
          <p:cNvSpPr/>
          <p:nvPr/>
        </p:nvSpPr>
        <p:spPr>
          <a:xfrm>
            <a:off x="8001000" y="2514600"/>
            <a:ext cx="34239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MemoryManagement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(Independent Copy)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is unaffected, still 10!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(Shared Address)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99; // arrA's content is also 99!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DETACHING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the link for 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arrB still holds data, so it survives.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ADDRESS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 1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7; // SUCCESS! Content changed.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1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2553480" y="732600"/>
            <a:ext cx="58579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Joint Bank Accounts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2229120" y="1466280"/>
            <a:ext cx="7120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To understand memory references, think of everyday banking. Primitives are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like cash in separate wallets; spending from one doesn't affect the other.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types are like two debit cards linked to the exact same joint bank account.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2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3"/>
          <p:cNvSpPr/>
          <p:nvPr/>
        </p:nvSpPr>
        <p:spPr>
          <a:xfrm>
            <a:off x="688320" y="2743920"/>
            <a:ext cx="31964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BANKING ANALOGY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Cash (Primitives): You and a friend both have a $100 bill. If your friend buys a coffee, your $100 is perfectly safe. (Independent copies).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Joint Account (References): A husband and wife have different debit cards pointing to one account. If the husband withdraws $50, the wife's balance instantly drops too!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Losing a Card (null): If the husband destroys his card (null), the actual bank vault isn't deleted. The wife can still access the money.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Fixed Account (final): A card strictly locked to one specific vault. You can't link it to a new bank, but you can still add/remove money from that vault.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4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5"/>
          <p:cNvSpPr/>
          <p:nvPr/>
        </p:nvSpPr>
        <p:spPr>
          <a:xfrm>
            <a:off x="4485960" y="2976120"/>
            <a:ext cx="2827440" cy="319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Joint Account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wifeCard = { 500 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[Wife's Card] -----&gt; (Vault: $500)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husbandCard = wifeCard;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[Husband's Card] --/ (Same Vault)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husbandCard[0] -= 100;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(Vault drops to $400)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The wife checks her balance and sees $400. The spending affected both!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Rounded Rectangle 146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ounded Rectangle 147"/>
          <p:cNvSpPr/>
          <p:nvPr/>
        </p:nvSpPr>
        <p:spPr>
          <a:xfrm>
            <a:off x="7772400" y="2514600"/>
            <a:ext cx="38847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BankingApp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CASH (Primitive - Independent)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myWallet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friendWallet = myWallet;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friendWallet -= 20; // My wallet is still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JOINT ACCOUNT (Reference - Shared)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jointAccount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wifeCard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husbandCard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husbandCard[0] -= 200; // Husband spends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LOST CARD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 = null; // Card destroyed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Vault is safe! Wife still sees 800.0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System.out.println("Wife: $" + wifeCard[0]);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CARD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businessVault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businessVault = new double[]{ 0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businessVault[0] += 500; // SUCCESS! (Deposit)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321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22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23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24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25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326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327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328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329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330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331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32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33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34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35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36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148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64"/>
          <p:cNvSpPr/>
          <p:nvPr/>
        </p:nvSpPr>
        <p:spPr>
          <a:xfrm>
            <a:off x="1654920" y="732600"/>
            <a:ext cx="765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&amp; Reference Management: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65"/>
          <p:cNvSpPr/>
          <p:nvPr/>
        </p:nvSpPr>
        <p:spPr>
          <a:xfrm>
            <a:off x="2430360" y="1371600"/>
            <a:ext cx="672264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(=) are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storing data and managing memory. Knowing the critical difference between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value copying in primitives and address sharing in objects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is the golden rule of bug-free Java coding.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ounded Rectangle 149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150"/>
          <p:cNvSpPr/>
          <p:nvPr/>
        </p:nvSpPr>
        <p:spPr>
          <a:xfrm>
            <a:off x="688680" y="2820240"/>
            <a:ext cx="31964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 CHECKLIST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Flows Right-to-Left: Assignment always calculates the right side first, then writes the result to the left (a = 5 + 2;).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Ultimate Trap: Using = (assignment) instead of == (comparison) inside if statements won't crash the code, but completely ruins the logic.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Compound Power: Operators like += shorten your code and perform crucial automatic type casting behind the scenes.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 Primitives (int) are fully independent. Objects (arrays, classes) share the exact same memory address.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151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152"/>
          <p:cNvSpPr/>
          <p:nvPr/>
        </p:nvSpPr>
        <p:spPr>
          <a:xfrm>
            <a:off x="4343400" y="2976120"/>
            <a:ext cx="2827440" cy="319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The Debugging Map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Did you copy an array, and changing one modified the other?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Cause: = only copies the address. They are linked to the same vault!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Getting a compile error when adding numbers to a byte?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Use x += 5 instead of x = x + 5. Java handles the casting!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Want to get rid of a memory-heavy object?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Assign null to the variable. Let the Garbage Collector (GC) erase 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Rounded Rectangle 153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ounded Rectangle 154"/>
          <p:cNvSpPr/>
          <p:nvPr/>
        </p:nvSpPr>
        <p:spPr>
          <a:xfrm>
            <a:off x="7671960" y="2286360"/>
            <a:ext cx="35283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AssignmentSummary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 (Auto Casting)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would throw an ERROR!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THE LOGIC TRAP (= vs ==)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active = false;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if(active = true) -&gt; WRONG USE!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(active == true) { /* Correct */ 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REFERENCE SHARING (Shared Address)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 // Address shared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9; // arrA[0] becomes 9 too!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MEMORY CLEANUP &amp; LOCK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connection (ready for GC)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int[]{1}; // ERROR! (Address locked)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8; // SUCCESS! (Content mutable)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 337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38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39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40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41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342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343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344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345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346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347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348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349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50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51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52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155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Box 67"/>
          <p:cNvSpPr/>
          <p:nvPr/>
        </p:nvSpPr>
        <p:spPr>
          <a:xfrm>
            <a:off x="3484440" y="732600"/>
            <a:ext cx="3996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in Java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68"/>
          <p:cNvSpPr/>
          <p:nvPr/>
        </p:nvSpPr>
        <p:spPr>
          <a:xfrm>
            <a:off x="1586160" y="1371600"/>
            <a:ext cx="841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are used to compare two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They evaluate the relationship between operands and always return a boolean result (true or false),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forming the backbone of decision-making (if-else blocks and loops) in programming.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156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157"/>
          <p:cNvSpPr/>
          <p:nvPr/>
        </p:nvSpPr>
        <p:spPr>
          <a:xfrm>
            <a:off x="688680" y="2820240"/>
            <a:ext cx="31964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RULES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Primitive Value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Works natively on all numeric types (int, double, char).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(is equal) and != (not equal).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(boundary checks).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Evaluates purely based on the mathematical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Reference / Object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 Objects (like Strings), == only checks if they share the same memory address (identity).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check if the actual text content of two objects is identical, you must bypass == and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Rounded Rectangle 158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ounded Rectangle 159"/>
          <p:cNvSpPr/>
          <p:nvPr/>
        </p:nvSpPr>
        <p:spPr>
          <a:xfrm>
            <a:off x="4343400" y="2976120"/>
            <a:ext cx="2827440" cy="319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LOGIC EVALUATION TRACE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Context: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1: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They are indeed different.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2: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10 is not greater than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3: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AddressA == AddressB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TRAP! Contents match, but pointers differ.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Rounded Rectangle 160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ounded Rectangle 161"/>
          <p:cNvSpPr/>
          <p:nvPr/>
        </p:nvSpPr>
        <p:spPr>
          <a:xfrm>
            <a:off x="7671960" y="2286000"/>
            <a:ext cx="35287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RelationalOps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 // false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isNotEqual = (a != b);//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(a &lt;= b);    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CONDITIONAL BLOCKS (IF-ELSE)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is 10 or more");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STRING TRAP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Different memory addresses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(s1 == 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Correct way to compare text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s1.equals(s2);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System.out.println("Good Match: " + goodCompare);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Rectangle 353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54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55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56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57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358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359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360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361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362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363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364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365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66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67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68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162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TextBox 70"/>
          <p:cNvSpPr/>
          <p:nvPr/>
        </p:nvSpPr>
        <p:spPr>
          <a:xfrm>
            <a:off x="2286000" y="656640"/>
            <a:ext cx="64112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2: Advanced Traps)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71"/>
          <p:cNvSpPr/>
          <p:nvPr/>
        </p:nvSpPr>
        <p:spPr>
          <a:xfrm>
            <a:off x="1828800" y="1222920"/>
            <a:ext cx="81604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relational operators are not limited to numbers; they can also compare characters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using their underlying ASCII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However, using these operators on object-based numbers (Integer) or writing chained conditions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mathematically can lead to critical compile-time or logic errors.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ounded Rectangle 163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ounded Rectangle 164"/>
          <p:cNvSpPr/>
          <p:nvPr/>
        </p:nvSpPr>
        <p:spPr>
          <a:xfrm>
            <a:off x="688680" y="2514600"/>
            <a:ext cx="342576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Comparison: Comparing characters (like 'a', 'b') actually compares their underlying ASCII decimal values. (Ex: 'a' &lt; 'b' evaluates to 97 &lt; 98, returning true).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 Error: In Java, you cannot write 10 &lt; x &lt; 20 mathematically (causes a compile error). You must combine individual boundaries using logical operators: 10 &lt; x &amp;&amp; x &lt; 20.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 Trap: When comparing Integer objects with ==, it only works for values between -128 and 127 due to caching. Outside this range, == compares memory references and fails. Always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Rounded Rectangle 165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ounded Rectangle 166"/>
          <p:cNvSpPr/>
          <p:nvPr/>
        </p:nvSpPr>
        <p:spPr>
          <a:xfrm>
            <a:off x="4441680" y="2967120"/>
            <a:ext cx="2827440" cy="319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Safe Comparison Methods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int, double (Primitives)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== or != (Always 100% safe)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char (Characters)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&lt; or &gt; (Compares ASCII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String or Integer (Objects)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Always use .equals()! (Avoids memory traps)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Rounded Rectangle 167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ounded Rectangle 168"/>
          <p:cNvSpPr/>
          <p:nvPr/>
        </p:nvSpPr>
        <p:spPr>
          <a:xfrm>
            <a:off x="7671960" y="2286000"/>
            <a:ext cx="35287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AdvancedRelational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CHAR COMPARISON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charComp = (c1 &lt; c2);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CHAINING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error = 10 &lt; x &lt; 20; // COMPILE ERROR!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correct = (10 &lt; x) &amp;&amp; (x &lt; 20);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CACHING TRAP (-128 to 127)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equalCached = (n1 == n2);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equalTrap = (n3 == n4);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properEqual = n3.equals(n4);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equalTrap);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properEqual);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Rectangle 369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70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71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72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73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374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375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376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377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378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379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380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381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82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83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84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ounded Rectangle 169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6" name="TextBox 73"/>
          <p:cNvSpPr/>
          <p:nvPr/>
        </p:nvSpPr>
        <p:spPr>
          <a:xfrm>
            <a:off x="1711440" y="656640"/>
            <a:ext cx="75603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3: Type Checks &amp; Precision)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TextBox 74"/>
          <p:cNvSpPr/>
          <p:nvPr/>
        </p:nvSpPr>
        <p:spPr>
          <a:xfrm>
            <a:off x="991800" y="1222920"/>
            <a:ext cx="98341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in Java extend beyond simple math.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instanceof operator allows us to compare an object's type against a class,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comparing floating-point numbers (double/float) requires strict delta checks due to binary precision limitations.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Rounded Rectangle 170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ounded Rectangle 171"/>
          <p:cNvSpPr/>
          <p:nvPr/>
        </p:nvSpPr>
        <p:spPr>
          <a:xfrm>
            <a:off x="688680" y="2514600"/>
            <a:ext cx="342576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Type Comparison (instanceof):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Compares an object reference to a class type. Returns true if the object is an instance of that class, subclass, or interface.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Precision Trap: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Computers store decimals in binary (IEEE 754). This causes rounding issues. For example, 0.1 + 0.2 does not exactly equal 0.3 (it equals 0.30000000000000004).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Delta Check Solution: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Never compare floats/doubles with ==. Instead, check if the absolute difference between them is smaller than a tiny threshold (epsilon, e.g., 0.00001).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0" name="Rounded Rectangle 172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ounded Rectangle 173"/>
          <p:cNvSpPr/>
          <p:nvPr/>
        </p:nvSpPr>
        <p:spPr>
          <a:xfrm>
            <a:off x="4581000" y="2967120"/>
            <a:ext cx="2827440" cy="27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Precision vs Type Checks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ask 1: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Check if a generic object is a String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obj instanceof String (Safely returns boolean)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Task 2: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Compare double values a and 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Wrong: a == b (Vulnerable to binary rounding errors)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Right: Math.abs(a - b) &lt; 0.00001 (Delta threshold check)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2" name="Rounded Rectangle 174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ounded Rectangle 175"/>
          <p:cNvSpPr/>
          <p:nvPr/>
        </p:nvSpPr>
        <p:spPr>
          <a:xfrm>
            <a:off x="7900560" y="2286000"/>
            <a:ext cx="2843640" cy="3886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PrecisionInstanceof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TYPE COMPARISON (instanceof)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text = "Hello World";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isString = text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isNumber = text instanceof Number; // false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FLOATING-POINT PRECISION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(d1 == d2);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DELTA CHECK SOLUTION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tolerance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Math.abs(d1 - d2) &lt; epsilon;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badCompare);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goodCompare);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4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2026-05-30T00:11:41Z</dcterms:modified>
  <cp:revision>43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