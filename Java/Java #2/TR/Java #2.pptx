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18A716-072E-480C-B5B6-CE26C249C61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29A97E-9B81-47F2-9E1F-3A263268295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D9184B-106B-4406-B99D-DACED58690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5CCE922-1FE7-4E90-AA92-94A85A9D98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DEF916-1891-4670-95AA-38682C03CDD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382B2F-82A4-40F9-942A-F54AE4F3130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ACA9E4-5249-46EA-9A7B-16C223343A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FC8917-CE94-479E-BA39-916D463BD5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A49EFA-D036-4ADD-8706-3ABC0E246D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13D1EC-4924-4479-B0B8-39C81DC338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3D15CB-E099-4ECE-A2A8-085C36977A7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5A57D0-3217-4AC7-B637-969D6FD8064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5A04707-E2C6-4632-8B73-076CD92D0C2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B7556C5-AF58-4B7A-99EB-01477DB4F0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80CAAD5-47C9-4AE4-B53A-7B73B60526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E2B18AF-E3BD-4B05-8B20-F8AA2EAF78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A971C9-4A4E-457F-BBB4-9F9802EDCCE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367CBC8-E35D-4084-BAE1-BBA7E00D82F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B7EBE86-ED39-4FAA-AC25-755CCF3A26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5D5D24F-B85F-4F05-B5CA-62DC3D74776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C0988B6-EB3D-4FCD-B6BA-EBB68AD6541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418D50D-D439-4BF8-8886-FC61B430313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9D513DB-6F01-4814-AAE1-394F6BE88B2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204FF3F-E654-4316-8FF4-16363181B06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8B734E4-1A67-42AF-B293-CF22AA049EC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55DC5B5-83A2-484D-ADB9-4612AB5CC93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10B8B4F-4DF1-4059-8362-9BEF7C79556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70112B2-0049-4DD7-B908-7DBBF03BF67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6583518-A591-4743-B6D0-5DE3972A3A4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C2B6D6C-BD19-4DAB-811B-5CDB5428495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81E524B-6BAB-4E9E-8149-E84F9A120D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423721D-C1CB-463B-A024-E6E660F87E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96B5BF2-D42E-47F1-9EC6-B449750DE2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3CB50EA-7072-479E-ABCA-0839F2D2D8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228B729-8082-47B4-B304-2ECC88976EB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F391721-27DC-4151-A7A9-DE455498BBA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7179CB6-92E2-44C8-AF9B-F49D37152F4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14A600D-2E10-4BC5-839B-2AB0CE7D97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85812F2-7B50-41CC-BE2B-4C8CDBA50E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9977939-AEBB-4909-87D0-328A81E382D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9D03B76-0C31-44E4-B2B5-3BACFD3018A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10350A8-5FC4-4681-A005-EB28F424D6B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7707333-72A1-4DDC-9229-D1F82228505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25F0DE7-5E3F-4CD7-9B2C-8779BDCE64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89A7942-858E-48D4-985E-0451DA8C96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A000789-7452-4D35-9CD0-833EE91CE6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97A81F7-BF2C-4AF9-B9B1-F47FC944F81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E18E79F-7ADF-4B06-865C-141F6DC0BBF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89A9F10-AB8E-4A3C-A57B-20AAE02FAA6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D880EFC-8F1E-4E6B-8E98-A0CF16799B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4869312-53BA-4C45-AF9E-CD7D1FC232A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16412F4-5387-4207-9E2D-63390E56B4B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B758F67-C698-4655-91E7-AFCD9F9C098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3D85A2E-6BEC-42D0-BBE0-EDA96421697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B9DAF41-BBC8-453D-B166-FF35C3D83E5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E0E107F-75C9-4396-80AD-3240304CB9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772ABCD-B967-4BEF-B72A-FE15A0641AD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4B7859D-3660-4487-8ACD-E885DFE0C2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8903411-6F48-4FF8-88E4-AD110A4B026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EBDC9A1-7F54-44DE-A05E-C43CA900A0F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297C3BC-6DA7-43DB-AA02-A6973A7D3FE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8358E28-E0C4-4152-B2CF-C83B2D50CF6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C702BCF-FEC3-4881-B564-B8914F3F27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19452CD-FA2F-4156-9F94-DDA1FDDAF45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3FBEAE9-891D-4CFA-A3EB-797E16F2878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EE0AA07-0730-4196-A305-925F7D611F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57892E4-052E-4A1A-9384-6B3B6C2E14A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0EE26DB-AE54-4415-8E5E-19B79B05D0A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0D58CD2-B1E7-495D-A9E4-04371F91DE5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49C881A-D142-45A0-B674-B6261714917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AE6FCF3-3F27-4B27-9622-AB877B00565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3190D3F-5098-4F20-83FA-013D4D1C858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4A0C7C9-0130-480B-83C7-9EFB1B21C80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C45D52A-9ADE-41D0-89DE-C58EDDDB76D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EF7C9CD-9206-4EAD-819E-662B7903098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6303DFB-B72E-421A-B6BC-8055A8E88F0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BA219A4-79C0-44E2-8525-E0F5ED8DF4B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2948673-7818-41DC-88EA-BAAADD78FBF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8EA6F47-CD86-44AE-B137-7DD9A83830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461FB30-B267-4A69-A15D-F2C6EE7412B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4DD79DD-7CF8-4F26-AAEC-71D3004809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9C3C4BE-4A6C-4D58-A484-F24FD7E0A61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1FBE869-372C-4A28-8D89-7EF66C71B18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C191E92-C97B-45C8-8416-A8E56B4E42C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1664D52-2A54-445A-B5E0-8EC289AB844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A13DC40-61C6-4B1F-9114-B6E85EFAFA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25C8CE3-82A2-42B2-B149-0A2D0830A1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FA30297-4289-41D5-BA0F-B2A02F61986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31CD56C-2644-40F0-9175-B858948C378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5035D18-B986-439E-BCA6-C5FB68FCCCC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078375E-2F09-4EFF-81B8-1E59778223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245421E-69DA-41C2-BEB0-F505BEE0DE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13D6A4E-DA41-4115-A374-73ED96B6A7E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F4994A7-56B4-4987-A64B-11F8032D865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F6D044B-D06B-4117-86FC-B5F6ED5F0A8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FE3735E-A62B-406E-AA29-AD0004A66DE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E6D88B-72E2-4FE7-A6F8-392A4EE98D5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B65E73-E480-4B8D-B077-3FDD01D6FE3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47C252-A859-4F82-9D64-913FCAC4DB6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91C7D7-500E-40ED-9EFD-57950421540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CA0CCF-C461-41F6-A627-E8D5802BB8C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CD23CC-1294-47F8-B6FA-E2245158CF8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881B2A-BF01-4355-8BC2-78562C9C3F5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5238A2-158C-418B-A857-52A2F6655EF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 1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2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3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4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5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6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7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8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9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0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1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2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3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4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5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17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Box 18"/>
          <p:cNvSpPr/>
          <p:nvPr/>
        </p:nvSpPr>
        <p:spPr>
          <a:xfrm>
            <a:off x="1730160" y="1005840"/>
            <a:ext cx="7509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19"/>
          <p:cNvSpPr/>
          <p:nvPr/>
        </p:nvSpPr>
        <p:spPr>
          <a:xfrm>
            <a:off x="3707640" y="2057400"/>
            <a:ext cx="3555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ounded Rectangle 2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21"/>
          <p:cNvSpPr/>
          <p:nvPr/>
        </p:nvSpPr>
        <p:spPr>
          <a:xfrm>
            <a:off x="685800" y="2521440"/>
            <a:ext cx="3423600" cy="332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Rounded Rectangle 2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23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Rounded Rectangle 2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ounded Rectangle 25"/>
          <p:cNvSpPr/>
          <p:nvPr/>
        </p:nvSpPr>
        <p:spPr>
          <a:xfrm>
            <a:off x="795528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Rectangle 32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33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34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35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36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37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38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39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40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41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42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43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44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45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46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47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ounded Rectangle 8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Box 4"/>
          <p:cNvSpPr/>
          <p:nvPr/>
        </p:nvSpPr>
        <p:spPr>
          <a:xfrm>
            <a:off x="3660120" y="1005840"/>
            <a:ext cx="364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5"/>
          <p:cNvSpPr/>
          <p:nvPr/>
        </p:nvSpPr>
        <p:spPr>
          <a:xfrm>
            <a:off x="3961440" y="2194560"/>
            <a:ext cx="3047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Rounded Rectangle 9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10"/>
          <p:cNvSpPr/>
          <p:nvPr/>
        </p:nvSpPr>
        <p:spPr>
          <a:xfrm>
            <a:off x="91440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Rounded Rectangle 11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12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Rounded Rectangle 13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ounded Rectangle 14"/>
          <p:cNvSpPr/>
          <p:nvPr/>
        </p:nvSpPr>
        <p:spPr>
          <a:xfrm>
            <a:off x="795528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48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7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8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0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2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3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4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5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6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7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8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9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30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31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ounded Rectangle 15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Rounded Rectangle 16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ounded Rectangle 18"/>
          <p:cNvSpPr/>
          <p:nvPr/>
        </p:nvSpPr>
        <p:spPr>
          <a:xfrm>
            <a:off x="475560" y="2743200"/>
            <a:ext cx="3724920" cy="310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Rounded Rectangle 19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26"/>
          <p:cNvSpPr/>
          <p:nvPr/>
        </p:nvSpPr>
        <p:spPr>
          <a:xfrm>
            <a:off x="4343400" y="2918520"/>
            <a:ext cx="3514680" cy="292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Rounded Rectangle 27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ounded Rectangle 28"/>
          <p:cNvSpPr/>
          <p:nvPr/>
        </p:nvSpPr>
        <p:spPr>
          <a:xfrm>
            <a:off x="8023680" y="2743200"/>
            <a:ext cx="383616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Rectangle 64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49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50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51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52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53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54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55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56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57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58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59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60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61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62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63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ounded Rectangle 29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Box 11"/>
          <p:cNvSpPr/>
          <p:nvPr/>
        </p:nvSpPr>
        <p:spPr>
          <a:xfrm>
            <a:off x="3609720" y="2194560"/>
            <a:ext cx="37504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Rounded Rectangle 30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ounded Rectangle 31"/>
          <p:cNvSpPr/>
          <p:nvPr/>
        </p:nvSpPr>
        <p:spPr>
          <a:xfrm>
            <a:off x="685800" y="2971800"/>
            <a:ext cx="351504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Rounded Rectangle 32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33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Rounded Rectangle 34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ounded Rectangle 35"/>
          <p:cNvSpPr/>
          <p:nvPr/>
        </p:nvSpPr>
        <p:spPr>
          <a:xfrm>
            <a:off x="795528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Rectangle 80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65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66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67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68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69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70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71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72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73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74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75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76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77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78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79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ounded Rectangle 36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TextBox 13"/>
          <p:cNvSpPr/>
          <p:nvPr/>
        </p:nvSpPr>
        <p:spPr>
          <a:xfrm>
            <a:off x="2175120" y="1005840"/>
            <a:ext cx="662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KURULUMU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14"/>
          <p:cNvSpPr/>
          <p:nvPr/>
        </p:nvSpPr>
        <p:spPr>
          <a:xfrm>
            <a:off x="2093040" y="2194560"/>
            <a:ext cx="6784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derlemek ve çalıştırmak için sistemi hazırlar.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Bunu, JDK’yı kurarak ve sistem değişkenlerini yapılandırarak yaparız.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Rounded Rectangle 37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ounded Rectangle 38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derleyici (javac) ve çalıştırma ortamını (java) içerir.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ve JAVA_HOME gibi sistem değişkenleri, komut satırının Java’yı bulmasını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kurulum sayesinde Java programları sistemin her yerinden derlenip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Rounded Rectangle 39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40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indir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Bilgisayarına kur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bin klasörünü PATH değişkenine ekle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Terminalden doğrula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Rounded Rectangle 41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ounded Rectangle 42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Komut İstemine şunları yaz: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Rectangle 81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82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83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84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85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86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87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88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89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90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91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92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93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94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95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9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ounded Rectangle 43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Box 16"/>
          <p:cNvSpPr/>
          <p:nvPr/>
        </p:nvSpPr>
        <p:spPr>
          <a:xfrm>
            <a:off x="1023840" y="1005840"/>
            <a:ext cx="8922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DEĞİŞKENLERİNİ YAPILANDIRMA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17"/>
          <p:cNvSpPr/>
          <p:nvPr/>
        </p:nvSpPr>
        <p:spPr>
          <a:xfrm>
            <a:off x="-904320" y="2194560"/>
            <a:ext cx="1279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Ortam değişkenleri, Java’nın sistemde nerede kurulu olduğunu belirtir ve araçların ile komutların herhangi bir klasörden düzgün çalışmasını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Rounded Rectangle 44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ounded Rectangle 45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JAVA_HOME, JDK’nın kurulu olduğu klasörü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PATH, Java’nın bin klasörünü içerir, böylece Java araçları terminal/komut istemcisinden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Bunlar ayarlanmazsa Java komutları çalışmayabilir.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Rounded Rectangle 46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47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Kuruldu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C:\Program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PATH’e ekle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 javac komutlarını çalıştır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Rounded Rectangle 48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ounded Rectangle 49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Rectangle 97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98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99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00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01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02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03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04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05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06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07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08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09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10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11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12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ounded Rectangle 50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TextBox 21"/>
          <p:cNvSpPr/>
          <p:nvPr/>
        </p:nvSpPr>
        <p:spPr>
          <a:xfrm>
            <a:off x="1706400" y="1005840"/>
            <a:ext cx="755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KURULDUKTAN SONRA NE OLUR?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22"/>
          <p:cNvSpPr/>
          <p:nvPr/>
        </p:nvSpPr>
        <p:spPr>
          <a:xfrm>
            <a:off x="4241160" y="2194560"/>
            <a:ext cx="24962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Ortam Kurulumundan Sonra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ounded Rectangle 51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ounded Rectangle 52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kurulduktan ve yapılandırıldıktan sonra, sisteminiz artık Java programlarını derleyip çalıştırmaya hazırdır.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.java uzantılı kaynak dosyalar oluşturabilirsiniz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javac derleyicisi, kaynak kodu bytecode (.class) dosyasına çevirir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JVM, bu bytecode'u çalıştırır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Programınız artık JVM bulunan herhangi bir sistemde çalışabilir.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Kurulum tamamlandı — artık Java geliştirmeye başlayabilirsiniz.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Rounded Rectangle 53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54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Yaz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javac ile Derle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Dosyası Oluşur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komutu ile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Programı Çalıştırır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 Ekranda Görünür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Rounded Rectangle 55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ounded Rectangle 56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ortamı hazır!");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Rectangle 113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14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15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16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17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18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19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20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21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22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23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24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25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26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27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28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ounded Rectangle 57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Box 24"/>
          <p:cNvSpPr/>
          <p:nvPr/>
        </p:nvSpPr>
        <p:spPr>
          <a:xfrm>
            <a:off x="2983320" y="1005840"/>
            <a:ext cx="500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GELİŞTİRME İŞ AKIŞI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25"/>
          <p:cNvSpPr/>
          <p:nvPr/>
        </p:nvSpPr>
        <p:spPr>
          <a:xfrm>
            <a:off x="1775880" y="2057400"/>
            <a:ext cx="7434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ortam kurulumu tamamlandıktan sonra geliştiricilerin Java programlarını oluşturmak,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test etmek ve geliştirmek için izlediği temel adım adım süreci açıklar.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Rounded Rectangle 58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ounded Rectangle 59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Kurulumdan sonra Java programlama şu basit geliştirme döngüsünü izler: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yaz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derle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Gerekirse hataları düzelt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Süreci tekrarla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döngü, gerçek dünyadaki Java yazılımlarının nasıl geliştirildiğini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Rounded Rectangle 60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61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Kodu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Çıktıyı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Varsa → Kodu Düzelt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Tekrar Derle ve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Rounded Rectangle 62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ounded Rectangle 63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Rectangle 129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30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31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32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33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34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35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36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37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38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39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40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41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42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43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44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ounded Rectangle 64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TextBox 28"/>
          <p:cNvSpPr/>
          <p:nvPr/>
        </p:nvSpPr>
        <p:spPr>
          <a:xfrm>
            <a:off x="3053160" y="1005840"/>
            <a:ext cx="4862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KURULUM TÜRLERİ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29"/>
          <p:cNvSpPr/>
          <p:nvPr/>
        </p:nvSpPr>
        <p:spPr>
          <a:xfrm>
            <a:off x="1154520" y="2194560"/>
            <a:ext cx="8674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Farklı Java dağıtımları ve kurulum türleri, geliştirme veya üretim (production) ihtiyaçlarına göre esneklik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Rounded Rectangle 65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ounded Rectangle 66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Java’yı kurmanın birden fazla yolu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(Resmi dağıtım)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(Açık kaynak sürüm)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(Uzun Süreli Destek) sürümleri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olmayan sürümler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sürümleri (örneğin Java 17, 21) kararlılık ve uzun vadeli projeler için önerilir.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dağıtımı seçmek; uyumluluk, güvenlik güncellemeleri ve uzun süreli destek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Rounded Rectangle 67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68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Sürüm Seç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Dağıtımı İndir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Güncelle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Kurulumu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Rounded Rectangle 69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ounded Rectangle 70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Detaylı sürüm bilgisi kontrolü: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Rectangle 145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46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47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148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149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150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151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152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153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154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155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156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57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58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59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60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ounded Rectangle 71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Box 31"/>
          <p:cNvSpPr/>
          <p:nvPr/>
        </p:nvSpPr>
        <p:spPr>
          <a:xfrm>
            <a:off x="1023120" y="1005840"/>
            <a:ext cx="8924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YAYGIN KURULUM SORUNLARI VE ÇÖZÜMLERİ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32"/>
          <p:cNvSpPr/>
          <p:nvPr/>
        </p:nvSpPr>
        <p:spPr>
          <a:xfrm>
            <a:off x="2109960" y="2194560"/>
            <a:ext cx="67633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Yanlış ortam (environment) yapılandırması, Java’nın düzgün çalışmasını engelleyebilir.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Rounded Rectangle 72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ounded Rectangle 73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 hatası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JAVA_HOME yolu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değişkeninin güncellenmemesi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Birden fazla Java sürümünün çakışması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yerine sadece JRE’nin kurulmuş olması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Çoğu sorun, ortam değişkenlerinin hatalı ayarlanmasından kaynaklanır.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Rounded Rectangle 74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75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ortaya çıkar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Sorun çözülür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Rounded Rectangle 76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ounded Rectangle 77"/>
          <p:cNvSpPr/>
          <p:nvPr/>
        </p:nvSpPr>
        <p:spPr>
          <a:xfrm>
            <a:off x="7955280" y="3108960"/>
            <a:ext cx="328680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400"/>
            </a:b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Geçici olarak JAVA_HOME ayarlama (Linux/Mac):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Rectangle 161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62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63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64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65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166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67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68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69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70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71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72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73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74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75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7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ounded Rectangle 78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Box 34"/>
          <p:cNvSpPr/>
          <p:nvPr/>
        </p:nvSpPr>
        <p:spPr>
          <a:xfrm>
            <a:off x="3134520" y="1005840"/>
            <a:ext cx="469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SÜRÜM YÖNETİMİ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35"/>
          <p:cNvSpPr/>
          <p:nvPr/>
        </p:nvSpPr>
        <p:spPr>
          <a:xfrm>
            <a:off x="2258640" y="2194560"/>
            <a:ext cx="64677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Birden fazla Java sürümünü yönetmek ve aralarında güvenli şekilde geçiş yapmak.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Rounded Rectangle 79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ounded Rectangle 80"/>
          <p:cNvSpPr/>
          <p:nvPr/>
        </p:nvSpPr>
        <p:spPr>
          <a:xfrm>
            <a:off x="457200" y="2971800"/>
            <a:ext cx="378180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Bazen aynı sistemde birden fazla Java sürümü yüklü olabilir.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eski sürüm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Farklı projeler farklı sürümler gerektirebilir.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Sürümler doğru şekilde yönetilmezse: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çakışmaları oluşur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JDK proje derler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araçları (Maven / Gradle) hata verir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 sürüm yönetimi çakışmaları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Rounded Rectangle 81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82"/>
          <p:cNvSpPr/>
          <p:nvPr/>
        </p:nvSpPr>
        <p:spPr>
          <a:xfrm>
            <a:off x="4434840" y="3108960"/>
            <a:ext cx="3286800" cy="283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Yüklü sürümleri kontrol et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klasörlerini bul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Şu komutlarla doğrula: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Rounded Rectangle 83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ounded Rectangle 84"/>
          <p:cNvSpPr/>
          <p:nvPr/>
        </p:nvSpPr>
        <p:spPr>
          <a:xfrm>
            <a:off x="8001000" y="2743200"/>
            <a:ext cx="34261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Mevcut sürümü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Aktif JAVA_HOME değişkenini göster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Örnek sürüm klasörleri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Sürüm değişiminden sonra kontrol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Rectangle 177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78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79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80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81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82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83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84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85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186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87"/>
          <p:cNvSpPr/>
          <p:nvPr/>
        </p:nvSpPr>
        <p:spPr>
          <a:xfrm>
            <a:off x="821232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88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89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90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91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92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ounded Rectangle 85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38"/>
          <p:cNvSpPr/>
          <p:nvPr/>
        </p:nvSpPr>
        <p:spPr>
          <a:xfrm>
            <a:off x="1742040" y="2013840"/>
            <a:ext cx="76291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Java geliştiricisinin yazdığı ilk programdır.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 Java uygulamasının temel yapısını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tanıtır ve kodun Java Sanal Makinesi (JVM) içinde nasıl çalıştırıldığını gösterir.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Rounded Rectangle 86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ounded Rectangle 87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Java programı bir class ile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çalışması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çıktıyı konsola yazdırır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bytecode’a derlenir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JVM içerisinde çalıştırılır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World, Java kaynak kodunun nasıl çalışabilir çıktıya dönüştüğünü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Rounded Rectangle 88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89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Kodunu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ile Çalıştır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Konsol Çıktısı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Rounded Rectangle 90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ounded Rectangle 91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Rectangle 193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94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95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96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97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98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99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200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201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202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203"/>
          <p:cNvSpPr/>
          <p:nvPr/>
        </p:nvSpPr>
        <p:spPr>
          <a:xfrm>
            <a:off x="821232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204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205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206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207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208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ounded Rectangle 92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TextBox 40"/>
          <p:cNvSpPr/>
          <p:nvPr/>
        </p:nvSpPr>
        <p:spPr>
          <a:xfrm>
            <a:off x="658080" y="1005840"/>
            <a:ext cx="9654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 PROGRAMINI ANLAMAK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Box 41"/>
          <p:cNvSpPr/>
          <p:nvPr/>
        </p:nvSpPr>
        <p:spPr>
          <a:xfrm>
            <a:off x="2366640" y="2013840"/>
            <a:ext cx="6379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Hello World programı basit görünse de, her Java uygulamasının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yapısını ve çalışma mantığını içerir.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Rounded Rectangle 93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ounded Rectangle 94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programı çalışmaya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her yerden erişilebilir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nesne oluşturmadan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metod geriye değer döndürmez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komut satırı parametreleri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Ana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metodu, Java uygulamasının başlangıç noktasıdır.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Rounded Rectangle 95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ounded Rectangle 96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main() metodunu arar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içindeki komutlar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Metin konsolda görüntülenir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Rounded Rectangle 97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ounded Rectangle 98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5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Rectangle 225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209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210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211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212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213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214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215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216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217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218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219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220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221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222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223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ounded Rectangle 99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43"/>
          <p:cNvSpPr/>
          <p:nvPr/>
        </p:nvSpPr>
        <p:spPr>
          <a:xfrm>
            <a:off x="2463840" y="1005840"/>
            <a:ext cx="6044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TEMEL SÖZDİZİMİ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Box 44"/>
          <p:cNvSpPr/>
          <p:nvPr/>
        </p:nvSpPr>
        <p:spPr>
          <a:xfrm>
            <a:off x="2525760" y="2194560"/>
            <a:ext cx="5919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Sözdizimi, bir Java programını yazmak ve çalıştırmak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için gereken temel kuralları ve yapıyı ifade eder.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Rounded Rectangle 10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ounded Rectangle 101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Temel Sözdizimi, Java programlarının temel yazım kurallarıdır.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Tüm kodlar bir class içinde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main() metodu ile başlar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Kod satırları noktalı virgül ( ; ) ile biter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{ } işaretleri kod bloklarını belirtir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büyük/küçük harfe duyarlıdır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Rounded Rectangle 10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ounded Rectangle 10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Yüklenir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Satırları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Biter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Rounded Rectangle 10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ounded Rectangle 105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System.out.println("Selam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Rectangle 224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226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227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228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229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230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231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232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233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234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235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236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237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238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239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240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ounded Rectangle 106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Box 46"/>
          <p:cNvSpPr/>
          <p:nvPr/>
        </p:nvSpPr>
        <p:spPr>
          <a:xfrm>
            <a:off x="802080" y="1005840"/>
            <a:ext cx="93679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TANIMLAYICILAR (IDENTIFIERS)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47"/>
          <p:cNvSpPr/>
          <p:nvPr/>
        </p:nvSpPr>
        <p:spPr>
          <a:xfrm>
            <a:off x="1519920" y="2194560"/>
            <a:ext cx="7932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Tanımlayıcılar, Java’da sınıf, değişken ve metot gibi elemanlara verilen isimlerdir.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Rounded Rectangle 107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ounded Rectangle 108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Tanımlayıcıları için Kurallar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harf, $ veya _ ile başlamalıdır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 karakterden sonra her türlü kombinasyon kullanılabilir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(keywords) tanımlayıcı olarak kullanılamaz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tanımlayıcıları büyük/küçük harfe duyarlıdır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İsimler anlamlı ve okunabilir olmalıdır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Rounded Rectangle 10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ounded Rectangle 110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İsim Tanımlanır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 Karakter Kontrol Edilir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Kontrol Edilir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Tanımlayıcı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İçinde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Rounded Rectangle 111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ounded Rectangle 112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$salary = 5000;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_value = 10;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__1_value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Geçersiz örnekler: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123abc;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-salary;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Rectangle 257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241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242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243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244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245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246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247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248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249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250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251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252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253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254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255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ounded Rectangle 113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Box 49"/>
          <p:cNvSpPr/>
          <p:nvPr/>
        </p:nvSpPr>
        <p:spPr>
          <a:xfrm>
            <a:off x="3572280" y="550800"/>
            <a:ext cx="38250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Modifiers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TextBox 50"/>
          <p:cNvSpPr/>
          <p:nvPr/>
        </p:nvSpPr>
        <p:spPr>
          <a:xfrm>
            <a:off x="849960" y="1388880"/>
            <a:ext cx="9448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Tanımlayıcılar (Identifiers); sınıflar, değişkenler ve metotlar gibi Java öğelerine verilen isimlerdir.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Rounded Rectangle 114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ounded Rectangle 115"/>
          <p:cNvSpPr/>
          <p:nvPr/>
        </p:nvSpPr>
        <p:spPr>
          <a:xfrm>
            <a:off x="685800" y="2286000"/>
            <a:ext cx="3517200" cy="4341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Modifier’lar, sınıfların, metotların ve değişkenlerin erişim seviyesini ve davranışını belirler.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Kontrol ettikleri: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Görünürlük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Kalıtım (Inheritance)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Değiştirilebilirlik (Mutability)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Metot ezme (Method overriding)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Erişim Belirleyiciler (Access Modifiers)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Her yerden erişilebilir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private → Sadece sınıf içinden erişilebilir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→ Aynı paket + alt sınıflar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default → Sadece aynı paket içinde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Erişim Dışı Belirleyiciler (Non-Access Modifiers)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final → Değiştirilemez / override edilemez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abstract → Alt sınıfta uygulanmalıdır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Sınıfa aittir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volatile → Bellek görünürlüğünü garanti eder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Rounded Rectangle 116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ounded Rectangle 117"/>
          <p:cNvSpPr/>
          <p:nvPr/>
        </p:nvSpPr>
        <p:spPr>
          <a:xfrm>
            <a:off x="4434840" y="2286000"/>
            <a:ext cx="328860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ERİŞİM BELİRLEYİCİLERİ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default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ERİŞİM DIŞI BELİRLEYİCİLER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abstract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volatile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Rounded Rectangle 118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ounded Rectangle 119"/>
          <p:cNvSpPr/>
          <p:nvPr/>
        </p:nvSpPr>
        <p:spPr>
          <a:xfrm>
            <a:off x="7955280" y="2743200"/>
            <a:ext cx="328860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Car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brand;      // Erişim belirleyici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count;   // Erişim dışı belirleyici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Car(String brand)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this.brand = brand;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count++;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final void displayBrand()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System.out.println("Marka: " + brand);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Rectangle 256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58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59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60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61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262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263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264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265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266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267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268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269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270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271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272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ounded Rectangle 120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Box 52"/>
          <p:cNvSpPr/>
          <p:nvPr/>
        </p:nvSpPr>
        <p:spPr>
          <a:xfrm>
            <a:off x="3239640" y="1005840"/>
            <a:ext cx="4494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Değişkenleri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53"/>
          <p:cNvSpPr/>
          <p:nvPr/>
        </p:nvSpPr>
        <p:spPr>
          <a:xfrm>
            <a:off x="1310400" y="2013840"/>
            <a:ext cx="8348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verileri depolamak için kullanılan isimlendirilmiş bellek alanlarıdır.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bir veri tipine sahiptir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bilginin program içinde nasıl saklandığını, erişildiğini ve işlendiğini belirler.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Rounded Rectangle 121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ounded Rectangle 122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Türleri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Metot içinde tanımlanır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Sadece metot çalıştığı sürece var olur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 Değişken (Instance Variable)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Sınıf içinde tanımlanır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nesneye aittir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 (Static Variable)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anahtar kelimesi ile tanımlanır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arasında paylaşılır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Rounded Rectangle 123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ounded Rectangle 124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Kategorileri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boolean, long,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 (Reference Types)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String, Diziler (Arrays), 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Rounded Rectangle 125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ounded Rectangle 126"/>
          <p:cNvSpPr/>
          <p:nvPr/>
        </p:nvSpPr>
        <p:spPr>
          <a:xfrm>
            <a:off x="7955280" y="2971800"/>
            <a:ext cx="328860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name;            // Örnek değişken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school = "Tech University";  // Statik değişken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display()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       // Yerel değişken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 + " - " + age + " - " + school);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Rectangle 273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74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75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76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77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278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279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280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281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282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283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284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285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286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287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288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ounded Rectangle 12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Box 55"/>
          <p:cNvSpPr/>
          <p:nvPr/>
        </p:nvSpPr>
        <p:spPr>
          <a:xfrm>
            <a:off x="3756960" y="1005840"/>
            <a:ext cx="3457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ENUMS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TextBox 56"/>
          <p:cNvSpPr/>
          <p:nvPr/>
        </p:nvSpPr>
        <p:spPr>
          <a:xfrm>
            <a:off x="1149480" y="1828800"/>
            <a:ext cx="962928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Bir enum (Enumeration’ın kısaltması), Java’da sabit bir değer kümesini tanımlamak için kullanılan özel bir veri tipidir.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Java sözdiziminin (syntax) bir parçasıdır çünkü class, int veya String gibi yeni bir tür tanımlar.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Enum’lar, değerleri önceden tanımlanmış sabitlerle sınırlandırarak programları daha güvenli ve daha okunabilir hale getirir.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Rounded Rectangle 128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ounded Rectangle 129"/>
          <p:cNvSpPr/>
          <p:nvPr/>
        </p:nvSpPr>
        <p:spPr>
          <a:xfrm>
            <a:off x="685800" y="2743200"/>
            <a:ext cx="351864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Enum Nedir?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referans tipidir.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Sabit değer gruplarını temsil etmek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enum anahtar kelimesi ile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Tip güvenliği sağlar (type safety).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Neden Enum Kullanırız?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Normal bir String kullanımı: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String day = "MONDA";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kod derlenir, ancak yanlıştır.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Day day = Day.MONDAY;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200"/>
            </a:b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Eğer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MONDA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yazarsanız, derleyici hata verir.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da demektir ki enum’lar, hatalı değerleri derleme zamanında engeller.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Rounded Rectangle 130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ounded Rectangle 131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Enum tanımlanır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sabit nesneler oluşturur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EnumName.VALUE şeklinde erişilir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tanımlı değerler kullanılabilir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Rounded Rectangle 132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ounded Rectangle 133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enum Level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LOW,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MEDIUM,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HIGH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Test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Level myLevel = Level.MEDIUM;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System.out.println(myLevel);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Rectangle 289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90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91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92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93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294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295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296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297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298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299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300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301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302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303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304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ounded Rectangle 134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Box 58"/>
          <p:cNvSpPr/>
          <p:nvPr/>
        </p:nvSpPr>
        <p:spPr>
          <a:xfrm>
            <a:off x="1930320" y="1005840"/>
            <a:ext cx="7110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ANAHTAR KELİMELERİ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TextBox 59"/>
          <p:cNvSpPr/>
          <p:nvPr/>
        </p:nvSpPr>
        <p:spPr>
          <a:xfrm>
            <a:off x="3064320" y="1826640"/>
            <a:ext cx="4884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Ayrılmış Kelimeler (Reserved Words) &amp; Açıklama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Rounded Rectangle 135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ounded Rectangle 136"/>
          <p:cNvSpPr/>
          <p:nvPr/>
        </p:nvSpPr>
        <p:spPr>
          <a:xfrm>
            <a:off x="685800" y="2286000"/>
            <a:ext cx="3517560" cy="4343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Anahtar Kelimeleri Nedir?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Anahtar Kelimeleri, Java dilinde önceden tanımlanmış özel anlamlara sahip ayrılmış kelimelerdir.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 kelimeler: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ismi olarak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Sınıf ismi olarak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tanımlanamaz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için özel anlam taşır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Şunları tanımlar: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Erişim seviyeleri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Kontrol akışı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Sınıf yapısı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davranışı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şu anda 50’den fazla ayrılmış anahtar kelime bulunmaktadır.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Rounded Rectangle 137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ounded Rectangle 138"/>
          <p:cNvSpPr/>
          <p:nvPr/>
        </p:nvSpPr>
        <p:spPr>
          <a:xfrm>
            <a:off x="4434840" y="3108960"/>
            <a:ext cx="328896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ERİŞİM        TİPLER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           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         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    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KONTROL      OOP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                   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else               extends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                  new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Rounded Rectangle 139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ounded Rectangle 140"/>
          <p:cNvSpPr/>
          <p:nvPr/>
        </p:nvSpPr>
        <p:spPr>
          <a:xfrm>
            <a:off x="8001000" y="2057400"/>
            <a:ext cx="3657240" cy="4571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name;      // private anahtar kelimesi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protected int age;        // protected anahtar kelimesi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Student(String name, int age)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this.name = name;     // this anahtar kelimesi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this.age = age;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printInfo()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if(age &gt; 18) {        // if anahtar kelimesi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System.out.println("Yetişkin");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System.out.println("Küçük");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Rectangle 305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306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307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308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309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310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311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312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313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314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315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316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317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318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319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320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ounded Rectangle 141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TextBox 61"/>
          <p:cNvSpPr/>
          <p:nvPr/>
        </p:nvSpPr>
        <p:spPr>
          <a:xfrm>
            <a:off x="2800080" y="1005840"/>
            <a:ext cx="53719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YORUMLAR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TextBox 62"/>
          <p:cNvSpPr/>
          <p:nvPr/>
        </p:nvSpPr>
        <p:spPr>
          <a:xfrm>
            <a:off x="2288520" y="1828800"/>
            <a:ext cx="65332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Yorumlar, kodu açıklamak için kullanılan çalıştırılmayan satırlardır.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Okunabilirliği artırır ve programın çalışmasını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etkilemeden geliştiricilerin mantığı anlamasını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Rounded Rectangle 142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ounded Rectangle 143"/>
          <p:cNvSpPr/>
          <p:nvPr/>
        </p:nvSpPr>
        <p:spPr>
          <a:xfrm>
            <a:off x="685800" y="2971800"/>
            <a:ext cx="351756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yorumlar derleyici tarafından yok sayılır.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Sadece geliştiriciler için yazılır.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Üç tür yorum vardır: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Tek satır yorum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Çok satırlı yorum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Dokümantasyon yorumu (Javadoc)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Yorumlar kodu daha temiz, daha sürdürülebilir ve ekip çalışmalarında daha anlaşılır hale getirir.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Rounded Rectangle 144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ounded Rectangle 145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Kodu Yaz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Yorum Ekleyerek Açıklama Yap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Yorumları Yok Sayar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Program Normal Şekilde Çalışır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Davranışı değiştirmeden okunabilirliği artırmak.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5" name="Rounded Rectangle 146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ounded Rectangle 147"/>
          <p:cNvSpPr/>
          <p:nvPr/>
        </p:nvSpPr>
        <p:spPr>
          <a:xfrm>
            <a:off x="7955280" y="3108960"/>
            <a:ext cx="347472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CommentExample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Tek satır yorum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/* Çok satırlı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yorum */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 Java"); // Satır sonu yorumu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7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2026-02-28T01:13:14Z</dcterms:modified>
  <cp:revision>39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