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_rels/slideLayout31.xml.rels" ContentType="application/vnd.openxmlformats-package.relationships+xml"/>
  <Override PartName="/ppt/slideLayouts/_rels/slideLayout5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54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55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6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57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58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59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49.xml.rels" ContentType="application/vnd.openxmlformats-package.relationships+xml"/>
  <Override PartName="/ppt/slideLayouts/_rels/slideLayout50.xml.rels" ContentType="application/vnd.openxmlformats-package.relationships+xml"/>
  <Override PartName="/ppt/slideLayouts/_rels/slideLayout51.xml.rels" ContentType="application/vnd.openxmlformats-package.relationships+xml"/>
  <Override PartName="/ppt/slideLayouts/_rels/slideLayout52.xml.rels" ContentType="application/vnd.openxmlformats-package.relationships+xml"/>
  <Override PartName="/ppt/slideLayouts/_rels/slideLayout60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0" r:id="rId6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1C1BB08-356D-4669-9AA5-929E8189577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F9ED49B-7185-4330-8C1C-D54AA9BEB3F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D1565FF-5AB7-4180-9797-30EBBEDD4FC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AB9F276-6066-413D-A477-CDF67B1F61D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0CB179B-1A49-42E6-B0D4-150472D07C5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6EF1388-8AE9-48D7-B354-BAB2C5A56C2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0C7EFD2-E987-4264-BE41-7B9D022E30E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72B7143-8332-4C1B-8A02-574702FE8F1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FC44578-EC5E-4FE5-AFB4-AF5F4E54A00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BA0DB65-3B69-4983-8ACA-105593DBE84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167A658-FE18-46AB-9E9F-E54906A9CA4B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0D12CB9-4D2E-40D9-AD7E-ECA61675B89D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06071FC-5C02-4C49-B9E7-2CB52F8FF1B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95C742D-F136-4161-9D69-BE80415A624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81E33E5-EBBE-4B42-AF2A-2BCEDE723D6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9B3A5FE-E3D7-4D17-9285-774FA2F4AC6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50EF7E0-7FF2-4B2B-8420-E6A91942BAB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6CFA858-0AE9-4EAF-BE47-0444401E3C2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B36484C-DD5F-489F-B445-92AD1A20A2F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F994C81-4D65-4CEF-BD1E-1E04EC7E668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EB5D077-6996-4EAF-98B4-1FB2B28C907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6D99DC5-0474-4639-8492-3972910945A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A98BED1-B09A-4B01-A5E7-F7B38960BD5D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401A577-5CB9-483E-9AE3-360D47734064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AC48E0ED-33CA-4467-B43A-CFACF8486D1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EB7C9919-D53A-49DA-9BA9-E6E01DF006B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FBE0DBB4-B5E9-499C-957C-4E2FA25BCC1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3437848A-343C-41DD-AE00-73FC8BEC353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F43A1898-6BE3-4589-9CE6-4AA34F928E0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B23457EC-E38E-436C-A26C-9A20EF66B84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5B6C5D55-9D55-4502-860B-A105FAC01D5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7E89E58D-0DDC-4ACF-9B80-E228B40EBC3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DE1ACF36-DFD8-4DC5-A2FA-C057CA088F4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E7AEB188-61B9-4A8C-960D-DEA14B614E8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0FA9CB16-A66E-470B-BC00-640D94BBB2E6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002856B5-5332-4D7A-8238-49ACE0A8C5C3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FEFBAC94-914E-4387-8460-DAF4724B03A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0EB68B78-7469-4B17-9AF1-8613CCA891F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8E96763C-E723-4E41-BA8D-556BA1F8418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AC808699-EFBD-4612-994B-7B945E324A2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722D19BD-DF09-406A-8668-D84D1D8BEA3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19229858-A20E-4FC8-9DD6-F21FE9C74CB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6182B8C8-FE87-4CF2-884D-1361B39CAF2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8E9372CE-6384-4660-8A91-20D1D4C8561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9F82CF5A-E4F2-47E8-B24E-B6D82A8DD36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42DF041B-1E32-49D1-9637-C4C1070C8D2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FC017B92-DB32-4F99-9D15-64C952F5CD80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21327591-A1CA-4A99-8610-D61AF50559CD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73794C18-D88D-4694-8084-6C80284683A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891DDE16-D6F7-4EDA-BE22-0F8F8D00F61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F865A154-613E-42AA-AA5D-FFC65272822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26AF8BC7-3842-487D-910C-4E202EAD16C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EA2D20F2-3191-4867-B759-2BBB30A1A78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C5760A56-8137-4804-B9CC-981BF832C78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416A4E43-6D6E-4066-927E-BB1DFA0E3FD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E73DB3E9-2B81-4462-A062-2F1848CB3EB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DADFABCA-8E91-4E65-AB3B-00E71182327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8FC8A0D5-F0A1-4463-AB4E-E1857EF01E7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1C0F788C-0D98-41B9-8CC9-DE947930EC84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4AC83D43-5455-4FA7-99DE-BDD34E19322E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49.xml"/><Relationship Id="rId3" Type="http://schemas.openxmlformats.org/officeDocument/2006/relationships/slideLayout" Target="../slideLayouts/slideLayout50.xml"/><Relationship Id="rId4" Type="http://schemas.openxmlformats.org/officeDocument/2006/relationships/slideLayout" Target="../slideLayouts/slideLayout51.xml"/><Relationship Id="rId5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3.xml"/><Relationship Id="rId7" Type="http://schemas.openxmlformats.org/officeDocument/2006/relationships/slideLayout" Target="../slideLayouts/slideLayout54.xml"/><Relationship Id="rId8" Type="http://schemas.openxmlformats.org/officeDocument/2006/relationships/slideLayout" Target="../slideLayouts/slideLayout55.xml"/><Relationship Id="rId9" Type="http://schemas.openxmlformats.org/officeDocument/2006/relationships/slideLayout" Target="../slideLayouts/slideLayout56.xml"/><Relationship Id="rId10" Type="http://schemas.openxmlformats.org/officeDocument/2006/relationships/slideLayout" Target="../slideLayouts/slideLayout57.xml"/><Relationship Id="rId11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59.xml"/><Relationship Id="rId13" Type="http://schemas.openxmlformats.org/officeDocument/2006/relationships/slideLayout" Target="../slideLayouts/slideLayout60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260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01D6CEE-B097-4E2E-887B-1C9551ED3178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260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445169E-8F39-4840-8A98-B91BAB5C0DF7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9332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8ED7407-055B-4572-8D10-1B61472B710A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ftr" idx="10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sldNum" idx="11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79B5395-EF32-4D2C-ADF1-282128335AC6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 type="dt" idx="12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1"/>
          <p:cNvSpPr>
            <a:spLocks noGrp="1"/>
          </p:cNvSpPr>
          <p:nvPr>
            <p:ph type="ftr" idx="13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" name="PlaceHolder 2"/>
          <p:cNvSpPr>
            <a:spLocks noGrp="1"/>
          </p:cNvSpPr>
          <p:nvPr>
            <p:ph type="sldNum" idx="14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1D4F6EB-CA39-41B8-B609-E1C4DF677EB5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" name="PlaceHolder 3"/>
          <p:cNvSpPr>
            <a:spLocks noGrp="1"/>
          </p:cNvSpPr>
          <p:nvPr>
            <p:ph type="dt" idx="15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Rectangle 1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6" name="Rectangle 2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7" name="Rectangle 3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8" name="Rectangle 4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9" name="Rectangle 5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0" name="Rectangle 6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1" name="Rectangle 7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2" name="Rectangle 8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3" name="Rectangle 9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4" name="Rectangle 10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5" name="Rectangle 11"/>
          <p:cNvSpPr/>
          <p:nvPr/>
        </p:nvSpPr>
        <p:spPr>
          <a:xfrm>
            <a:off x="8229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6" name="Rectangle 12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7" name="Rectangle 13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8" name="Rectangle 14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9" name="Rectangle 15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0" name="Rectangle 16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1" name="Rounded Rectangle 17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" name="TextBox 18"/>
          <p:cNvSpPr/>
          <p:nvPr/>
        </p:nvSpPr>
        <p:spPr>
          <a:xfrm>
            <a:off x="1730160" y="1005840"/>
            <a:ext cx="75099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SANAL MAKİNESİ (JVM)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TextBox 19"/>
          <p:cNvSpPr/>
          <p:nvPr/>
        </p:nvSpPr>
        <p:spPr>
          <a:xfrm>
            <a:off x="3707640" y="2057400"/>
            <a:ext cx="35553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programlarını çalıştıran motor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Rounded Rectangle 20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5" name="Rounded Rectangle 21"/>
          <p:cNvSpPr/>
          <p:nvPr/>
        </p:nvSpPr>
        <p:spPr>
          <a:xfrm>
            <a:off x="685800" y="2521440"/>
            <a:ext cx="3427200" cy="3327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Java Sanal Makinesi (JVM), Java bytecode’unu çalıştıran sanal bir çalışma zamanı motorudur.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Java programlarının herhangi bir platformda çalışmasına olanak sağlar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Java kodu makine koduna değil, bytecode’a derlenir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JVM, bytecode’u makineye özgü talimatlara çevirir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JVM’in Sorumlulukları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Platform bağımsızlığı (Bir Kez Yaz, Her Yerde Çalıştır)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Bytecode’un çalıştırılması (Yorumlayıcı + JIT Derleyici)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Otomatik bellek yönetimi (Çöp Toplama / Garbage Collection)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Kontrollü bir çalışma ortamı sayesinde güvenlik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👉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JVM, Java programları ile işletim sistemi arasında bir köprü görevi görür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6" name="Rounded Rectangle 22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7" name="Rounded Rectangle 23"/>
          <p:cNvSpPr/>
          <p:nvPr/>
        </p:nvSpPr>
        <p:spPr>
          <a:xfrm>
            <a:off x="443484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Kaynak Kodu (.java)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⬇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Derleyicisi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⬇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⬇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JVM (Yorumlayıcı + JIT)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⬇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İşletim Sistemi / CPU için Makine Kodu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8" name="Rounded Rectangle 24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9" name="Rounded Rectangle 25"/>
          <p:cNvSpPr/>
          <p:nvPr/>
        </p:nvSpPr>
        <p:spPr>
          <a:xfrm>
            <a:off x="795528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System.out.println("Merhaba, JVM!");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Rectangle 32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2" name="Rectangle 33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3" name="Rectangle 34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4" name="Rectangle 35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5" name="Rectangle 36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6" name="Rectangle 37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7" name="Rectangle 38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8" name="Rectangle 39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9" name="Rectangle 40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0" name="Rectangle 41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1" name="Rectangle 42"/>
          <p:cNvSpPr/>
          <p:nvPr/>
        </p:nvSpPr>
        <p:spPr>
          <a:xfrm>
            <a:off x="8229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2" name="Rectangle 43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3" name="Rectangle 44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4" name="Rectangle 45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5" name="Rectangle 46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6" name="Rectangle 47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7" name="Rounded Rectangle 8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" name="TextBox 4"/>
          <p:cNvSpPr/>
          <p:nvPr/>
        </p:nvSpPr>
        <p:spPr>
          <a:xfrm>
            <a:off x="3660120" y="1005840"/>
            <a:ext cx="36496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JVM Mimarisi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TextBox 5"/>
          <p:cNvSpPr/>
          <p:nvPr/>
        </p:nvSpPr>
        <p:spPr>
          <a:xfrm>
            <a:off x="3961440" y="2194560"/>
            <a:ext cx="30477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SANAL MAKİNESİNİN İÇİ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Rounded Rectangle 9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1" name="Rounded Rectangle 10"/>
          <p:cNvSpPr/>
          <p:nvPr/>
        </p:nvSpPr>
        <p:spPr>
          <a:xfrm>
            <a:off x="91440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JVM mimarisi, Java programlarını çalıştırmak için birlikte çalışan temel bileşenlerden oluşur.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Loader, sınıf dosyalarını belleğe yükler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Runtime Data Areas, çalışma sırasında verileri depolar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Engine, bytecode’u çalıştırır (Yorumlayıcı + JIT)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Garbage Collector, kullanılmayan nesneleri otomatik olarak temizler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Bu bileşenler, Java programlarının işletim sisteminden bağımsız olarak güvenli, verimli ve kararlı şekilde çalışmasını sağlar.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2" name="Rounded Rectangle 11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3" name="Rounded Rectangle 12"/>
          <p:cNvSpPr/>
          <p:nvPr/>
        </p:nvSpPr>
        <p:spPr>
          <a:xfrm>
            <a:off x="443484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Çalışma Zamanı Veri Alanları (Runtime Data Areas)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Çalıştırma Motoru (Yorumlayıcı + JIT)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Çöp Toplayıcı (Garbage Collector)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4" name="Rounded Rectangle 13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5" name="Rounded Rectangle 14"/>
          <p:cNvSpPr/>
          <p:nvPr/>
        </p:nvSpPr>
        <p:spPr>
          <a:xfrm>
            <a:off x="795528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class Demo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System.out.println("JVM Çalışıyor");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Süreç Akışı: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Yükle ⇒ Belleğe Kaydet ⇒ Çalıştır ⇒ Belleği Temizle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6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Rectangle 48"/>
          <p:cNvSpPr/>
          <p:nvPr/>
        </p:nvSpPr>
        <p:spPr>
          <a:xfrm>
            <a:off x="0" y="0"/>
            <a:ext cx="12186720" cy="6855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8" name="Rectangle 17"/>
          <p:cNvSpPr/>
          <p:nvPr/>
        </p:nvSpPr>
        <p:spPr>
          <a:xfrm>
            <a:off x="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9" name="Rectangle 18"/>
          <p:cNvSpPr/>
          <p:nvPr/>
        </p:nvSpPr>
        <p:spPr>
          <a:xfrm>
            <a:off x="914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0" name="Rectangle 19"/>
          <p:cNvSpPr/>
          <p:nvPr/>
        </p:nvSpPr>
        <p:spPr>
          <a:xfrm>
            <a:off x="1828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1" name="Rectangle 20"/>
          <p:cNvSpPr/>
          <p:nvPr/>
        </p:nvSpPr>
        <p:spPr>
          <a:xfrm>
            <a:off x="2743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2" name="Rectangle 21"/>
          <p:cNvSpPr/>
          <p:nvPr/>
        </p:nvSpPr>
        <p:spPr>
          <a:xfrm>
            <a:off x="3657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3" name="Rectangle 22"/>
          <p:cNvSpPr/>
          <p:nvPr/>
        </p:nvSpPr>
        <p:spPr>
          <a:xfrm>
            <a:off x="4572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4" name="Rectangle 23"/>
          <p:cNvSpPr/>
          <p:nvPr/>
        </p:nvSpPr>
        <p:spPr>
          <a:xfrm>
            <a:off x="5486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5" name="Rectangle 24"/>
          <p:cNvSpPr/>
          <p:nvPr/>
        </p:nvSpPr>
        <p:spPr>
          <a:xfrm>
            <a:off x="6400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6" name="Rectangle 25"/>
          <p:cNvSpPr/>
          <p:nvPr/>
        </p:nvSpPr>
        <p:spPr>
          <a:xfrm>
            <a:off x="7315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7" name="Rectangle 26"/>
          <p:cNvSpPr/>
          <p:nvPr/>
        </p:nvSpPr>
        <p:spPr>
          <a:xfrm>
            <a:off x="8229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8" name="Rectangle 27"/>
          <p:cNvSpPr/>
          <p:nvPr/>
        </p:nvSpPr>
        <p:spPr>
          <a:xfrm>
            <a:off x="9144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9" name="Rectangle 28"/>
          <p:cNvSpPr/>
          <p:nvPr/>
        </p:nvSpPr>
        <p:spPr>
          <a:xfrm>
            <a:off x="10058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0" name="Rectangle 29"/>
          <p:cNvSpPr/>
          <p:nvPr/>
        </p:nvSpPr>
        <p:spPr>
          <a:xfrm>
            <a:off x="10972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1" name="Rectangle 30"/>
          <p:cNvSpPr/>
          <p:nvPr/>
        </p:nvSpPr>
        <p:spPr>
          <a:xfrm>
            <a:off x="11887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2" name="Rectangle 31"/>
          <p:cNvSpPr/>
          <p:nvPr/>
        </p:nvSpPr>
        <p:spPr>
          <a:xfrm>
            <a:off x="0" y="0"/>
            <a:ext cx="317880" cy="6855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3" name="Rounded Rectangle 15"/>
          <p:cNvSpPr/>
          <p:nvPr/>
        </p:nvSpPr>
        <p:spPr>
          <a:xfrm>
            <a:off x="9875520" y="365760"/>
            <a:ext cx="2009520" cy="500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4" name="TextBox 7"/>
          <p:cNvSpPr/>
          <p:nvPr/>
        </p:nvSpPr>
        <p:spPr>
          <a:xfrm>
            <a:off x="1713960" y="1005840"/>
            <a:ext cx="75434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JVM Program Yürütme Süreci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TextBox 8"/>
          <p:cNvSpPr/>
          <p:nvPr/>
        </p:nvSpPr>
        <p:spPr>
          <a:xfrm>
            <a:off x="2170440" y="2194560"/>
            <a:ext cx="66308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JVM’in bir Java programını arka planda adım adım nasıl çalıştırdığı.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Rounded Rectangle 16"/>
          <p:cNvSpPr/>
          <p:nvPr/>
        </p:nvSpPr>
        <p:spPr>
          <a:xfrm>
            <a:off x="98748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7" name="Rounded Rectangle 18"/>
          <p:cNvSpPr/>
          <p:nvPr/>
        </p:nvSpPr>
        <p:spPr>
          <a:xfrm>
            <a:off x="475560" y="2743200"/>
            <a:ext cx="3728520" cy="310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Bir Java programı başladığında, JVM akıllı bir yürütme süreci izler.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İlk olarak Class Loader, derlenmiş .class dosyalarını belleğe yükler ve güvenlik açısından kontrol eder.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Daha sonra bellek, Heap (nesneler için) ve Stack (metot çağrıları ve değişkenler için) gibi alanlara ayrılır.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Ardından Execution Engine programı çalıştırır.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Interpreter bytecode’u satır satır okur, JIT Compiler ise sık kullanılan kodları daha hızlı çalışması için makine koduna çevirir.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Son olarak Garbage Collector, kullanılmayan nesneleri bellekten otomatik olarak temizler.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Bu süreç sayesinde Java programları güvenli, verimli bir şekilde ve JVM bulunan her sistemde çalışır.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8" name="Rounded Rectangle 19"/>
          <p:cNvSpPr/>
          <p:nvPr/>
        </p:nvSpPr>
        <p:spPr>
          <a:xfrm>
            <a:off x="450792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9" name="Rounded Rectangle 26"/>
          <p:cNvSpPr/>
          <p:nvPr/>
        </p:nvSpPr>
        <p:spPr>
          <a:xfrm>
            <a:off x="4343400" y="2918520"/>
            <a:ext cx="3518280" cy="2931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Kaynak Kodu (.java)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Derleyicisi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Loader sınıfları yükler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Bellek Tahsisi (Heap / Stack)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Çalıştırma Motoru (Interpreter + JIT)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Yerel Makine Kodu Çalıştırma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Garbage Collector belleği temizler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0" name="Rounded Rectangle 27"/>
          <p:cNvSpPr/>
          <p:nvPr/>
        </p:nvSpPr>
        <p:spPr>
          <a:xfrm>
            <a:off x="802836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1" name="Rounded Rectangle 28"/>
          <p:cNvSpPr/>
          <p:nvPr/>
        </p:nvSpPr>
        <p:spPr>
          <a:xfrm>
            <a:off x="8023680" y="2743200"/>
            <a:ext cx="3839760" cy="319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ExecutionDemo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String mesaj = "JVM Yürütme Başladı";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System.out.println(mesaj);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int sonuc = sayilariTopla(5, 7);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System.out.println("Sonuç: " + sonuc);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int sayilariTopla(int sayi1, int sayi2)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return sayi1 + sayi2;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2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Rectangle 64"/>
          <p:cNvSpPr/>
          <p:nvPr/>
        </p:nvSpPr>
        <p:spPr>
          <a:xfrm>
            <a:off x="0" y="0"/>
            <a:ext cx="12187080" cy="6856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4" name="Rectangle 49"/>
          <p:cNvSpPr/>
          <p:nvPr/>
        </p:nvSpPr>
        <p:spPr>
          <a:xfrm>
            <a:off x="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5" name="Rectangle 50"/>
          <p:cNvSpPr/>
          <p:nvPr/>
        </p:nvSpPr>
        <p:spPr>
          <a:xfrm>
            <a:off x="914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6" name="Rectangle 51"/>
          <p:cNvSpPr/>
          <p:nvPr/>
        </p:nvSpPr>
        <p:spPr>
          <a:xfrm>
            <a:off x="1828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7" name="Rectangle 52"/>
          <p:cNvSpPr/>
          <p:nvPr/>
        </p:nvSpPr>
        <p:spPr>
          <a:xfrm>
            <a:off x="2743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8" name="Rectangle 53"/>
          <p:cNvSpPr/>
          <p:nvPr/>
        </p:nvSpPr>
        <p:spPr>
          <a:xfrm>
            <a:off x="3657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9" name="Rectangle 54"/>
          <p:cNvSpPr/>
          <p:nvPr/>
        </p:nvSpPr>
        <p:spPr>
          <a:xfrm>
            <a:off x="4572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0" name="Rectangle 55"/>
          <p:cNvSpPr/>
          <p:nvPr/>
        </p:nvSpPr>
        <p:spPr>
          <a:xfrm>
            <a:off x="5486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1" name="Rectangle 56"/>
          <p:cNvSpPr/>
          <p:nvPr/>
        </p:nvSpPr>
        <p:spPr>
          <a:xfrm>
            <a:off x="6400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2" name="Rectangle 57"/>
          <p:cNvSpPr/>
          <p:nvPr/>
        </p:nvSpPr>
        <p:spPr>
          <a:xfrm>
            <a:off x="7315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3" name="Rectangle 58"/>
          <p:cNvSpPr/>
          <p:nvPr/>
        </p:nvSpPr>
        <p:spPr>
          <a:xfrm>
            <a:off x="8229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4" name="Rectangle 59"/>
          <p:cNvSpPr/>
          <p:nvPr/>
        </p:nvSpPr>
        <p:spPr>
          <a:xfrm>
            <a:off x="9144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5" name="Rectangle 60"/>
          <p:cNvSpPr/>
          <p:nvPr/>
        </p:nvSpPr>
        <p:spPr>
          <a:xfrm>
            <a:off x="10058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6" name="Rectangle 61"/>
          <p:cNvSpPr/>
          <p:nvPr/>
        </p:nvSpPr>
        <p:spPr>
          <a:xfrm>
            <a:off x="10972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7" name="Rectangle 62"/>
          <p:cNvSpPr/>
          <p:nvPr/>
        </p:nvSpPr>
        <p:spPr>
          <a:xfrm>
            <a:off x="11887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8" name="Rectangle 63"/>
          <p:cNvSpPr/>
          <p:nvPr/>
        </p:nvSpPr>
        <p:spPr>
          <a:xfrm>
            <a:off x="0" y="0"/>
            <a:ext cx="318240" cy="6856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9" name="Rounded Rectangle 29"/>
          <p:cNvSpPr/>
          <p:nvPr/>
        </p:nvSpPr>
        <p:spPr>
          <a:xfrm>
            <a:off x="9875520" y="365760"/>
            <a:ext cx="2009880" cy="501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0" name="TextBox 10"/>
          <p:cNvSpPr/>
          <p:nvPr/>
        </p:nvSpPr>
        <p:spPr>
          <a:xfrm>
            <a:off x="3163320" y="1005840"/>
            <a:ext cx="46450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JRE vs JDK vs JVM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TextBox 11"/>
          <p:cNvSpPr/>
          <p:nvPr/>
        </p:nvSpPr>
        <p:spPr>
          <a:xfrm>
            <a:off x="3609720" y="2194560"/>
            <a:ext cx="375120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Java’nın Temel Bileşenlerini Anlamak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Rounded Rectangle 30"/>
          <p:cNvSpPr/>
          <p:nvPr/>
        </p:nvSpPr>
        <p:spPr>
          <a:xfrm>
            <a:off x="98748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3" name="Rounded Rectangle 31"/>
          <p:cNvSpPr/>
          <p:nvPr/>
        </p:nvSpPr>
        <p:spPr>
          <a:xfrm>
            <a:off x="685800" y="2971800"/>
            <a:ext cx="3518640" cy="319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Java, uygulamaları geliştirmek ve çalıştırmak için birlikte çalışan üç temel katmandan oluşur.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JVM (Java Sanal Makinesi)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Java bytecode’u çalıştırır ve Java’yı platformdan bağımsız hale getirir.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JRE (Java Çalışma Ortamı)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Java uygulamalarını çalıştırmak için gereken her şeyi sağlar.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JDK (Java Geliştirme Kiti)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Java uygulamaları geliştirmek için gerekli araçları sağlar.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Şöyle düşünebilirsin: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JVM = Motor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JRE = Motor + Yakıt Sistemi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JDK = Tüm Arabanın Üretildiği Fabrika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4" name="Rounded Rectangle 32"/>
          <p:cNvSpPr/>
          <p:nvPr/>
        </p:nvSpPr>
        <p:spPr>
          <a:xfrm>
            <a:off x="450792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5" name="Rounded Rectangle 33"/>
          <p:cNvSpPr/>
          <p:nvPr/>
        </p:nvSpPr>
        <p:spPr>
          <a:xfrm>
            <a:off x="443484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Kaynak Kodu (.java)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JDK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(Derleyici + Geliştirme Araçları)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 dosyaları)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JRE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(Kütüphaneler + JVM)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JVM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(Çalıştırma Motoru)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Makine Kodu (İşletim Sistemi / CPU)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6" name="Rounded Rectangle 34"/>
          <p:cNvSpPr/>
          <p:nvPr/>
        </p:nvSpPr>
        <p:spPr>
          <a:xfrm>
            <a:off x="802836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7" name="Rounded Rectangle 35"/>
          <p:cNvSpPr/>
          <p:nvPr/>
        </p:nvSpPr>
        <p:spPr>
          <a:xfrm>
            <a:off x="795528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# JDK ile derleme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javac Main.java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# JRE üzerinden çalıştırma (arka planda JVM kullanılır)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java Main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System.out.println("JDK, JRE ve JVM’i Anlıyoruz!");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8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Rectangle 80"/>
          <p:cNvSpPr/>
          <p:nvPr/>
        </p:nvSpPr>
        <p:spPr>
          <a:xfrm>
            <a:off x="0" y="0"/>
            <a:ext cx="12187440" cy="6856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0" name="Rectangle 65"/>
          <p:cNvSpPr/>
          <p:nvPr/>
        </p:nvSpPr>
        <p:spPr>
          <a:xfrm>
            <a:off x="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1" name="Rectangle 66"/>
          <p:cNvSpPr/>
          <p:nvPr/>
        </p:nvSpPr>
        <p:spPr>
          <a:xfrm>
            <a:off x="914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2" name="Rectangle 67"/>
          <p:cNvSpPr/>
          <p:nvPr/>
        </p:nvSpPr>
        <p:spPr>
          <a:xfrm>
            <a:off x="1828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3" name="Rectangle 68"/>
          <p:cNvSpPr/>
          <p:nvPr/>
        </p:nvSpPr>
        <p:spPr>
          <a:xfrm>
            <a:off x="2743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4" name="Rectangle 69"/>
          <p:cNvSpPr/>
          <p:nvPr/>
        </p:nvSpPr>
        <p:spPr>
          <a:xfrm>
            <a:off x="3657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5" name="Rectangle 70"/>
          <p:cNvSpPr/>
          <p:nvPr/>
        </p:nvSpPr>
        <p:spPr>
          <a:xfrm>
            <a:off x="4572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6" name="Rectangle 71"/>
          <p:cNvSpPr/>
          <p:nvPr/>
        </p:nvSpPr>
        <p:spPr>
          <a:xfrm>
            <a:off x="5486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7" name="Rectangle 72"/>
          <p:cNvSpPr/>
          <p:nvPr/>
        </p:nvSpPr>
        <p:spPr>
          <a:xfrm>
            <a:off x="6400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8" name="Rectangle 73"/>
          <p:cNvSpPr/>
          <p:nvPr/>
        </p:nvSpPr>
        <p:spPr>
          <a:xfrm>
            <a:off x="7315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9" name="Rectangle 74"/>
          <p:cNvSpPr/>
          <p:nvPr/>
        </p:nvSpPr>
        <p:spPr>
          <a:xfrm>
            <a:off x="8229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0" name="Rectangle 75"/>
          <p:cNvSpPr/>
          <p:nvPr/>
        </p:nvSpPr>
        <p:spPr>
          <a:xfrm>
            <a:off x="9144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1" name="Rectangle 76"/>
          <p:cNvSpPr/>
          <p:nvPr/>
        </p:nvSpPr>
        <p:spPr>
          <a:xfrm>
            <a:off x="10058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2" name="Rectangle 77"/>
          <p:cNvSpPr/>
          <p:nvPr/>
        </p:nvSpPr>
        <p:spPr>
          <a:xfrm>
            <a:off x="10972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3" name="Rectangle 78"/>
          <p:cNvSpPr/>
          <p:nvPr/>
        </p:nvSpPr>
        <p:spPr>
          <a:xfrm>
            <a:off x="11887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4" name="Rectangle 79"/>
          <p:cNvSpPr/>
          <p:nvPr/>
        </p:nvSpPr>
        <p:spPr>
          <a:xfrm>
            <a:off x="0" y="0"/>
            <a:ext cx="318600" cy="6856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5" name="Rounded Rectangle 36"/>
          <p:cNvSpPr/>
          <p:nvPr/>
        </p:nvSpPr>
        <p:spPr>
          <a:xfrm>
            <a:off x="9875520" y="365760"/>
            <a:ext cx="2010240" cy="501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6" name="TextBox 13"/>
          <p:cNvSpPr/>
          <p:nvPr/>
        </p:nvSpPr>
        <p:spPr>
          <a:xfrm>
            <a:off x="2175120" y="1005840"/>
            <a:ext cx="66211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ORTAM KURULUMU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TextBox 14"/>
          <p:cNvSpPr/>
          <p:nvPr/>
        </p:nvSpPr>
        <p:spPr>
          <a:xfrm>
            <a:off x="2093040" y="2194560"/>
            <a:ext cx="67856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programlarını derlemek ve çalıştırmak için sistemi hazırlar.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Bunu, JDK’yı kurarak ve sistem değişkenlerini yapılandırarak yaparız.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" name="Rounded Rectangle 37"/>
          <p:cNvSpPr/>
          <p:nvPr/>
        </p:nvSpPr>
        <p:spPr>
          <a:xfrm>
            <a:off x="98748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9" name="Rounded Rectangle 38"/>
          <p:cNvSpPr/>
          <p:nvPr/>
        </p:nvSpPr>
        <p:spPr>
          <a:xfrm>
            <a:off x="914400" y="310896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JDK (Java Development Kit) derleyici (javac) ve çalıştırma ortamını (java) içerir.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PATH ve JAVA_HOME gibi sistem değişkenleri, komut satırının Java’yı bulmasını sağlar.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Doğru kurulum sayesinde Java programları sistemin her yerinden derlenip çalıştırılabilir.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0" name="Rounded Rectangle 39"/>
          <p:cNvSpPr/>
          <p:nvPr/>
        </p:nvSpPr>
        <p:spPr>
          <a:xfrm>
            <a:off x="450792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1" name="Rounded Rectangle 40"/>
          <p:cNvSpPr/>
          <p:nvPr/>
        </p:nvSpPr>
        <p:spPr>
          <a:xfrm>
            <a:off x="4434840" y="310896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JDK’yı indir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Bilgisayarına kur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JAVA_HOME ayarla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JDK bin klasörünü PATH değişkenine ekle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Terminalden doğrula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2" name="Rounded Rectangle 41"/>
          <p:cNvSpPr/>
          <p:nvPr/>
        </p:nvSpPr>
        <p:spPr>
          <a:xfrm>
            <a:off x="802836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3" name="Rounded Rectangle 42"/>
          <p:cNvSpPr/>
          <p:nvPr/>
        </p:nvSpPr>
        <p:spPr>
          <a:xfrm>
            <a:off x="7955280" y="310896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Komut İstemine şunları yaz: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java -version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javac -version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4" name="TextBox 15"/>
          <p:cNvSpPr/>
          <p:nvPr/>
        </p:nvSpPr>
        <p:spPr>
          <a:xfrm>
            <a:off x="4600080" y="6446520"/>
            <a:ext cx="305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Rectangle 81"/>
          <p:cNvSpPr/>
          <p:nvPr/>
        </p:nvSpPr>
        <p:spPr>
          <a:xfrm>
            <a:off x="0" y="0"/>
            <a:ext cx="12187440" cy="6856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6" name="Rectangle 82"/>
          <p:cNvSpPr/>
          <p:nvPr/>
        </p:nvSpPr>
        <p:spPr>
          <a:xfrm>
            <a:off x="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7" name="Rectangle 83"/>
          <p:cNvSpPr/>
          <p:nvPr/>
        </p:nvSpPr>
        <p:spPr>
          <a:xfrm>
            <a:off x="914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8" name="Rectangle 84"/>
          <p:cNvSpPr/>
          <p:nvPr/>
        </p:nvSpPr>
        <p:spPr>
          <a:xfrm>
            <a:off x="1828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9" name="Rectangle 85"/>
          <p:cNvSpPr/>
          <p:nvPr/>
        </p:nvSpPr>
        <p:spPr>
          <a:xfrm>
            <a:off x="2743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0" name="Rectangle 86"/>
          <p:cNvSpPr/>
          <p:nvPr/>
        </p:nvSpPr>
        <p:spPr>
          <a:xfrm>
            <a:off x="3657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1" name="Rectangle 87"/>
          <p:cNvSpPr/>
          <p:nvPr/>
        </p:nvSpPr>
        <p:spPr>
          <a:xfrm>
            <a:off x="4572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2" name="Rectangle 88"/>
          <p:cNvSpPr/>
          <p:nvPr/>
        </p:nvSpPr>
        <p:spPr>
          <a:xfrm>
            <a:off x="5486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3" name="Rectangle 89"/>
          <p:cNvSpPr/>
          <p:nvPr/>
        </p:nvSpPr>
        <p:spPr>
          <a:xfrm>
            <a:off x="6400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4" name="Rectangle 90"/>
          <p:cNvSpPr/>
          <p:nvPr/>
        </p:nvSpPr>
        <p:spPr>
          <a:xfrm>
            <a:off x="7315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5" name="Rectangle 91"/>
          <p:cNvSpPr/>
          <p:nvPr/>
        </p:nvSpPr>
        <p:spPr>
          <a:xfrm>
            <a:off x="8229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6" name="Rectangle 92"/>
          <p:cNvSpPr/>
          <p:nvPr/>
        </p:nvSpPr>
        <p:spPr>
          <a:xfrm>
            <a:off x="9144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7" name="Rectangle 93"/>
          <p:cNvSpPr/>
          <p:nvPr/>
        </p:nvSpPr>
        <p:spPr>
          <a:xfrm>
            <a:off x="10058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8" name="Rectangle 94"/>
          <p:cNvSpPr/>
          <p:nvPr/>
        </p:nvSpPr>
        <p:spPr>
          <a:xfrm>
            <a:off x="10972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9" name="Rectangle 95"/>
          <p:cNvSpPr/>
          <p:nvPr/>
        </p:nvSpPr>
        <p:spPr>
          <a:xfrm>
            <a:off x="11887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0" name="Rectangle 96"/>
          <p:cNvSpPr/>
          <p:nvPr/>
        </p:nvSpPr>
        <p:spPr>
          <a:xfrm>
            <a:off x="0" y="0"/>
            <a:ext cx="318600" cy="6856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1" name="Rounded Rectangle 43"/>
          <p:cNvSpPr/>
          <p:nvPr/>
        </p:nvSpPr>
        <p:spPr>
          <a:xfrm>
            <a:off x="9875520" y="365760"/>
            <a:ext cx="2010240" cy="501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2" name="TextBox 16"/>
          <p:cNvSpPr/>
          <p:nvPr/>
        </p:nvSpPr>
        <p:spPr>
          <a:xfrm>
            <a:off x="1023840" y="1005840"/>
            <a:ext cx="89240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ORTAM DEĞİŞKENLERİNİ YAPILANDIRMA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TextBox 17"/>
          <p:cNvSpPr/>
          <p:nvPr/>
        </p:nvSpPr>
        <p:spPr>
          <a:xfrm>
            <a:off x="-904320" y="2194560"/>
            <a:ext cx="1279368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                                </a:t>
            </a: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Ortam değişkenleri, Java’nın sistemde nerede kurulu olduğunu belirtir ve araçların ile komutların herhangi bir klasörden düzgün çalışmasını sağlar.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Rounded Rectangle 44"/>
          <p:cNvSpPr/>
          <p:nvPr/>
        </p:nvSpPr>
        <p:spPr>
          <a:xfrm>
            <a:off x="98748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5" name="Rounded Rectangle 45"/>
          <p:cNvSpPr/>
          <p:nvPr/>
        </p:nvSpPr>
        <p:spPr>
          <a:xfrm>
            <a:off x="914400" y="310896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JAVA_HOME, JDK’nın kurulu olduğu klasörü gösterir.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PATH, Java’nın bin klasörünü içerir, böylece Java araçları terminal/komut istemcisinden çalıştırılabilir.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Bunlar ayarlanmazsa Java komutları çalışmayabilir.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6" name="Rounded Rectangle 46"/>
          <p:cNvSpPr/>
          <p:nvPr/>
        </p:nvSpPr>
        <p:spPr>
          <a:xfrm>
            <a:off x="450792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7" name="Rounded Rectangle 47"/>
          <p:cNvSpPr/>
          <p:nvPr/>
        </p:nvSpPr>
        <p:spPr>
          <a:xfrm>
            <a:off x="4434840" y="310896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JDK Kuruldu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JAVA_HOME ayarla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→ C:\Program Files\Java\jdk-xx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PATH’e ekle →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  %JAVA_HOME%\bin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ve javac komutlarını çalıştır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8" name="Rounded Rectangle 48"/>
          <p:cNvSpPr/>
          <p:nvPr/>
        </p:nvSpPr>
        <p:spPr>
          <a:xfrm>
            <a:off x="802836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9" name="Rounded Rectangle 49"/>
          <p:cNvSpPr/>
          <p:nvPr/>
        </p:nvSpPr>
        <p:spPr>
          <a:xfrm>
            <a:off x="7955280" y="310896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# Windows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setx JAVA_HOME "C:\Program Files\Java\jdk-xx"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setx PATH "%JAVA_HOME%\bin;%PATH%"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# Linux/Mac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export JAVA_HOME=/usr/lib/jvm/jdk-xx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export PATH=$JAVA_HOME/bin:$PATH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0" name="TextBox 20"/>
          <p:cNvSpPr/>
          <p:nvPr/>
        </p:nvSpPr>
        <p:spPr>
          <a:xfrm>
            <a:off x="4600080" y="6446520"/>
            <a:ext cx="305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Rectangle 97"/>
          <p:cNvSpPr/>
          <p:nvPr/>
        </p:nvSpPr>
        <p:spPr>
          <a:xfrm>
            <a:off x="0" y="0"/>
            <a:ext cx="12187440" cy="6856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2" name="Rectangle 98"/>
          <p:cNvSpPr/>
          <p:nvPr/>
        </p:nvSpPr>
        <p:spPr>
          <a:xfrm>
            <a:off x="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3" name="Rectangle 99"/>
          <p:cNvSpPr/>
          <p:nvPr/>
        </p:nvSpPr>
        <p:spPr>
          <a:xfrm>
            <a:off x="914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4" name="Rectangle 100"/>
          <p:cNvSpPr/>
          <p:nvPr/>
        </p:nvSpPr>
        <p:spPr>
          <a:xfrm>
            <a:off x="1828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5" name="Rectangle 101"/>
          <p:cNvSpPr/>
          <p:nvPr/>
        </p:nvSpPr>
        <p:spPr>
          <a:xfrm>
            <a:off x="2743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6" name="Rectangle 102"/>
          <p:cNvSpPr/>
          <p:nvPr/>
        </p:nvSpPr>
        <p:spPr>
          <a:xfrm>
            <a:off x="3657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7" name="Rectangle 103"/>
          <p:cNvSpPr/>
          <p:nvPr/>
        </p:nvSpPr>
        <p:spPr>
          <a:xfrm>
            <a:off x="4572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8" name="Rectangle 104"/>
          <p:cNvSpPr/>
          <p:nvPr/>
        </p:nvSpPr>
        <p:spPr>
          <a:xfrm>
            <a:off x="5486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9" name="Rectangle 105"/>
          <p:cNvSpPr/>
          <p:nvPr/>
        </p:nvSpPr>
        <p:spPr>
          <a:xfrm>
            <a:off x="6400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0" name="Rectangle 106"/>
          <p:cNvSpPr/>
          <p:nvPr/>
        </p:nvSpPr>
        <p:spPr>
          <a:xfrm>
            <a:off x="7315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1" name="Rectangle 107"/>
          <p:cNvSpPr/>
          <p:nvPr/>
        </p:nvSpPr>
        <p:spPr>
          <a:xfrm>
            <a:off x="8229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2" name="Rectangle 108"/>
          <p:cNvSpPr/>
          <p:nvPr/>
        </p:nvSpPr>
        <p:spPr>
          <a:xfrm>
            <a:off x="9144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3" name="Rectangle 109"/>
          <p:cNvSpPr/>
          <p:nvPr/>
        </p:nvSpPr>
        <p:spPr>
          <a:xfrm>
            <a:off x="10058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4" name="Rectangle 110"/>
          <p:cNvSpPr/>
          <p:nvPr/>
        </p:nvSpPr>
        <p:spPr>
          <a:xfrm>
            <a:off x="10972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5" name="Rectangle 111"/>
          <p:cNvSpPr/>
          <p:nvPr/>
        </p:nvSpPr>
        <p:spPr>
          <a:xfrm>
            <a:off x="11887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6" name="Rectangle 112"/>
          <p:cNvSpPr/>
          <p:nvPr/>
        </p:nvSpPr>
        <p:spPr>
          <a:xfrm>
            <a:off x="0" y="0"/>
            <a:ext cx="318600" cy="6856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7" name="Rounded Rectangle 50"/>
          <p:cNvSpPr/>
          <p:nvPr/>
        </p:nvSpPr>
        <p:spPr>
          <a:xfrm>
            <a:off x="9875520" y="365760"/>
            <a:ext cx="2010240" cy="501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8" name="TextBox 21"/>
          <p:cNvSpPr/>
          <p:nvPr/>
        </p:nvSpPr>
        <p:spPr>
          <a:xfrm>
            <a:off x="1706400" y="1005840"/>
            <a:ext cx="75589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KURULDUKTAN SONRA NE OLUR?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" name="TextBox 22"/>
          <p:cNvSpPr/>
          <p:nvPr/>
        </p:nvSpPr>
        <p:spPr>
          <a:xfrm>
            <a:off x="4241160" y="2194560"/>
            <a:ext cx="2496240" cy="33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Ortam Kurulumundan Sonra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" name="Rounded Rectangle 51"/>
          <p:cNvSpPr/>
          <p:nvPr/>
        </p:nvSpPr>
        <p:spPr>
          <a:xfrm>
            <a:off x="98748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1" name="Rounded Rectangle 52"/>
          <p:cNvSpPr/>
          <p:nvPr/>
        </p:nvSpPr>
        <p:spPr>
          <a:xfrm>
            <a:off x="914400" y="310896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kurulduktan ve yapılandırıldıktan sonra, sisteminiz artık Java programlarını derleyip çalıştırmaya hazırdır.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.java uzantılı kaynak dosyalar oluşturabilirsiniz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javac derleyicisi, kaynak kodu bytecode (.class) dosyasına çevirir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JVM, bu bytecode'u çalıştırır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Programınız artık JVM bulunan herhangi bir sistemde çalışabilir.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Kurulum tamamlandı — artık Java geliştirmeye başlayabilirsiniz.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2" name="Rounded Rectangle 53"/>
          <p:cNvSpPr/>
          <p:nvPr/>
        </p:nvSpPr>
        <p:spPr>
          <a:xfrm>
            <a:off x="450792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3" name="Rounded Rectangle 54"/>
          <p:cNvSpPr/>
          <p:nvPr/>
        </p:nvSpPr>
        <p:spPr>
          <a:xfrm>
            <a:off x="4434840" y="310896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Kodu Yaz (.java)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javac ile Derle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Dosyası Oluşur (.class)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komutu ile Çalıştır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JVM Programı Çalıştırır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Çıktı Ekranda Görünür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4" name="Rounded Rectangle 55"/>
          <p:cNvSpPr/>
          <p:nvPr/>
        </p:nvSpPr>
        <p:spPr>
          <a:xfrm>
            <a:off x="802836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5" name="Rounded Rectangle 56"/>
          <p:cNvSpPr/>
          <p:nvPr/>
        </p:nvSpPr>
        <p:spPr>
          <a:xfrm>
            <a:off x="7955280" y="310896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HelloJava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ortamı hazır!");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6" name="TextBox 23"/>
          <p:cNvSpPr/>
          <p:nvPr/>
        </p:nvSpPr>
        <p:spPr>
          <a:xfrm>
            <a:off x="4600080" y="6446520"/>
            <a:ext cx="305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Rectangle 113"/>
          <p:cNvSpPr/>
          <p:nvPr/>
        </p:nvSpPr>
        <p:spPr>
          <a:xfrm>
            <a:off x="0" y="0"/>
            <a:ext cx="12187440" cy="6856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8" name="Rectangle 114"/>
          <p:cNvSpPr/>
          <p:nvPr/>
        </p:nvSpPr>
        <p:spPr>
          <a:xfrm>
            <a:off x="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9" name="Rectangle 115"/>
          <p:cNvSpPr/>
          <p:nvPr/>
        </p:nvSpPr>
        <p:spPr>
          <a:xfrm>
            <a:off x="914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0" name="Rectangle 116"/>
          <p:cNvSpPr/>
          <p:nvPr/>
        </p:nvSpPr>
        <p:spPr>
          <a:xfrm>
            <a:off x="1828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1" name="Rectangle 117"/>
          <p:cNvSpPr/>
          <p:nvPr/>
        </p:nvSpPr>
        <p:spPr>
          <a:xfrm>
            <a:off x="2743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2" name="Rectangle 118"/>
          <p:cNvSpPr/>
          <p:nvPr/>
        </p:nvSpPr>
        <p:spPr>
          <a:xfrm>
            <a:off x="3657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3" name="Rectangle 119"/>
          <p:cNvSpPr/>
          <p:nvPr/>
        </p:nvSpPr>
        <p:spPr>
          <a:xfrm>
            <a:off x="4572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4" name="Rectangle 120"/>
          <p:cNvSpPr/>
          <p:nvPr/>
        </p:nvSpPr>
        <p:spPr>
          <a:xfrm>
            <a:off x="5486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5" name="Rectangle 121"/>
          <p:cNvSpPr/>
          <p:nvPr/>
        </p:nvSpPr>
        <p:spPr>
          <a:xfrm>
            <a:off x="6400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6" name="Rectangle 122"/>
          <p:cNvSpPr/>
          <p:nvPr/>
        </p:nvSpPr>
        <p:spPr>
          <a:xfrm>
            <a:off x="7315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7" name="Rectangle 123"/>
          <p:cNvSpPr/>
          <p:nvPr/>
        </p:nvSpPr>
        <p:spPr>
          <a:xfrm>
            <a:off x="8229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8" name="Rectangle 124"/>
          <p:cNvSpPr/>
          <p:nvPr/>
        </p:nvSpPr>
        <p:spPr>
          <a:xfrm>
            <a:off x="9144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9" name="Rectangle 125"/>
          <p:cNvSpPr/>
          <p:nvPr/>
        </p:nvSpPr>
        <p:spPr>
          <a:xfrm>
            <a:off x="10058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0" name="Rectangle 126"/>
          <p:cNvSpPr/>
          <p:nvPr/>
        </p:nvSpPr>
        <p:spPr>
          <a:xfrm>
            <a:off x="10972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1" name="Rectangle 127"/>
          <p:cNvSpPr/>
          <p:nvPr/>
        </p:nvSpPr>
        <p:spPr>
          <a:xfrm>
            <a:off x="11887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2" name="Rectangle 128"/>
          <p:cNvSpPr/>
          <p:nvPr/>
        </p:nvSpPr>
        <p:spPr>
          <a:xfrm>
            <a:off x="0" y="0"/>
            <a:ext cx="318600" cy="6856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3" name="Rounded Rectangle 57"/>
          <p:cNvSpPr/>
          <p:nvPr/>
        </p:nvSpPr>
        <p:spPr>
          <a:xfrm>
            <a:off x="9875520" y="365760"/>
            <a:ext cx="2010240" cy="501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4" name="TextBox 24"/>
          <p:cNvSpPr/>
          <p:nvPr/>
        </p:nvSpPr>
        <p:spPr>
          <a:xfrm>
            <a:off x="2983320" y="1005840"/>
            <a:ext cx="50047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GELİŞTİRME İŞ AKIŞI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TextBox 25"/>
          <p:cNvSpPr/>
          <p:nvPr/>
        </p:nvSpPr>
        <p:spPr>
          <a:xfrm>
            <a:off x="1775880" y="2057400"/>
            <a:ext cx="743400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Bu slayt, ortam kurulumu tamamlandıktan sonra geliştiricilerin Java programlarını oluşturmak,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test etmek ve geliştirmek için izlediği temel adım adım süreci açıklar.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Rounded Rectangle 58"/>
          <p:cNvSpPr/>
          <p:nvPr/>
        </p:nvSpPr>
        <p:spPr>
          <a:xfrm>
            <a:off x="98748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7" name="Rounded Rectangle 59"/>
          <p:cNvSpPr/>
          <p:nvPr/>
        </p:nvSpPr>
        <p:spPr>
          <a:xfrm>
            <a:off x="914400" y="310896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Kurulumdan sonra Java programlama şu basit geliştirme döngüsünü izler: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Programı yaz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Programı derle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Programı çalıştır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Gerekirse hataları düzelt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Süreci tekrarla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Bu döngü, gerçek dünyadaki Java yazılımlarının nasıl geliştirildiğini gösterir.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8" name="Rounded Rectangle 60"/>
          <p:cNvSpPr/>
          <p:nvPr/>
        </p:nvSpPr>
        <p:spPr>
          <a:xfrm>
            <a:off x="450792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9" name="Rounded Rectangle 61"/>
          <p:cNvSpPr/>
          <p:nvPr/>
        </p:nvSpPr>
        <p:spPr>
          <a:xfrm>
            <a:off x="4434840" y="310896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Kodu Yaz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Derle → javac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Çalıştır → java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Çıktıyı Kontrol Et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Hata Varsa → Kodu Düzelt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Tekrar Derle ve Çalıştır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0" name="Rounded Rectangle 62"/>
          <p:cNvSpPr/>
          <p:nvPr/>
        </p:nvSpPr>
        <p:spPr>
          <a:xfrm>
            <a:off x="802836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1" name="Rounded Rectangle 63"/>
          <p:cNvSpPr/>
          <p:nvPr/>
        </p:nvSpPr>
        <p:spPr>
          <a:xfrm>
            <a:off x="7955280" y="310896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Calculator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5 + 7;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System.out.println("Sonuç: " + sum);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br>
              <a:rPr sz="1300"/>
            </a:br>
            <a:br>
              <a:rPr sz="1300"/>
            </a:b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javac Calculator.java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Calculator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2" name="TextBox 27"/>
          <p:cNvSpPr/>
          <p:nvPr/>
        </p:nvSpPr>
        <p:spPr>
          <a:xfrm>
            <a:off x="4600080" y="6446520"/>
            <a:ext cx="305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208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2026-02-12T00:20:49Z</dcterms:modified>
  <cp:revision>19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