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C31702-C8D9-4BD6-93DD-F86D94C3A3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5B8B34-08D2-4B8D-832A-56840963C2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FDCAEF-747F-4BCD-9504-3DD77C9F545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7E8B03-88B6-4A48-B654-B733C3CE076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B293EF-3B1D-445A-85EC-B0CBAAD82E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F08205-BDD1-4ECF-9C3E-5B0D0D09B4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590B3F-A355-4756-B708-491D58A9B9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2CCDC2-1CA9-48E9-869E-10A0AB46C8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616E0B-C327-4A98-A845-C3EEDBA76C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F07DFE-3332-4337-8992-987655BDC1B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51268C-DFA7-474C-A962-EDC374E2CE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A1DA03-82AB-42E6-9975-D4E35E5D217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94A3E8-60ED-4D91-9E41-163D72F4E9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016B92-F369-4A92-AB5B-7D085E51E2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042261-AC9E-4902-B09B-34648D522B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EDAC5B-FBCA-4BE1-A43F-CD745006F7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8D2067A-7A60-4160-8FC5-B29CE5897B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F03EBB-7DDC-4DF6-8BEF-6866F67FD4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D6E538-6E13-4FC9-88D5-76622BBBA9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0A3817-0C45-4572-A9ED-0A26E23F87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817EB0D-BE67-4DC7-A172-A3B320BCB6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602899E-BBB5-485C-BE4E-8B4172628C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F96BEFC-532B-4571-BB5C-DE694C5FB02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893947-D747-4D43-8536-477D27005E4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168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216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516E3C-09DA-4F64-849F-7D48D2B35A9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216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132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180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9672BE-B5A0-4CDE-A63E-4E1BCA6C430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180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100656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88664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876744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100656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8866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876744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100656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88664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100656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8866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679680" y="3273840"/>
            <a:ext cx="4026240" cy="316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88664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10065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8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ounded Rectangle 49"/>
          <p:cNvSpPr/>
          <p:nvPr/>
        </p:nvSpPr>
        <p:spPr>
          <a:xfrm>
            <a:off x="8767440" y="34257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ounded Rectangle 1"/>
          <p:cNvSpPr/>
          <p:nvPr/>
        </p:nvSpPr>
        <p:spPr>
          <a:xfrm>
            <a:off x="4941000" y="344988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47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0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1"/>
          <p:cNvSpPr/>
          <p:nvPr/>
        </p:nvSpPr>
        <p:spPr>
          <a:xfrm>
            <a:off x="100656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2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3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ounded Rectangle 54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55"/>
          <p:cNvSpPr/>
          <p:nvPr/>
        </p:nvSpPr>
        <p:spPr>
          <a:xfrm>
            <a:off x="4941000" y="34495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144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6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7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8"/>
          <p:cNvSpPr/>
          <p:nvPr/>
        </p:nvSpPr>
        <p:spPr>
          <a:xfrm>
            <a:off x="100656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59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0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ounded Rectangle 61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62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3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4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5"/>
          <p:cNvSpPr/>
          <p:nvPr/>
        </p:nvSpPr>
        <p:spPr>
          <a:xfrm>
            <a:off x="100656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6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7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ounded Rectangle 68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ounded Rectangle 69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0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1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2"/>
          <p:cNvSpPr/>
          <p:nvPr/>
        </p:nvSpPr>
        <p:spPr>
          <a:xfrm>
            <a:off x="10065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3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4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ounded Rectangle 75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ounded Rectangle 76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7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8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79"/>
          <p:cNvSpPr/>
          <p:nvPr/>
        </p:nvSpPr>
        <p:spPr>
          <a:xfrm>
            <a:off x="10065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0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1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ounded Rectangle 82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ounded Rectangle 83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4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5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6"/>
          <p:cNvSpPr/>
          <p:nvPr/>
        </p:nvSpPr>
        <p:spPr>
          <a:xfrm>
            <a:off x="10065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7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8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89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ounded Rectangle 90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1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2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3"/>
          <p:cNvSpPr/>
          <p:nvPr/>
        </p:nvSpPr>
        <p:spPr>
          <a:xfrm>
            <a:off x="10065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4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5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96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Rounded Rectangle 97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8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99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0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1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2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103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Rounded Rectangle 104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5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6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7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8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09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110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Rounded Rectangle 111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2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3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4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5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6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117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ounded Rectangle 118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19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0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1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2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3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124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ounded Rectangle 125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6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7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8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29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0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131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Rounded Rectangle 132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3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4180320" y="1107360"/>
            <a:ext cx="3753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4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5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6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7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138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Rounded Rectangle 139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0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5227200" y="1107360"/>
            <a:ext cx="1659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1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2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3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4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145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146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7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2012400" y="2266200"/>
            <a:ext cx="871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8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49"/>
          <p:cNvSpPr/>
          <p:nvPr/>
        </p:nvSpPr>
        <p:spPr>
          <a:xfrm>
            <a:off x="1020960" y="342432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0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1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152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ounded Rectangle 153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4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3008160" y="2266200"/>
            <a:ext cx="6722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5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6"/>
          <p:cNvSpPr/>
          <p:nvPr/>
        </p:nvSpPr>
        <p:spPr>
          <a:xfrm>
            <a:off x="1020960" y="2971800"/>
            <a:ext cx="3619080" cy="346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7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8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159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Rounded Rectangle 160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1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2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3"/>
          <p:cNvSpPr/>
          <p:nvPr/>
        </p:nvSpPr>
        <p:spPr>
          <a:xfrm>
            <a:off x="1020960" y="2971800"/>
            <a:ext cx="3619080" cy="346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4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5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166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Rounded Rectangle 167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8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3201840" y="1107360"/>
            <a:ext cx="5710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69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0"/>
          <p:cNvSpPr/>
          <p:nvPr/>
        </p:nvSpPr>
        <p:spPr>
          <a:xfrm>
            <a:off x="1020960" y="2971800"/>
            <a:ext cx="3619080" cy="346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1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2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173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ounded Rectangle 174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5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6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7"/>
          <p:cNvSpPr/>
          <p:nvPr/>
        </p:nvSpPr>
        <p:spPr>
          <a:xfrm>
            <a:off x="1020960" y="3506040"/>
            <a:ext cx="3619080" cy="289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Safer execution (no pointers, JVM security checks)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Easier to learn and read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 and frameworks</a:t>
            </a:r>
            <a:br>
              <a:rPr sz="1180"/>
            </a:b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large, long-term, enterprise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Slightly slower than native C++ in some cases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Less control over hardware and memory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JVM overhead (startup time, memory usage)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8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79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180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focuses on safety and portability");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Rounded Rectangle 181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Type?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runs everywhere)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(Low-level control)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 &amp; maintainability?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2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3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4"/>
          <p:cNvSpPr/>
          <p:nvPr/>
        </p:nvSpPr>
        <p:spPr>
          <a:xfrm>
            <a:off x="1020960" y="3506040"/>
            <a:ext cx="3619080" cy="289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Very high performance (native execution)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Full control over memory and hardware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No virtual machine overhead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system-level and performance-critical software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game engines and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(risk of memory leaks)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More complex syntax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Harder to learn and maintain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Higher chance of runtime errors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5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6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187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focuses on performance and control";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Rounded Rectangle 188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Application Requirement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low-level memory control?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System / Game / Embedded?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89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2846520" y="1107360"/>
            <a:ext cx="6420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When to Choose Java vs C++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1255680" y="2266200"/>
            <a:ext cx="1022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Making the right language choice depends on performance needs, portability, and long-term maintainability.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0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1"/>
          <p:cNvSpPr/>
          <p:nvPr/>
        </p:nvSpPr>
        <p:spPr>
          <a:xfrm>
            <a:off x="1020960" y="3506040"/>
            <a:ext cx="3619080" cy="289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Programming languages are designed for different goals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prioritizes portability, safety, and maintainability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 prioritizes performance and low-level control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correct choice depends on the problem domain, not popularity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There is no “best language” — only the right tool for the job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2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3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194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Focus on safety and portability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System.out.println("Choose Java for scalable and maintainable systems");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Rounded Rectangle 195"/>
          <p:cNvSpPr/>
          <p:nvPr/>
        </p:nvSpPr>
        <p:spPr>
          <a:xfrm>
            <a:off x="4941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What is your main goal?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 &amp; long-term maintenance?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 &amp; hardware control?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safety, scalability, enterprise support?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16920" y="1800"/>
            <a:ext cx="13426200" cy="7549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144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100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201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302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402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503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604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705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806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906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1007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108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209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310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1440" y="1800"/>
            <a:ext cx="342360" cy="7549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6"/>
          <p:cNvSpPr/>
          <p:nvPr/>
        </p:nvSpPr>
        <p:spPr>
          <a:xfrm>
            <a:off x="10884960" y="401400"/>
            <a:ext cx="220680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178280" y="1107360"/>
            <a:ext cx="9759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Abstraction Level: What Do Java and C++ Hide, What Do They Expose?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4612680" y="2266200"/>
            <a:ext cx="351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Same system, different perspectives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7"/>
          <p:cNvSpPr/>
          <p:nvPr/>
        </p:nvSpPr>
        <p:spPr>
          <a:xfrm>
            <a:off x="108684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8"/>
          <p:cNvSpPr/>
          <p:nvPr/>
        </p:nvSpPr>
        <p:spPr>
          <a:xfrm>
            <a:off x="1020960" y="3506040"/>
            <a:ext cx="3618720" cy="289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Abstraction?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Abstraction is the hiding of complexity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developer writes what is done, not how it is done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But not every language provides the same level of abstraction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critical difference here: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hides the system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C++ exposes the system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199"/>
          <p:cNvSpPr/>
          <p:nvPr/>
        </p:nvSpPr>
        <p:spPr>
          <a:xfrm>
            <a:off x="49683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0"/>
          <p:cNvSpPr/>
          <p:nvPr/>
        </p:nvSpPr>
        <p:spPr>
          <a:xfrm>
            <a:off x="88491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201"/>
          <p:cNvSpPr/>
          <p:nvPr/>
        </p:nvSpPr>
        <p:spPr>
          <a:xfrm>
            <a:off x="8767440" y="3425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JOR JAVA: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new int[5];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FOR C++: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int* numbers = new int[5];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// memory responsibility is on the developer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Box 8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Rounded Rectangle 202"/>
          <p:cNvSpPr/>
          <p:nvPr/>
        </p:nvSpPr>
        <p:spPr>
          <a:xfrm>
            <a:off x="4968000" y="345096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Developer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JVM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Operating System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Hardware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6968880" y="3657600"/>
            <a:ext cx="1260000" cy="25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Developer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Operating System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Hardware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Rectangle 449"/>
          <p:cNvSpPr/>
          <p:nvPr/>
        </p:nvSpPr>
        <p:spPr>
          <a:xfrm>
            <a:off x="16920" y="1800"/>
            <a:ext cx="13426200" cy="7549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0"/>
          <p:cNvSpPr/>
          <p:nvPr/>
        </p:nvSpPr>
        <p:spPr>
          <a:xfrm>
            <a:off x="144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1"/>
          <p:cNvSpPr/>
          <p:nvPr/>
        </p:nvSpPr>
        <p:spPr>
          <a:xfrm>
            <a:off x="100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2"/>
          <p:cNvSpPr/>
          <p:nvPr/>
        </p:nvSpPr>
        <p:spPr>
          <a:xfrm>
            <a:off x="201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3"/>
          <p:cNvSpPr/>
          <p:nvPr/>
        </p:nvSpPr>
        <p:spPr>
          <a:xfrm>
            <a:off x="302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4"/>
          <p:cNvSpPr/>
          <p:nvPr/>
        </p:nvSpPr>
        <p:spPr>
          <a:xfrm>
            <a:off x="402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5"/>
          <p:cNvSpPr/>
          <p:nvPr/>
        </p:nvSpPr>
        <p:spPr>
          <a:xfrm>
            <a:off x="503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6"/>
          <p:cNvSpPr/>
          <p:nvPr/>
        </p:nvSpPr>
        <p:spPr>
          <a:xfrm>
            <a:off x="604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7"/>
          <p:cNvSpPr/>
          <p:nvPr/>
        </p:nvSpPr>
        <p:spPr>
          <a:xfrm>
            <a:off x="705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8"/>
          <p:cNvSpPr/>
          <p:nvPr/>
        </p:nvSpPr>
        <p:spPr>
          <a:xfrm>
            <a:off x="806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59"/>
          <p:cNvSpPr/>
          <p:nvPr/>
        </p:nvSpPr>
        <p:spPr>
          <a:xfrm>
            <a:off x="9069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0"/>
          <p:cNvSpPr/>
          <p:nvPr/>
        </p:nvSpPr>
        <p:spPr>
          <a:xfrm>
            <a:off x="10077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1"/>
          <p:cNvSpPr/>
          <p:nvPr/>
        </p:nvSpPr>
        <p:spPr>
          <a:xfrm>
            <a:off x="11085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2"/>
          <p:cNvSpPr/>
          <p:nvPr/>
        </p:nvSpPr>
        <p:spPr>
          <a:xfrm>
            <a:off x="12093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3"/>
          <p:cNvSpPr/>
          <p:nvPr/>
        </p:nvSpPr>
        <p:spPr>
          <a:xfrm>
            <a:off x="13101480" y="1800"/>
            <a:ext cx="10440" cy="7549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464"/>
          <p:cNvSpPr/>
          <p:nvPr/>
        </p:nvSpPr>
        <p:spPr>
          <a:xfrm>
            <a:off x="1440" y="1800"/>
            <a:ext cx="342360" cy="7549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3"/>
          <p:cNvSpPr/>
          <p:nvPr/>
        </p:nvSpPr>
        <p:spPr>
          <a:xfrm>
            <a:off x="10884960" y="401400"/>
            <a:ext cx="2206800" cy="542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88"/>
          <p:cNvSpPr/>
          <p:nvPr/>
        </p:nvSpPr>
        <p:spPr>
          <a:xfrm>
            <a:off x="1008000" y="1107360"/>
            <a:ext cx="101008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= Thinking with the Right Abstraction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89"/>
          <p:cNvSpPr/>
          <p:nvPr/>
        </p:nvSpPr>
        <p:spPr>
          <a:xfrm>
            <a:off x="4121280" y="2266200"/>
            <a:ext cx="44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Not learning a language, but gaining a mindset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204"/>
          <p:cNvSpPr/>
          <p:nvPr/>
        </p:nvSpPr>
        <p:spPr>
          <a:xfrm>
            <a:off x="108684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05"/>
          <p:cNvSpPr/>
          <p:nvPr/>
        </p:nvSpPr>
        <p:spPr>
          <a:xfrm>
            <a:off x="1020960" y="3506040"/>
            <a:ext cx="3618720" cy="289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What Did We Gain in This Section?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saw why Java exists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understood what problem Java is trying to solve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learned the design philosophy behind the language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not just a “coding language”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It is a way of thinking about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206"/>
          <p:cNvSpPr/>
          <p:nvPr/>
        </p:nvSpPr>
        <p:spPr>
          <a:xfrm>
            <a:off x="49683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207"/>
          <p:cNvSpPr/>
          <p:nvPr/>
        </p:nvSpPr>
        <p:spPr>
          <a:xfrm>
            <a:off x="8849160" y="3506040"/>
            <a:ext cx="3618360" cy="3013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08"/>
          <p:cNvSpPr/>
          <p:nvPr/>
        </p:nvSpPr>
        <p:spPr>
          <a:xfrm>
            <a:off x="8767440" y="3425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exists to reduce complexity.");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209"/>
          <p:cNvSpPr/>
          <p:nvPr/>
        </p:nvSpPr>
        <p:spPr>
          <a:xfrm>
            <a:off x="4968000" y="345096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Problem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Abstraction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Class &amp; Object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Safe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Sustainable System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2026-01-23T15:35:39Z</dcterms:modified>
  <cp:revision>75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