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84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</p:sld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DABE2D8-78D0-4DF9-B507-B0DCD67E0A3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AAA236E-3514-4C19-AFF4-FAB338AE16E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13C143B-CA1E-4BEC-937D-E6B51F5AF4D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A1A0DFE-B003-47B1-AC8A-311D8A874C2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3593394-FF3A-41BB-98BA-F9E04408481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84C9E36-66D0-4962-86BF-849DC97C2DB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49DD9B5-47DF-41A1-8B89-00A89098215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16735D9-BC19-4F19-A62B-44E64D8406C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705B943-9005-4841-A297-691BD84FAE0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B229950-8F64-4300-8FFD-EDAAFC9D6BB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0BFFC64-9D78-4206-BAFD-1BF7E362AB6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632BA71-4E5C-45D4-A7D5-D931D536ED6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263B48D-A7AD-4763-982A-AB6EDFD4935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D84761D-C5D3-46B2-87FA-13FCF895318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58EA096-DBF9-484D-A421-E5D1FFDD37A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D8E2B21-4261-4232-A3FD-FC4519F1BC0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049B69E-8C78-478F-9A14-E07616F5E60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265ACA4-9690-48C2-B9DE-D0A496C64E7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3BB5619-7579-4FBF-846A-47B0B02DB16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B551B9E-EE6C-4EE8-AFE8-8756445CF98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01D4271-BBFB-4763-A6E7-E1887BD275A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1558983-C9F1-4FDB-90B5-63C2DB03566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FD5F534-2857-4780-8737-DC961462D43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1566F2D-843B-4902-BBB8-F557EC8EC3E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E998DF5-4D39-4B8F-A7B3-214E66B5652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B65CBED-79C0-4AB4-A4B2-F42A06E30D4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B65B807-01F0-4199-8B30-05D644E3737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AF05E1B-1019-47E4-A907-D697D2A246F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AA828C7-54C2-4739-9022-5333FF4AEA6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985E77D-32EC-4587-A7F2-ECF8090CB48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EA4F985-A510-4F91-A282-F091298F51E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B3861B3-60D1-466C-A7D7-D8D82ECCB80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E490DF0-0980-447D-AC2F-C63D5C28840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41241CB-CDC0-4544-B279-DD41A837084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2628BF2-464B-42F1-84EB-9DDBCA94469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4FA4ED3-F014-4AB9-B533-8369A13BA7C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8CC1C3F-A934-476A-B28C-97625859E80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6A5F00D-0BFF-437D-9DC5-B30CADD228D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8489F96-94C0-43DE-9354-72C9264ED80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46ADAE7-18D4-4055-8DDE-A81098BC672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C02C7FF-F070-44C7-8EEF-BDB559117F4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3F95905-1F56-4EA1-B8FE-531CE094726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5B3156B-E559-43CC-81B3-54720139AF7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849CA34-E62B-4BA7-8B1D-3A9403D1BBE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C8256A3-86F8-4ED9-870E-592ACB47D33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5E328FD-3D82-4DE7-9953-8212A485083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DE246F3-264C-40D5-8832-439E203BF40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48209E5-9CC5-4162-A345-0F86C4E5D4D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F36E743-3347-4BFD-A293-8B8266E2A8D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B2A75483-0A72-435A-B1D4-93B556A804E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DA65EEE-5F93-4F52-8EE9-7DF31D98D3C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E47748A-BCDA-4C46-819D-3E89F35A428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F56AECE-1DED-4D14-8FE9-E3597760397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AB4918C-A77F-4FCE-A84B-020128739BD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5DB9C8C-E94C-404A-B854-5081647303E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C45CE38-D08B-415A-89D0-EEFAD797A72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360A5D9-74F6-4D2D-9009-185D0CDF1B3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6A790AC-43F5-4349-9013-5B14E1A4ED3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EA5CCC6-BB08-407E-87E7-752EA78FFB1A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DE6AE37-C424-4E76-BD37-17C48E43ECB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2EBD5369-8179-428B-9B82-8F0CE05F9D3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5AD616C1-3939-4F8A-BD0A-0AFFE8228AE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56357DB0-C6CB-469A-A700-8AD458C5D9D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EC669060-C05F-4C1D-BB00-4BB42B69FB7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5AE8236-DE51-4550-9B3B-3CAD05F449E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3E39C624-18B7-4068-8BB3-5AA475A0D57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3CAC53A1-5DAD-4964-8457-DE8FE4BEC1B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CFBFE8C2-378E-47E5-8FAE-AEE549F20D1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80A553FC-AA6F-4D97-8D55-FA9A64B39CB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290FD9B9-6E39-4709-ADA8-945F7C2F4D2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FE6D4347-79B7-40FE-9694-7DE18202A63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D0C41441-D6BD-4979-97CE-770A75B5DA1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241632BF-CC34-4F9B-9CC8-8EC8E1745E4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8EDEEC04-8E85-44F5-B83B-394A4E160EC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BBF58136-06D7-4F53-86FC-D40E60CD5E7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C3F58902-EF18-4928-BC3B-F2779A909C1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706CBF9E-64E0-4BEE-B444-FCC13C62066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441DF23F-7D84-4433-8A30-B725E430EC7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7BA90EB1-448D-4F08-BE5B-FCFE5531B94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3B38A2F2-BFA7-49E0-9AA2-884CCE0319B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09119470-25B0-49F2-B448-9F9730D1C5B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44DF19DD-669A-4B2A-B08B-12379F15EBE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791760C8-79D8-4333-BB4C-10926EB6444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F8868DDC-775C-4889-A661-3AEA8EA2CA0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EB2D66C-B78F-49B7-B6D6-AC3823EEEEF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4B2F04D-B400-4504-B92E-A0BAE49BA81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AE780E0-63C9-4C56-94FB-3425B780F893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8584E26-CD52-401E-9CCB-BDA05DB21AA0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A6BE6AE-4EF9-4272-A631-7BBE769BCD3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F017DF8-A35C-47F1-A705-8A79BF604B5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F9E6629-7AC1-4907-8811-45FB84753BA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Rectangle 1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2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3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4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ectangle 5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ectangle 6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3" name="Rectangle 7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4" name="Rectangle 8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ectangle 9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Rectangle 10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ectangle 11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ectangle 12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ectangle 13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0" name="Rectangle 14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1" name="Rectangle 15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6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ounded Rectangle 17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TextBox 18"/>
          <p:cNvSpPr/>
          <p:nvPr/>
        </p:nvSpPr>
        <p:spPr>
          <a:xfrm>
            <a:off x="1730160" y="1005840"/>
            <a:ext cx="75099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SANAL MAKİNESİ (JVM)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TextBox 19"/>
          <p:cNvSpPr/>
          <p:nvPr/>
        </p:nvSpPr>
        <p:spPr>
          <a:xfrm>
            <a:off x="3707640" y="2057400"/>
            <a:ext cx="35553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programlarını çalıştıran motor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Rounded Rectangle 20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ounded Rectangle 21"/>
          <p:cNvSpPr/>
          <p:nvPr/>
        </p:nvSpPr>
        <p:spPr>
          <a:xfrm>
            <a:off x="685800" y="2521440"/>
            <a:ext cx="3424680" cy="3325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Sanal Makinesi (JVM), Java bytecode’unu çalıştıran sanal bir çalışma zamanı motorudur.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programlarının herhangi bir platformda çalışmasına olanak sağlar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kodu makine koduna değil, bytecode’a derlenir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JVM, bytecode’u makineye özgü talimatlara çevirir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JVM’in Sorumlulukları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Platform bağımsızlığı (Bir Kez Yaz, Her Yerde Çalıştır)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Bytecode’un çalıştırılması (Yorumlayıcı + JIT Derleyici)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Otomatik bellek yönetimi (Çöp Toplama / Garbage Collection)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Kontrollü bir çalışma ortamı sayesinde güvenlik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👉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JVM, Java programları ile işletim sistemi arasında bir köprü görevi görür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Rounded Rectangle 22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ounded Rectangle 23"/>
          <p:cNvSpPr/>
          <p:nvPr/>
        </p:nvSpPr>
        <p:spPr>
          <a:xfrm>
            <a:off x="443484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Derleyicisi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JVM (Yorumlayıcı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İşletim Sistemi / CPU için Makine Kodu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0" name="Rounded Rectangle 24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ounded Rectangle 25"/>
          <p:cNvSpPr/>
          <p:nvPr/>
        </p:nvSpPr>
        <p:spPr>
          <a:xfrm>
            <a:off x="795528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System.out.println("Merhaba, JVM!");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Rectangle 32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33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34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35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ectangle 36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ectangle 37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9" name="Rectangle 38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0" name="Rectangle 39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ectangle 40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2" name="Rectangle 41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ectangle 42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ectangle 43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ectangle 44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6" name="Rectangle 45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7" name="Rectangle 46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47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ounded Rectangle 8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TextBox 4"/>
          <p:cNvSpPr/>
          <p:nvPr/>
        </p:nvSpPr>
        <p:spPr>
          <a:xfrm>
            <a:off x="3660120" y="1005840"/>
            <a:ext cx="36496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Mimarisi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TextBox 5"/>
          <p:cNvSpPr/>
          <p:nvPr/>
        </p:nvSpPr>
        <p:spPr>
          <a:xfrm>
            <a:off x="3961440" y="2194560"/>
            <a:ext cx="30477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SANAL MAKİNESİNİN İÇİ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Rounded Rectangle 9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ounded Rectangle 10"/>
          <p:cNvSpPr/>
          <p:nvPr/>
        </p:nvSpPr>
        <p:spPr>
          <a:xfrm>
            <a:off x="91440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JVM mimarisi, Java programlarını çalıştırmak için birlikte çalışan temel bileşenlerden oluşur.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Loader, sınıf dosyalarını belleğe yükler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Runtime Data Areas, çalışma sırasında verileri depolar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Engine, bytecode’u çalıştırır (Yorumlayıcı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Collector, kullanılmayan nesneleri otomatik olarak temizler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 bileşenler, Java programlarının işletim sisteminden bağımsız olarak güvenli, verimli ve kararlı şekilde çalışmasını sağlar.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Rounded Rectangle 11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ounded Rectangle 12"/>
          <p:cNvSpPr/>
          <p:nvPr/>
        </p:nvSpPr>
        <p:spPr>
          <a:xfrm>
            <a:off x="443484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Çalışma Zamanı Veri Alanları (Runtime Data Areas)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Çalıştırma Motoru (Yorumlayıcı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Çöp Toplayıcı (Garbage Collector)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" name="Rounded Rectangle 13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ounded Rectangle 14"/>
          <p:cNvSpPr/>
          <p:nvPr/>
        </p:nvSpPr>
        <p:spPr>
          <a:xfrm>
            <a:off x="795528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class Demo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System.out.println("JVM Çalışıyor");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Süreç Akışı: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Yükle ⇒ Belleğe Kaydet ⇒ Çalıştır ⇒ Belleği Temizle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8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Rectangle 48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7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8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9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ectangle 20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ectangle 21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5" name="Rectangle 22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6" name="Rectangle 23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ectangle 24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ectangle 25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ectangle 26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ectangle 27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ectangle 28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2" name="Rectangle 29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3" name="Rectangle 30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31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ounded Rectangle 15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" name="TextBox 7"/>
          <p:cNvSpPr/>
          <p:nvPr/>
        </p:nvSpPr>
        <p:spPr>
          <a:xfrm>
            <a:off x="1713960" y="1005840"/>
            <a:ext cx="7543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Program Yürütme Süreci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TextBox 8"/>
          <p:cNvSpPr/>
          <p:nvPr/>
        </p:nvSpPr>
        <p:spPr>
          <a:xfrm>
            <a:off x="2170440" y="2194560"/>
            <a:ext cx="66308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JVM’in bir Java programını arka planda adım adım nasıl çalıştırdığı.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Rounded Rectangle 16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ounded Rectangle 18"/>
          <p:cNvSpPr/>
          <p:nvPr/>
        </p:nvSpPr>
        <p:spPr>
          <a:xfrm>
            <a:off x="475560" y="2743200"/>
            <a:ext cx="3726000" cy="310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Bir Java programı başladığında, JVM akıllı bir yürütme süreci izler.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İlk olarak Class Loader, derlenmiş .class dosyalarını belleğe yükler ve güvenlik açısından kontrol eder.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Daha sonra bellek, Heap (nesneler için) ve Stack (metot çağrıları ve değişkenler için) gibi alanlara ayrılır.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Ardından Execution Engine programı çalıştırır.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Interpreter bytecode’u satır satır okur, JIT Compiler ise sık kullanılan kodları daha hızlı çalışması için makine koduna çevirir.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Son olarak Garbage Collector, kullanılmayan nesneleri bellekten otomatik olarak temizler.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Bu süreç sayesinde Java programları güvenli, verimli bir şekilde ve JVM bulunan her sistemde çalışır.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0" name="Rounded Rectangle 19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ounded Rectangle 26"/>
          <p:cNvSpPr/>
          <p:nvPr/>
        </p:nvSpPr>
        <p:spPr>
          <a:xfrm>
            <a:off x="4343400" y="2918520"/>
            <a:ext cx="3515760" cy="292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Derleyicisi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 sınıfları yükler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Bellek Tahsisi (Heap / Stack)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Çalıştırma Motoru (Interpreter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Makine Kodu Çalıştırma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 belleği temizler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2" name="Rounded Rectangle 27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ounded Rectangle 28"/>
          <p:cNvSpPr/>
          <p:nvPr/>
        </p:nvSpPr>
        <p:spPr>
          <a:xfrm>
            <a:off x="8023680" y="2743200"/>
            <a:ext cx="3837240" cy="319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ExecutionDemo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mesaj = "JVM Yürütme Başladı";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System.out.println(mesaj);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 sonuc = sayilariTopla(5, 7);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System.out.println("Sonuç: " + sonuc);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sayilariTopla(int sayi1, int sayi2)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return sayi1 + sayi2;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4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Rectangle 64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49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50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51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ectangle 52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ectangle 53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1" name="Rectangle 54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ectangle 55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ectangle 56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ectangle 57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ectangle 58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ectangle 59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ectangle 60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8" name="Rectangle 61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9" name="Rectangle 62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63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ounded Rectangle 29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2" name="TextBox 10"/>
          <p:cNvSpPr/>
          <p:nvPr/>
        </p:nvSpPr>
        <p:spPr>
          <a:xfrm>
            <a:off x="3163320" y="1005840"/>
            <a:ext cx="4645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JRE vs JDK vs JVM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TextBox 11"/>
          <p:cNvSpPr/>
          <p:nvPr/>
        </p:nvSpPr>
        <p:spPr>
          <a:xfrm>
            <a:off x="3609720" y="2194560"/>
            <a:ext cx="375048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Temel Bileşenlerini Anlamak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Rounded Rectangle 30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ounded Rectangle 31"/>
          <p:cNvSpPr/>
          <p:nvPr/>
        </p:nvSpPr>
        <p:spPr>
          <a:xfrm>
            <a:off x="685800" y="2971800"/>
            <a:ext cx="3516120" cy="319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Java, uygulamaları geliştirmek ve çalıştırmak için birlikte çalışan üç temel katmandan oluşur.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(Java Sanal Makinesi)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bytecode’u çalıştırır ve Java’yı platformdan bağımsız hale getirir.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(Java Çalışma Ortamı)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uygulamalarını çalıştırmak için gereken her şeyi sağlar.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(Java Geliştirme Kiti)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uygulamaları geliştirmek için gerekli araçları sağlar.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Şöyle düşünebilirsin: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= Motor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= Motor + Yakıt Sistemi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= Tüm Arabanın Üretildiği Fabrika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" name="Rounded Rectangle 32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ounded Rectangle 33"/>
          <p:cNvSpPr/>
          <p:nvPr/>
        </p:nvSpPr>
        <p:spPr>
          <a:xfrm>
            <a:off x="443484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JDK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(Derleyici + Geliştirme Araçları)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 dosyaları)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(Kütüphaneler + JVM)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(Çalıştırma Motoru)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Makine Kodu (İşletim Sistemi / CPU)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8" name="Rounded Rectangle 34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ounded Rectangle 35"/>
          <p:cNvSpPr/>
          <p:nvPr/>
        </p:nvSpPr>
        <p:spPr>
          <a:xfrm>
            <a:off x="795528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JDK ile derleme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javac Main.java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JRE üzerinden çalıştırma (arka planda JVM kullanılır)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 Main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System.out.println("JDK, JRE ve JVM’i Anlıyoruz!");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0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Rectangle 80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65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66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67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ectangle 68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ectangle 69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7" name="Rectangle 70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ectangle 71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ectangle 72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ectangle 73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ectangle 74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ectangle 75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ectangle 76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4" name="Rectangle 77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5" name="Rectangle 78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79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ounded Rectangle 36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" name="TextBox 13"/>
          <p:cNvSpPr/>
          <p:nvPr/>
        </p:nvSpPr>
        <p:spPr>
          <a:xfrm>
            <a:off x="2175120" y="1005840"/>
            <a:ext cx="6620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ORTAM KURULUMU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TextBox 14"/>
          <p:cNvSpPr/>
          <p:nvPr/>
        </p:nvSpPr>
        <p:spPr>
          <a:xfrm>
            <a:off x="2093040" y="2194560"/>
            <a:ext cx="67845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programlarını derlemek ve çalıştırmak için sistemi hazırlar.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Bunu, JDK’yı kurarak ve sistem değişkenlerini yapılandırarak yaparız.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Rounded Rectangle 37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ounded Rectangle 38"/>
          <p:cNvSpPr/>
          <p:nvPr/>
        </p:nvSpPr>
        <p:spPr>
          <a:xfrm>
            <a:off x="91440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JDK (Java Development Kit) derleyici (javac) ve çalıştırma ortamını (java) içerir.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 ve JAVA_HOME gibi sistem değişkenleri, komut satırının Java’yı bulmasını sağlar.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Doğru kurulum sayesinde Java programları sistemin her yerinden derlenip çalıştırılabilir.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2" name="Rounded Rectangle 39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ounded Rectangle 40"/>
          <p:cNvSpPr/>
          <p:nvPr/>
        </p:nvSpPr>
        <p:spPr>
          <a:xfrm>
            <a:off x="443484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JDK’yı indir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Bilgisayarına kur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ayarla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JDK bin klasörünü PATH değişkenine ekle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Terminalden doğrula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4" name="Rounded Rectangle 41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ounded Rectangle 42"/>
          <p:cNvSpPr/>
          <p:nvPr/>
        </p:nvSpPr>
        <p:spPr>
          <a:xfrm>
            <a:off x="795528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Komut İstemine şunları yaz: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6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Rectangle 81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82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83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84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ectangle 85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ectangle 86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3" name="Rectangle 87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4" name="Rectangle 88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ectangle 89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ectangle 90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ectangle 91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ectangle 92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ectangle 93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0" name="Rectangle 94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1" name="Rectangle 95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96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ounded Rectangle 43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4" name="TextBox 16"/>
          <p:cNvSpPr/>
          <p:nvPr/>
        </p:nvSpPr>
        <p:spPr>
          <a:xfrm>
            <a:off x="1023840" y="1005840"/>
            <a:ext cx="8922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ORTAM DEĞİŞKENLERİNİ YAPILANDIRMA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TextBox 17"/>
          <p:cNvSpPr/>
          <p:nvPr/>
        </p:nvSpPr>
        <p:spPr>
          <a:xfrm>
            <a:off x="-904320" y="2194560"/>
            <a:ext cx="1279368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                                </a:t>
            </a: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Ortam değişkenleri, Java’nın sistemde nerede kurulu olduğunu belirtir ve araçların ile komutların herhangi bir klasörden düzgün çalışmasını sağlar.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Rounded Rectangle 44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ounded Rectangle 45"/>
          <p:cNvSpPr/>
          <p:nvPr/>
        </p:nvSpPr>
        <p:spPr>
          <a:xfrm>
            <a:off x="91440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JAVA_HOME, JDK’nın kurulu olduğu klasörü gösterir.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PATH, Java’nın bin klasörünü içerir, böylece Java araçları terminal/komut istemcisinden çalıştırılabilir.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Bunlar ayarlanmazsa Java komutları çalışmayabilir.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8" name="Rounded Rectangle 46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ounded Rectangle 47"/>
          <p:cNvSpPr/>
          <p:nvPr/>
        </p:nvSpPr>
        <p:spPr>
          <a:xfrm>
            <a:off x="443484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JDK Kuruldu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ayarla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C:\Program Files\Java\jdk-xx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PATH’e ekle →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%JAVA_HOME%\bin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ve javac komutlarını çalıştır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0" name="Rounded Rectangle 48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ounded Rectangle 49"/>
          <p:cNvSpPr/>
          <p:nvPr/>
        </p:nvSpPr>
        <p:spPr>
          <a:xfrm>
            <a:off x="795528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# Windows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setx JAVA_HOME "C:\Program Files\Java\jdk-xx"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setx PATH "%JAVA_HOME%\bin;%PATH%"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# Linux/Mac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JAVA_HOME=/usr/lib/jvm/jdk-xx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PATH=$JAVA_HOME/bin:$PATH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2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Rectangle 97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98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99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100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ectangle 101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ectangle 102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9" name="Rectangle 103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Rectangle 104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ectangle 105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ectangle 106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ectangle 107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ectangle 108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ectangle 109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ectangle 110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7" name="Rectangle 111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112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ounded Rectangle 50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0" name="TextBox 21"/>
          <p:cNvSpPr/>
          <p:nvPr/>
        </p:nvSpPr>
        <p:spPr>
          <a:xfrm>
            <a:off x="1706400" y="1005840"/>
            <a:ext cx="75574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KURULDUKTAN SONRA NE OLUR?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TextBox 22"/>
          <p:cNvSpPr/>
          <p:nvPr/>
        </p:nvSpPr>
        <p:spPr>
          <a:xfrm>
            <a:off x="4241160" y="2194560"/>
            <a:ext cx="249624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Ortam Kurulumundan Sonra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Rounded Rectangle 51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ounded Rectangle 52"/>
          <p:cNvSpPr/>
          <p:nvPr/>
        </p:nvSpPr>
        <p:spPr>
          <a:xfrm>
            <a:off x="91440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kurulduktan ve yapılandırıldıktan sonra, sisteminiz artık Java programlarını derleyip çalıştırmaya hazırdır.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.java uzantılı kaynak dosyalar oluşturabilirsiniz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javac derleyicisi, kaynak kodu bytecode (.class) dosyasına çevirir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JVM, bu bytecode'u çalıştırır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Programınız artık JVM bulunan herhangi bir sistemde çalışabilir.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Kurulum tamamlandı — artık Java geliştirmeye başlayabilirsiniz.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4" name="Rounded Rectangle 53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ounded Rectangle 54"/>
          <p:cNvSpPr/>
          <p:nvPr/>
        </p:nvSpPr>
        <p:spPr>
          <a:xfrm>
            <a:off x="443484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Kodu Yaz (.java)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javac ile Derle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Dosyası Oluşur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komutu ile Çalıştır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JVM Programı Çalıştırır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Çıktı Ekranda Görünür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6" name="Rounded Rectangle 55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ounded Rectangle 56"/>
          <p:cNvSpPr/>
          <p:nvPr/>
        </p:nvSpPr>
        <p:spPr>
          <a:xfrm>
            <a:off x="795528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HelloJava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ortamı hazır!");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8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Rectangle 113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114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115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116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ectangle 117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ectangle 118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5" name="Rectangle 119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6" name="Rectangle 120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ectangle 121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ectangle 122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ectangle 123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ectangle 124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ectangle 125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ectangle 126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3" name="Rectangle 127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128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ounded Rectangle 57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6" name="TextBox 24"/>
          <p:cNvSpPr/>
          <p:nvPr/>
        </p:nvSpPr>
        <p:spPr>
          <a:xfrm>
            <a:off x="2983320" y="1005840"/>
            <a:ext cx="5003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GELİŞTİRME İŞ AKIŞI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TextBox 25"/>
          <p:cNvSpPr/>
          <p:nvPr/>
        </p:nvSpPr>
        <p:spPr>
          <a:xfrm>
            <a:off x="1775880" y="2057400"/>
            <a:ext cx="743400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Bu slayt, ortam kurulumu tamamlandıktan sonra geliştiricilerin Java programlarını oluşturmak,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test etmek ve geliştirmek için izlediği temel adım adım süreci açıklar.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Rounded Rectangle 58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ounded Rectangle 59"/>
          <p:cNvSpPr/>
          <p:nvPr/>
        </p:nvSpPr>
        <p:spPr>
          <a:xfrm>
            <a:off x="91440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Kurulumdan sonra Java programlama şu basit geliştirme döngüsünü izler: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 yaz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 derle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 çalıştır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Gerekirse hataları düzelt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Süreci tekrarla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 döngü, gerçek dünyadaki Java yazılımlarının nasıl geliştirildiğini gösterir.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0" name="Rounded Rectangle 60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ounded Rectangle 61"/>
          <p:cNvSpPr/>
          <p:nvPr/>
        </p:nvSpPr>
        <p:spPr>
          <a:xfrm>
            <a:off x="443484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Kodu Yaz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Derle → javac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Çalıştır → java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Çıktıyı Kontrol Et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Hata Varsa → Kodu Düzelt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Tekrar Derle ve Çalıştır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2" name="Rounded Rectangle 62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ounded Rectangle 63"/>
          <p:cNvSpPr/>
          <p:nvPr/>
        </p:nvSpPr>
        <p:spPr>
          <a:xfrm>
            <a:off x="795528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Calculator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5 + 7;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System.out.println("Sonuç: " + sum);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br>
              <a:rPr sz="1300"/>
            </a:b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javac Calculator.java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Calculator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Rectangle 129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130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131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132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ectangle 133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ectangle 134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1" name="Rectangle 135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2" name="Rectangle 136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ectangle 137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ectangle 138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ectangle 139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ectangle 140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ectangle 141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ectangle 142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9" name="Rectangle 143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144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ounded Rectangle 64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2" name="TextBox 28"/>
          <p:cNvSpPr/>
          <p:nvPr/>
        </p:nvSpPr>
        <p:spPr>
          <a:xfrm>
            <a:off x="3053160" y="1005840"/>
            <a:ext cx="4862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KURULUM TÜRLERİ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TextBox 29"/>
          <p:cNvSpPr/>
          <p:nvPr/>
        </p:nvSpPr>
        <p:spPr>
          <a:xfrm>
            <a:off x="1154520" y="2194560"/>
            <a:ext cx="86745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Farklı Java dağıtımları ve kurulum türleri, geliştirme veya üretim (production) ihtiyaçlarına göre esneklik sağlar.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Rounded Rectangle 65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ounded Rectangle 66"/>
          <p:cNvSpPr/>
          <p:nvPr/>
        </p:nvSpPr>
        <p:spPr>
          <a:xfrm>
            <a:off x="91440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Java’yı kurmanın birden fazla yolu vardır: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Oracle JDK (Resmi dağıtım)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OpenJDK (Açık kaynak sürüm)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LTS (Uzun Süreli Destek) sürümleri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LTS olmayan sürümler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LTS sürümleri (örneğin Java 17, 21) kararlılık ve uzun vadeli projeler için önerilir.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Doğru dağıtımı seçmek; uyumluluk, güvenlik güncellemeleri ve uzun süreli destek sağlar.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6" name="Rounded Rectangle 67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ounded Rectangle 68"/>
          <p:cNvSpPr/>
          <p:nvPr/>
        </p:nvSpPr>
        <p:spPr>
          <a:xfrm>
            <a:off x="443484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Sürüm Seç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Dağıtımı İndir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JDK’yı Kur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Ayarla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PATH Güncelle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Kurulumu Doğrula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8" name="Rounded Rectangle 69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ounded Rectangle 70"/>
          <p:cNvSpPr/>
          <p:nvPr/>
        </p:nvSpPr>
        <p:spPr>
          <a:xfrm>
            <a:off x="795528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Windows: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where java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where javac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Linux: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which java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which javac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Detaylı sürüm bilgisi kontrolü: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Rectangle 145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146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ectangle 147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ectangle 148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ectangle 149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ectangle 150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7" name="Rectangle 151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8" name="Rectangle 152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ectangle 153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ectangle 154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ectangle 155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ectangle 156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ectangle 157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ectangle 158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5" name="Rectangle 159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160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ounded Rectangle 71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8" name="TextBox 31"/>
          <p:cNvSpPr/>
          <p:nvPr/>
        </p:nvSpPr>
        <p:spPr>
          <a:xfrm>
            <a:off x="1023120" y="1005840"/>
            <a:ext cx="8924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YAYGIN KURULUM SORUNLARI VE ÇÖZÜMLERİ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TextBox 32"/>
          <p:cNvSpPr/>
          <p:nvPr/>
        </p:nvSpPr>
        <p:spPr>
          <a:xfrm>
            <a:off x="2109960" y="2194560"/>
            <a:ext cx="676332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Yanlış ortam (environment) yapılandırması, Java’nın düzgün çalışmasını engelleyebilir.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Rounded Rectangle 72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ounded Rectangle 73"/>
          <p:cNvSpPr/>
          <p:nvPr/>
        </p:nvSpPr>
        <p:spPr>
          <a:xfrm>
            <a:off x="91440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Yaygın Sorunlar: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'java is not recognized as an internal or external command' hatası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Yanlış JAVA_HOME yolu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 değişkeninin güncellenmemesi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Birden fazla Java sürümünün çakışması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JDK yerine sadece JRE’nin kurulmuş olması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Çoğu sorun, ortam değişkenlerinin hatalı ayarlanmasından kaynaklanır.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2" name="Rounded Rectangle 74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ounded Rectangle 75"/>
          <p:cNvSpPr/>
          <p:nvPr/>
        </p:nvSpPr>
        <p:spPr>
          <a:xfrm>
            <a:off x="443484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Hata ortaya çıkar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-version kontrol et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doğrula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PATH değişkenini kontrol et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Terminali yeniden başlat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Sorun çözülür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4" name="Rounded Rectangle 76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ounded Rectangle 77"/>
          <p:cNvSpPr/>
          <p:nvPr/>
        </p:nvSpPr>
        <p:spPr>
          <a:xfrm>
            <a:off x="7955280" y="3108960"/>
            <a:ext cx="3287880" cy="306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Windows:</a:t>
            </a: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echo %JAVA_HOME%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echo %PATH%</a:t>
            </a:r>
            <a:br>
              <a:rPr sz="1400"/>
            </a:b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Linux / Mac:</a:t>
            </a: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echo $JAVA_HOME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echo $PATH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Geçici olarak JAVA_HOME ayarlama (Linux/Mac):</a:t>
            </a: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JAVA_HOME=/usr/lib/jvm/jdk-xx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PATH=$JAVA_HOME/bin:$PATH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6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Rectangle 161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ectangle 162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ectangle 163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ectangle 164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ectangle 165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ectangle 166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3" name="Rectangle 167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4" name="Rectangle 168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ectangle 169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ectangle 170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ectangle 171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ectangle 172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ectangle 173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ectangle 174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1" name="Rectangle 175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176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ounded Rectangle 78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4" name="TextBox 34"/>
          <p:cNvSpPr/>
          <p:nvPr/>
        </p:nvSpPr>
        <p:spPr>
          <a:xfrm>
            <a:off x="3134520" y="1005840"/>
            <a:ext cx="4699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SÜRÜM YÖNETİMİ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TextBox 35"/>
          <p:cNvSpPr/>
          <p:nvPr/>
        </p:nvSpPr>
        <p:spPr>
          <a:xfrm>
            <a:off x="2258640" y="2194560"/>
            <a:ext cx="64677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Birden fazla Java sürümünü yönetmek ve aralarında güvenli şekilde geçiş yapmak.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Rounded Rectangle 79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ounded Rectangle 80"/>
          <p:cNvSpPr/>
          <p:nvPr/>
        </p:nvSpPr>
        <p:spPr>
          <a:xfrm>
            <a:off x="457200" y="2971800"/>
            <a:ext cx="3782880" cy="319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Bazen aynı sistemde birden fazla Java sürümü yüklü olabilir.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Örneğin: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17 (LTS – Uzun Süreli Destek)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21 (LTS – Uzun Süreli Destek)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Daha eski sürüm (Java 8)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Farklı projeler farklı sürümler gerektirebilir.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Sürümler doğru şekilde yönetilmezse: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PATH çakışmaları oluşur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Yanlış JDK proje derler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Build araçları (Maven / Gradle) hata verir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Doğru sürüm yönetimi çakışmaları önler.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8" name="Rounded Rectangle 81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ounded Rectangle 82"/>
          <p:cNvSpPr/>
          <p:nvPr/>
        </p:nvSpPr>
        <p:spPr>
          <a:xfrm>
            <a:off x="4434840" y="3108960"/>
            <a:ext cx="3287880" cy="2832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Yüklü sürümleri kontrol et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JDK klasörlerini bul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değişkenini güncelle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 değişkenini güncelle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Terminali yeniden başlat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Şu komutlarla doğrula: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-version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javac -version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0" name="Rounded Rectangle 83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ounded Rectangle 84"/>
          <p:cNvSpPr/>
          <p:nvPr/>
        </p:nvSpPr>
        <p:spPr>
          <a:xfrm>
            <a:off x="8001000" y="2743200"/>
            <a:ext cx="3427200" cy="342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Mevcut sürümü kontrol et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Aktif JAVA_HOME değişkenini göster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%JAVA_HOME%     (Windows)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$JAVA_HOME      (Linux/Mac)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Örnek sürüm klasörleri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17 → /jdk-17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21 → /jdk-21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Sürüm değişiminden sonra kontrol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2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Rectangle 177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ectangle 178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ectangle 179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6" name="Rectangle 180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ectangle 181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ectangle 182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9" name="Rectangle 183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0" name="Rectangle 184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ectangle 185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ectangle 186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ectangle 187"/>
          <p:cNvSpPr/>
          <p:nvPr/>
        </p:nvSpPr>
        <p:spPr>
          <a:xfrm>
            <a:off x="821232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ectangle 188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ectangle 189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ectangle 190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7" name="Rectangle 191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192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ounded Rectangle 85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0" name="TextBox 37"/>
          <p:cNvSpPr/>
          <p:nvPr/>
        </p:nvSpPr>
        <p:spPr>
          <a:xfrm>
            <a:off x="2876040" y="1005840"/>
            <a:ext cx="52196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HELLO WORLD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TextBox 38"/>
          <p:cNvSpPr/>
          <p:nvPr/>
        </p:nvSpPr>
        <p:spPr>
          <a:xfrm>
            <a:off x="1742040" y="2013840"/>
            <a:ext cx="762912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Her Java geliştiricisinin yazdığı ilk programdır.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Bir Java uygulamasının temel yapısını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tanıtır ve kodun Java Sanal Makinesi (JVM) içinde nasıl çalıştırıldığını gösterir.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Rounded Rectangle 86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ounded Rectangle 87"/>
          <p:cNvSpPr/>
          <p:nvPr/>
        </p:nvSpPr>
        <p:spPr>
          <a:xfrm>
            <a:off x="91440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Java programı bir class ile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Programın çalışması main() metodundan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System.out.println() çıktıyı konsola yazdırır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kodu bytecode’a derlenir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Bytecode, JVM içerisinde çalıştırılır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Temel Fikir: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Hello World, Java kaynak kodunun nasıl çalışabilir çıktıya dönüştüğünü gösterir.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4" name="Rounded Rectangle 88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5" name="Rounded Rectangle 89"/>
          <p:cNvSpPr/>
          <p:nvPr/>
        </p:nvSpPr>
        <p:spPr>
          <a:xfrm>
            <a:off x="443484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Kodunu Yaz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Derle (javac)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JVM ile Çalıştır (java)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Konsol Çıktısı → Hello World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6" name="Rounded Rectangle 90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ounded Rectangle 91"/>
          <p:cNvSpPr/>
          <p:nvPr/>
        </p:nvSpPr>
        <p:spPr>
          <a:xfrm>
            <a:off x="795528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HelloWorld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 World");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8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Rectangle 193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ectangle 194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ectangle 195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2" name="Rectangle 196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ectangle 197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ectangle 198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5" name="Rectangle 199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6" name="Rectangle 200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ectangle 201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ectangle 202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ectangle 203"/>
          <p:cNvSpPr/>
          <p:nvPr/>
        </p:nvSpPr>
        <p:spPr>
          <a:xfrm>
            <a:off x="821232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ectangle 204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ectangle 205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ectangle 206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3" name="Rectangle 207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208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ounded Rectangle 92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6" name="TextBox 40"/>
          <p:cNvSpPr/>
          <p:nvPr/>
        </p:nvSpPr>
        <p:spPr>
          <a:xfrm>
            <a:off x="658080" y="1005840"/>
            <a:ext cx="965484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 HELLO WORLD PROGRAMINI ANLAMAK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TextBox 41"/>
          <p:cNvSpPr/>
          <p:nvPr/>
        </p:nvSpPr>
        <p:spPr>
          <a:xfrm>
            <a:off x="2366640" y="2013840"/>
            <a:ext cx="63795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Hello World programı basit görünse de, her Java uygulamasının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temel yapısını ve çalışma mantığını içerir.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Rounded Rectangle 93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ounded Rectangle 94"/>
          <p:cNvSpPr/>
          <p:nvPr/>
        </p:nvSpPr>
        <p:spPr>
          <a:xfrm>
            <a:off x="91440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programı çalışmaya main() metodundan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public → her yerden erişilebilir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→ nesne oluşturmadan çalışır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void → metod geriye değer döndürmez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String[] args → komut satırı parametreleri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Ana Fikir: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main() metodu, Java uygulamasının başlangıç noktasıdır.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0" name="Rounded Rectangle 95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1" name="Rounded Rectangle 96"/>
          <p:cNvSpPr/>
          <p:nvPr/>
        </p:nvSpPr>
        <p:spPr>
          <a:xfrm>
            <a:off x="443484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JVM main() metodunu arar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main() içindeki komutlar çalışır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System.out.println() çalışır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Metin konsolda görüntülenir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2" name="Rounded Rectangle 97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3" name="Rounded Rectangle 98"/>
          <p:cNvSpPr/>
          <p:nvPr/>
        </p:nvSpPr>
        <p:spPr>
          <a:xfrm>
            <a:off x="795528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HelloWorld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 World");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4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Rectangle 225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ectangle 209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ectangle 210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8" name="Rectangle 211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ectangle 212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ectangle 213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1" name="Rectangle 214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2" name="Rectangle 215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ectangle 216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ectangle 217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ectangle 218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ectangle 219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ectangle 220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ectangle 221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9" name="Rectangle 222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223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ounded Rectangle 99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2" name="TextBox 43"/>
          <p:cNvSpPr/>
          <p:nvPr/>
        </p:nvSpPr>
        <p:spPr>
          <a:xfrm>
            <a:off x="2463840" y="1005840"/>
            <a:ext cx="6044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TEMEL SÖZDİZİMİ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TextBox 44"/>
          <p:cNvSpPr/>
          <p:nvPr/>
        </p:nvSpPr>
        <p:spPr>
          <a:xfrm>
            <a:off x="2525760" y="2194560"/>
            <a:ext cx="59198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Temel Sözdizimi, bir Java programını yazmak ve çalıştırmak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için gereken temel kuralları ve yapıyı ifade eder.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Rounded Rectangle 100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5" name="Rounded Rectangle 101"/>
          <p:cNvSpPr/>
          <p:nvPr/>
        </p:nvSpPr>
        <p:spPr>
          <a:xfrm>
            <a:off x="91440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Temel Sözdizimi, Java programlarının temel yazım kurallarıdır.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Tüm kodlar bir class içinde yazılır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Program main() metodu ile başlar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Kod satırları noktalı virgül ( ; ) ile biter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{ } işaretleri kod bloklarını belirtir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büyük/küçük harfe duyarlıdır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6" name="Rounded Rectangle 102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7" name="Rounded Rectangle 103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 Yüklenir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main() Metodu Çalışır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Kod Satırları Çalışır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Biter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8" name="Rounded Rectangle 104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9" name="Rounded Rectangle 105"/>
          <p:cNvSpPr/>
          <p:nvPr/>
        </p:nvSpPr>
        <p:spPr>
          <a:xfrm>
            <a:off x="795528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BasicSyntax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System.out.println("Selam Java!");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0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Rectangle 224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ectangle 226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3" name="Rectangle 227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4" name="Rectangle 228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ectangle 229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ectangle 230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7" name="Rectangle 231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8" name="Rectangle 232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ectangle 233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ectangle 234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ectangle 235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ectangle 236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ectangle 237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ectangle 238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5" name="Rectangle 239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ectangle 240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ounded Rectangle 106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8" name="TextBox 46"/>
          <p:cNvSpPr/>
          <p:nvPr/>
        </p:nvSpPr>
        <p:spPr>
          <a:xfrm>
            <a:off x="802080" y="1005840"/>
            <a:ext cx="93679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TANIMLAYICILAR (IDENTIFIERS)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TextBox 47"/>
          <p:cNvSpPr/>
          <p:nvPr/>
        </p:nvSpPr>
        <p:spPr>
          <a:xfrm>
            <a:off x="1519920" y="2194560"/>
            <a:ext cx="79322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Tanımlayıcılar, Java’da sınıf, değişken ve metot gibi elemanlara verilen isimlerdir.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Rounded Rectangle 107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1" name="Rounded Rectangle 108"/>
          <p:cNvSpPr/>
          <p:nvPr/>
        </p:nvSpPr>
        <p:spPr>
          <a:xfrm>
            <a:off x="91440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Tanımlayıcıları için Kurallar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Bir harf, $ veya _ ile başlamalıdır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İlk karakterden sonra her türlü kombinasyon kullanılabilir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Anahtar kelimeler (keywords) tanımlayıcı olarak kullanılamaz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tanımlayıcıları büyük/küçük harfe duyarlıdır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İsimler anlamlı ve okunabilir olmalıdır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2" name="Rounded Rectangle 109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3" name="Rounded Rectangle 110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İsim Tanımlanır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İlk Karakter Kontrol Edilir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Anahtar Kelimeler Kontrol Edilir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Geçerli Tanımlayıcı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İçinde Kullanılır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4" name="Rounded Rectangle 111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5" name="Rounded Rectangle 112"/>
          <p:cNvSpPr/>
          <p:nvPr/>
        </p:nvSpPr>
        <p:spPr>
          <a:xfrm>
            <a:off x="795528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$salary = 5000;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int _value = 10;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int __1_value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// Geçersiz örnekler: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123abc;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-salary;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6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Rectangle 257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8" name="Rectangle 241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9" name="Rectangle 242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0" name="Rectangle 243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ectangle 244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2" name="Rectangle 245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3" name="Rectangle 246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4" name="Rectangle 247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5" name="Rectangle 248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6" name="Rectangle 249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7" name="Rectangle 250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ectangle 251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9" name="Rectangle 252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0" name="Rectangle 253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1" name="Rectangle 254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2" name="Rectangle 255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ounded Rectangle 113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4" name="TextBox 49"/>
          <p:cNvSpPr/>
          <p:nvPr/>
        </p:nvSpPr>
        <p:spPr>
          <a:xfrm>
            <a:off x="3572280" y="550800"/>
            <a:ext cx="3826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Modifiers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TextBox 50"/>
          <p:cNvSpPr/>
          <p:nvPr/>
        </p:nvSpPr>
        <p:spPr>
          <a:xfrm>
            <a:off x="849960" y="1388880"/>
            <a:ext cx="944856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Tanımlayıcılar (Identifiers); sınıflar, değişkenler ve metotlar gibi Java öğelerine verilen isimlerdir.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Rounded Rectangle 114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7" name="Rounded Rectangle 115"/>
          <p:cNvSpPr/>
          <p:nvPr/>
        </p:nvSpPr>
        <p:spPr>
          <a:xfrm>
            <a:off x="685800" y="2286000"/>
            <a:ext cx="3518280" cy="4343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Modifiers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Modifier’lar, sınıfların, metotların ve değişkenlerin erişim seviyesini ve davranışını belirler.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Kontrol ettikleri: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Görünürlük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Kalıtım (Inheritance)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Değiştirilebilirlik (Mutability)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Metot ezme (Method overriding)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Erişim Belirleyiciler (Access Modifiers)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public → Her yerden erişilebilir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private → Sadece sınıf içinden erişilebilir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protected → Aynı paket + alt sınıflar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default → Sadece aynı paket içinde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Erişim Dışı Belirleyiciler (Non-Access Modifiers)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final → Değiştirilemez / override edilemez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abstract → Alt sınıfta uygulanmalıdır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static → Sınıfa aittir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volatile → Bellek görünürlüğünü garanti eder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8" name="Rounded Rectangle 116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9" name="Rounded Rectangle 117"/>
          <p:cNvSpPr/>
          <p:nvPr/>
        </p:nvSpPr>
        <p:spPr>
          <a:xfrm>
            <a:off x="4434840" y="2286000"/>
            <a:ext cx="3289680" cy="4114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Modifier’lar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ERİŞİM BELİRLEYİCİLERİ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public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private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protected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default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ERİŞİM DIŞI BELİRLEYİCİLER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final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abstract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static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volatile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0" name="Rounded Rectangle 118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1" name="Rounded Rectangle 119"/>
          <p:cNvSpPr/>
          <p:nvPr/>
        </p:nvSpPr>
        <p:spPr>
          <a:xfrm>
            <a:off x="7955280" y="2743200"/>
            <a:ext cx="3289680" cy="342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Car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private String brand;      // Erişim belirleyici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count;   // Erişim dışı belirleyici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Car(String brand)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this.brand = brand;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count++;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final void displayBrand()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System.out.println("Marka: " + brand);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2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Rectangle 256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4" name="Rectangle 258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5" name="Rectangle 259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6" name="Rectangle 260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7" name="Rectangle 261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8" name="Rectangle 262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9" name="Rectangle 263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0" name="Rectangle 264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1" name="Rectangle 265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2" name="Rectangle 266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3" name="Rectangle 267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ectangle 268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5" name="Rectangle 269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6" name="Rectangle 270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7" name="Rectangle 271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8" name="Rectangle 272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ounded Rectangle 120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0" name="TextBox 52"/>
          <p:cNvSpPr/>
          <p:nvPr/>
        </p:nvSpPr>
        <p:spPr>
          <a:xfrm>
            <a:off x="3239640" y="1005840"/>
            <a:ext cx="44942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Değişkenleri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TextBox 53"/>
          <p:cNvSpPr/>
          <p:nvPr/>
        </p:nvSpPr>
        <p:spPr>
          <a:xfrm>
            <a:off x="1310400" y="2013840"/>
            <a:ext cx="834984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Değişkenleri, verileri depolamak için kullanılan isimlendirilmiş bellek alanlarıdır.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Her değişken bir veri tipine sahiptir ve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bilginin program içinde nasıl saklandığını, erişildiğini ve işlendiğini belirler.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Rounded Rectangle 121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3" name="Rounded Rectangle 122"/>
          <p:cNvSpPr/>
          <p:nvPr/>
        </p:nvSpPr>
        <p:spPr>
          <a:xfrm>
            <a:off x="91440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Türleri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 (Local Variable)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Metot içinde tanımlanır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Sadece metot çalıştığı sürece var olur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 Değişken (Instance Variable)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Sınıf içinde tanımlanır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Her nesneye aittir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 (Static Variable)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static anahtar kelimesi ile tanımlanır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Tüm nesneler arasında paylaşılır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4" name="Rounded Rectangle 123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5" name="Rounded Rectangle 124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 Kategorileri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 (Primitive Types)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int, double, char, boolean, long, float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 (Reference Types)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String, Diziler (Arrays), Nesneler (Objects)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6" name="Rounded Rectangle 125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7" name="Rounded Rectangle 126"/>
          <p:cNvSpPr/>
          <p:nvPr/>
        </p:nvSpPr>
        <p:spPr>
          <a:xfrm>
            <a:off x="7955280" y="2971800"/>
            <a:ext cx="3289680" cy="342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Student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name;            // Örnek değişken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String school = "Tech University";  // Statik değişken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display()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20;       // Yerel değişken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System.out.println(name + " - " + age + " - " + school);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8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652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2026-02-21T23:51:36Z</dcterms:modified>
  <cp:revision>34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