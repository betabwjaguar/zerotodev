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7.xml.rels" ContentType="application/vnd.openxmlformats-package.relationships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_rels/slideLayout31.xml.rels" ContentType="application/vnd.openxmlformats-package.relationships+xml"/>
  <Override PartName="/ppt/slideLayouts/_rels/slideLayout5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54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55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6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57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58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59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39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48.xml.rels" ContentType="application/vnd.openxmlformats-package.relationships+xml"/>
  <Override PartName="/ppt/slideLayouts/_rels/slideLayout49.xml.rels" ContentType="application/vnd.openxmlformats-package.relationships+xml"/>
  <Override PartName="/ppt/slideLayouts/_rels/slideLayout50.xml.rels" ContentType="application/vnd.openxmlformats-package.relationships+xml"/>
  <Override PartName="/ppt/slideLayouts/_rels/slideLayout51.xml.rels" ContentType="application/vnd.openxmlformats-package.relationships+xml"/>
  <Override PartName="/ppt/slideLayouts/_rels/slideLayout52.xml.rels" ContentType="application/vnd.openxmlformats-package.relationships+xml"/>
  <Override PartName="/ppt/slideLayouts/_rels/slideLayout60.xml.rels" ContentType="application/vnd.openxmlformats-package.relationships+xml"/>
  <Override PartName="/ppt/slideLayouts/_rels/slideLayout61.xml.rels" ContentType="application/vnd.openxmlformats-package.relationships+xml"/>
  <Override PartName="/ppt/slideLayouts/_rels/slideLayout62.xml.rels" ContentType="application/vnd.openxmlformats-package.relationships+xml"/>
  <Override PartName="/ppt/slideLayouts/_rels/slideLayout63.xml.rels" ContentType="application/vnd.openxmlformats-package.relationships+xml"/>
  <Override PartName="/ppt/slideLayouts/_rels/slideLayout64.xml.rels" ContentType="application/vnd.openxmlformats-package.relationships+xml"/>
  <Override PartName="/ppt/slideLayouts/_rels/slideLayout65.xml.rels" ContentType="application/vnd.openxmlformats-package.relationships+xml"/>
  <Override PartName="/ppt/slideLayouts/_rels/slideLayout66.xml.rels" ContentType="application/vnd.openxmlformats-package.relationships+xml"/>
  <Override PartName="/ppt/slideLayouts/_rels/slideLayout67.xml.rels" ContentType="application/vnd.openxmlformats-package.relationships+xml"/>
  <Override PartName="/ppt/slideLayouts/_rels/slideLayout68.xml.rels" ContentType="application/vnd.openxmlformats-package.relationships+xml"/>
  <Override PartName="/ppt/slideLayouts/_rels/slideLayout69.xml.rels" ContentType="application/vnd.openxmlformats-package.relationships+xml"/>
  <Override PartName="/ppt/slideLayouts/_rels/slideLayout70.xml.rels" ContentType="application/vnd.openxmlformats-package.relationships+xml"/>
  <Override PartName="/ppt/slideLayouts/_rels/slideLayout71.xml.rels" ContentType="application/vnd.openxmlformats-package.relationships+xml"/>
  <Override PartName="/ppt/slideLayouts/_rels/slideLayout72.xml.rels" ContentType="application/vnd.openxmlformats-package.relationships+xml"/>
  <Override PartName="/ppt/slideLayouts/_rels/slideLayout73.xml.rels" ContentType="application/vnd.openxmlformats-package.relationships+xml"/>
  <Override PartName="/ppt/slideLayouts/_rels/slideLayout74.xml.rels" ContentType="application/vnd.openxmlformats-package.relationships+xml"/>
  <Override PartName="/ppt/slideLayouts/_rels/slideLayout75.xml.rels" ContentType="application/vnd.openxmlformats-package.relationships+xml"/>
  <Override PartName="/ppt/slideLayouts/_rels/slideLayout76.xml.rels" ContentType="application/vnd.openxmlformats-package.relationships+xml"/>
  <Override PartName="/ppt/slideLayouts/_rels/slideLayout77.xml.rels" ContentType="application/vnd.openxmlformats-package.relationships+xml"/>
  <Override PartName="/ppt/slideLayouts/_rels/slideLayout78.xml.rels" ContentType="application/vnd.openxmlformats-package.relationships+xml"/>
  <Override PartName="/ppt/slideLayouts/_rels/slideLayout79.xml.rels" ContentType="application/vnd.openxmlformats-package.relationships+xml"/>
  <Override PartName="/ppt/slideLayouts/_rels/slideLayout80.xml.rels" ContentType="application/vnd.openxmlformats-package.relationships+xml"/>
  <Override PartName="/ppt/slideLayouts/_rels/slideLayout81.xml.rels" ContentType="application/vnd.openxmlformats-package.relationships+xml"/>
  <Override PartName="/ppt/slideLayouts/_rels/slideLayout82.xml.rels" ContentType="application/vnd.openxmlformats-package.relationships+xml"/>
  <Override PartName="/ppt/slideLayouts/_rels/slideLayout83.xml.rels" ContentType="application/vnd.openxmlformats-package.relationships+xml"/>
  <Override PartName="/ppt/slideLayouts/_rels/slideLayout84.xml.rels" ContentType="application/vnd.openxmlformats-package.relationships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  <p:sldMasterId id="2147483700" r:id="rId6"/>
    <p:sldMasterId id="2147483713" r:id="rId7"/>
    <p:sldMasterId id="2147483726" r:id="rId8"/>
  </p:sld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E889AF2-AEF0-45EE-AFF5-3CCB7195500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79A0DBA-EA9E-458F-A061-ABD8CE5F7F7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0036722-8048-4DBB-BCC3-7601ADC1A1C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C503739-E59C-47A1-B268-B7DC6DD8625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0431EDE-2CF6-4048-B2CE-2FA5845EA60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A481C3D-C843-4755-8511-9D0852D5F7F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AD52B2F-D139-4E0F-B842-EEC2A26F982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A882304-C251-4D78-97BB-2619D9D2683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A85F6CF-11B2-4162-BD33-41C3538DDD6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E2E0521-F9B7-42E5-BF36-4D1A15C7B12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2086459-AC68-4236-B7FB-20DC0D716C05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BEC59E2-E709-42BA-9DDD-DE7E52AA3278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0B72DCA-BB24-4F1D-95A5-9DC9A66263A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B5FC9BC5-D6FE-4C10-89A3-0737A9A4045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BB304C83-5224-4309-AE9A-964B59BC2C7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40217B08-F2D6-437D-BAF0-FD81D5B0A14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0AC3CC9-2C3B-4552-986C-7D290F65EFD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B2F94876-C17D-4B30-B128-F764B31BD23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FA2F3B8B-A5F3-4DD1-8F8C-81731815F66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9FF2AD0-2331-442A-B013-B8B6C50EED5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F704E7B2-A744-4E37-ACE0-61636E01A36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7AF39E2-6E1B-4ABA-8F91-92FB361D502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90B5699B-4C7A-4052-9BF6-B1E7513D0B8B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C8F09475-7F08-4BB1-84C5-60252127DEE5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B8A81E39-FA13-4C6F-8B9D-E93187D2395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A525E2F5-06BA-4CBF-9723-F3D212F7602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7CE26FC7-C07F-4A01-8E0D-4E5171140E6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ECF1A5B8-EA15-4382-A1D5-246E524503E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DA2D0335-3F9F-41F2-B631-68AD15EFF3B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2889BC1C-7D25-4316-B9ED-8F0EA3BC47A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11615073-4AD8-4B4C-9E8F-2CF3180F7BB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AFAA3495-DCE1-4955-B354-2B990DE5E94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6B6C5F01-52E6-473B-B8C2-1591787DDDE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ED6A23A7-BB96-474D-B4BB-60A6B8A4C5D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F07166C1-D7A3-4618-A963-DA0771659DCA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E1F18569-065C-409E-BAB2-83630AAB2D3A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710B5A11-4F40-4964-9AE3-A8EF5312358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0337F866-24EE-47D6-A670-E68ECF4942F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4A39160A-516F-4035-99AC-6CB5DAF7314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C22E4842-9EB5-433F-89C6-C761B05BA5D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6CCE6DCF-6FE8-4096-99D8-4ACF695043F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D5B772F0-C32A-4384-987F-CCB58220993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7B847C40-6806-48F6-A98B-C7E88057A79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5C67736B-8620-4A78-B89C-370F1D991FB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228376F7-4587-4EA8-A2E5-31397E44F7C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8C8A189D-BF7A-461C-80E3-625D122CD43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F5B2BA99-0A93-4F86-A415-A4140AE450DB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4AD044C1-BF9B-466F-9EAB-535A7681E287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CCFAEDF4-D9A3-460B-86A9-4F14ED5EC94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C69F917B-B613-445E-B376-7F091DFA4CA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0628C3F5-2571-4F47-AA6D-DEFAE199217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CAC4A35A-2BDB-40CB-8A16-07E1B129513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38C0A081-8A27-4FFB-882A-8698AB856DB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F84C6A9F-FB29-4200-874F-EFC0F0E08FF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F18D4D89-412A-4498-947B-2ACF1DC4912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3A45B073-9BFE-4734-A55A-17F1FCD8C42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F31EEC3A-169D-4EFD-ABB7-49BFDB78F43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98A225C6-D2EE-4FCF-90E8-7C35947B352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F4E2E906-30C8-4930-A3AE-81493CA4ED33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64D79BD0-FEED-4206-A116-C296F5CAEDFB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EAD07C17-24F8-4365-8B8A-05FC9F74C5A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31DE88CA-A8A2-4758-B6AE-A0EB6343D1A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3A6C9BB3-6616-4522-92D4-F6AA36AC589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F4EE9E80-0BB5-47B3-B7E9-C124CE18356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B400C14C-AA3F-41FC-A5A0-71B9846CFC4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A30821EA-9071-4BC6-9D93-4EC78CA170C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3F4483CB-BDAE-4478-9D6D-80EF2CF00E4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74169B6C-C8CE-483C-8094-CEC4359D005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D5321B08-095D-44C9-BC42-D355A630C85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039FDAA2-EA4B-4B4B-ABDC-1A63A8B6E32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EF6745CA-9E03-48F9-A571-E1C4DE2A1215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E26610D4-D84F-4B9E-BF4F-FEFF201D84D3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A7276081-87E6-4750-BB67-08219DC5796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1F6971BE-37DF-4649-94FC-546504FA06C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6ED8A1E5-EFD6-426A-BACC-4A3A11B0B46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1F6380B0-EBA7-4CBD-8903-B39D5D6D8D7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4E61DAC4-8F84-4BBD-973C-F99477329B6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727FBE9F-9DA7-44E9-8A4F-C2A8A283CF2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45A9B4D7-6963-4487-8BEA-5173920155B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454487D7-6531-47B1-A14D-8948105DA49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C5094AB0-4D15-4B45-A9D5-F876B03C9CE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393D50AA-F7DE-4E21-BC1C-FC63B1DE64F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DF959D50-C33F-4902-B959-C339279D104D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F2761DEB-D05C-44A6-80B5-75A39E06E3CB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9.xml"/><Relationship Id="rId5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48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49.xml"/><Relationship Id="rId3" Type="http://schemas.openxmlformats.org/officeDocument/2006/relationships/slideLayout" Target="../slideLayouts/slideLayout50.xml"/><Relationship Id="rId4" Type="http://schemas.openxmlformats.org/officeDocument/2006/relationships/slideLayout" Target="../slideLayouts/slideLayout51.xml"/><Relationship Id="rId5" Type="http://schemas.openxmlformats.org/officeDocument/2006/relationships/slideLayout" Target="../slideLayouts/slideLayout52.xml"/><Relationship Id="rId6" Type="http://schemas.openxmlformats.org/officeDocument/2006/relationships/slideLayout" Target="../slideLayouts/slideLayout53.xml"/><Relationship Id="rId7" Type="http://schemas.openxmlformats.org/officeDocument/2006/relationships/slideLayout" Target="../slideLayouts/slideLayout54.xml"/><Relationship Id="rId8" Type="http://schemas.openxmlformats.org/officeDocument/2006/relationships/slideLayout" Target="../slideLayouts/slideLayout55.xml"/><Relationship Id="rId9" Type="http://schemas.openxmlformats.org/officeDocument/2006/relationships/slideLayout" Target="../slideLayouts/slideLayout56.xml"/><Relationship Id="rId10" Type="http://schemas.openxmlformats.org/officeDocument/2006/relationships/slideLayout" Target="../slideLayouts/slideLayout57.xml"/><Relationship Id="rId11" Type="http://schemas.openxmlformats.org/officeDocument/2006/relationships/slideLayout" Target="../slideLayouts/slideLayout58.xml"/><Relationship Id="rId12" Type="http://schemas.openxmlformats.org/officeDocument/2006/relationships/slideLayout" Target="../slideLayouts/slideLayout59.xml"/><Relationship Id="rId13" Type="http://schemas.openxmlformats.org/officeDocument/2006/relationships/slideLayout" Target="../slideLayouts/slideLayout60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1.xml"/><Relationship Id="rId3" Type="http://schemas.openxmlformats.org/officeDocument/2006/relationships/slideLayout" Target="../slideLayouts/slideLayout62.xml"/><Relationship Id="rId4" Type="http://schemas.openxmlformats.org/officeDocument/2006/relationships/slideLayout" Target="../slideLayouts/slideLayout63.xml"/><Relationship Id="rId5" Type="http://schemas.openxmlformats.org/officeDocument/2006/relationships/slideLayout" Target="../slideLayouts/slideLayout64.xml"/><Relationship Id="rId6" Type="http://schemas.openxmlformats.org/officeDocument/2006/relationships/slideLayout" Target="../slideLayouts/slideLayout65.xml"/><Relationship Id="rId7" Type="http://schemas.openxmlformats.org/officeDocument/2006/relationships/slideLayout" Target="../slideLayouts/slideLayout66.xml"/><Relationship Id="rId8" Type="http://schemas.openxmlformats.org/officeDocument/2006/relationships/slideLayout" Target="../slideLayouts/slideLayout67.xml"/><Relationship Id="rId9" Type="http://schemas.openxmlformats.org/officeDocument/2006/relationships/slideLayout" Target="../slideLayouts/slideLayout68.xml"/><Relationship Id="rId10" Type="http://schemas.openxmlformats.org/officeDocument/2006/relationships/slideLayout" Target="../slideLayouts/slideLayout69.xml"/><Relationship Id="rId11" Type="http://schemas.openxmlformats.org/officeDocument/2006/relationships/slideLayout" Target="../slideLayouts/slideLayout70.xml"/><Relationship Id="rId12" Type="http://schemas.openxmlformats.org/officeDocument/2006/relationships/slideLayout" Target="../slideLayouts/slideLayout71.xml"/><Relationship Id="rId13" Type="http://schemas.openxmlformats.org/officeDocument/2006/relationships/slideLayout" Target="../slideLayouts/slideLayout72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3.xml"/><Relationship Id="rId3" Type="http://schemas.openxmlformats.org/officeDocument/2006/relationships/slideLayout" Target="../slideLayouts/slideLayout74.xml"/><Relationship Id="rId4" Type="http://schemas.openxmlformats.org/officeDocument/2006/relationships/slideLayout" Target="../slideLayouts/slideLayout75.xml"/><Relationship Id="rId5" Type="http://schemas.openxmlformats.org/officeDocument/2006/relationships/slideLayout" Target="../slideLayouts/slideLayout76.xml"/><Relationship Id="rId6" Type="http://schemas.openxmlformats.org/officeDocument/2006/relationships/slideLayout" Target="../slideLayouts/slideLayout77.xml"/><Relationship Id="rId7" Type="http://schemas.openxmlformats.org/officeDocument/2006/relationships/slideLayout" Target="../slideLayouts/slideLayout78.xml"/><Relationship Id="rId8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0.xml"/><Relationship Id="rId10" Type="http://schemas.openxmlformats.org/officeDocument/2006/relationships/slideLayout" Target="../slideLayouts/slideLayout81.xml"/><Relationship Id="rId11" Type="http://schemas.openxmlformats.org/officeDocument/2006/relationships/slideLayout" Target="../slideLayouts/slideLayout82.xml"/><Relationship Id="rId12" Type="http://schemas.openxmlformats.org/officeDocument/2006/relationships/slideLayout" Target="../slideLayouts/slideLayout83.xml"/><Relationship Id="rId13" Type="http://schemas.openxmlformats.org/officeDocument/2006/relationships/slideLayout" Target="../slideLayouts/slideLayout8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0080" cy="359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2BF5B51-EEEF-4540-A812-EB37DBDE3209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90080" cy="359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6F7116E-8301-443C-ADBE-1CE6524626FE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ftr" idx="7"/>
          </p:nvPr>
        </p:nvSpPr>
        <p:spPr>
          <a:xfrm>
            <a:off x="3124080" y="6356520"/>
            <a:ext cx="2890440" cy="36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sldNum" idx="8"/>
          </p:nvPr>
        </p:nvSpPr>
        <p:spPr>
          <a:xfrm>
            <a:off x="655308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3991454-CD44-43DE-A561-A15B2C45F572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dt" idx="9"/>
          </p:nvPr>
        </p:nvSpPr>
        <p:spPr>
          <a:xfrm>
            <a:off x="45720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ftr" idx="10"/>
          </p:nvPr>
        </p:nvSpPr>
        <p:spPr>
          <a:xfrm>
            <a:off x="3124080" y="6356520"/>
            <a:ext cx="2890800" cy="360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 type="sldNum" idx="11"/>
          </p:nvPr>
        </p:nvSpPr>
        <p:spPr>
          <a:xfrm>
            <a:off x="655308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359EB4F-0D13-47A7-8B4B-AD6D9E927F2D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" name="PlaceHolder 3"/>
          <p:cNvSpPr>
            <a:spLocks noGrp="1"/>
          </p:cNvSpPr>
          <p:nvPr>
            <p:ph type="dt" idx="12"/>
          </p:nvPr>
        </p:nvSpPr>
        <p:spPr>
          <a:xfrm>
            <a:off x="45720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PlaceHolder 1"/>
          <p:cNvSpPr>
            <a:spLocks noGrp="1"/>
          </p:cNvSpPr>
          <p:nvPr>
            <p:ph type="ftr" idx="13"/>
          </p:nvPr>
        </p:nvSpPr>
        <p:spPr>
          <a:xfrm>
            <a:off x="3124080" y="6356520"/>
            <a:ext cx="2891520" cy="36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" name="PlaceHolder 2"/>
          <p:cNvSpPr>
            <a:spLocks noGrp="1"/>
          </p:cNvSpPr>
          <p:nvPr>
            <p:ph type="sldNum" idx="14"/>
          </p:nvPr>
        </p:nvSpPr>
        <p:spPr>
          <a:xfrm>
            <a:off x="655308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6ECD8CF-7889-4B2D-A32C-26E57FA3CD63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" name="PlaceHolder 3"/>
          <p:cNvSpPr>
            <a:spLocks noGrp="1"/>
          </p:cNvSpPr>
          <p:nvPr>
            <p:ph type="dt" idx="15"/>
          </p:nvPr>
        </p:nvSpPr>
        <p:spPr>
          <a:xfrm>
            <a:off x="45720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PlaceHolder 1"/>
          <p:cNvSpPr>
            <a:spLocks noGrp="1"/>
          </p:cNvSpPr>
          <p:nvPr>
            <p:ph type="ftr" idx="16"/>
          </p:nvPr>
        </p:nvSpPr>
        <p:spPr>
          <a:xfrm>
            <a:off x="3124080" y="6356520"/>
            <a:ext cx="289296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6" name="PlaceHolder 2"/>
          <p:cNvSpPr>
            <a:spLocks noGrp="1"/>
          </p:cNvSpPr>
          <p:nvPr>
            <p:ph type="sldNum" idx="17"/>
          </p:nvPr>
        </p:nvSpPr>
        <p:spPr>
          <a:xfrm>
            <a:off x="655308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3E00193-36F3-4680-90DE-6007344452C9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7" name="PlaceHolder 3"/>
          <p:cNvSpPr>
            <a:spLocks noGrp="1"/>
          </p:cNvSpPr>
          <p:nvPr>
            <p:ph type="dt" idx="18"/>
          </p:nvPr>
        </p:nvSpPr>
        <p:spPr>
          <a:xfrm>
            <a:off x="45720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8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4" r:id="rId2"/>
    <p:sldLayoutId id="2147483715" r:id="rId3"/>
    <p:sldLayoutId id="2147483716" r:id="rId4"/>
    <p:sldLayoutId id="2147483717" r:id="rId5"/>
    <p:sldLayoutId id="2147483718" r:id="rId6"/>
    <p:sldLayoutId id="2147483719" r:id="rId7"/>
    <p:sldLayoutId id="2147483720" r:id="rId8"/>
    <p:sldLayoutId id="2147483721" r:id="rId9"/>
    <p:sldLayoutId id="2147483722" r:id="rId10"/>
    <p:sldLayoutId id="2147483723" r:id="rId11"/>
    <p:sldLayoutId id="2147483724" r:id="rId12"/>
    <p:sldLayoutId id="2147483725" r:id="rId13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PlaceHolder 1"/>
          <p:cNvSpPr>
            <a:spLocks noGrp="1"/>
          </p:cNvSpPr>
          <p:nvPr>
            <p:ph type="ftr" idx="19"/>
          </p:nvPr>
        </p:nvSpPr>
        <p:spPr>
          <a:xfrm>
            <a:off x="3124080" y="6356520"/>
            <a:ext cx="289368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7" name="PlaceHolder 2"/>
          <p:cNvSpPr>
            <a:spLocks noGrp="1"/>
          </p:cNvSpPr>
          <p:nvPr>
            <p:ph type="sldNum" idx="20"/>
          </p:nvPr>
        </p:nvSpPr>
        <p:spPr>
          <a:xfrm>
            <a:off x="655308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ED94D20-47D7-4ACE-A53C-9804EA5E0A84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8" name="PlaceHolder 3"/>
          <p:cNvSpPr>
            <a:spLocks noGrp="1"/>
          </p:cNvSpPr>
          <p:nvPr>
            <p:ph type="dt" idx="21"/>
          </p:nvPr>
        </p:nvSpPr>
        <p:spPr>
          <a:xfrm>
            <a:off x="45720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9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27" r:id="rId2"/>
    <p:sldLayoutId id="2147483728" r:id="rId3"/>
    <p:sldLayoutId id="2147483729" r:id="rId4"/>
    <p:sldLayoutId id="2147483730" r:id="rId5"/>
    <p:sldLayoutId id="2147483731" r:id="rId6"/>
    <p:sldLayoutId id="2147483732" r:id="rId7"/>
    <p:sldLayoutId id="2147483733" r:id="rId8"/>
    <p:sldLayoutId id="2147483734" r:id="rId9"/>
    <p:sldLayoutId id="2147483735" r:id="rId10"/>
    <p:sldLayoutId id="2147483736" r:id="rId11"/>
    <p:sldLayoutId id="2147483737" r:id="rId12"/>
    <p:sldLayoutId id="2147483738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Rectangle 1"/>
          <p:cNvSpPr/>
          <p:nvPr/>
        </p:nvSpPr>
        <p:spPr>
          <a:xfrm>
            <a:off x="0" y="0"/>
            <a:ext cx="12183480" cy="68526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8" name="Rectangle 2"/>
          <p:cNvSpPr/>
          <p:nvPr/>
        </p:nvSpPr>
        <p:spPr>
          <a:xfrm>
            <a:off x="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9" name="Rectangle 3"/>
          <p:cNvSpPr/>
          <p:nvPr/>
        </p:nvSpPr>
        <p:spPr>
          <a:xfrm>
            <a:off x="914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0" name="Rectangle 4"/>
          <p:cNvSpPr/>
          <p:nvPr/>
        </p:nvSpPr>
        <p:spPr>
          <a:xfrm>
            <a:off x="1828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1" name="Rectangle 5"/>
          <p:cNvSpPr/>
          <p:nvPr/>
        </p:nvSpPr>
        <p:spPr>
          <a:xfrm>
            <a:off x="2743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2" name="Rectangle 6"/>
          <p:cNvSpPr/>
          <p:nvPr/>
        </p:nvSpPr>
        <p:spPr>
          <a:xfrm>
            <a:off x="3657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3" name="Rectangle 7"/>
          <p:cNvSpPr/>
          <p:nvPr/>
        </p:nvSpPr>
        <p:spPr>
          <a:xfrm>
            <a:off x="4572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4" name="Rectangle 8"/>
          <p:cNvSpPr/>
          <p:nvPr/>
        </p:nvSpPr>
        <p:spPr>
          <a:xfrm>
            <a:off x="5486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5" name="Rectangle 9"/>
          <p:cNvSpPr/>
          <p:nvPr/>
        </p:nvSpPr>
        <p:spPr>
          <a:xfrm>
            <a:off x="6400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6" name="Rectangle 10"/>
          <p:cNvSpPr/>
          <p:nvPr/>
        </p:nvSpPr>
        <p:spPr>
          <a:xfrm>
            <a:off x="7315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7" name="Rectangle 11"/>
          <p:cNvSpPr/>
          <p:nvPr/>
        </p:nvSpPr>
        <p:spPr>
          <a:xfrm>
            <a:off x="8229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8" name="Rectangle 12"/>
          <p:cNvSpPr/>
          <p:nvPr/>
        </p:nvSpPr>
        <p:spPr>
          <a:xfrm>
            <a:off x="9144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9" name="Rectangle 13"/>
          <p:cNvSpPr/>
          <p:nvPr/>
        </p:nvSpPr>
        <p:spPr>
          <a:xfrm>
            <a:off x="10058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0" name="Rectangle 14"/>
          <p:cNvSpPr/>
          <p:nvPr/>
        </p:nvSpPr>
        <p:spPr>
          <a:xfrm>
            <a:off x="10972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1" name="Rectangle 15"/>
          <p:cNvSpPr/>
          <p:nvPr/>
        </p:nvSpPr>
        <p:spPr>
          <a:xfrm>
            <a:off x="11887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2" name="Rectangle 16"/>
          <p:cNvSpPr/>
          <p:nvPr/>
        </p:nvSpPr>
        <p:spPr>
          <a:xfrm>
            <a:off x="0" y="0"/>
            <a:ext cx="314640" cy="68526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3" name="Rounded Rectangle 17"/>
          <p:cNvSpPr/>
          <p:nvPr/>
        </p:nvSpPr>
        <p:spPr>
          <a:xfrm>
            <a:off x="9875520" y="365760"/>
            <a:ext cx="2006280" cy="4975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4" name="TextBox 18"/>
          <p:cNvSpPr/>
          <p:nvPr/>
        </p:nvSpPr>
        <p:spPr>
          <a:xfrm>
            <a:off x="1522800" y="1005840"/>
            <a:ext cx="79261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VIRTUAL MACHINE (JVM)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TextBox 19"/>
          <p:cNvSpPr/>
          <p:nvPr/>
        </p:nvSpPr>
        <p:spPr>
          <a:xfrm>
            <a:off x="3661920" y="2057400"/>
            <a:ext cx="364824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The engine that runs Java programs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Rounded Rectangle 20"/>
          <p:cNvSpPr/>
          <p:nvPr/>
        </p:nvSpPr>
        <p:spPr>
          <a:xfrm>
            <a:off x="98748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7" name="Rounded Rectangle 21"/>
          <p:cNvSpPr/>
          <p:nvPr/>
        </p:nvSpPr>
        <p:spPr>
          <a:xfrm>
            <a:off x="685800" y="2521440"/>
            <a:ext cx="3424680" cy="3325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The Java Virtual Machine (JVM) is a virtual runtime engine that executes Java bytecode.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It allows Java programs to run on any platform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Java code is compiled into bytecode, not machine code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The JVM translates bytecode into machine-specific instructions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JVM Responsibilities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Platform independence (Write Once, Run Anywhere)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Bytecode execution (Interpreter + JIT Compiler)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Automatic memory management (Garbage Collection)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Security through a controlled runtime environment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👉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The JVM acts as a bridge between Java programs and the operating system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8" name="Rounded Rectangle 22"/>
          <p:cNvSpPr/>
          <p:nvPr/>
        </p:nvSpPr>
        <p:spPr>
          <a:xfrm>
            <a:off x="450792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9" name="Rounded Rectangle 23"/>
          <p:cNvSpPr/>
          <p:nvPr/>
        </p:nvSpPr>
        <p:spPr>
          <a:xfrm>
            <a:off x="4434840" y="310896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 (.java)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Compiler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JVM (Interpreter + JIT)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Machine Code for OS/CPU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0" name="Rounded Rectangle 24"/>
          <p:cNvSpPr/>
          <p:nvPr/>
        </p:nvSpPr>
        <p:spPr>
          <a:xfrm>
            <a:off x="802836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1" name="Rounded Rectangle 25"/>
          <p:cNvSpPr/>
          <p:nvPr/>
        </p:nvSpPr>
        <p:spPr>
          <a:xfrm>
            <a:off x="7955280" y="310896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System.out.println("Hello, JVM!");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2" name="TextBox 2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Rectangle 32"/>
          <p:cNvSpPr/>
          <p:nvPr/>
        </p:nvSpPr>
        <p:spPr>
          <a:xfrm>
            <a:off x="0" y="0"/>
            <a:ext cx="12183480" cy="68526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4" name="Rectangle 33"/>
          <p:cNvSpPr/>
          <p:nvPr/>
        </p:nvSpPr>
        <p:spPr>
          <a:xfrm>
            <a:off x="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5" name="Rectangle 34"/>
          <p:cNvSpPr/>
          <p:nvPr/>
        </p:nvSpPr>
        <p:spPr>
          <a:xfrm>
            <a:off x="914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6" name="Rectangle 35"/>
          <p:cNvSpPr/>
          <p:nvPr/>
        </p:nvSpPr>
        <p:spPr>
          <a:xfrm>
            <a:off x="1828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7" name="Rectangle 36"/>
          <p:cNvSpPr/>
          <p:nvPr/>
        </p:nvSpPr>
        <p:spPr>
          <a:xfrm>
            <a:off x="2743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8" name="Rectangle 37"/>
          <p:cNvSpPr/>
          <p:nvPr/>
        </p:nvSpPr>
        <p:spPr>
          <a:xfrm>
            <a:off x="3657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9" name="Rectangle 38"/>
          <p:cNvSpPr/>
          <p:nvPr/>
        </p:nvSpPr>
        <p:spPr>
          <a:xfrm>
            <a:off x="4572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0" name="Rectangle 39"/>
          <p:cNvSpPr/>
          <p:nvPr/>
        </p:nvSpPr>
        <p:spPr>
          <a:xfrm>
            <a:off x="5486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1" name="Rectangle 40"/>
          <p:cNvSpPr/>
          <p:nvPr/>
        </p:nvSpPr>
        <p:spPr>
          <a:xfrm>
            <a:off x="6400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2" name="Rectangle 41"/>
          <p:cNvSpPr/>
          <p:nvPr/>
        </p:nvSpPr>
        <p:spPr>
          <a:xfrm>
            <a:off x="7315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3" name="Rectangle 42"/>
          <p:cNvSpPr/>
          <p:nvPr/>
        </p:nvSpPr>
        <p:spPr>
          <a:xfrm>
            <a:off x="8229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4" name="Rectangle 43"/>
          <p:cNvSpPr/>
          <p:nvPr/>
        </p:nvSpPr>
        <p:spPr>
          <a:xfrm>
            <a:off x="9144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5" name="Rectangle 44"/>
          <p:cNvSpPr/>
          <p:nvPr/>
        </p:nvSpPr>
        <p:spPr>
          <a:xfrm>
            <a:off x="10058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6" name="Rectangle 45"/>
          <p:cNvSpPr/>
          <p:nvPr/>
        </p:nvSpPr>
        <p:spPr>
          <a:xfrm>
            <a:off x="10972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7" name="Rectangle 46"/>
          <p:cNvSpPr/>
          <p:nvPr/>
        </p:nvSpPr>
        <p:spPr>
          <a:xfrm>
            <a:off x="11887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8" name="Rectangle 47"/>
          <p:cNvSpPr/>
          <p:nvPr/>
        </p:nvSpPr>
        <p:spPr>
          <a:xfrm>
            <a:off x="0" y="0"/>
            <a:ext cx="314640" cy="68526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9" name="Rounded Rectangle 8"/>
          <p:cNvSpPr/>
          <p:nvPr/>
        </p:nvSpPr>
        <p:spPr>
          <a:xfrm>
            <a:off x="9875520" y="365760"/>
            <a:ext cx="2006280" cy="4975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0" name="TextBox 4"/>
          <p:cNvSpPr/>
          <p:nvPr/>
        </p:nvSpPr>
        <p:spPr>
          <a:xfrm>
            <a:off x="3214440" y="1005840"/>
            <a:ext cx="45428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JVM Architecture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" name="TextBox 5"/>
          <p:cNvSpPr/>
          <p:nvPr/>
        </p:nvSpPr>
        <p:spPr>
          <a:xfrm>
            <a:off x="3641400" y="2194560"/>
            <a:ext cx="368928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INSIDE THE JAVA VIRTUAL MACHINE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Rounded Rectangle 9"/>
          <p:cNvSpPr/>
          <p:nvPr/>
        </p:nvSpPr>
        <p:spPr>
          <a:xfrm>
            <a:off x="98748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3" name="Rounded Rectangle 10"/>
          <p:cNvSpPr/>
          <p:nvPr/>
        </p:nvSpPr>
        <p:spPr>
          <a:xfrm>
            <a:off x="914400" y="310896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The JVM architecture is built from core components that work together to execute Java programs.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Class Loader loads class files into memory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Runtime Data Areas store data during execution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Execution Engine runs bytecode (Interpreter + JIT)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Garbage Collector removes unused objects automatically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These parts allow Java programs to run securely, efficiently, and independently of the operating system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4" name="Rounded Rectangle 11"/>
          <p:cNvSpPr/>
          <p:nvPr/>
        </p:nvSpPr>
        <p:spPr>
          <a:xfrm>
            <a:off x="450792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5" name="Rounded Rectangle 12"/>
          <p:cNvSpPr/>
          <p:nvPr/>
        </p:nvSpPr>
        <p:spPr>
          <a:xfrm>
            <a:off x="4434840" y="310896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Class Loader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Runtime Data Areas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Execution Engine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(Interpreter + JIT)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Garbage Collector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6" name="Rounded Rectangle 13"/>
          <p:cNvSpPr/>
          <p:nvPr/>
        </p:nvSpPr>
        <p:spPr>
          <a:xfrm>
            <a:off x="802836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7" name="Rounded Rectangle 14"/>
          <p:cNvSpPr/>
          <p:nvPr/>
        </p:nvSpPr>
        <p:spPr>
          <a:xfrm>
            <a:off x="7955280" y="310896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class Demo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System.out.println("JVM Running");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br>
              <a:rPr sz="1500"/>
            </a:b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Process: Load =&gt; Store In Memory =&gt; Execute =&gt; Clean Memory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8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Rectangle 48"/>
          <p:cNvSpPr/>
          <p:nvPr/>
        </p:nvSpPr>
        <p:spPr>
          <a:xfrm>
            <a:off x="0" y="0"/>
            <a:ext cx="12183840" cy="68529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0" name="Rectangle 49"/>
          <p:cNvSpPr/>
          <p:nvPr/>
        </p:nvSpPr>
        <p:spPr>
          <a:xfrm>
            <a:off x="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1" name="Rectangle 50"/>
          <p:cNvSpPr/>
          <p:nvPr/>
        </p:nvSpPr>
        <p:spPr>
          <a:xfrm>
            <a:off x="914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2" name="Rectangle 51"/>
          <p:cNvSpPr/>
          <p:nvPr/>
        </p:nvSpPr>
        <p:spPr>
          <a:xfrm>
            <a:off x="1828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3" name="Rectangle 52"/>
          <p:cNvSpPr/>
          <p:nvPr/>
        </p:nvSpPr>
        <p:spPr>
          <a:xfrm>
            <a:off x="2743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4" name="Rectangle 53"/>
          <p:cNvSpPr/>
          <p:nvPr/>
        </p:nvSpPr>
        <p:spPr>
          <a:xfrm>
            <a:off x="3657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5" name="Rectangle 54"/>
          <p:cNvSpPr/>
          <p:nvPr/>
        </p:nvSpPr>
        <p:spPr>
          <a:xfrm>
            <a:off x="4572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6" name="Rectangle 55"/>
          <p:cNvSpPr/>
          <p:nvPr/>
        </p:nvSpPr>
        <p:spPr>
          <a:xfrm>
            <a:off x="5486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7" name="Rectangle 56"/>
          <p:cNvSpPr/>
          <p:nvPr/>
        </p:nvSpPr>
        <p:spPr>
          <a:xfrm>
            <a:off x="6400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8" name="Rectangle 57"/>
          <p:cNvSpPr/>
          <p:nvPr/>
        </p:nvSpPr>
        <p:spPr>
          <a:xfrm>
            <a:off x="7315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9" name="Rectangle 58"/>
          <p:cNvSpPr/>
          <p:nvPr/>
        </p:nvSpPr>
        <p:spPr>
          <a:xfrm>
            <a:off x="8229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0" name="Rectangle 59"/>
          <p:cNvSpPr/>
          <p:nvPr/>
        </p:nvSpPr>
        <p:spPr>
          <a:xfrm>
            <a:off x="9144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1" name="Rectangle 60"/>
          <p:cNvSpPr/>
          <p:nvPr/>
        </p:nvSpPr>
        <p:spPr>
          <a:xfrm>
            <a:off x="10058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2" name="Rectangle 61"/>
          <p:cNvSpPr/>
          <p:nvPr/>
        </p:nvSpPr>
        <p:spPr>
          <a:xfrm>
            <a:off x="10972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3" name="Rectangle 62"/>
          <p:cNvSpPr/>
          <p:nvPr/>
        </p:nvSpPr>
        <p:spPr>
          <a:xfrm>
            <a:off x="11887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4" name="Rectangle 63"/>
          <p:cNvSpPr/>
          <p:nvPr/>
        </p:nvSpPr>
        <p:spPr>
          <a:xfrm>
            <a:off x="0" y="0"/>
            <a:ext cx="315000" cy="68529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5" name="Rounded Rectangle 15"/>
          <p:cNvSpPr/>
          <p:nvPr/>
        </p:nvSpPr>
        <p:spPr>
          <a:xfrm>
            <a:off x="9875520" y="365760"/>
            <a:ext cx="2006640" cy="4978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6" name="TextBox 7"/>
          <p:cNvSpPr/>
          <p:nvPr/>
        </p:nvSpPr>
        <p:spPr>
          <a:xfrm>
            <a:off x="1896840" y="1005840"/>
            <a:ext cx="71776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JVM PROGRAM EXECUTION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" name="TextBox 8"/>
          <p:cNvSpPr/>
          <p:nvPr/>
        </p:nvSpPr>
        <p:spPr>
          <a:xfrm>
            <a:off x="2177280" y="2194560"/>
            <a:ext cx="66171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How the JVM runs a Java program step by step behind the scenes.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Rounded Rectangle 16"/>
          <p:cNvSpPr/>
          <p:nvPr/>
        </p:nvSpPr>
        <p:spPr>
          <a:xfrm>
            <a:off x="98748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9" name="Rounded Rectangle 18"/>
          <p:cNvSpPr/>
          <p:nvPr/>
        </p:nvSpPr>
        <p:spPr>
          <a:xfrm>
            <a:off x="475560" y="2743200"/>
            <a:ext cx="3725640" cy="3103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When a Java program starts, the JVM follows a smart execution process.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First, the Class Loader loads compiled .class files into memory and checks them for security.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Next, memory is organized into areas like the Heap (for objects) and Stack (for method calls and variables).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Then, the Execution Engine runs the program.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The Interpreter reads bytecode line by line, while the JIT Compiler converts frequently used code into faster machine code.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Finally, the Garbage Collector removes unused objects from memory automatically.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Thanks to this process, Java programs run safely, efficiently, and on any system with a JVM.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0" name="Rounded Rectangle 19"/>
          <p:cNvSpPr/>
          <p:nvPr/>
        </p:nvSpPr>
        <p:spPr>
          <a:xfrm>
            <a:off x="450792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1" name="Rounded Rectangle 26"/>
          <p:cNvSpPr/>
          <p:nvPr/>
        </p:nvSpPr>
        <p:spPr>
          <a:xfrm>
            <a:off x="4343400" y="2918520"/>
            <a:ext cx="3515400" cy="292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 (.java)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Compiler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Class Loader loads classes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Memory Allocation (Heap / Stack)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Execution Engine (Interpreter + JIT)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Native Machine Code Execution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Garbage Collector frees memory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2" name="Rounded Rectangle 27"/>
          <p:cNvSpPr/>
          <p:nvPr/>
        </p:nvSpPr>
        <p:spPr>
          <a:xfrm>
            <a:off x="802836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3" name="Rounded Rectangle 28"/>
          <p:cNvSpPr/>
          <p:nvPr/>
        </p:nvSpPr>
        <p:spPr>
          <a:xfrm>
            <a:off x="8023680" y="2743200"/>
            <a:ext cx="3836880" cy="319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ExecutionDemo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String message = "JVM Execution Started";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System.out.println(message);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int result = addNumbers(5, 7);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System.out.println("Result: " + result);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int addNumbers(int a, int b)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return a + b;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4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Rectangle 64"/>
          <p:cNvSpPr/>
          <p:nvPr/>
        </p:nvSpPr>
        <p:spPr>
          <a:xfrm>
            <a:off x="0" y="0"/>
            <a:ext cx="12184200" cy="68533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6" name="Rectangle 65"/>
          <p:cNvSpPr/>
          <p:nvPr/>
        </p:nvSpPr>
        <p:spPr>
          <a:xfrm>
            <a:off x="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7" name="Rectangle 66"/>
          <p:cNvSpPr/>
          <p:nvPr/>
        </p:nvSpPr>
        <p:spPr>
          <a:xfrm>
            <a:off x="914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8" name="Rectangle 67"/>
          <p:cNvSpPr/>
          <p:nvPr/>
        </p:nvSpPr>
        <p:spPr>
          <a:xfrm>
            <a:off x="1828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9" name="Rectangle 68"/>
          <p:cNvSpPr/>
          <p:nvPr/>
        </p:nvSpPr>
        <p:spPr>
          <a:xfrm>
            <a:off x="2743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0" name="Rectangle 69"/>
          <p:cNvSpPr/>
          <p:nvPr/>
        </p:nvSpPr>
        <p:spPr>
          <a:xfrm>
            <a:off x="3657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1" name="Rectangle 70"/>
          <p:cNvSpPr/>
          <p:nvPr/>
        </p:nvSpPr>
        <p:spPr>
          <a:xfrm>
            <a:off x="4572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2" name="Rectangle 71"/>
          <p:cNvSpPr/>
          <p:nvPr/>
        </p:nvSpPr>
        <p:spPr>
          <a:xfrm>
            <a:off x="5486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3" name="Rectangle 72"/>
          <p:cNvSpPr/>
          <p:nvPr/>
        </p:nvSpPr>
        <p:spPr>
          <a:xfrm>
            <a:off x="6400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4" name="Rectangle 73"/>
          <p:cNvSpPr/>
          <p:nvPr/>
        </p:nvSpPr>
        <p:spPr>
          <a:xfrm>
            <a:off x="7315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5" name="Rectangle 74"/>
          <p:cNvSpPr/>
          <p:nvPr/>
        </p:nvSpPr>
        <p:spPr>
          <a:xfrm>
            <a:off x="8229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6" name="Rectangle 75"/>
          <p:cNvSpPr/>
          <p:nvPr/>
        </p:nvSpPr>
        <p:spPr>
          <a:xfrm>
            <a:off x="9144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7" name="Rectangle 76"/>
          <p:cNvSpPr/>
          <p:nvPr/>
        </p:nvSpPr>
        <p:spPr>
          <a:xfrm>
            <a:off x="10058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8" name="Rectangle 77"/>
          <p:cNvSpPr/>
          <p:nvPr/>
        </p:nvSpPr>
        <p:spPr>
          <a:xfrm>
            <a:off x="10972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9" name="Rectangle 78"/>
          <p:cNvSpPr/>
          <p:nvPr/>
        </p:nvSpPr>
        <p:spPr>
          <a:xfrm>
            <a:off x="11887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0" name="Rectangle 79"/>
          <p:cNvSpPr/>
          <p:nvPr/>
        </p:nvSpPr>
        <p:spPr>
          <a:xfrm>
            <a:off x="0" y="0"/>
            <a:ext cx="315360" cy="68533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1" name="Rounded Rectangle 29"/>
          <p:cNvSpPr/>
          <p:nvPr/>
        </p:nvSpPr>
        <p:spPr>
          <a:xfrm>
            <a:off x="9875520" y="365760"/>
            <a:ext cx="2007000" cy="498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2" name="TextBox 10"/>
          <p:cNvSpPr/>
          <p:nvPr/>
        </p:nvSpPr>
        <p:spPr>
          <a:xfrm>
            <a:off x="3163320" y="1005840"/>
            <a:ext cx="46450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JRE vs JDK vs JVM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3" name="TextBox 11"/>
          <p:cNvSpPr/>
          <p:nvPr/>
        </p:nvSpPr>
        <p:spPr>
          <a:xfrm>
            <a:off x="3468960" y="2194560"/>
            <a:ext cx="403380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Understanding Java’s Core Components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4" name="Rounded Rectangle 30"/>
          <p:cNvSpPr/>
          <p:nvPr/>
        </p:nvSpPr>
        <p:spPr>
          <a:xfrm>
            <a:off x="98748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5" name="Rounded Rectangle 31"/>
          <p:cNvSpPr/>
          <p:nvPr/>
        </p:nvSpPr>
        <p:spPr>
          <a:xfrm>
            <a:off x="685800" y="3108960"/>
            <a:ext cx="3515760" cy="3059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Java is built on three key layers that work together to develop and run applications.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JVM (Java Virtual Machine)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Runs Java bytecode and makes Java platform-independent.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JRE (Java Runtime Environment)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Provides everything needed to run Java applications.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JDK (Java Development Kit)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Provides tools needed to develop Java applications.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Think of it like this: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JVM = Engine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JRE = Engine + Fuel System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JDK = Full Car Factory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6" name="Rounded Rectangle 32"/>
          <p:cNvSpPr/>
          <p:nvPr/>
        </p:nvSpPr>
        <p:spPr>
          <a:xfrm>
            <a:off x="450792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7" name="Rounded Rectangle 33"/>
          <p:cNvSpPr/>
          <p:nvPr/>
        </p:nvSpPr>
        <p:spPr>
          <a:xfrm>
            <a:off x="4434840" y="310896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 (.java)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JDK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(Compiler + Dev Tools)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 files)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JRE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(Libraries + JVM)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JVM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(Execution Engine)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Machine Code (OS/CPU)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8" name="Rounded Rectangle 34"/>
          <p:cNvSpPr/>
          <p:nvPr/>
        </p:nvSpPr>
        <p:spPr>
          <a:xfrm>
            <a:off x="802836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9" name="Rounded Rectangle 35"/>
          <p:cNvSpPr/>
          <p:nvPr/>
        </p:nvSpPr>
        <p:spPr>
          <a:xfrm>
            <a:off x="7955280" y="310896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# Compile using JDK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javac Main.java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# Run using JRE (which uses JVM internally)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java Main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System.out.println("Understanding JDK, JRE, and JVM!");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0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Rectangle 80"/>
          <p:cNvSpPr/>
          <p:nvPr/>
        </p:nvSpPr>
        <p:spPr>
          <a:xfrm>
            <a:off x="0" y="0"/>
            <a:ext cx="12184920" cy="6854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2" name="Rectangle 81"/>
          <p:cNvSpPr/>
          <p:nvPr/>
        </p:nvSpPr>
        <p:spPr>
          <a:xfrm>
            <a:off x="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3" name="Rectangle 82"/>
          <p:cNvSpPr/>
          <p:nvPr/>
        </p:nvSpPr>
        <p:spPr>
          <a:xfrm>
            <a:off x="914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4" name="Rectangle 83"/>
          <p:cNvSpPr/>
          <p:nvPr/>
        </p:nvSpPr>
        <p:spPr>
          <a:xfrm>
            <a:off x="1828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5" name="Rectangle 84"/>
          <p:cNvSpPr/>
          <p:nvPr/>
        </p:nvSpPr>
        <p:spPr>
          <a:xfrm>
            <a:off x="2743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6" name="Rectangle 85"/>
          <p:cNvSpPr/>
          <p:nvPr/>
        </p:nvSpPr>
        <p:spPr>
          <a:xfrm>
            <a:off x="3657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7" name="Rectangle 86"/>
          <p:cNvSpPr/>
          <p:nvPr/>
        </p:nvSpPr>
        <p:spPr>
          <a:xfrm>
            <a:off x="4572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8" name="Rectangle 87"/>
          <p:cNvSpPr/>
          <p:nvPr/>
        </p:nvSpPr>
        <p:spPr>
          <a:xfrm>
            <a:off x="5486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9" name="Rectangle 88"/>
          <p:cNvSpPr/>
          <p:nvPr/>
        </p:nvSpPr>
        <p:spPr>
          <a:xfrm>
            <a:off x="6400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0" name="Rectangle 89"/>
          <p:cNvSpPr/>
          <p:nvPr/>
        </p:nvSpPr>
        <p:spPr>
          <a:xfrm>
            <a:off x="7315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1" name="Rectangle 90"/>
          <p:cNvSpPr/>
          <p:nvPr/>
        </p:nvSpPr>
        <p:spPr>
          <a:xfrm>
            <a:off x="8229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2" name="Rectangle 91"/>
          <p:cNvSpPr/>
          <p:nvPr/>
        </p:nvSpPr>
        <p:spPr>
          <a:xfrm>
            <a:off x="9144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3" name="Rectangle 92"/>
          <p:cNvSpPr/>
          <p:nvPr/>
        </p:nvSpPr>
        <p:spPr>
          <a:xfrm>
            <a:off x="10058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4" name="Rectangle 93"/>
          <p:cNvSpPr/>
          <p:nvPr/>
        </p:nvSpPr>
        <p:spPr>
          <a:xfrm>
            <a:off x="10972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5" name="Rectangle 94"/>
          <p:cNvSpPr/>
          <p:nvPr/>
        </p:nvSpPr>
        <p:spPr>
          <a:xfrm>
            <a:off x="11887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6" name="Rectangle 95"/>
          <p:cNvSpPr/>
          <p:nvPr/>
        </p:nvSpPr>
        <p:spPr>
          <a:xfrm>
            <a:off x="0" y="0"/>
            <a:ext cx="316080" cy="6854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7" name="Rounded Rectangle 36"/>
          <p:cNvSpPr/>
          <p:nvPr/>
        </p:nvSpPr>
        <p:spPr>
          <a:xfrm>
            <a:off x="9875520" y="365760"/>
            <a:ext cx="2007720" cy="498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8" name="TextBox 13"/>
          <p:cNvSpPr/>
          <p:nvPr/>
        </p:nvSpPr>
        <p:spPr>
          <a:xfrm>
            <a:off x="1889280" y="1005840"/>
            <a:ext cx="71931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ENVIRONMENT SETUP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9" name="TextBox 14"/>
          <p:cNvSpPr/>
          <p:nvPr/>
        </p:nvSpPr>
        <p:spPr>
          <a:xfrm>
            <a:off x="591840" y="2194560"/>
            <a:ext cx="97869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Sets up your system to compile and run Java by installing the JDK and configuring system variables.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0" name="Rounded Rectangle 37"/>
          <p:cNvSpPr/>
          <p:nvPr/>
        </p:nvSpPr>
        <p:spPr>
          <a:xfrm>
            <a:off x="98748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1" name="Rounded Rectangle 38"/>
          <p:cNvSpPr/>
          <p:nvPr/>
        </p:nvSpPr>
        <p:spPr>
          <a:xfrm>
            <a:off x="914400" y="310896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JDK (Java Development Kit) includes compiler (javac) and runtime (java).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System variables like PATH and JAVA_HOME allow the command line to find Java.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Proper setup ensures Java programs can be compiled and executed anywhere on the system.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2" name="Rounded Rectangle 39"/>
          <p:cNvSpPr/>
          <p:nvPr/>
        </p:nvSpPr>
        <p:spPr>
          <a:xfrm>
            <a:off x="450792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3" name="Rounded Rectangle 40"/>
          <p:cNvSpPr/>
          <p:nvPr/>
        </p:nvSpPr>
        <p:spPr>
          <a:xfrm>
            <a:off x="4434840" y="310896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Download JDK →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Install on your computer →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Set JAVA_HOME →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Add JDK bin to PATH →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Verify with terminal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4" name="Rounded Rectangle 41"/>
          <p:cNvSpPr/>
          <p:nvPr/>
        </p:nvSpPr>
        <p:spPr>
          <a:xfrm>
            <a:off x="802836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5" name="Rounded Rectangle 42"/>
          <p:cNvSpPr/>
          <p:nvPr/>
        </p:nvSpPr>
        <p:spPr>
          <a:xfrm>
            <a:off x="7955280" y="310896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verify installation:</a:t>
            </a:r>
            <a:br>
              <a:rPr sz="1800"/>
            </a:b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Write the Command Prompt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java -version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javac -version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6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Rectangle 17"/>
          <p:cNvSpPr/>
          <p:nvPr/>
        </p:nvSpPr>
        <p:spPr>
          <a:xfrm>
            <a:off x="0" y="0"/>
            <a:ext cx="12184920" cy="6854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8" name="Rectangle 18"/>
          <p:cNvSpPr/>
          <p:nvPr/>
        </p:nvSpPr>
        <p:spPr>
          <a:xfrm>
            <a:off x="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9" name="Rectangle 19"/>
          <p:cNvSpPr/>
          <p:nvPr/>
        </p:nvSpPr>
        <p:spPr>
          <a:xfrm>
            <a:off x="914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0" name="Rectangle 20"/>
          <p:cNvSpPr/>
          <p:nvPr/>
        </p:nvSpPr>
        <p:spPr>
          <a:xfrm>
            <a:off x="1828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1" name="Rectangle 21"/>
          <p:cNvSpPr/>
          <p:nvPr/>
        </p:nvSpPr>
        <p:spPr>
          <a:xfrm>
            <a:off x="2743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2" name="Rectangle 22"/>
          <p:cNvSpPr/>
          <p:nvPr/>
        </p:nvSpPr>
        <p:spPr>
          <a:xfrm>
            <a:off x="3657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3" name="Rectangle 23"/>
          <p:cNvSpPr/>
          <p:nvPr/>
        </p:nvSpPr>
        <p:spPr>
          <a:xfrm>
            <a:off x="4572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4" name="Rectangle 24"/>
          <p:cNvSpPr/>
          <p:nvPr/>
        </p:nvSpPr>
        <p:spPr>
          <a:xfrm>
            <a:off x="5486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5" name="Rectangle 25"/>
          <p:cNvSpPr/>
          <p:nvPr/>
        </p:nvSpPr>
        <p:spPr>
          <a:xfrm>
            <a:off x="6400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6" name="Rectangle 26"/>
          <p:cNvSpPr/>
          <p:nvPr/>
        </p:nvSpPr>
        <p:spPr>
          <a:xfrm>
            <a:off x="7315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7" name="Rectangle 27"/>
          <p:cNvSpPr/>
          <p:nvPr/>
        </p:nvSpPr>
        <p:spPr>
          <a:xfrm>
            <a:off x="8229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8" name="Rectangle 28"/>
          <p:cNvSpPr/>
          <p:nvPr/>
        </p:nvSpPr>
        <p:spPr>
          <a:xfrm>
            <a:off x="9144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9" name="Rectangle 29"/>
          <p:cNvSpPr/>
          <p:nvPr/>
        </p:nvSpPr>
        <p:spPr>
          <a:xfrm>
            <a:off x="10058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0" name="Rectangle 30"/>
          <p:cNvSpPr/>
          <p:nvPr/>
        </p:nvSpPr>
        <p:spPr>
          <a:xfrm>
            <a:off x="10972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1" name="Rectangle 31"/>
          <p:cNvSpPr/>
          <p:nvPr/>
        </p:nvSpPr>
        <p:spPr>
          <a:xfrm>
            <a:off x="11887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2" name="Rectangle 96"/>
          <p:cNvSpPr/>
          <p:nvPr/>
        </p:nvSpPr>
        <p:spPr>
          <a:xfrm>
            <a:off x="0" y="0"/>
            <a:ext cx="316080" cy="6854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3" name="Rounded Rectangle 43"/>
          <p:cNvSpPr/>
          <p:nvPr/>
        </p:nvSpPr>
        <p:spPr>
          <a:xfrm>
            <a:off x="9875520" y="365760"/>
            <a:ext cx="2007720" cy="498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4" name="TextBox 16"/>
          <p:cNvSpPr/>
          <p:nvPr/>
        </p:nvSpPr>
        <p:spPr>
          <a:xfrm>
            <a:off x="911880" y="1005840"/>
            <a:ext cx="91468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CONFIGURING JAVA ENVIRONMENT VARIABLES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" name="TextBox 17"/>
          <p:cNvSpPr/>
          <p:nvPr/>
        </p:nvSpPr>
        <p:spPr>
          <a:xfrm>
            <a:off x="-310680" y="2194560"/>
            <a:ext cx="1159884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                 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Environment variables tell the system where Java is installed, allowing tools and commands to work correctly from any directory.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6" name="Rounded Rectangle 44"/>
          <p:cNvSpPr/>
          <p:nvPr/>
        </p:nvSpPr>
        <p:spPr>
          <a:xfrm>
            <a:off x="98748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7" name="Rounded Rectangle 45"/>
          <p:cNvSpPr/>
          <p:nvPr/>
        </p:nvSpPr>
        <p:spPr>
          <a:xfrm>
            <a:off x="914400" y="310896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JAVA_HOME points to the JDK installation folder.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PATH includes the Java bin folder so Java tools run from terminal/command prompt.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Without these, Java commands may fail.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8" name="Rounded Rectangle 46"/>
          <p:cNvSpPr/>
          <p:nvPr/>
        </p:nvSpPr>
        <p:spPr>
          <a:xfrm>
            <a:off x="450792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9" name="Rounded Rectangle 47"/>
          <p:cNvSpPr/>
          <p:nvPr/>
        </p:nvSpPr>
        <p:spPr>
          <a:xfrm>
            <a:off x="4434840" y="310896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JDK Installed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Set JAVA_HOME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→  C:\              Program Files\Java\jdk-xx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Append PATH →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  %JAVA_HOME%\bin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Run java &amp; javac commands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0" name="Rounded Rectangle 48"/>
          <p:cNvSpPr/>
          <p:nvPr/>
        </p:nvSpPr>
        <p:spPr>
          <a:xfrm>
            <a:off x="802836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1" name="Rounded Rectangle 49"/>
          <p:cNvSpPr/>
          <p:nvPr/>
        </p:nvSpPr>
        <p:spPr>
          <a:xfrm>
            <a:off x="7955280" y="310896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# Windows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setx JAVA_HOME "C:\Program Files\Java\jdk-xx"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setx PATH "%JAVA_HOME%\bin;%PATH%"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# Linux/Mac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export JAVA_HOME=/usr/lib/jvm/jdk-xx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export PATH=$JAVA_HOME/bin:$PATH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2" name="TextBox 2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Rectangle 97"/>
          <p:cNvSpPr/>
          <p:nvPr/>
        </p:nvSpPr>
        <p:spPr>
          <a:xfrm>
            <a:off x="0" y="0"/>
            <a:ext cx="12184920" cy="6854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4" name="Rectangle 98"/>
          <p:cNvSpPr/>
          <p:nvPr/>
        </p:nvSpPr>
        <p:spPr>
          <a:xfrm>
            <a:off x="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5" name="Rectangle 99"/>
          <p:cNvSpPr/>
          <p:nvPr/>
        </p:nvSpPr>
        <p:spPr>
          <a:xfrm>
            <a:off x="914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6" name="Rectangle 100"/>
          <p:cNvSpPr/>
          <p:nvPr/>
        </p:nvSpPr>
        <p:spPr>
          <a:xfrm>
            <a:off x="1828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7" name="Rectangle 101"/>
          <p:cNvSpPr/>
          <p:nvPr/>
        </p:nvSpPr>
        <p:spPr>
          <a:xfrm>
            <a:off x="2743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8" name="Rectangle 102"/>
          <p:cNvSpPr/>
          <p:nvPr/>
        </p:nvSpPr>
        <p:spPr>
          <a:xfrm>
            <a:off x="3657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9" name="Rectangle 103"/>
          <p:cNvSpPr/>
          <p:nvPr/>
        </p:nvSpPr>
        <p:spPr>
          <a:xfrm>
            <a:off x="4572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0" name="Rectangle 104"/>
          <p:cNvSpPr/>
          <p:nvPr/>
        </p:nvSpPr>
        <p:spPr>
          <a:xfrm>
            <a:off x="5486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1" name="Rectangle 105"/>
          <p:cNvSpPr/>
          <p:nvPr/>
        </p:nvSpPr>
        <p:spPr>
          <a:xfrm>
            <a:off x="6400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2" name="Rectangle 106"/>
          <p:cNvSpPr/>
          <p:nvPr/>
        </p:nvSpPr>
        <p:spPr>
          <a:xfrm>
            <a:off x="7315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3" name="Rectangle 107"/>
          <p:cNvSpPr/>
          <p:nvPr/>
        </p:nvSpPr>
        <p:spPr>
          <a:xfrm>
            <a:off x="8229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4" name="Rectangle 108"/>
          <p:cNvSpPr/>
          <p:nvPr/>
        </p:nvSpPr>
        <p:spPr>
          <a:xfrm>
            <a:off x="9144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5" name="Rectangle 109"/>
          <p:cNvSpPr/>
          <p:nvPr/>
        </p:nvSpPr>
        <p:spPr>
          <a:xfrm>
            <a:off x="10058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6" name="Rectangle 110"/>
          <p:cNvSpPr/>
          <p:nvPr/>
        </p:nvSpPr>
        <p:spPr>
          <a:xfrm>
            <a:off x="10972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7" name="Rectangle 111"/>
          <p:cNvSpPr/>
          <p:nvPr/>
        </p:nvSpPr>
        <p:spPr>
          <a:xfrm>
            <a:off x="11887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8" name="Rectangle 112"/>
          <p:cNvSpPr/>
          <p:nvPr/>
        </p:nvSpPr>
        <p:spPr>
          <a:xfrm>
            <a:off x="0" y="0"/>
            <a:ext cx="316080" cy="6854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9" name="Rounded Rectangle 50"/>
          <p:cNvSpPr/>
          <p:nvPr/>
        </p:nvSpPr>
        <p:spPr>
          <a:xfrm>
            <a:off x="9875520" y="365760"/>
            <a:ext cx="2007720" cy="498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0" name="TextBox 21"/>
          <p:cNvSpPr/>
          <p:nvPr/>
        </p:nvSpPr>
        <p:spPr>
          <a:xfrm>
            <a:off x="1666800" y="1005840"/>
            <a:ext cx="76366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WHAT HAPPENS AFTER JAVA IS SET UP?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1" name="TextBox 22"/>
          <p:cNvSpPr/>
          <p:nvPr/>
        </p:nvSpPr>
        <p:spPr>
          <a:xfrm>
            <a:off x="4382280" y="2194560"/>
            <a:ext cx="221256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After Environment Setup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2" name="Rounded Rectangle 51"/>
          <p:cNvSpPr/>
          <p:nvPr/>
        </p:nvSpPr>
        <p:spPr>
          <a:xfrm>
            <a:off x="98748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3" name="Rounded Rectangle 52"/>
          <p:cNvSpPr/>
          <p:nvPr/>
        </p:nvSpPr>
        <p:spPr>
          <a:xfrm>
            <a:off x="914400" y="310896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Once Java is installed and configured, your system is ready to compile and run Java programs.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You can create .java source files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The javac compiler turns source code into bytecode (.class)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The JVM executes this bytecode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Your program now runs on any system with a JVM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Setup is complete — now Java development can begin.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4" name="Rounded Rectangle 53"/>
          <p:cNvSpPr/>
          <p:nvPr/>
        </p:nvSpPr>
        <p:spPr>
          <a:xfrm>
            <a:off x="450792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5" name="Rounded Rectangle 54"/>
          <p:cNvSpPr/>
          <p:nvPr/>
        </p:nvSpPr>
        <p:spPr>
          <a:xfrm>
            <a:off x="4434840" y="310896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Write Java Code (.java)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Compile using javac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File Created (.class)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Run with java command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JVM Executes Program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Output Appears on Screen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6" name="Rounded Rectangle 55"/>
          <p:cNvSpPr/>
          <p:nvPr/>
        </p:nvSpPr>
        <p:spPr>
          <a:xfrm>
            <a:off x="802836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7" name="Rounded Rectangle 56"/>
          <p:cNvSpPr/>
          <p:nvPr/>
        </p:nvSpPr>
        <p:spPr>
          <a:xfrm>
            <a:off x="7955280" y="310896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HelloJava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environment is ready!");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8" name="TextBox 2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Rectangle 113"/>
          <p:cNvSpPr/>
          <p:nvPr/>
        </p:nvSpPr>
        <p:spPr>
          <a:xfrm>
            <a:off x="0" y="0"/>
            <a:ext cx="12184920" cy="6854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0" name="Rectangle 114"/>
          <p:cNvSpPr/>
          <p:nvPr/>
        </p:nvSpPr>
        <p:spPr>
          <a:xfrm>
            <a:off x="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1" name="Rectangle 115"/>
          <p:cNvSpPr/>
          <p:nvPr/>
        </p:nvSpPr>
        <p:spPr>
          <a:xfrm>
            <a:off x="914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2" name="Rectangle 116"/>
          <p:cNvSpPr/>
          <p:nvPr/>
        </p:nvSpPr>
        <p:spPr>
          <a:xfrm>
            <a:off x="1828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3" name="Rectangle 117"/>
          <p:cNvSpPr/>
          <p:nvPr/>
        </p:nvSpPr>
        <p:spPr>
          <a:xfrm>
            <a:off x="2743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4" name="Rectangle 118"/>
          <p:cNvSpPr/>
          <p:nvPr/>
        </p:nvSpPr>
        <p:spPr>
          <a:xfrm>
            <a:off x="3657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5" name="Rectangle 119"/>
          <p:cNvSpPr/>
          <p:nvPr/>
        </p:nvSpPr>
        <p:spPr>
          <a:xfrm>
            <a:off x="4572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6" name="Rectangle 120"/>
          <p:cNvSpPr/>
          <p:nvPr/>
        </p:nvSpPr>
        <p:spPr>
          <a:xfrm>
            <a:off x="5486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7" name="Rectangle 121"/>
          <p:cNvSpPr/>
          <p:nvPr/>
        </p:nvSpPr>
        <p:spPr>
          <a:xfrm>
            <a:off x="6400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8" name="Rectangle 122"/>
          <p:cNvSpPr/>
          <p:nvPr/>
        </p:nvSpPr>
        <p:spPr>
          <a:xfrm>
            <a:off x="7315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9" name="Rectangle 123"/>
          <p:cNvSpPr/>
          <p:nvPr/>
        </p:nvSpPr>
        <p:spPr>
          <a:xfrm>
            <a:off x="8229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0" name="Rectangle 124"/>
          <p:cNvSpPr/>
          <p:nvPr/>
        </p:nvSpPr>
        <p:spPr>
          <a:xfrm>
            <a:off x="9144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1" name="Rectangle 125"/>
          <p:cNvSpPr/>
          <p:nvPr/>
        </p:nvSpPr>
        <p:spPr>
          <a:xfrm>
            <a:off x="10058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2" name="Rectangle 126"/>
          <p:cNvSpPr/>
          <p:nvPr/>
        </p:nvSpPr>
        <p:spPr>
          <a:xfrm>
            <a:off x="10972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3" name="Rectangle 127"/>
          <p:cNvSpPr/>
          <p:nvPr/>
        </p:nvSpPr>
        <p:spPr>
          <a:xfrm>
            <a:off x="11887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4" name="Rectangle 128"/>
          <p:cNvSpPr/>
          <p:nvPr/>
        </p:nvSpPr>
        <p:spPr>
          <a:xfrm>
            <a:off x="0" y="0"/>
            <a:ext cx="316080" cy="6854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5" name="Rounded Rectangle 57"/>
          <p:cNvSpPr/>
          <p:nvPr/>
        </p:nvSpPr>
        <p:spPr>
          <a:xfrm>
            <a:off x="9875520" y="365760"/>
            <a:ext cx="2007720" cy="498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6" name="TextBox 24"/>
          <p:cNvSpPr/>
          <p:nvPr/>
        </p:nvSpPr>
        <p:spPr>
          <a:xfrm>
            <a:off x="2216880" y="1005840"/>
            <a:ext cx="6536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DEVELOPMENT WORKFLOW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7" name="TextBox 25"/>
          <p:cNvSpPr/>
          <p:nvPr/>
        </p:nvSpPr>
        <p:spPr>
          <a:xfrm>
            <a:off x="-1019160" y="2194560"/>
            <a:ext cx="1302408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                                   </a:t>
            </a: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This slide explains the basic step-by-step process developers follow to create, test, and improve Java programs after the environment is fully set up.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8" name="Rounded Rectangle 58"/>
          <p:cNvSpPr/>
          <p:nvPr/>
        </p:nvSpPr>
        <p:spPr>
          <a:xfrm>
            <a:off x="98748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9" name="Rounded Rectangle 59"/>
          <p:cNvSpPr/>
          <p:nvPr/>
        </p:nvSpPr>
        <p:spPr>
          <a:xfrm>
            <a:off x="914400" y="310896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After installation, Java programming follows a simple development cycle: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StarSymbol"/>
              <a:buAutoNum type="arabicParenR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Write the program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StarSymbol"/>
              <a:buAutoNum type="arabicParenR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Compile the program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StarSymbol"/>
              <a:buAutoNum type="arabicParenR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Run the program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StarSymbol"/>
              <a:buAutoNum type="arabicParenR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Fix errors if needed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StarSymbol"/>
              <a:buAutoNum type="arabicParenR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Repeat the process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This cycle is how real-world Java software is developed.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0" name="Rounded Rectangle 60"/>
          <p:cNvSpPr/>
          <p:nvPr/>
        </p:nvSpPr>
        <p:spPr>
          <a:xfrm>
            <a:off x="450792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1" name="Rounded Rectangle 61"/>
          <p:cNvSpPr/>
          <p:nvPr/>
        </p:nvSpPr>
        <p:spPr>
          <a:xfrm>
            <a:off x="4434840" y="310896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Write Code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Compile → javac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Run → java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Check Output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If Error → Fix Code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Recompile &amp; Run Again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2" name="Rounded Rectangle 62"/>
          <p:cNvSpPr/>
          <p:nvPr/>
        </p:nvSpPr>
        <p:spPr>
          <a:xfrm>
            <a:off x="802836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3" name="Rounded Rectangle 63"/>
          <p:cNvSpPr/>
          <p:nvPr/>
        </p:nvSpPr>
        <p:spPr>
          <a:xfrm>
            <a:off x="7955280" y="310896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Calculator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sum = 5 + 7;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System.out.println("Result: " + sum);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br>
              <a:rPr sz="1300"/>
            </a:br>
            <a:br>
              <a:rPr sz="1300"/>
            </a:b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javac Calculator.java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 Calculator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4" name="TextBox 2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Rectangle 129"/>
          <p:cNvSpPr/>
          <p:nvPr/>
        </p:nvSpPr>
        <p:spPr>
          <a:xfrm>
            <a:off x="0" y="0"/>
            <a:ext cx="12184920" cy="6854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6" name="Rectangle 130"/>
          <p:cNvSpPr/>
          <p:nvPr/>
        </p:nvSpPr>
        <p:spPr>
          <a:xfrm>
            <a:off x="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7" name="Rectangle 131"/>
          <p:cNvSpPr/>
          <p:nvPr/>
        </p:nvSpPr>
        <p:spPr>
          <a:xfrm>
            <a:off x="914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8" name="Rectangle 132"/>
          <p:cNvSpPr/>
          <p:nvPr/>
        </p:nvSpPr>
        <p:spPr>
          <a:xfrm>
            <a:off x="1828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9" name="Rectangle 133"/>
          <p:cNvSpPr/>
          <p:nvPr/>
        </p:nvSpPr>
        <p:spPr>
          <a:xfrm>
            <a:off x="2743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0" name="Rectangle 134"/>
          <p:cNvSpPr/>
          <p:nvPr/>
        </p:nvSpPr>
        <p:spPr>
          <a:xfrm>
            <a:off x="3657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1" name="Rectangle 135"/>
          <p:cNvSpPr/>
          <p:nvPr/>
        </p:nvSpPr>
        <p:spPr>
          <a:xfrm>
            <a:off x="4572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2" name="Rectangle 136"/>
          <p:cNvSpPr/>
          <p:nvPr/>
        </p:nvSpPr>
        <p:spPr>
          <a:xfrm>
            <a:off x="5486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3" name="Rectangle 137"/>
          <p:cNvSpPr/>
          <p:nvPr/>
        </p:nvSpPr>
        <p:spPr>
          <a:xfrm>
            <a:off x="6400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4" name="Rectangle 138"/>
          <p:cNvSpPr/>
          <p:nvPr/>
        </p:nvSpPr>
        <p:spPr>
          <a:xfrm>
            <a:off x="7315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5" name="Rectangle 139"/>
          <p:cNvSpPr/>
          <p:nvPr/>
        </p:nvSpPr>
        <p:spPr>
          <a:xfrm>
            <a:off x="8229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6" name="Rectangle 140"/>
          <p:cNvSpPr/>
          <p:nvPr/>
        </p:nvSpPr>
        <p:spPr>
          <a:xfrm>
            <a:off x="9144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7" name="Rectangle 141"/>
          <p:cNvSpPr/>
          <p:nvPr/>
        </p:nvSpPr>
        <p:spPr>
          <a:xfrm>
            <a:off x="10058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8" name="Rectangle 142"/>
          <p:cNvSpPr/>
          <p:nvPr/>
        </p:nvSpPr>
        <p:spPr>
          <a:xfrm>
            <a:off x="10972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9" name="Rectangle 143"/>
          <p:cNvSpPr/>
          <p:nvPr/>
        </p:nvSpPr>
        <p:spPr>
          <a:xfrm>
            <a:off x="11887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0" name="Rectangle 144"/>
          <p:cNvSpPr/>
          <p:nvPr/>
        </p:nvSpPr>
        <p:spPr>
          <a:xfrm>
            <a:off x="0" y="0"/>
            <a:ext cx="316080" cy="6854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1" name="Rounded Rectangle 64"/>
          <p:cNvSpPr/>
          <p:nvPr/>
        </p:nvSpPr>
        <p:spPr>
          <a:xfrm>
            <a:off x="9875520" y="365760"/>
            <a:ext cx="2007720" cy="498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2" name="TextBox 28"/>
          <p:cNvSpPr/>
          <p:nvPr/>
        </p:nvSpPr>
        <p:spPr>
          <a:xfrm>
            <a:off x="2915280" y="1005840"/>
            <a:ext cx="51386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INSTALLATION TYPES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3" name="TextBox 29"/>
          <p:cNvSpPr/>
          <p:nvPr/>
        </p:nvSpPr>
        <p:spPr>
          <a:xfrm>
            <a:off x="907200" y="2194560"/>
            <a:ext cx="916956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Different Java distributions and installation types provide flexibility depending on development or production needs.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4" name="Rounded Rectangle 65"/>
          <p:cNvSpPr/>
          <p:nvPr/>
        </p:nvSpPr>
        <p:spPr>
          <a:xfrm>
            <a:off x="98748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5" name="Rounded Rectangle 66"/>
          <p:cNvSpPr/>
          <p:nvPr/>
        </p:nvSpPr>
        <p:spPr>
          <a:xfrm>
            <a:off x="914400" y="310896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There are multiple ways to install 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Oracle JDK (Official distribution)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OpenJDK (Open-source version)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LTS (Long Term Support) versions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Non-LTS versions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LTS versions (like Java 17, 21) are recommended for stability and long-term projects.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Choosing the correct distribution ensures compatibility, security updates, and long-term support.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6" name="Rounded Rectangle 67"/>
          <p:cNvSpPr/>
          <p:nvPr/>
        </p:nvSpPr>
        <p:spPr>
          <a:xfrm>
            <a:off x="450792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7" name="Rounded Rectangle 68"/>
          <p:cNvSpPr/>
          <p:nvPr/>
        </p:nvSpPr>
        <p:spPr>
          <a:xfrm>
            <a:off x="4434840" y="310896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Choose Version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Download Distribution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Install JDK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Set JAVA_HOME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Update PATH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Verify Installation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8" name="Rounded Rectangle 69"/>
          <p:cNvSpPr/>
          <p:nvPr/>
        </p:nvSpPr>
        <p:spPr>
          <a:xfrm>
            <a:off x="802836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9" name="Rounded Rectangle 70"/>
          <p:cNvSpPr/>
          <p:nvPr/>
        </p:nvSpPr>
        <p:spPr>
          <a:xfrm>
            <a:off x="7955280" y="310896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Windows:</a:t>
            </a: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where java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where javac</a:t>
            </a:r>
            <a:br>
              <a:rPr sz="1500"/>
            </a:b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Linux:</a:t>
            </a: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which java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which javac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Check detailed version info:</a:t>
            </a: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java -version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javac -version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0" name="TextBox 3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Rectangle 145"/>
          <p:cNvSpPr/>
          <p:nvPr/>
        </p:nvSpPr>
        <p:spPr>
          <a:xfrm>
            <a:off x="0" y="0"/>
            <a:ext cx="12184920" cy="6854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2" name="Rectangle 146"/>
          <p:cNvSpPr/>
          <p:nvPr/>
        </p:nvSpPr>
        <p:spPr>
          <a:xfrm>
            <a:off x="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3" name="Rectangle 147"/>
          <p:cNvSpPr/>
          <p:nvPr/>
        </p:nvSpPr>
        <p:spPr>
          <a:xfrm>
            <a:off x="914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4" name="Rectangle 148"/>
          <p:cNvSpPr/>
          <p:nvPr/>
        </p:nvSpPr>
        <p:spPr>
          <a:xfrm>
            <a:off x="1828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5" name="Rectangle 149"/>
          <p:cNvSpPr/>
          <p:nvPr/>
        </p:nvSpPr>
        <p:spPr>
          <a:xfrm>
            <a:off x="2743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6" name="Rectangle 150"/>
          <p:cNvSpPr/>
          <p:nvPr/>
        </p:nvSpPr>
        <p:spPr>
          <a:xfrm>
            <a:off x="3657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7" name="Rectangle 151"/>
          <p:cNvSpPr/>
          <p:nvPr/>
        </p:nvSpPr>
        <p:spPr>
          <a:xfrm>
            <a:off x="4572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8" name="Rectangle 152"/>
          <p:cNvSpPr/>
          <p:nvPr/>
        </p:nvSpPr>
        <p:spPr>
          <a:xfrm>
            <a:off x="5486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9" name="Rectangle 153"/>
          <p:cNvSpPr/>
          <p:nvPr/>
        </p:nvSpPr>
        <p:spPr>
          <a:xfrm>
            <a:off x="6400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0" name="Rectangle 154"/>
          <p:cNvSpPr/>
          <p:nvPr/>
        </p:nvSpPr>
        <p:spPr>
          <a:xfrm>
            <a:off x="7315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1" name="Rectangle 155"/>
          <p:cNvSpPr/>
          <p:nvPr/>
        </p:nvSpPr>
        <p:spPr>
          <a:xfrm>
            <a:off x="8229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2" name="Rectangle 156"/>
          <p:cNvSpPr/>
          <p:nvPr/>
        </p:nvSpPr>
        <p:spPr>
          <a:xfrm>
            <a:off x="9144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3" name="Rectangle 157"/>
          <p:cNvSpPr/>
          <p:nvPr/>
        </p:nvSpPr>
        <p:spPr>
          <a:xfrm>
            <a:off x="10058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4" name="Rectangle 158"/>
          <p:cNvSpPr/>
          <p:nvPr/>
        </p:nvSpPr>
        <p:spPr>
          <a:xfrm>
            <a:off x="10972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5" name="Rectangle 159"/>
          <p:cNvSpPr/>
          <p:nvPr/>
        </p:nvSpPr>
        <p:spPr>
          <a:xfrm>
            <a:off x="11887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6" name="Rectangle 160"/>
          <p:cNvSpPr/>
          <p:nvPr/>
        </p:nvSpPr>
        <p:spPr>
          <a:xfrm>
            <a:off x="0" y="0"/>
            <a:ext cx="316080" cy="6854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7" name="Rounded Rectangle 71"/>
          <p:cNvSpPr/>
          <p:nvPr/>
        </p:nvSpPr>
        <p:spPr>
          <a:xfrm>
            <a:off x="9875520" y="365760"/>
            <a:ext cx="2007720" cy="498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8" name="TextBox 31"/>
          <p:cNvSpPr/>
          <p:nvPr/>
        </p:nvSpPr>
        <p:spPr>
          <a:xfrm>
            <a:off x="563760" y="1005840"/>
            <a:ext cx="98434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COMMON INSTALLATION PROBLEMS &amp; SOLUTIONS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9" name="TextBox 32"/>
          <p:cNvSpPr/>
          <p:nvPr/>
        </p:nvSpPr>
        <p:spPr>
          <a:xfrm>
            <a:off x="2434680" y="2194560"/>
            <a:ext cx="611424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Incorrect environment configuration can prevent Java from running properly.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0" name="Rounded Rectangle 72"/>
          <p:cNvSpPr/>
          <p:nvPr/>
        </p:nvSpPr>
        <p:spPr>
          <a:xfrm>
            <a:off x="98748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1" name="Rounded Rectangle 73"/>
          <p:cNvSpPr/>
          <p:nvPr/>
        </p:nvSpPr>
        <p:spPr>
          <a:xfrm>
            <a:off x="914400" y="310896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Common Issues: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'java is not recognized as an internal or external command'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Incorrect JAVA_HOME path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PATH variable not updated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Multiple Java versions conflict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JRE installed instead of JDK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Most problems are caused by incorrect environment variables.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2" name="Rounded Rectangle 74"/>
          <p:cNvSpPr/>
          <p:nvPr/>
        </p:nvSpPr>
        <p:spPr>
          <a:xfrm>
            <a:off x="450792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3" name="Rounded Rectangle 75"/>
          <p:cNvSpPr/>
          <p:nvPr/>
        </p:nvSpPr>
        <p:spPr>
          <a:xfrm>
            <a:off x="4434840" y="310896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Error appears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Check java -version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Verify JAVA_HOME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Check PATH variable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Restart terminal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Problem solved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4" name="Rounded Rectangle 76"/>
          <p:cNvSpPr/>
          <p:nvPr/>
        </p:nvSpPr>
        <p:spPr>
          <a:xfrm>
            <a:off x="802836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5" name="Rounded Rectangle 77"/>
          <p:cNvSpPr/>
          <p:nvPr/>
        </p:nvSpPr>
        <p:spPr>
          <a:xfrm>
            <a:off x="7955280" y="3108960"/>
            <a:ext cx="3287880" cy="3061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check environment variable (Windows):</a:t>
            </a:r>
            <a:br>
              <a:rPr sz="1300"/>
            </a:b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echo %JAVA_HOME%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echo %PATH%</a:t>
            </a:r>
            <a:br>
              <a:rPr sz="1300"/>
            </a:br>
            <a:br>
              <a:rPr sz="1300"/>
            </a:b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Linux / Mac:</a:t>
            </a:r>
            <a:br>
              <a:rPr sz="1300"/>
            </a:b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echo $JAVA_HOME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echo $PATH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Temporarily set JAVA_HOME (Linux/Mac):</a:t>
            </a:r>
            <a:br>
              <a:rPr sz="1300"/>
            </a:b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export JAVA_HOME=/usr/lib/jvm/jdk-xx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export PATH=$JAVA_HOME/bin:$PATH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6" name="TextBox 3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Rectangle 161"/>
          <p:cNvSpPr/>
          <p:nvPr/>
        </p:nvSpPr>
        <p:spPr>
          <a:xfrm>
            <a:off x="0" y="0"/>
            <a:ext cx="12184920" cy="6854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8" name="Rectangle 162"/>
          <p:cNvSpPr/>
          <p:nvPr/>
        </p:nvSpPr>
        <p:spPr>
          <a:xfrm>
            <a:off x="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9" name="Rectangle 163"/>
          <p:cNvSpPr/>
          <p:nvPr/>
        </p:nvSpPr>
        <p:spPr>
          <a:xfrm>
            <a:off x="914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0" name="Rectangle 164"/>
          <p:cNvSpPr/>
          <p:nvPr/>
        </p:nvSpPr>
        <p:spPr>
          <a:xfrm>
            <a:off x="1828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1" name="Rectangle 165"/>
          <p:cNvSpPr/>
          <p:nvPr/>
        </p:nvSpPr>
        <p:spPr>
          <a:xfrm>
            <a:off x="2743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2" name="Rectangle 166"/>
          <p:cNvSpPr/>
          <p:nvPr/>
        </p:nvSpPr>
        <p:spPr>
          <a:xfrm>
            <a:off x="3657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3" name="Rectangle 167"/>
          <p:cNvSpPr/>
          <p:nvPr/>
        </p:nvSpPr>
        <p:spPr>
          <a:xfrm>
            <a:off x="4572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4" name="Rectangle 168"/>
          <p:cNvSpPr/>
          <p:nvPr/>
        </p:nvSpPr>
        <p:spPr>
          <a:xfrm>
            <a:off x="5486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5" name="Rectangle 169"/>
          <p:cNvSpPr/>
          <p:nvPr/>
        </p:nvSpPr>
        <p:spPr>
          <a:xfrm>
            <a:off x="6400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6" name="Rectangle 170"/>
          <p:cNvSpPr/>
          <p:nvPr/>
        </p:nvSpPr>
        <p:spPr>
          <a:xfrm>
            <a:off x="7315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7" name="Rectangle 171"/>
          <p:cNvSpPr/>
          <p:nvPr/>
        </p:nvSpPr>
        <p:spPr>
          <a:xfrm>
            <a:off x="8229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8" name="Rectangle 172"/>
          <p:cNvSpPr/>
          <p:nvPr/>
        </p:nvSpPr>
        <p:spPr>
          <a:xfrm>
            <a:off x="9144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9" name="Rectangle 173"/>
          <p:cNvSpPr/>
          <p:nvPr/>
        </p:nvSpPr>
        <p:spPr>
          <a:xfrm>
            <a:off x="10058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0" name="Rectangle 174"/>
          <p:cNvSpPr/>
          <p:nvPr/>
        </p:nvSpPr>
        <p:spPr>
          <a:xfrm>
            <a:off x="10972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1" name="Rectangle 175"/>
          <p:cNvSpPr/>
          <p:nvPr/>
        </p:nvSpPr>
        <p:spPr>
          <a:xfrm>
            <a:off x="11887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2" name="Rectangle 176"/>
          <p:cNvSpPr/>
          <p:nvPr/>
        </p:nvSpPr>
        <p:spPr>
          <a:xfrm>
            <a:off x="0" y="0"/>
            <a:ext cx="316080" cy="6854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3" name="Rounded Rectangle 78"/>
          <p:cNvSpPr/>
          <p:nvPr/>
        </p:nvSpPr>
        <p:spPr>
          <a:xfrm>
            <a:off x="9875520" y="365760"/>
            <a:ext cx="2007720" cy="498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4" name="TextBox 34"/>
          <p:cNvSpPr/>
          <p:nvPr/>
        </p:nvSpPr>
        <p:spPr>
          <a:xfrm>
            <a:off x="2528640" y="1005840"/>
            <a:ext cx="5913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VERSION MANAGEMENT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5" name="TextBox 35"/>
          <p:cNvSpPr/>
          <p:nvPr/>
        </p:nvSpPr>
        <p:spPr>
          <a:xfrm>
            <a:off x="2746440" y="2194560"/>
            <a:ext cx="549072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Managing multiple Java versions and switching between them safely.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6" name="Rounded Rectangle 79"/>
          <p:cNvSpPr/>
          <p:nvPr/>
        </p:nvSpPr>
        <p:spPr>
          <a:xfrm>
            <a:off x="98748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7" name="Rounded Rectangle 80"/>
          <p:cNvSpPr/>
          <p:nvPr/>
        </p:nvSpPr>
        <p:spPr>
          <a:xfrm>
            <a:off x="457200" y="2971800"/>
            <a:ext cx="3782880" cy="319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Sometimes multiple Java versions are installed on the same system.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For example: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17 (LTS)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21 (LTS)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Older legacy version (Java 8)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Different projects may require different versions.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If versions are not managed properly: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PATH conflicts occur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Wrong JDK compiles the project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Build tools fail (Maven / Gradle)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Proper version management prevents conflicts.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8" name="Rounded Rectangle 81"/>
          <p:cNvSpPr/>
          <p:nvPr/>
        </p:nvSpPr>
        <p:spPr>
          <a:xfrm>
            <a:off x="450792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9" name="Rounded Rectangle 82"/>
          <p:cNvSpPr/>
          <p:nvPr/>
        </p:nvSpPr>
        <p:spPr>
          <a:xfrm>
            <a:off x="4434840" y="3108960"/>
            <a:ext cx="3287880" cy="2832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Check installed versions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Locate JDK folders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Update JAVA_HOME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Update PATH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Restart terminal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Verify using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-version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javac -version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0" name="Rounded Rectangle 83"/>
          <p:cNvSpPr/>
          <p:nvPr/>
        </p:nvSpPr>
        <p:spPr>
          <a:xfrm>
            <a:off x="802836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1" name="Rounded Rectangle 84"/>
          <p:cNvSpPr/>
          <p:nvPr/>
        </p:nvSpPr>
        <p:spPr>
          <a:xfrm>
            <a:off x="8001000" y="2971800"/>
            <a:ext cx="3427200" cy="3040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# Check current version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 -version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javac -version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# Show active JAVA_HOME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echo %JAVA_HOME%      (Windows)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echo $JAVA_HOME       (Linux/Mac)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# Example version paths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 17 → /jdk-17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 21 → /jdk-21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# After switching version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 -version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2" name="TextBox 3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Rectangle 177"/>
          <p:cNvSpPr/>
          <p:nvPr/>
        </p:nvSpPr>
        <p:spPr>
          <a:xfrm>
            <a:off x="0" y="0"/>
            <a:ext cx="12186360" cy="6855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4" name="Rectangle 178"/>
          <p:cNvSpPr/>
          <p:nvPr/>
        </p:nvSpPr>
        <p:spPr>
          <a:xfrm>
            <a:off x="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5" name="Rectangle 179"/>
          <p:cNvSpPr/>
          <p:nvPr/>
        </p:nvSpPr>
        <p:spPr>
          <a:xfrm>
            <a:off x="914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6" name="Rectangle 180"/>
          <p:cNvSpPr/>
          <p:nvPr/>
        </p:nvSpPr>
        <p:spPr>
          <a:xfrm>
            <a:off x="1828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7" name="Rectangle 181"/>
          <p:cNvSpPr/>
          <p:nvPr/>
        </p:nvSpPr>
        <p:spPr>
          <a:xfrm>
            <a:off x="2743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8" name="Rectangle 182"/>
          <p:cNvSpPr/>
          <p:nvPr/>
        </p:nvSpPr>
        <p:spPr>
          <a:xfrm>
            <a:off x="3657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9" name="Rectangle 183"/>
          <p:cNvSpPr/>
          <p:nvPr/>
        </p:nvSpPr>
        <p:spPr>
          <a:xfrm>
            <a:off x="4572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0" name="Rectangle 184"/>
          <p:cNvSpPr/>
          <p:nvPr/>
        </p:nvSpPr>
        <p:spPr>
          <a:xfrm>
            <a:off x="5486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1" name="Rectangle 185"/>
          <p:cNvSpPr/>
          <p:nvPr/>
        </p:nvSpPr>
        <p:spPr>
          <a:xfrm>
            <a:off x="6400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2" name="Rectangle 186"/>
          <p:cNvSpPr/>
          <p:nvPr/>
        </p:nvSpPr>
        <p:spPr>
          <a:xfrm>
            <a:off x="7315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3" name="Rectangle 187"/>
          <p:cNvSpPr/>
          <p:nvPr/>
        </p:nvSpPr>
        <p:spPr>
          <a:xfrm>
            <a:off x="8229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4" name="Rectangle 188"/>
          <p:cNvSpPr/>
          <p:nvPr/>
        </p:nvSpPr>
        <p:spPr>
          <a:xfrm>
            <a:off x="9144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5" name="Rectangle 189"/>
          <p:cNvSpPr/>
          <p:nvPr/>
        </p:nvSpPr>
        <p:spPr>
          <a:xfrm>
            <a:off x="10058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6" name="Rectangle 190"/>
          <p:cNvSpPr/>
          <p:nvPr/>
        </p:nvSpPr>
        <p:spPr>
          <a:xfrm>
            <a:off x="10972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7" name="Rectangle 191"/>
          <p:cNvSpPr/>
          <p:nvPr/>
        </p:nvSpPr>
        <p:spPr>
          <a:xfrm>
            <a:off x="11887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8" name="Rectangle 192"/>
          <p:cNvSpPr/>
          <p:nvPr/>
        </p:nvSpPr>
        <p:spPr>
          <a:xfrm>
            <a:off x="0" y="0"/>
            <a:ext cx="317520" cy="6855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9" name="Rounded Rectangle 85"/>
          <p:cNvSpPr/>
          <p:nvPr/>
        </p:nvSpPr>
        <p:spPr>
          <a:xfrm>
            <a:off x="9875520" y="365760"/>
            <a:ext cx="2009160" cy="500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0" name="TextBox 37"/>
          <p:cNvSpPr/>
          <p:nvPr/>
        </p:nvSpPr>
        <p:spPr>
          <a:xfrm>
            <a:off x="2876040" y="1005840"/>
            <a:ext cx="52196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HELLO WORLD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1" name="TextBox 38"/>
          <p:cNvSpPr/>
          <p:nvPr/>
        </p:nvSpPr>
        <p:spPr>
          <a:xfrm>
            <a:off x="429480" y="2194560"/>
            <a:ext cx="101131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The first program every Java developer writes.It introduces the basic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structure of a Java application and shows how code is executed inside the Java Virtual Machine (JVM).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2" name="Rounded Rectangle 86"/>
          <p:cNvSpPr/>
          <p:nvPr/>
        </p:nvSpPr>
        <p:spPr>
          <a:xfrm>
            <a:off x="98748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3" name="Rounded Rectangle 87"/>
          <p:cNvSpPr/>
          <p:nvPr/>
        </p:nvSpPr>
        <p:spPr>
          <a:xfrm>
            <a:off x="914400" y="310896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Every Java program starts from a class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Execution begins from the main() method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System.out.println() prints output to the console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code is compiled into bytecode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runs inside the JVM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Key Idea: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Hello World demonstrates how Java source code turns into running output.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4" name="Rounded Rectangle 88"/>
          <p:cNvSpPr/>
          <p:nvPr/>
        </p:nvSpPr>
        <p:spPr>
          <a:xfrm>
            <a:off x="450792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5" name="Rounded Rectangle 89"/>
          <p:cNvSpPr/>
          <p:nvPr/>
        </p:nvSpPr>
        <p:spPr>
          <a:xfrm>
            <a:off x="4434840" y="310896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Write Java Code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Compile (javac)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Run with JVM (java)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Console Output → Hello World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6" name="Rounded Rectangle 90"/>
          <p:cNvSpPr/>
          <p:nvPr/>
        </p:nvSpPr>
        <p:spPr>
          <a:xfrm>
            <a:off x="802836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7" name="Rounded Rectangle 91"/>
          <p:cNvSpPr/>
          <p:nvPr/>
        </p:nvSpPr>
        <p:spPr>
          <a:xfrm>
            <a:off x="7955280" y="310896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HelloWorld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System.out.println("Hello World");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8" name="TextBox 3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Rectangle 193"/>
          <p:cNvSpPr/>
          <p:nvPr/>
        </p:nvSpPr>
        <p:spPr>
          <a:xfrm>
            <a:off x="0" y="0"/>
            <a:ext cx="12186360" cy="6855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0" name="Rectangle 194"/>
          <p:cNvSpPr/>
          <p:nvPr/>
        </p:nvSpPr>
        <p:spPr>
          <a:xfrm>
            <a:off x="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1" name="Rectangle 195"/>
          <p:cNvSpPr/>
          <p:nvPr/>
        </p:nvSpPr>
        <p:spPr>
          <a:xfrm>
            <a:off x="914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2" name="Rectangle 196"/>
          <p:cNvSpPr/>
          <p:nvPr/>
        </p:nvSpPr>
        <p:spPr>
          <a:xfrm>
            <a:off x="1828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3" name="Rectangle 197"/>
          <p:cNvSpPr/>
          <p:nvPr/>
        </p:nvSpPr>
        <p:spPr>
          <a:xfrm>
            <a:off x="2743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4" name="Rectangle 198"/>
          <p:cNvSpPr/>
          <p:nvPr/>
        </p:nvSpPr>
        <p:spPr>
          <a:xfrm>
            <a:off x="3657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5" name="Rectangle 199"/>
          <p:cNvSpPr/>
          <p:nvPr/>
        </p:nvSpPr>
        <p:spPr>
          <a:xfrm>
            <a:off x="4572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6" name="Rectangle 200"/>
          <p:cNvSpPr/>
          <p:nvPr/>
        </p:nvSpPr>
        <p:spPr>
          <a:xfrm>
            <a:off x="5486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7" name="Rectangle 201"/>
          <p:cNvSpPr/>
          <p:nvPr/>
        </p:nvSpPr>
        <p:spPr>
          <a:xfrm>
            <a:off x="6400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8" name="Rectangle 202"/>
          <p:cNvSpPr/>
          <p:nvPr/>
        </p:nvSpPr>
        <p:spPr>
          <a:xfrm>
            <a:off x="7315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9" name="Rectangle 203"/>
          <p:cNvSpPr/>
          <p:nvPr/>
        </p:nvSpPr>
        <p:spPr>
          <a:xfrm>
            <a:off x="8229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0" name="Rectangle 204"/>
          <p:cNvSpPr/>
          <p:nvPr/>
        </p:nvSpPr>
        <p:spPr>
          <a:xfrm>
            <a:off x="9144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1" name="Rectangle 205"/>
          <p:cNvSpPr/>
          <p:nvPr/>
        </p:nvSpPr>
        <p:spPr>
          <a:xfrm>
            <a:off x="10058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2" name="Rectangle 206"/>
          <p:cNvSpPr/>
          <p:nvPr/>
        </p:nvSpPr>
        <p:spPr>
          <a:xfrm>
            <a:off x="10972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3" name="Rectangle 207"/>
          <p:cNvSpPr/>
          <p:nvPr/>
        </p:nvSpPr>
        <p:spPr>
          <a:xfrm>
            <a:off x="11887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4" name="Rectangle 208"/>
          <p:cNvSpPr/>
          <p:nvPr/>
        </p:nvSpPr>
        <p:spPr>
          <a:xfrm>
            <a:off x="0" y="0"/>
            <a:ext cx="317520" cy="6855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5" name="Rounded Rectangle 92"/>
          <p:cNvSpPr/>
          <p:nvPr/>
        </p:nvSpPr>
        <p:spPr>
          <a:xfrm>
            <a:off x="9875520" y="365760"/>
            <a:ext cx="2009160" cy="500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6" name="TextBox 40"/>
          <p:cNvSpPr/>
          <p:nvPr/>
        </p:nvSpPr>
        <p:spPr>
          <a:xfrm>
            <a:off x="578160" y="1005840"/>
            <a:ext cx="98157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UNDERSTANDING JAVA HELLO WORLD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7" name="TextBox 41"/>
          <p:cNvSpPr/>
          <p:nvPr/>
        </p:nvSpPr>
        <p:spPr>
          <a:xfrm>
            <a:off x="1653840" y="2194560"/>
            <a:ext cx="766296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The Hello World program may look simple, but it contains the core structure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that every Java application follows.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8" name="Rounded Rectangle 93"/>
          <p:cNvSpPr/>
          <p:nvPr/>
        </p:nvSpPr>
        <p:spPr>
          <a:xfrm>
            <a:off x="98748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9" name="Rounded Rectangle 94"/>
          <p:cNvSpPr/>
          <p:nvPr/>
        </p:nvSpPr>
        <p:spPr>
          <a:xfrm>
            <a:off x="914400" y="310896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program execution starts from main()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public → accessible from anywhere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static → runs without creating an object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void → method returns nothing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String[] args → command-line parameters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Key Idea: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main() method is the entry point of every Java application.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0" name="Rounded Rectangle 95"/>
          <p:cNvSpPr/>
          <p:nvPr/>
        </p:nvSpPr>
        <p:spPr>
          <a:xfrm>
            <a:off x="450792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1" name="Rounded Rectangle 96"/>
          <p:cNvSpPr/>
          <p:nvPr/>
        </p:nvSpPr>
        <p:spPr>
          <a:xfrm>
            <a:off x="4434840" y="310896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Program Start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JVM searches for main() method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main() executes instructions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System.out.println() runs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Text appears on console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2" name="Rounded Rectangle 97"/>
          <p:cNvSpPr/>
          <p:nvPr/>
        </p:nvSpPr>
        <p:spPr>
          <a:xfrm>
            <a:off x="802836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3" name="Rounded Rectangle 98"/>
          <p:cNvSpPr/>
          <p:nvPr/>
        </p:nvSpPr>
        <p:spPr>
          <a:xfrm>
            <a:off x="7955280" y="310896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HelloWorld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System.out.println("Hello World");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4" name="TextBox 4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Rectangle 225"/>
          <p:cNvSpPr/>
          <p:nvPr/>
        </p:nvSpPr>
        <p:spPr>
          <a:xfrm>
            <a:off x="0" y="0"/>
            <a:ext cx="12187080" cy="6856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6" name="Rectangle 226"/>
          <p:cNvSpPr/>
          <p:nvPr/>
        </p:nvSpPr>
        <p:spPr>
          <a:xfrm>
            <a:off x="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7" name="Rectangle 227"/>
          <p:cNvSpPr/>
          <p:nvPr/>
        </p:nvSpPr>
        <p:spPr>
          <a:xfrm>
            <a:off x="914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8" name="Rectangle 228"/>
          <p:cNvSpPr/>
          <p:nvPr/>
        </p:nvSpPr>
        <p:spPr>
          <a:xfrm>
            <a:off x="1828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9" name="Rectangle 229"/>
          <p:cNvSpPr/>
          <p:nvPr/>
        </p:nvSpPr>
        <p:spPr>
          <a:xfrm>
            <a:off x="2743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0" name="Rectangle 230"/>
          <p:cNvSpPr/>
          <p:nvPr/>
        </p:nvSpPr>
        <p:spPr>
          <a:xfrm>
            <a:off x="3657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1" name="Rectangle 231"/>
          <p:cNvSpPr/>
          <p:nvPr/>
        </p:nvSpPr>
        <p:spPr>
          <a:xfrm>
            <a:off x="4572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2" name="Rectangle 232"/>
          <p:cNvSpPr/>
          <p:nvPr/>
        </p:nvSpPr>
        <p:spPr>
          <a:xfrm>
            <a:off x="5486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3" name="Rectangle 233"/>
          <p:cNvSpPr/>
          <p:nvPr/>
        </p:nvSpPr>
        <p:spPr>
          <a:xfrm>
            <a:off x="6400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4" name="Rectangle 234"/>
          <p:cNvSpPr/>
          <p:nvPr/>
        </p:nvSpPr>
        <p:spPr>
          <a:xfrm>
            <a:off x="7315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5" name="Rectangle 235"/>
          <p:cNvSpPr/>
          <p:nvPr/>
        </p:nvSpPr>
        <p:spPr>
          <a:xfrm>
            <a:off x="8229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6" name="Rectangle 236"/>
          <p:cNvSpPr/>
          <p:nvPr/>
        </p:nvSpPr>
        <p:spPr>
          <a:xfrm>
            <a:off x="9144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7" name="Rectangle 237"/>
          <p:cNvSpPr/>
          <p:nvPr/>
        </p:nvSpPr>
        <p:spPr>
          <a:xfrm>
            <a:off x="10058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8" name="Rectangle 238"/>
          <p:cNvSpPr/>
          <p:nvPr/>
        </p:nvSpPr>
        <p:spPr>
          <a:xfrm>
            <a:off x="10972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9" name="Rectangle 239"/>
          <p:cNvSpPr/>
          <p:nvPr/>
        </p:nvSpPr>
        <p:spPr>
          <a:xfrm>
            <a:off x="11887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0" name="Rectangle 240"/>
          <p:cNvSpPr/>
          <p:nvPr/>
        </p:nvSpPr>
        <p:spPr>
          <a:xfrm>
            <a:off x="0" y="0"/>
            <a:ext cx="318240" cy="6856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1" name="Rounded Rectangle 106"/>
          <p:cNvSpPr/>
          <p:nvPr/>
        </p:nvSpPr>
        <p:spPr>
          <a:xfrm>
            <a:off x="9875520" y="365760"/>
            <a:ext cx="2009880" cy="501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2" name="TextBox 46"/>
          <p:cNvSpPr/>
          <p:nvPr/>
        </p:nvSpPr>
        <p:spPr>
          <a:xfrm>
            <a:off x="2931480" y="1005840"/>
            <a:ext cx="51084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BASIC SYNTAX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3" name="TextBox 47"/>
          <p:cNvSpPr/>
          <p:nvPr/>
        </p:nvSpPr>
        <p:spPr>
          <a:xfrm>
            <a:off x="2680560" y="2194560"/>
            <a:ext cx="56102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Basic Syntax defines the fundamental rules and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structure required to write and execute a Java program.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4" name="Rounded Rectangle 107"/>
          <p:cNvSpPr/>
          <p:nvPr/>
        </p:nvSpPr>
        <p:spPr>
          <a:xfrm>
            <a:off x="98748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5" name="Rounded Rectangle 108"/>
          <p:cNvSpPr/>
          <p:nvPr/>
        </p:nvSpPr>
        <p:spPr>
          <a:xfrm>
            <a:off x="91440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Basic Syntax refers to the core writing rules of Java programs.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Everything is written inside a class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Execution starts from the main() method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Statements end with semicolon ( ; 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Curly braces { } define code blocks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is case-sensitive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6" name="Rounded Rectangle 109"/>
          <p:cNvSpPr/>
          <p:nvPr/>
        </p:nvSpPr>
        <p:spPr>
          <a:xfrm>
            <a:off x="450792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7" name="Rounded Rectangle 110"/>
          <p:cNvSpPr/>
          <p:nvPr/>
        </p:nvSpPr>
        <p:spPr>
          <a:xfrm>
            <a:off x="443484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Start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Class Loaded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main() Method Executes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Statements Run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End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8" name="Rounded Rectangle 111"/>
          <p:cNvSpPr/>
          <p:nvPr/>
        </p:nvSpPr>
        <p:spPr>
          <a:xfrm>
            <a:off x="802836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9" name="Rounded Rectangle 112"/>
          <p:cNvSpPr/>
          <p:nvPr/>
        </p:nvSpPr>
        <p:spPr>
          <a:xfrm>
            <a:off x="795528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BasicSyntax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System.out.println("Hello Java!");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0" name="TextBox 48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Rectangle 209"/>
          <p:cNvSpPr/>
          <p:nvPr/>
        </p:nvSpPr>
        <p:spPr>
          <a:xfrm>
            <a:off x="0" y="0"/>
            <a:ext cx="12187080" cy="6856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2" name="Rectangle 210"/>
          <p:cNvSpPr/>
          <p:nvPr/>
        </p:nvSpPr>
        <p:spPr>
          <a:xfrm>
            <a:off x="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3" name="Rectangle 211"/>
          <p:cNvSpPr/>
          <p:nvPr/>
        </p:nvSpPr>
        <p:spPr>
          <a:xfrm>
            <a:off x="914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4" name="Rectangle 212"/>
          <p:cNvSpPr/>
          <p:nvPr/>
        </p:nvSpPr>
        <p:spPr>
          <a:xfrm>
            <a:off x="1828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5" name="Rectangle 213"/>
          <p:cNvSpPr/>
          <p:nvPr/>
        </p:nvSpPr>
        <p:spPr>
          <a:xfrm>
            <a:off x="2743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6" name="Rectangle 214"/>
          <p:cNvSpPr/>
          <p:nvPr/>
        </p:nvSpPr>
        <p:spPr>
          <a:xfrm>
            <a:off x="3657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7" name="Rectangle 215"/>
          <p:cNvSpPr/>
          <p:nvPr/>
        </p:nvSpPr>
        <p:spPr>
          <a:xfrm>
            <a:off x="4572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8" name="Rectangle 216"/>
          <p:cNvSpPr/>
          <p:nvPr/>
        </p:nvSpPr>
        <p:spPr>
          <a:xfrm>
            <a:off x="5486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9" name="Rectangle 217"/>
          <p:cNvSpPr/>
          <p:nvPr/>
        </p:nvSpPr>
        <p:spPr>
          <a:xfrm>
            <a:off x="6400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0" name="Rectangle 218"/>
          <p:cNvSpPr/>
          <p:nvPr/>
        </p:nvSpPr>
        <p:spPr>
          <a:xfrm>
            <a:off x="7315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1" name="Rectangle 219"/>
          <p:cNvSpPr/>
          <p:nvPr/>
        </p:nvSpPr>
        <p:spPr>
          <a:xfrm>
            <a:off x="8229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2" name="Rectangle 220"/>
          <p:cNvSpPr/>
          <p:nvPr/>
        </p:nvSpPr>
        <p:spPr>
          <a:xfrm>
            <a:off x="9144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3" name="Rectangle 221"/>
          <p:cNvSpPr/>
          <p:nvPr/>
        </p:nvSpPr>
        <p:spPr>
          <a:xfrm>
            <a:off x="10058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4" name="Rectangle 222"/>
          <p:cNvSpPr/>
          <p:nvPr/>
        </p:nvSpPr>
        <p:spPr>
          <a:xfrm>
            <a:off x="10972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5" name="Rectangle 223"/>
          <p:cNvSpPr/>
          <p:nvPr/>
        </p:nvSpPr>
        <p:spPr>
          <a:xfrm>
            <a:off x="11887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6" name="Rectangle 224"/>
          <p:cNvSpPr/>
          <p:nvPr/>
        </p:nvSpPr>
        <p:spPr>
          <a:xfrm>
            <a:off x="0" y="0"/>
            <a:ext cx="318240" cy="6856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7" name="Rounded Rectangle 99"/>
          <p:cNvSpPr/>
          <p:nvPr/>
        </p:nvSpPr>
        <p:spPr>
          <a:xfrm>
            <a:off x="9875520" y="365760"/>
            <a:ext cx="2009880" cy="501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8" name="TextBox 43"/>
          <p:cNvSpPr/>
          <p:nvPr/>
        </p:nvSpPr>
        <p:spPr>
          <a:xfrm>
            <a:off x="3177000" y="1005840"/>
            <a:ext cx="46170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IDENTIFIERS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9" name="TextBox 44"/>
          <p:cNvSpPr/>
          <p:nvPr/>
        </p:nvSpPr>
        <p:spPr>
          <a:xfrm>
            <a:off x="1739880" y="2194560"/>
            <a:ext cx="74912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Identifiers are the names given to Java elements such as classes, variables,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and methods.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0" name="Rounded Rectangle 100"/>
          <p:cNvSpPr/>
          <p:nvPr/>
        </p:nvSpPr>
        <p:spPr>
          <a:xfrm>
            <a:off x="98748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1" name="Rounded Rectangle 101"/>
          <p:cNvSpPr/>
          <p:nvPr/>
        </p:nvSpPr>
        <p:spPr>
          <a:xfrm>
            <a:off x="91440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Rules for Java Identifiers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Must start with a letter, $ or _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After first character, any combination is allowed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Keywords cannot be used as identifiers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identifiers are case-sensitive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Names should be meaningful and readable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2" name="Rounded Rectangle 102"/>
          <p:cNvSpPr/>
          <p:nvPr/>
        </p:nvSpPr>
        <p:spPr>
          <a:xfrm>
            <a:off x="450792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3" name="Rounded Rectangle 103"/>
          <p:cNvSpPr/>
          <p:nvPr/>
        </p:nvSpPr>
        <p:spPr>
          <a:xfrm>
            <a:off x="443484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Name Declared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Checks First Character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Checks Reserved Keywords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Valid Identifier Created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Used in Program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4" name="Rounded Rectangle 104"/>
          <p:cNvSpPr/>
          <p:nvPr/>
        </p:nvSpPr>
        <p:spPr>
          <a:xfrm>
            <a:off x="802836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5" name="Rounded Rectangle 105"/>
          <p:cNvSpPr/>
          <p:nvPr/>
        </p:nvSpPr>
        <p:spPr>
          <a:xfrm>
            <a:off x="795528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int age = 25;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$salary = 5000;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int _value = 10;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int __1_value = 20;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// Illegal examples: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123abc;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-salary;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6" name="TextBox 4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7" name="Rectangle 257"/>
          <p:cNvSpPr/>
          <p:nvPr/>
        </p:nvSpPr>
        <p:spPr>
          <a:xfrm>
            <a:off x="0" y="0"/>
            <a:ext cx="12187080" cy="6856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8" name="Rectangle 258"/>
          <p:cNvSpPr/>
          <p:nvPr/>
        </p:nvSpPr>
        <p:spPr>
          <a:xfrm>
            <a:off x="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9" name="Rectangle 259"/>
          <p:cNvSpPr/>
          <p:nvPr/>
        </p:nvSpPr>
        <p:spPr>
          <a:xfrm>
            <a:off x="914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0" name="Rectangle 260"/>
          <p:cNvSpPr/>
          <p:nvPr/>
        </p:nvSpPr>
        <p:spPr>
          <a:xfrm>
            <a:off x="1828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1" name="Rectangle 261"/>
          <p:cNvSpPr/>
          <p:nvPr/>
        </p:nvSpPr>
        <p:spPr>
          <a:xfrm>
            <a:off x="2743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2" name="Rectangle 262"/>
          <p:cNvSpPr/>
          <p:nvPr/>
        </p:nvSpPr>
        <p:spPr>
          <a:xfrm>
            <a:off x="3657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3" name="Rectangle 263"/>
          <p:cNvSpPr/>
          <p:nvPr/>
        </p:nvSpPr>
        <p:spPr>
          <a:xfrm>
            <a:off x="4572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4" name="Rectangle 264"/>
          <p:cNvSpPr/>
          <p:nvPr/>
        </p:nvSpPr>
        <p:spPr>
          <a:xfrm>
            <a:off x="5486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5" name="Rectangle 265"/>
          <p:cNvSpPr/>
          <p:nvPr/>
        </p:nvSpPr>
        <p:spPr>
          <a:xfrm>
            <a:off x="6400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6" name="Rectangle 266"/>
          <p:cNvSpPr/>
          <p:nvPr/>
        </p:nvSpPr>
        <p:spPr>
          <a:xfrm>
            <a:off x="7315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7" name="Rectangle 267"/>
          <p:cNvSpPr/>
          <p:nvPr/>
        </p:nvSpPr>
        <p:spPr>
          <a:xfrm>
            <a:off x="8229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8" name="Rectangle 268"/>
          <p:cNvSpPr/>
          <p:nvPr/>
        </p:nvSpPr>
        <p:spPr>
          <a:xfrm>
            <a:off x="9144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9" name="Rectangle 269"/>
          <p:cNvSpPr/>
          <p:nvPr/>
        </p:nvSpPr>
        <p:spPr>
          <a:xfrm>
            <a:off x="10058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0" name="Rectangle 270"/>
          <p:cNvSpPr/>
          <p:nvPr/>
        </p:nvSpPr>
        <p:spPr>
          <a:xfrm>
            <a:off x="10972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1" name="Rectangle 271"/>
          <p:cNvSpPr/>
          <p:nvPr/>
        </p:nvSpPr>
        <p:spPr>
          <a:xfrm>
            <a:off x="11887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2" name="Rectangle 272"/>
          <p:cNvSpPr/>
          <p:nvPr/>
        </p:nvSpPr>
        <p:spPr>
          <a:xfrm>
            <a:off x="0" y="0"/>
            <a:ext cx="318240" cy="6856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3" name="Rounded Rectangle 120"/>
          <p:cNvSpPr/>
          <p:nvPr/>
        </p:nvSpPr>
        <p:spPr>
          <a:xfrm>
            <a:off x="9875520" y="365760"/>
            <a:ext cx="2009880" cy="501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4" name="TextBox 52"/>
          <p:cNvSpPr/>
          <p:nvPr/>
        </p:nvSpPr>
        <p:spPr>
          <a:xfrm>
            <a:off x="3572280" y="550800"/>
            <a:ext cx="38264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Modifiers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5" name="TextBox 53"/>
          <p:cNvSpPr/>
          <p:nvPr/>
        </p:nvSpPr>
        <p:spPr>
          <a:xfrm>
            <a:off x="1828800" y="1388880"/>
            <a:ext cx="74912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Identifiers are the names given to Java elements such as classes, variables,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and methods.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6" name="Rounded Rectangle 121"/>
          <p:cNvSpPr/>
          <p:nvPr/>
        </p:nvSpPr>
        <p:spPr>
          <a:xfrm>
            <a:off x="98748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7" name="Rounded Rectangle 122"/>
          <p:cNvSpPr/>
          <p:nvPr/>
        </p:nvSpPr>
        <p:spPr>
          <a:xfrm>
            <a:off x="685800" y="2286000"/>
            <a:ext cx="3518640" cy="4343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Modifiers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Modifiers define access level and behavior of classes, methods, and variables.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They control: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Visibility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Inheritance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Mutability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Method overriding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Access Modifiers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public → Accessible everywhere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private → Only inside the class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protected → Package + subclasses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default → Same package only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Non-Access Modifiers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final → Cannot be changed / overridden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abstract → Must be implemented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static → Belongs to the class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volatile → Ensures memory visibility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8" name="Rounded Rectangle 123"/>
          <p:cNvSpPr/>
          <p:nvPr/>
        </p:nvSpPr>
        <p:spPr>
          <a:xfrm>
            <a:off x="450792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9" name="Rounded Rectangle 124"/>
          <p:cNvSpPr/>
          <p:nvPr/>
        </p:nvSpPr>
        <p:spPr>
          <a:xfrm>
            <a:off x="4434840" y="2286000"/>
            <a:ext cx="3290040" cy="4114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Modifiers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ACCESS MODIFIERS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public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private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protected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default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NON-ACCESS MODIFIERS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final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abstract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static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volatile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0" name="Rounded Rectangle 125"/>
          <p:cNvSpPr/>
          <p:nvPr/>
        </p:nvSpPr>
        <p:spPr>
          <a:xfrm>
            <a:off x="802836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1" name="Rounded Rectangle 126"/>
          <p:cNvSpPr/>
          <p:nvPr/>
        </p:nvSpPr>
        <p:spPr>
          <a:xfrm>
            <a:off x="7955280" y="2743200"/>
            <a:ext cx="3290040" cy="3429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Car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private String brand;     // Access modifier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int count;  // Non-access modifier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Car(String brand)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this.brand = brand;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count++;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final void displayBrand()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System.out.println("Brand: " + brand);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2" name="TextBox 54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Rectangle 241"/>
          <p:cNvSpPr/>
          <p:nvPr/>
        </p:nvSpPr>
        <p:spPr>
          <a:xfrm>
            <a:off x="0" y="0"/>
            <a:ext cx="12187080" cy="6856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4" name="Rectangle 242"/>
          <p:cNvSpPr/>
          <p:nvPr/>
        </p:nvSpPr>
        <p:spPr>
          <a:xfrm>
            <a:off x="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5" name="Rectangle 243"/>
          <p:cNvSpPr/>
          <p:nvPr/>
        </p:nvSpPr>
        <p:spPr>
          <a:xfrm>
            <a:off x="914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6" name="Rectangle 244"/>
          <p:cNvSpPr/>
          <p:nvPr/>
        </p:nvSpPr>
        <p:spPr>
          <a:xfrm>
            <a:off x="1828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7" name="Rectangle 245"/>
          <p:cNvSpPr/>
          <p:nvPr/>
        </p:nvSpPr>
        <p:spPr>
          <a:xfrm>
            <a:off x="2743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8" name="Rectangle 246"/>
          <p:cNvSpPr/>
          <p:nvPr/>
        </p:nvSpPr>
        <p:spPr>
          <a:xfrm>
            <a:off x="3657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9" name="Rectangle 247"/>
          <p:cNvSpPr/>
          <p:nvPr/>
        </p:nvSpPr>
        <p:spPr>
          <a:xfrm>
            <a:off x="4572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0" name="Rectangle 248"/>
          <p:cNvSpPr/>
          <p:nvPr/>
        </p:nvSpPr>
        <p:spPr>
          <a:xfrm>
            <a:off x="5486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1" name="Rectangle 249"/>
          <p:cNvSpPr/>
          <p:nvPr/>
        </p:nvSpPr>
        <p:spPr>
          <a:xfrm>
            <a:off x="6400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2" name="Rectangle 250"/>
          <p:cNvSpPr/>
          <p:nvPr/>
        </p:nvSpPr>
        <p:spPr>
          <a:xfrm>
            <a:off x="7315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3" name="Rectangle 251"/>
          <p:cNvSpPr/>
          <p:nvPr/>
        </p:nvSpPr>
        <p:spPr>
          <a:xfrm>
            <a:off x="8229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4" name="Rectangle 252"/>
          <p:cNvSpPr/>
          <p:nvPr/>
        </p:nvSpPr>
        <p:spPr>
          <a:xfrm>
            <a:off x="9144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5" name="Rectangle 253"/>
          <p:cNvSpPr/>
          <p:nvPr/>
        </p:nvSpPr>
        <p:spPr>
          <a:xfrm>
            <a:off x="10058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6" name="Rectangle 254"/>
          <p:cNvSpPr/>
          <p:nvPr/>
        </p:nvSpPr>
        <p:spPr>
          <a:xfrm>
            <a:off x="10972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7" name="Rectangle 255"/>
          <p:cNvSpPr/>
          <p:nvPr/>
        </p:nvSpPr>
        <p:spPr>
          <a:xfrm>
            <a:off x="11887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8" name="Rectangle 256"/>
          <p:cNvSpPr/>
          <p:nvPr/>
        </p:nvSpPr>
        <p:spPr>
          <a:xfrm>
            <a:off x="0" y="0"/>
            <a:ext cx="318240" cy="6856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9" name="Rounded Rectangle 113"/>
          <p:cNvSpPr/>
          <p:nvPr/>
        </p:nvSpPr>
        <p:spPr>
          <a:xfrm>
            <a:off x="9875520" y="365760"/>
            <a:ext cx="2009880" cy="501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0" name="TextBox 49"/>
          <p:cNvSpPr/>
          <p:nvPr/>
        </p:nvSpPr>
        <p:spPr>
          <a:xfrm>
            <a:off x="3630240" y="1005840"/>
            <a:ext cx="37105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Variables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1" name="TextBox 50"/>
          <p:cNvSpPr/>
          <p:nvPr/>
        </p:nvSpPr>
        <p:spPr>
          <a:xfrm>
            <a:off x="2311200" y="2013840"/>
            <a:ext cx="634860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Variables are named memory locations used to store data.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Each variable has a data type and determines how information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is stored, accessed, and manipulated within a program.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2" name="Rounded Rectangle 114"/>
          <p:cNvSpPr/>
          <p:nvPr/>
        </p:nvSpPr>
        <p:spPr>
          <a:xfrm>
            <a:off x="98748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3" name="Rounded Rectangle 115"/>
          <p:cNvSpPr/>
          <p:nvPr/>
        </p:nvSpPr>
        <p:spPr>
          <a:xfrm>
            <a:off x="91440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Types of Variables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Local Variable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Declared inside methods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Exists only during method execution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Variable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Declared inside class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Belongs to each object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Static Variable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Declared with static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Shared among all objects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4" name="Rounded Rectangle 116"/>
          <p:cNvSpPr/>
          <p:nvPr/>
        </p:nvSpPr>
        <p:spPr>
          <a:xfrm>
            <a:off x="450792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5" name="Rounded Rectangle 117"/>
          <p:cNvSpPr/>
          <p:nvPr/>
        </p:nvSpPr>
        <p:spPr>
          <a:xfrm>
            <a:off x="443484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Data Type Categories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Types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int, double, char, boolean, long, float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Types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String, Arrays, Objects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6" name="Rounded Rectangle 118"/>
          <p:cNvSpPr/>
          <p:nvPr/>
        </p:nvSpPr>
        <p:spPr>
          <a:xfrm>
            <a:off x="802836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7" name="Rounded Rectangle 119"/>
          <p:cNvSpPr/>
          <p:nvPr/>
        </p:nvSpPr>
        <p:spPr>
          <a:xfrm>
            <a:off x="7955280" y="2971800"/>
            <a:ext cx="3290040" cy="3429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Student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name;                 // Instance variable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static String school = "Tech University";  // Static variable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void display()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age = 20;            // Local variable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System.out.println(name + " - " + age + " - " + school);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8" name="TextBox 51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6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7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375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2026-02-21T20:17:40Z</dcterms:modified>
  <cp:revision>30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