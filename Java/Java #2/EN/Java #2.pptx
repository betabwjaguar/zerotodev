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96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30CCBF1-8676-4965-9DAC-0A4DE85CF3D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CD64C17-6A4D-42C8-9A43-34A7B5BF669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CCCCDE3-1608-4696-90C5-2E4B207FB9B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5111781-9825-4337-A7CE-E259B4093A8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ED2B099-CFCB-4329-A044-C2E1C4049D5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236148B-296B-42D0-A923-39F275961C5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9B2435D-C2C7-42DF-A01B-812251B6995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9C8643E-C882-42FE-A3B5-2FAACF57392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91790F8-B2E6-4241-974C-41332FDEB12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6D29D1D-4DE6-4A63-9E6A-39C97E031CF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622B261-4360-4DE7-960B-18731107A4A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AAF3BDB-C2BF-4A5C-A7C7-2723B8163E7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504964C-C056-44B8-9CB1-D5AA35C8AA6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614BC27-D1B0-4687-AD4D-8CB23AA3132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AB0C6DA-24E1-464B-89C8-AC19E8EF6D9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3CD5FDA-09BA-434E-9036-C833A8BEC1C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60BDC5B-4840-4408-A745-BF52B3D046D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DE88213-7328-4447-9848-D0AACF4637F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AD65284-393C-41BD-AFBA-F741D4F959F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B783BFB-EFF9-4F0A-8FEF-C9B9899B048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F781C00-DDEC-423A-9EF9-24D54E8E9C1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3C76C42-8C10-4869-97DD-245896A4787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247B833-F70B-48A7-B8A5-F2561BCF9C7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38AA08F-216E-449D-AB15-F7C0D19A196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DABDB7E-2F53-440E-82FA-F2237F80019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007983F-0BC1-4A67-9395-DA01B648BD7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A500BDF-00C8-4E4C-9B5E-67E9A1CE0F4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A277F1C-BB58-4B7B-B59C-DB9F25B8C64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B6280AA-DF62-4463-981A-7F20AEBEF84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99CC577-4791-43F6-8836-FD56A6E17AB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99C2389-070B-4BA0-9E0B-60DEF961BC3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08F9DDB-070D-44EC-BA85-DE3623A9F16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F5DDD9A-AFEF-41A4-9A10-6D09A1F7D4C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90BDE22-F885-42E2-8840-BC335EED022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F45317F-8469-462F-B35A-8BCC2D6BAEB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C693FBF-6274-48CE-92F5-52065B4E18F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370A717-F5BB-40A5-87DD-DC81C1833B3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51662B4-1D20-4CD1-A3F7-CCD6CFB5580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4789FAC-D169-40A4-85EB-D031F91B8C3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4902A0B-F12C-45A9-AEBE-068D6766EE3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01EA3E8-3D56-4152-964B-04F8E7A68F7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1915B38-0B33-4F93-8A43-80EAA93F7C7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C5466A4-EF1F-48C9-82D3-212E103A3DE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AD27F43-873C-4C6A-B5EE-3EAB1D0FA06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2E7FE30-6CF5-40A3-9A2E-24E45BFF599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502608F-89BA-4F49-A2B5-7D573DA621C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665A0F2-9655-4318-9D51-69CF0416E6D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FB15106-CE46-4EA8-BB6F-2BF8777C145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869BE6E-2AE0-49FC-8548-D92BA296EE7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7398AF4-1F6A-4776-9E53-B5FC2D1913B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150AE51-0D23-4E1F-A4D6-5CB02EEB037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2DEC9CF-BE2C-4F08-A826-BF7CFB62132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D30E8A9-1FBF-485E-8EBF-F29E3AF83CE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F7239DA-EA1B-413D-8F03-AB4EDF3052B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5377732-2E02-4727-B2DB-82850EFBB97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0164E78-52C4-427E-9F7D-5F488550488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7B1FA2E-19F1-4FE7-9359-02E713618CA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58E02D2-6B42-483C-827C-DC4F0ABEB72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9705C92-3637-4B36-AE66-A3899BC5AE0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B879E01-87D6-48D5-9BDF-625844F2939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1874D56-2C10-4C21-9898-655FF94F363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DBC573A-6E1A-4E18-94C2-290DF4D18B1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4C1B02E-E410-44D8-A912-425B88A9CC3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574CC97-ECBD-482E-8BCC-E8B75874D8F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00FDE129-9793-40E6-8AA0-05FBF5D3F8C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C20BA1D-8596-4A18-880D-04A2DB83FCF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9BECAB5-704E-4AA6-B52B-ECC8DAC912B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B1D316E-69A4-4A05-B127-4F0A5CF87D9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1B9BC6EC-9DC0-4621-A5AC-E959E37CC3F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80211AE-87E0-40E3-86FE-3B0FA6FC12C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9C258A7-2C7A-42A2-97F6-795F665C835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81453CE-0133-4077-89F2-3ED41AB6A8C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2F261AA-D075-40F6-A631-454045391B7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F87EE6F-8750-4AE0-B8D9-5A4A0A6B077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126494B-E528-4C00-801E-FA94493265F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1100A46-DDBC-416D-91E4-033AE39EE14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B55A8F9-F982-41BC-94FA-7842E7C0276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7DCD0C7-B1FC-47D8-956F-436E5C3BBF1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8D459FD-EC76-44A7-87A7-55D884E578A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2358CEA-780A-492A-AB24-A490163363F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6FAEC53-A5BD-4104-80A2-A105380CB76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D9C0189-011A-4ABC-BCB4-4BB493B75E7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9F6534B-2DE0-4590-976E-DFA51BE7183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87CA36C-BDBD-43D9-A2EE-B0CB67AE678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BAE6376-1DB1-4F07-8192-2952109A80C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05B889E8-37E3-49B9-B1C3-28F7EB348CD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F1D9145B-9A2E-4031-A56B-CF812EE074B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00C80B94-2045-4CCF-8BF8-D015E73BCD5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45DE62C7-30C9-4BC1-86E9-3D13FFB57C6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E4764CB-6C38-4DDF-8E78-92127747BA7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6133F98F-8F9D-4C61-9629-F9E04BD110A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897653E9-0E89-48CC-BE49-E9059177AE9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0D7C1911-2E33-42B9-A49F-23191FC47D6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8FBAF65F-BEF9-4FD8-A6B3-308B094DF4B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9F6B5148-BD04-4C80-B4FB-130071EAE54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031C16C4-F834-4FF6-A573-22EF6923C4D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7C3758B-0B9A-4856-A5D3-650F8BF36BB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2C6965D-467D-4A1D-A669-B0908A96CEE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B8EFD4C-5AE7-4153-82F6-14D074F86DE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2036C38-77E4-4CB1-A86A-383BF379648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0509F25-00E4-4A10-B046-00B2821EEF3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9F4B43B-0284-4B7B-9113-F53F78CB6AC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F43E4A8-2C1E-44B4-8FFB-3435BCBA121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3D74995-B1EE-4E1F-80AB-CAE6A0761F2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Rectangle 1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2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3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4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5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6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7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8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9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0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1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2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3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4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5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16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ounded Rectangle 17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" name="TextBox 18"/>
          <p:cNvSpPr/>
          <p:nvPr/>
        </p:nvSpPr>
        <p:spPr>
          <a:xfrm>
            <a:off x="1522800" y="1005840"/>
            <a:ext cx="7926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VIRTUAL MACHINE (JVM)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TextBox 19"/>
          <p:cNvSpPr/>
          <p:nvPr/>
        </p:nvSpPr>
        <p:spPr>
          <a:xfrm>
            <a:off x="3661920" y="2057400"/>
            <a:ext cx="36482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 engine that runs Java programs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Rounded Rectangle 20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ounded Rectangle 21"/>
          <p:cNvSpPr/>
          <p:nvPr/>
        </p:nvSpPr>
        <p:spPr>
          <a:xfrm>
            <a:off x="685800" y="2521440"/>
            <a:ext cx="3424320" cy="3324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Java Virtual Machine (JVM) is a virtual runtime engine that executes Java bytecode.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It allows Java programs to run on any platform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code is compiled into bytecode, not machine code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JVM translates bytecode into machine-specific instructions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 Responsibilities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Platform independence (Write Once, Run Anywhere)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Bytecode execution (Interpreter + JIT Compiler)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 (Garbage Collection)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Security through a controlled runtime environment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👉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JVM acts as a bridge between Java programs and the operating system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" name="Rounded Rectangle 22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ounded Rectangle 23"/>
          <p:cNvSpPr/>
          <p:nvPr/>
        </p:nvSpPr>
        <p:spPr>
          <a:xfrm>
            <a:off x="443484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(Interpreter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Machine Code for OS/CPU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" name="Rounded Rectangle 24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ounded Rectangle 25"/>
          <p:cNvSpPr/>
          <p:nvPr/>
        </p:nvSpPr>
        <p:spPr>
          <a:xfrm>
            <a:off x="795528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System.out.println("Hello, JVM!");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3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Rectangle 32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33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34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35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36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37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38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39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40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41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42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43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44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45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46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47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ounded Rectangle 8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1" name="TextBox 4"/>
          <p:cNvSpPr/>
          <p:nvPr/>
        </p:nvSpPr>
        <p:spPr>
          <a:xfrm>
            <a:off x="3214440" y="1005840"/>
            <a:ext cx="4542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Architecture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TextBox 5"/>
          <p:cNvSpPr/>
          <p:nvPr/>
        </p:nvSpPr>
        <p:spPr>
          <a:xfrm>
            <a:off x="3641400" y="2194560"/>
            <a:ext cx="36892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INSIDE THE JAVA VIRTUAL MACHINE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Rounded Rectangle 9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ounded Rectangle 10"/>
          <p:cNvSpPr/>
          <p:nvPr/>
        </p:nvSpPr>
        <p:spPr>
          <a:xfrm>
            <a:off x="91440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JVM architecture is built from core components that work together to execute Java programs.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loads class files into memory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 store data during execution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 runs bytecode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removes unused objects automatically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These parts allow Java programs to run securely, efficiently, and independently of the operating system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5" name="Rounded Rectangle 11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ounded Rectangle 12"/>
          <p:cNvSpPr/>
          <p:nvPr/>
        </p:nvSpPr>
        <p:spPr>
          <a:xfrm>
            <a:off x="443484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(Interpreter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" name="Rounded Rectangle 13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ounded Rectangle 14"/>
          <p:cNvSpPr/>
          <p:nvPr/>
        </p:nvSpPr>
        <p:spPr>
          <a:xfrm>
            <a:off x="795528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class Demo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System.out.println("JVM Running");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Process: Load =&gt; Store In Memory =&gt; Execute =&gt; Clean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9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Rectangle 48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49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50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51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52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53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54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55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56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57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58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59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60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61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62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63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ounded Rectangle 15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7" name="TextBox 7"/>
          <p:cNvSpPr/>
          <p:nvPr/>
        </p:nvSpPr>
        <p:spPr>
          <a:xfrm>
            <a:off x="1896840" y="1005840"/>
            <a:ext cx="7177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PROGRAM EXECUTION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TextBox 8"/>
          <p:cNvSpPr/>
          <p:nvPr/>
        </p:nvSpPr>
        <p:spPr>
          <a:xfrm>
            <a:off x="2177280" y="2194560"/>
            <a:ext cx="6617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How the JVM runs a Java program step by step behind the scenes.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Rounded Rectangle 16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ounded Rectangle 18"/>
          <p:cNvSpPr/>
          <p:nvPr/>
        </p:nvSpPr>
        <p:spPr>
          <a:xfrm>
            <a:off x="475560" y="2743200"/>
            <a:ext cx="3725280" cy="3103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When a Java program starts, the JVM follows a smart execution process.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First, the Class Loader loads compiled .class files into memory and checks them for security.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Next, memory is organized into areas like the Heap (for objects) and Stack (for method calls and variables).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Then, the Execution Engine runs the program.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Interpreter reads bytecode line by line, while the JIT Compiler converts frequently used code into faster machine code.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Finally, the Garbage Collector removes unused objects from memory automatically.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Thanks to this process, Java programs run safely, efficiently, and on any system with a JVM.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1" name="Rounded Rectangle 19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ounded Rectangle 26"/>
          <p:cNvSpPr/>
          <p:nvPr/>
        </p:nvSpPr>
        <p:spPr>
          <a:xfrm>
            <a:off x="4343400" y="2918520"/>
            <a:ext cx="3515040" cy="292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loads classes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Memory Allocation (Heap / Stack)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Native Machine Code Execution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frees memory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" name="Rounded Rectangle 27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ounded Rectangle 28"/>
          <p:cNvSpPr/>
          <p:nvPr/>
        </p:nvSpPr>
        <p:spPr>
          <a:xfrm>
            <a:off x="8023680" y="2743200"/>
            <a:ext cx="3836520" cy="319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ExecutionDemo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message = "JVM Execution Started";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System.out.println(message);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addNumbers(5, 7);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System.out.println("Result: " + result);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addNumbers(int a, int b)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return a + b;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5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Rectangle 64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65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66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67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68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69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70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71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72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73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74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75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76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77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78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79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ounded Rectangle 29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3" name="TextBox 10"/>
          <p:cNvSpPr/>
          <p:nvPr/>
        </p:nvSpPr>
        <p:spPr>
          <a:xfrm>
            <a:off x="3163320" y="1005840"/>
            <a:ext cx="4645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JRE vs JDK vs JVM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TextBox 11"/>
          <p:cNvSpPr/>
          <p:nvPr/>
        </p:nvSpPr>
        <p:spPr>
          <a:xfrm>
            <a:off x="3468960" y="2194560"/>
            <a:ext cx="40338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Java’s Core Components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Rounded Rectangle 30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ounded Rectangle 31"/>
          <p:cNvSpPr/>
          <p:nvPr/>
        </p:nvSpPr>
        <p:spPr>
          <a:xfrm>
            <a:off x="685800" y="3108960"/>
            <a:ext cx="3515400" cy="305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is built on three key layers that work together to develop and run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(Java Virtual Machine)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Runs Java bytecode and makes Java platform-independent.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(Java Runtime Environment)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everything needed to run Java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Development Kit)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tools needed to develop Java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Think of it like this: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= Engine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= Engine + Fuel System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= Full Car Factory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7" name="Rounded Rectangle 32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ounded Rectangle 33"/>
          <p:cNvSpPr/>
          <p:nvPr/>
        </p:nvSpPr>
        <p:spPr>
          <a:xfrm>
            <a:off x="443484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(Compiler + Dev Tools)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 files)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(Libraries + JVM)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(Execution Engine)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Machine Code (OS/CPU)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" name="Rounded Rectangle 34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ounded Rectangle 35"/>
          <p:cNvSpPr/>
          <p:nvPr/>
        </p:nvSpPr>
        <p:spPr>
          <a:xfrm>
            <a:off x="795528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Compile using 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javac Main.java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Run using JRE (which uses JVM internally)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 Main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System.out.println("Understanding JDK, JRE, and JVM!");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1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Rectangle 80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81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82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83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84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85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86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87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88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89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90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91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92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93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94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95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ounded Rectangle 36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9" name="TextBox 13"/>
          <p:cNvSpPr/>
          <p:nvPr/>
        </p:nvSpPr>
        <p:spPr>
          <a:xfrm>
            <a:off x="1889280" y="1005840"/>
            <a:ext cx="71931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ENVIRONMENT SETUP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TextBox 14"/>
          <p:cNvSpPr/>
          <p:nvPr/>
        </p:nvSpPr>
        <p:spPr>
          <a:xfrm>
            <a:off x="591840" y="2194560"/>
            <a:ext cx="97869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Sets up your system to compile and run Java by installing the JDK and configuring system variables.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Rounded Rectangle 37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ounded Rectangle 38"/>
          <p:cNvSpPr/>
          <p:nvPr/>
        </p:nvSpPr>
        <p:spPr>
          <a:xfrm>
            <a:off x="91440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Development Kit) includes compiler (javac) and runtime (java).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System variables like PATH and JAVA_HOME allow the command line to find Java.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Proper setup ensures Java programs can be compiled and executed anywhere on the system.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3" name="Rounded Rectangle 39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ounded Rectangle 40"/>
          <p:cNvSpPr/>
          <p:nvPr/>
        </p:nvSpPr>
        <p:spPr>
          <a:xfrm>
            <a:off x="443484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Download JDK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Install on your computer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Set JAVA_HOME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Add JDK bin to PATH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Verify with terminal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5" name="Rounded Rectangle 41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ounded Rectangle 42"/>
          <p:cNvSpPr/>
          <p:nvPr/>
        </p:nvSpPr>
        <p:spPr>
          <a:xfrm>
            <a:off x="795528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verify installation:</a:t>
            </a:r>
            <a:br>
              <a:rPr sz="1800"/>
            </a:b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Write the Command Prompt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7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Rectangle 17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18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19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20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21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22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23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24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25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26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27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28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29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30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31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96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ounded Rectangle 43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5" name="TextBox 16"/>
          <p:cNvSpPr/>
          <p:nvPr/>
        </p:nvSpPr>
        <p:spPr>
          <a:xfrm>
            <a:off x="911880" y="1005840"/>
            <a:ext cx="9146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CONFIGURING JAVA ENVIRONMENT VARIABLES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TextBox 17"/>
          <p:cNvSpPr/>
          <p:nvPr/>
        </p:nvSpPr>
        <p:spPr>
          <a:xfrm>
            <a:off x="-310680" y="2194560"/>
            <a:ext cx="1159884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                 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Environment variables tell the system where Java is installed, allowing tools and commands to work correctly from any directory.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Rounded Rectangle 44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ounded Rectangle 45"/>
          <p:cNvSpPr/>
          <p:nvPr/>
        </p:nvSpPr>
        <p:spPr>
          <a:xfrm>
            <a:off x="91440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points to the JDK installation folder.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includes the Java bin folder so Java tools run from terminal/command prompt.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Without these, Java commands may fail.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9" name="Rounded Rectangle 46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ounded Rectangle 47"/>
          <p:cNvSpPr/>
          <p:nvPr/>
        </p:nvSpPr>
        <p:spPr>
          <a:xfrm>
            <a:off x="443484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 Installed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Set JAVA_HOME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→  C:\              Program Files\Java\jdk-xx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Append PATH →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%JAVA_HOME%\bin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Run java &amp; javac commands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1" name="Rounded Rectangle 48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ounded Rectangle 49"/>
          <p:cNvSpPr/>
          <p:nvPr/>
        </p:nvSpPr>
        <p:spPr>
          <a:xfrm>
            <a:off x="795528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Windows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JAVA_HOME "C:\Program Files\Java\jdk-xx"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PATH "%JAVA_HOME%\bin;%PATH%"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Linux/Mac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3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Rectangle 97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98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99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100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101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102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103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104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105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106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107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108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109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110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111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112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ounded Rectangle 50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1" name="TextBox 21"/>
          <p:cNvSpPr/>
          <p:nvPr/>
        </p:nvSpPr>
        <p:spPr>
          <a:xfrm>
            <a:off x="1666800" y="1005840"/>
            <a:ext cx="7636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WHAT HAPPENS AFTER JAVA IS SET UP?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TextBox 22"/>
          <p:cNvSpPr/>
          <p:nvPr/>
        </p:nvSpPr>
        <p:spPr>
          <a:xfrm>
            <a:off x="4382280" y="2194560"/>
            <a:ext cx="221256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After Environment Setup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Rounded Rectangle 51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ounded Rectangle 52"/>
          <p:cNvSpPr/>
          <p:nvPr/>
        </p:nvSpPr>
        <p:spPr>
          <a:xfrm>
            <a:off x="91440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Once Java is installed and configured, your system is ready to compile and run Java programs.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You can create .java source files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javac compiler turns source code into 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JVM executes this bytecode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Your program now runs on any system with a 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Setup is complete — now Java development can begin.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5" name="Rounded Rectangle 53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ounded Rectangle 54"/>
          <p:cNvSpPr/>
          <p:nvPr/>
        </p:nvSpPr>
        <p:spPr>
          <a:xfrm>
            <a:off x="443484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Write Java Code (.java)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Compile using javac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File Created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Run with java command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Executes Program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Output Appears on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7" name="Rounded Rectangle 55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ounded Rectangle 56"/>
          <p:cNvSpPr/>
          <p:nvPr/>
        </p:nvSpPr>
        <p:spPr>
          <a:xfrm>
            <a:off x="795528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HelloJava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environment is ready!");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9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Rectangle 113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114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115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116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117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118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119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ectangle 120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121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ectangle 122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ectangle 123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124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125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126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127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128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ounded Rectangle 57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7" name="TextBox 24"/>
          <p:cNvSpPr/>
          <p:nvPr/>
        </p:nvSpPr>
        <p:spPr>
          <a:xfrm>
            <a:off x="2216880" y="1005840"/>
            <a:ext cx="6536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DEVELOPMENT WORKFLOW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TextBox 25"/>
          <p:cNvSpPr/>
          <p:nvPr/>
        </p:nvSpPr>
        <p:spPr>
          <a:xfrm>
            <a:off x="-1019160" y="2194560"/>
            <a:ext cx="130240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                                 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This slide explains the basic step-by-step process developers follow to create, test, and improve Java programs after the environment is fully set up.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Rounded Rectangle 58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ounded Rectangle 59"/>
          <p:cNvSpPr/>
          <p:nvPr/>
        </p:nvSpPr>
        <p:spPr>
          <a:xfrm>
            <a:off x="91440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After installation, Java programming follows a simple development cycle: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Compile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Fix errors if needed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Repeat the process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This cycle is how real-world Java software is developed.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1" name="Rounded Rectangle 60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ounded Rectangle 61"/>
          <p:cNvSpPr/>
          <p:nvPr/>
        </p:nvSpPr>
        <p:spPr>
          <a:xfrm>
            <a:off x="443484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Write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Compile → javac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Run → java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Check Output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Error → Fix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Recompile &amp; Run Again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3" name="Rounded Rectangle 62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ounded Rectangle 63"/>
          <p:cNvSpPr/>
          <p:nvPr/>
        </p:nvSpPr>
        <p:spPr>
          <a:xfrm>
            <a:off x="795528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5 + 7;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System.out.println("Result: " + 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br>
              <a:rPr sz="1300"/>
            </a:b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Calculator.java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Calculator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5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Rectangle 129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130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131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132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133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134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135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136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137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ectangle 138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ectangle 139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ectangle 140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141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142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143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144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ounded Rectangle 64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3" name="TextBox 28"/>
          <p:cNvSpPr/>
          <p:nvPr/>
        </p:nvSpPr>
        <p:spPr>
          <a:xfrm>
            <a:off x="2915280" y="1005840"/>
            <a:ext cx="51386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INSTALLATION TYPES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TextBox 29"/>
          <p:cNvSpPr/>
          <p:nvPr/>
        </p:nvSpPr>
        <p:spPr>
          <a:xfrm>
            <a:off x="907200" y="2194560"/>
            <a:ext cx="91695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Different Java distributions and installation types provide flexibility depending on development or production needs.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Rounded Rectangle 65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ounded Rectangle 66"/>
          <p:cNvSpPr/>
          <p:nvPr/>
        </p:nvSpPr>
        <p:spPr>
          <a:xfrm>
            <a:off x="91440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There are multiple ways to install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Oracle JDK (Official distribution)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OpenJDK (Open-source version)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(Long Term Support) versions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Non-LTS versions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versions (like Java 17, 21) are recommended for stability and long-term projects.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Choosing the correct distribution ensures compatibility, security updates, and long-term support.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7" name="Rounded Rectangle 67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ounded Rectangle 68"/>
          <p:cNvSpPr/>
          <p:nvPr/>
        </p:nvSpPr>
        <p:spPr>
          <a:xfrm>
            <a:off x="443484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Choose Version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Download Distribution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Install JDK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Set JAVA_HOME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Update PATH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Verify Installation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9" name="Rounded Rectangle 69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ounded Rectangle 70"/>
          <p:cNvSpPr/>
          <p:nvPr/>
        </p:nvSpPr>
        <p:spPr>
          <a:xfrm>
            <a:off x="795528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Windows: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javac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Linux: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Check detailed version info: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1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Rectangle 145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146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147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148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ectangle 149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ectangle 150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8" name="Rectangle 151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ectangle 152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ectangle 153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ectangle 154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ectangle 155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ectangle 156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157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158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159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160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ounded Rectangle 71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9" name="TextBox 31"/>
          <p:cNvSpPr/>
          <p:nvPr/>
        </p:nvSpPr>
        <p:spPr>
          <a:xfrm>
            <a:off x="563760" y="1005840"/>
            <a:ext cx="98434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COMMON INSTALLATION PROBLEMS &amp; SOLUTIONS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TextBox 32"/>
          <p:cNvSpPr/>
          <p:nvPr/>
        </p:nvSpPr>
        <p:spPr>
          <a:xfrm>
            <a:off x="2434680" y="2194560"/>
            <a:ext cx="61142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Incorrect environment configuration can prevent Java from running properly.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Rounded Rectangle 72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ounded Rectangle 73"/>
          <p:cNvSpPr/>
          <p:nvPr/>
        </p:nvSpPr>
        <p:spPr>
          <a:xfrm>
            <a:off x="91440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Common Issues: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'java is not recognized as an internal or external command'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Incorrect JAVA_HOME path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PATH variable not updated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Multiple Java versions conflict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JRE installed instead of JDK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Most problems are caused by incorrect environment variables.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3" name="Rounded Rectangle 74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ounded Rectangle 75"/>
          <p:cNvSpPr/>
          <p:nvPr/>
        </p:nvSpPr>
        <p:spPr>
          <a:xfrm>
            <a:off x="443484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Error appears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Check java -version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Verify JAVA_HOME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Check PATH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Restart terminal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Problem solved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5" name="Rounded Rectangle 76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ounded Rectangle 77"/>
          <p:cNvSpPr/>
          <p:nvPr/>
        </p:nvSpPr>
        <p:spPr>
          <a:xfrm>
            <a:off x="7955280" y="3108960"/>
            <a:ext cx="3287520" cy="306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check environment variable (Windows):</a:t>
            </a: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%JAVA_HOME%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%PATH%</a:t>
            </a:r>
            <a:br>
              <a:rPr sz="1300"/>
            </a:b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Linux / Mac:</a:t>
            </a: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$JAVA_HOME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$PATH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Temporarily set JAVA_HOME (Linux/Mac):</a:t>
            </a: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7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Rectangle 161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162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163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164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ectangle 165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ectangle 166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4" name="Rectangle 167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ectangle 168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ectangle 169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ectangle 170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ectangle 171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ectangle 172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173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174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175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176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ounded Rectangle 78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5" name="TextBox 34"/>
          <p:cNvSpPr/>
          <p:nvPr/>
        </p:nvSpPr>
        <p:spPr>
          <a:xfrm>
            <a:off x="2528640" y="1005840"/>
            <a:ext cx="5913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VERSION MANAGEMENT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TextBox 35"/>
          <p:cNvSpPr/>
          <p:nvPr/>
        </p:nvSpPr>
        <p:spPr>
          <a:xfrm>
            <a:off x="2746440" y="2194560"/>
            <a:ext cx="549072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Managing multiple Java versions and switching between them safely.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Rounded Rectangle 79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ounded Rectangle 80"/>
          <p:cNvSpPr/>
          <p:nvPr/>
        </p:nvSpPr>
        <p:spPr>
          <a:xfrm>
            <a:off x="457200" y="2971800"/>
            <a:ext cx="3782520" cy="319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Sometimes multiple Java versions are installed on the same system.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For 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17 (LTS)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21 (LTS)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Older legacy version (Java 8)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projects may require different versions.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If versions are not managed properly: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PATH conflicts occur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Wrong JDK compiles the project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Build tools fail (Maven / Gradle)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Proper version management prevents conflicts.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9" name="Rounded Rectangle 81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ounded Rectangle 82"/>
          <p:cNvSpPr/>
          <p:nvPr/>
        </p:nvSpPr>
        <p:spPr>
          <a:xfrm>
            <a:off x="4434840" y="3108960"/>
            <a:ext cx="3287520" cy="2832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Check installed versions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Locate JDK folders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Update JAVA_HOME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Update PATH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Restart terminal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Verify using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-version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javac -version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1" name="Rounded Rectangle 83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ounded Rectangle 84"/>
          <p:cNvSpPr/>
          <p:nvPr/>
        </p:nvSpPr>
        <p:spPr>
          <a:xfrm>
            <a:off x="8001000" y="2971800"/>
            <a:ext cx="3426840" cy="3040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Check current 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Show active JAVA_HOME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%JAVA_HOME%      (Windows)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$JAVA_HOME       (Linux/Mac)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Example version paths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17 → /jdk-17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21 → /jdk-21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After switching 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3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Rectangle 177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178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179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180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ectangle 181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ectangle 182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0" name="Rectangle 183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ectangle 184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ectangle 185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ectangle 186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ectangle 187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5" name="Rectangle 188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189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190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191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192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ounded Rectangle 85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1" name="TextBox 37"/>
          <p:cNvSpPr/>
          <p:nvPr/>
        </p:nvSpPr>
        <p:spPr>
          <a:xfrm>
            <a:off x="2876040" y="1005840"/>
            <a:ext cx="52196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HELLO WORLD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TextBox 38"/>
          <p:cNvSpPr/>
          <p:nvPr/>
        </p:nvSpPr>
        <p:spPr>
          <a:xfrm>
            <a:off x="429480" y="2194560"/>
            <a:ext cx="10113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 first program every Java developer writes.It introduces the basic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structure of a Java application and shows how code is executed inside the Java Virtual Machine (JVM).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Rounded Rectangle 86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ounded Rectangle 87"/>
          <p:cNvSpPr/>
          <p:nvPr/>
        </p:nvSpPr>
        <p:spPr>
          <a:xfrm>
            <a:off x="91440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Every Java program starts from a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begins from the main() method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System.out.println() prints output to the console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code is compiled into bytecode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runs inside the JVM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Key Idea: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Hello World demonstrates how Java source code turns into running output.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5" name="Rounded Rectangle 88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ounded Rectangle 89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Write Java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Compile (javac)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Run with JVM (java)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Console Output → Hello World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7" name="Rounded Rectangle 90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ounded Rectangle 91"/>
          <p:cNvSpPr/>
          <p:nvPr/>
        </p:nvSpPr>
        <p:spPr>
          <a:xfrm>
            <a:off x="795528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HelloWorld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World");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9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Rectangle 193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194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195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196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ectangle 197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ectangle 198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6" name="Rectangle 199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ectangle 200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ectangle 201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ectangle 202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0" name="Rectangle 203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1" name="Rectangle 204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ectangle 205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ectangle 206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ectangle 207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208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ounded Rectangle 92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7" name="TextBox 40"/>
          <p:cNvSpPr/>
          <p:nvPr/>
        </p:nvSpPr>
        <p:spPr>
          <a:xfrm>
            <a:off x="578160" y="1005840"/>
            <a:ext cx="9815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UNDERSTANDING JAVA HELLO WORLD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TextBox 41"/>
          <p:cNvSpPr/>
          <p:nvPr/>
        </p:nvSpPr>
        <p:spPr>
          <a:xfrm>
            <a:off x="1653840" y="2194560"/>
            <a:ext cx="76626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 Hello World program may look simple, but it contains the core structure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that every Java application follows.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Rounded Rectangle 93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ounded Rectangle 94"/>
          <p:cNvSpPr/>
          <p:nvPr/>
        </p:nvSpPr>
        <p:spPr>
          <a:xfrm>
            <a:off x="91440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 execution starts from main()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public → accessible from anywhere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→ runs without creating an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void → method returns nothing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String[] args → command-line parameters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Key Idea: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main() method is the entry point of every Java application.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1" name="Rounded Rectangle 95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ounded Rectangle 96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searches for main() method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main() executes instructions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System.out.println() runs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Text appears on console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3" name="Rounded Rectangle 97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ounded Rectangle 98"/>
          <p:cNvSpPr/>
          <p:nvPr/>
        </p:nvSpPr>
        <p:spPr>
          <a:xfrm>
            <a:off x="795528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HelloWorld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World");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5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Rectangle 225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226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227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ectangle 228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ectangle 229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ectangle 230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2" name="Rectangle 231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ectangle 232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ectangle 233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ectangle 234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6" name="Rectangle 235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7" name="Rectangle 236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ectangle 237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ectangle 238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0" name="Rectangle 239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240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ounded Rectangle 106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3" name="TextBox 46"/>
          <p:cNvSpPr/>
          <p:nvPr/>
        </p:nvSpPr>
        <p:spPr>
          <a:xfrm>
            <a:off x="2931480" y="1005840"/>
            <a:ext cx="5108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BASIC SYNTAX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TextBox 47"/>
          <p:cNvSpPr/>
          <p:nvPr/>
        </p:nvSpPr>
        <p:spPr>
          <a:xfrm>
            <a:off x="2680560" y="2194560"/>
            <a:ext cx="56098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Basic Syntax defines the fundamental rules and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structure required to write and execute a Java program.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Rounded Rectangle 107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ounded Rectangle 108"/>
          <p:cNvSpPr/>
          <p:nvPr/>
        </p:nvSpPr>
        <p:spPr>
          <a:xfrm>
            <a:off x="91440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Basic Syntax refers to the core writing rules of Java programs.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Everything is written inside a class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starts from the main() method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Statements end with semicolon ( ; 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Curly braces { } define code blocks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is case-sensitive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7" name="Rounded Rectangle 109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ounded Rectangle 110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main() Method Executes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Statements Run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End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9" name="Rounded Rectangle 111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ounded Rectangle 112"/>
          <p:cNvSpPr/>
          <p:nvPr/>
        </p:nvSpPr>
        <p:spPr>
          <a:xfrm>
            <a:off x="795528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BasicSyntax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Java!");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1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Rectangle 209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ectangle 210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ectangle 211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ectangle 212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ectangle 213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ectangle 214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8" name="Rectangle 215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9" name="Rectangle 216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0" name="Rectangle 217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1" name="Rectangle 218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2" name="Rectangle 219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3" name="Rectangle 220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ectangle 221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5" name="Rectangle 222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6" name="Rectangle 223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224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ounded Rectangle 99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9" name="TextBox 43"/>
          <p:cNvSpPr/>
          <p:nvPr/>
        </p:nvSpPr>
        <p:spPr>
          <a:xfrm>
            <a:off x="3177000" y="1005840"/>
            <a:ext cx="46166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IDENTIFIERS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TextBox 44"/>
          <p:cNvSpPr/>
          <p:nvPr/>
        </p:nvSpPr>
        <p:spPr>
          <a:xfrm>
            <a:off x="1739880" y="2194560"/>
            <a:ext cx="74908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Identifiers are the names given to Java elements such as classes, variables,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and methods.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Rounded Rectangle 100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ounded Rectangle 101"/>
          <p:cNvSpPr/>
          <p:nvPr/>
        </p:nvSpPr>
        <p:spPr>
          <a:xfrm>
            <a:off x="91440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Rules for Java Identifiers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Must start with a letter, $ or _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After first character, any combination is allowed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Keywords cannot be used as identifiers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identifiers are case-sensitive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Names should be meaningful and readable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3" name="Rounded Rectangle 102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ounded Rectangle 103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Name Declared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Checks First Character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Checks Reserved Keywords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Valid Identifier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Used in Program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5" name="Rounded Rectangle 104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ounded Rectangle 105"/>
          <p:cNvSpPr/>
          <p:nvPr/>
        </p:nvSpPr>
        <p:spPr>
          <a:xfrm>
            <a:off x="795528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$salary = 5000;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_value = 10;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__1_value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// Illegal examples: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123abc;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-salary;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7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Rectangle 257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ectangle 258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0" name="Rectangle 259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1" name="Rectangle 260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2" name="Rectangle 261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3" name="Rectangle 262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4" name="Rectangle 263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5" name="Rectangle 264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6" name="Rectangle 265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7" name="Rectangle 266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8" name="Rectangle 267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9" name="Rectangle 268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ectangle 269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1" name="Rectangle 270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2" name="Rectangle 271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ectangle 272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ounded Rectangle 120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5" name="TextBox 52"/>
          <p:cNvSpPr/>
          <p:nvPr/>
        </p:nvSpPr>
        <p:spPr>
          <a:xfrm>
            <a:off x="3572280" y="550800"/>
            <a:ext cx="3826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Modifiers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TextBox 53"/>
          <p:cNvSpPr/>
          <p:nvPr/>
        </p:nvSpPr>
        <p:spPr>
          <a:xfrm>
            <a:off x="1828800" y="1388880"/>
            <a:ext cx="74908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Identifiers are the names given to Java elements such as classes, variables,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and methods.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Rounded Rectangle 121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ounded Rectangle 122"/>
          <p:cNvSpPr/>
          <p:nvPr/>
        </p:nvSpPr>
        <p:spPr>
          <a:xfrm>
            <a:off x="685800" y="2286000"/>
            <a:ext cx="3518280" cy="4343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Modifiers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Modifiers define access level and behavior of classes, methods, and variables.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They control: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Visibility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Inheritance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Mutability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Method overriding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Access Modifiers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public → Accessible everywhere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private → Only inside the class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protected → Package + subclasses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default → Same package only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Non-Access Modifiers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final → Cannot be changed / overridden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abstract → Must be implemented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static → Belongs to the class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volatile → Ensures memory visibility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9" name="Rounded Rectangle 123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ounded Rectangle 124"/>
          <p:cNvSpPr/>
          <p:nvPr/>
        </p:nvSpPr>
        <p:spPr>
          <a:xfrm>
            <a:off x="4434840" y="2286000"/>
            <a:ext cx="3289680" cy="4114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Modifiers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ACCESS MODIFIERS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public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private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protected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default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NON-ACCESS MODIFIERS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final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abstract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static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volatile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1" name="Rounded Rectangle 125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ounded Rectangle 126"/>
          <p:cNvSpPr/>
          <p:nvPr/>
        </p:nvSpPr>
        <p:spPr>
          <a:xfrm>
            <a:off x="7955280" y="2743200"/>
            <a:ext cx="3289680" cy="342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Car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private String brand;     // Access modifier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count;  // Non-access modifier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Car(String brand)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this.brand = brand;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count++;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final void displayBrand()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System.out.println("Brand: " + brand);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3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Rectangle 241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ectangle 242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6" name="Rectangle 243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7" name="Rectangle 244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8" name="Rectangle 245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9" name="Rectangle 246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0" name="Rectangle 247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1" name="Rectangle 248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2" name="Rectangle 249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3" name="Rectangle 250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4" name="Rectangle 251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5" name="Rectangle 252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6" name="Rectangle 253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7" name="Rectangle 254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8" name="Rectangle 255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ectangle 256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ounded Rectangle 113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1" name="TextBox 49"/>
          <p:cNvSpPr/>
          <p:nvPr/>
        </p:nvSpPr>
        <p:spPr>
          <a:xfrm>
            <a:off x="3630240" y="1005840"/>
            <a:ext cx="37101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TextBox 50"/>
          <p:cNvSpPr/>
          <p:nvPr/>
        </p:nvSpPr>
        <p:spPr>
          <a:xfrm>
            <a:off x="2311200" y="2013840"/>
            <a:ext cx="63482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Variables are named memory locations used to store data.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Each variable has a data type and determines how information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is stored, accessed, and manipulated within a program.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Rounded Rectangle 114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ounded Rectangle 115"/>
          <p:cNvSpPr/>
          <p:nvPr/>
        </p:nvSpPr>
        <p:spPr>
          <a:xfrm>
            <a:off x="91440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Types of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Declared inside methods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Exists only during method execution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Declared inside class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Belongs to each object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Declared with static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Shared among all objects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5" name="Rounded Rectangle 116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ounded Rectangle 117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 Categories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int, double, char, boolean, long, float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String, Arrays, Objects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7" name="Rounded Rectangle 118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ounded Rectangle 119"/>
          <p:cNvSpPr/>
          <p:nvPr/>
        </p:nvSpPr>
        <p:spPr>
          <a:xfrm>
            <a:off x="7955280" y="2971800"/>
            <a:ext cx="3289680" cy="342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Student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name;                 // Instance variable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String school = "Tech University";  // Static variable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display()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20;            // Local variable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System.out.println(name + " - " + age + " - " + school);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9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Rectangle 273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ectangle 274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2" name="Rectangle 275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3" name="Rectangle 276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4" name="Rectangle 277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5" name="Rectangle 278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6" name="Rectangle 279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7" name="Rectangle 280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8" name="Rectangle 281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9" name="Rectangle 282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0" name="Rectangle 283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1" name="Rectangle 284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2" name="Rectangle 285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3" name="Rectangle 286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4" name="Rectangle 287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ectangle 288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ounded Rectangle 127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7" name="TextBox 55"/>
          <p:cNvSpPr/>
          <p:nvPr/>
        </p:nvSpPr>
        <p:spPr>
          <a:xfrm>
            <a:off x="3756960" y="1005840"/>
            <a:ext cx="34578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ENUMS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TextBox 56"/>
          <p:cNvSpPr/>
          <p:nvPr/>
        </p:nvSpPr>
        <p:spPr>
          <a:xfrm>
            <a:off x="955800" y="1828800"/>
            <a:ext cx="10017000" cy="95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enum (short for Enumeration) is a special data type in Java used to define a fixed set of constants.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It is part of Java syntax because it defines a new type, just like class, int, or String.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Enums help make programs safer and more readable by restricting values to predefined constants.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9" name="Rounded Rectangle 128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ounded Rectangle 129"/>
          <p:cNvSpPr/>
          <p:nvPr/>
        </p:nvSpPr>
        <p:spPr>
          <a:xfrm>
            <a:off x="685800" y="2971800"/>
            <a:ext cx="3519360" cy="3657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What is an Enum?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 special reference type.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Used to represent a group of fixed constants.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Defined using the enum keyword.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type safety.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Why Do We Use Enums?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Using a normal String: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String day = "MONDA";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This compiles, but it is wrong.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br>
              <a:rPr sz="1200"/>
            </a:b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Day day = Day.MONDAY;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br>
              <a:rPr sz="1200"/>
            </a:b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If you write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MONDA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, the compiler gives an error.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That means enums prevent invalid values at compile time.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1" name="Rounded Rectangle 130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ounded Rectangle 131"/>
          <p:cNvSpPr/>
          <p:nvPr/>
        </p:nvSpPr>
        <p:spPr>
          <a:xfrm>
            <a:off x="443484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1. enum is defined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2. Java creates constant objects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3. Access using EnumName.VALUE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4. Only defined values are allowed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3" name="Rounded Rectangle 132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ounded Rectangle 133"/>
          <p:cNvSpPr/>
          <p:nvPr/>
        </p:nvSpPr>
        <p:spPr>
          <a:xfrm>
            <a:off x="795528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enum Level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LOW,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MEDIUM,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HIGH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Test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Level myLevel = Level.MEDIUM;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System.out.println(myLevel);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5" name="TextBox 57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388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2026-02-22T17:05:30Z</dcterms:modified>
  <cp:revision>34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