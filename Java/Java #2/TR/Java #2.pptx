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107.xml.rels" ContentType="application/vnd.openxmlformats-package.relationships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</p:sld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617425F-BF75-4336-B198-2EAA74198FD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3AA5726-A82F-4518-A9A6-FAB25522BB6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930EDAA-B77F-4015-A132-35303A7012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F245A01-EE92-4BB9-B3B4-C139A18945E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F79F993-7ADF-44AA-BB96-A94D00469FC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804EA69-9E95-44CE-91B9-C983592D178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20301E6-56E4-4894-B337-49C46A0B6C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00A3EE0-9171-4643-B535-2FCA9E4269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FC59FF7-6EF3-4552-92EF-A9C26937C48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D6E9C19-6D4F-40B0-8AF8-ECB32AF14FD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70034E5-73E1-47FA-8902-DAC9757CE09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86DDB01-0F6A-460B-AEF7-5E2F9E91A52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198B0F8-7E14-4D16-A973-7C9C013FB6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31D4675-E6FA-45ED-BFBA-D32D530D86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C56FC4D-93B7-40DC-9C0E-48DC712470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6AFE744-A9E0-4598-83B5-B67C0FA8D1E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1FB22D1-0C45-4E4E-9189-6D4854D623C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397D2CB-A169-4222-AD19-C86967F4D5F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B10943C-F32B-43E8-9A6D-1F17FF208E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20DFA77-5385-4B71-8B5D-BDBE650E524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ABB351F-1452-4DC5-A597-2358276C39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3F93B16-70F1-4BE0-A4D7-C957C4D4C19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A718E7B-D814-4B88-B918-0073787C8D4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205F439-A8F7-4B28-82C0-EB593AB2A12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DA2A688-09CC-4A44-A2AC-A431B0330A5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2F7EC8C-F324-4F3A-B867-0F1026074D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06F9C89-F889-4041-AD0E-246FC5DCE9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F5990C0-ECCA-4F3D-9E5F-2B2F032EC37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DA4FF97-1E52-41F2-865C-814BBF7E307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E9CB8C0-526C-4A60-9FCB-2035B2D12C5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F917B68-D18C-4470-AF53-82B3D2CD62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8CB0A22-B892-4BD9-9FE4-77EB256385B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7DEFCAC-7770-42FC-B7FC-A8C43D94E99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C950A3E-6097-4129-B25F-655CAB4D45D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EE217D1-728A-4F4B-9EBA-7549246A2A8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C378D47-AA71-4A83-B421-4574D214D0E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2684520-EBAD-4D16-BFEE-9425EDD62CA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9869A41-2233-40F8-983F-766C44753B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BEB9AB7-D679-476C-AFA4-0B4AD9593FD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B2FF65E-CAC3-410B-8C8F-AC94E42D16D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49FDAB9-80E9-4FF1-84D9-692E162920A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401991D-1EB2-48B6-8EB1-E4205328052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1998388-E9A9-4C61-A988-CBDF6083A9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3E0E6FE-C5B1-4975-B770-1E4F9E9C04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AE85BA4-9934-4075-AA6E-571367041D7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85EC51E-A177-4127-AD5D-D244ECFCDC1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18EFCC4-DB65-4601-8895-B76D0C033A0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9C77A2D-2AB1-4ED8-92A8-58B7F94E3D7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48CEC2E9-E0ED-47E8-9615-DD6908176F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45297ECE-6016-4058-B319-CAF0A3F679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5FDA929-DBD0-4A06-A37D-25023772A3F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5462939A-4082-4051-861A-F1A234BA84F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05CBD4C-9B0B-4233-9211-65F01A12F3A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F2D5E9BA-4EA1-4A42-AEA3-3E10D5EF926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C4D1A1B4-E1BF-4EA6-8200-A54AE52AF5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0EFEE4E1-150D-47A3-9775-9ABDC7E6608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550D6D6B-46F5-4709-A4C1-6ED43B340F1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37A2BBF-ED86-410B-A881-727B39BF946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0375BB79-D8D1-4E5D-AB26-F080A40D931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369EF77B-2FA4-4616-A8FC-1864F1171C1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7DFB8146-B51C-4746-9222-6471C44DB5D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75DDDC2B-3532-44BA-A752-793E180F9B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7E00DF17-9DB6-447C-937B-84A86909F5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ABDEEE6B-8CD0-441F-ADED-1786C857F14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81741BAC-BA53-4678-B6C4-4C700954B7A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F7767662-53D8-4AD5-8E5A-04D8A4AD582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E2565397-E102-470D-871B-210D84508FB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982060E-7112-498F-9E03-06ACEA35680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40B5EE2-E130-422D-AD5C-E453274851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958B186-9A0E-40E0-A143-EACCFDAEC11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866C3C1-6C42-49B6-948A-4CC275BB09A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2AEF5E00-9C92-4560-994C-E2FED1D4D65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D7EF2771-FD34-4F2D-962D-63949147864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69581024-F281-4B1B-972D-2803D48F945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4A40145A-B42B-4BFF-BA69-D723773FB2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C30E8741-4F12-44BF-B09F-19CBF8D3231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29A215F4-5492-4BEB-819E-532573ED365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FBD9041A-A9AD-4591-ADF5-92A7E022DD6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74D814BC-B53E-49BF-AF03-08C2E06EB90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6CB10EC5-B9BB-4A69-A4DC-C2AF99154B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B575E6C1-E2C6-4B38-8EA6-8985332F68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CBC4CE04-DE99-482C-9660-655972E38F0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B98287EE-DDAD-4904-B2BE-12CF9A60D18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1D4282A9-B52B-4553-868C-6C4CE4AC668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A0AE5A09-54B3-4C6E-9B9A-506150CD5C6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93FB6186-338B-4B72-882A-60929A327D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21588659-1084-4631-8CDB-E99F0F8C58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4B39DC31-30E4-45EF-B045-D8AFEFA42F3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A7404799-F2F5-4283-BDA9-86885043F7D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A4BE6C5A-9EDE-42E6-BE8B-DB8A310076B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3B548767-B7D6-4F0F-91E7-2A6E4E7229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9778D599-3CC0-481E-800A-0891C18E8C0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16BC69D7-830E-4AAA-ADF9-0822B1C693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4775235E-BA31-4267-AE49-8B4CF4A9BBB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F2AAE544-CBCB-4748-8C5B-2279211B8D5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B88E3A72-9583-4EA8-B9DB-C337BE22899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33B8EB7E-2121-4A34-812C-BF23B8AE3A3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CFF83524-6A47-4C8D-A067-F636F0F9706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DCCC669B-9E09-4A6D-AABD-77E6BD959E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6311A9F8-15AB-4026-A30C-83D2293A220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C072A6BC-412A-45F3-AA86-06879F1517D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EE447B2E-3A67-447E-89DB-0CC3AEF842D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A2D1007F-3B54-4293-A73C-9316FCBD8CD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C5512FDD-7766-49B9-B8B5-D285ECB87E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C7B73783-9DCC-4CF3-90FF-CE631B282F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38DBBFED-132C-4B0F-9E70-F4674F947A6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714FF738-4A16-4F23-9734-8BCAC0D86E4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0595F52E-E523-4EC2-B7A6-9D7477274A2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96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9.xml"/><Relationship Id="rId5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2.xml"/><Relationship Id="rId8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07.xml"/><Relationship Id="rId13" Type="http://schemas.openxmlformats.org/officeDocument/2006/relationships/slideLayout" Target="../slideLayouts/slideLayout10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88640" cy="3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26880" cy="3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07DAF6E-4452-4854-B291-2FB815F1F0B8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26880" cy="3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88640" cy="3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26880" cy="3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643F07E-2FC3-4D7D-AEB0-12CDDF0F57C5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26880" cy="3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89360" cy="35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3984D34-9E35-41B2-92B7-9A21A84BA615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89720" cy="35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FBA92F1-BC2C-4E4E-B524-678D904C9DFA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0080" cy="35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28320" cy="35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7A38474-61F4-4173-8913-9A8790F78078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28320" cy="35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152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2976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92A7B4D-5557-43CB-9258-9274A7263457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2976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98365B2-452B-4DFA-BB65-F484458DD349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8744659-6704-4ACC-AF30-A855118D417D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173FE94-F86E-41CC-A4E7-D796296980EB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Rectangle 1"/>
          <p:cNvSpPr/>
          <p:nvPr/>
        </p:nvSpPr>
        <p:spPr>
          <a:xfrm>
            <a:off x="0" y="0"/>
            <a:ext cx="12182040" cy="685116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0" name="Rectangle 2"/>
          <p:cNvSpPr/>
          <p:nvPr/>
        </p:nvSpPr>
        <p:spPr>
          <a:xfrm>
            <a:off x="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1" name="Rectangle 3"/>
          <p:cNvSpPr/>
          <p:nvPr/>
        </p:nvSpPr>
        <p:spPr>
          <a:xfrm>
            <a:off x="9144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2" name="Rectangle 4"/>
          <p:cNvSpPr/>
          <p:nvPr/>
        </p:nvSpPr>
        <p:spPr>
          <a:xfrm>
            <a:off x="18288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3" name="Rectangle 5"/>
          <p:cNvSpPr/>
          <p:nvPr/>
        </p:nvSpPr>
        <p:spPr>
          <a:xfrm>
            <a:off x="27432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4" name="Rectangle 6"/>
          <p:cNvSpPr/>
          <p:nvPr/>
        </p:nvSpPr>
        <p:spPr>
          <a:xfrm>
            <a:off x="36576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5" name="Rectangle 7"/>
          <p:cNvSpPr/>
          <p:nvPr/>
        </p:nvSpPr>
        <p:spPr>
          <a:xfrm>
            <a:off x="45720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6" name="Rectangle 8"/>
          <p:cNvSpPr/>
          <p:nvPr/>
        </p:nvSpPr>
        <p:spPr>
          <a:xfrm>
            <a:off x="54864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7" name="Rectangle 9"/>
          <p:cNvSpPr/>
          <p:nvPr/>
        </p:nvSpPr>
        <p:spPr>
          <a:xfrm>
            <a:off x="64008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8" name="Rectangle 10"/>
          <p:cNvSpPr/>
          <p:nvPr/>
        </p:nvSpPr>
        <p:spPr>
          <a:xfrm>
            <a:off x="73152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9" name="Rectangle 11"/>
          <p:cNvSpPr/>
          <p:nvPr/>
        </p:nvSpPr>
        <p:spPr>
          <a:xfrm>
            <a:off x="82296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0" name="Rectangle 12"/>
          <p:cNvSpPr/>
          <p:nvPr/>
        </p:nvSpPr>
        <p:spPr>
          <a:xfrm>
            <a:off x="91440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1" name="Rectangle 13"/>
          <p:cNvSpPr/>
          <p:nvPr/>
        </p:nvSpPr>
        <p:spPr>
          <a:xfrm>
            <a:off x="100584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2" name="Rectangle 14"/>
          <p:cNvSpPr/>
          <p:nvPr/>
        </p:nvSpPr>
        <p:spPr>
          <a:xfrm>
            <a:off x="109728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3" name="Rectangle 15"/>
          <p:cNvSpPr/>
          <p:nvPr/>
        </p:nvSpPr>
        <p:spPr>
          <a:xfrm>
            <a:off x="118872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4" name="Rectangle 16"/>
          <p:cNvSpPr/>
          <p:nvPr/>
        </p:nvSpPr>
        <p:spPr>
          <a:xfrm>
            <a:off x="0" y="0"/>
            <a:ext cx="313200" cy="685116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5" name="Rounded Rectangle 17"/>
          <p:cNvSpPr/>
          <p:nvPr/>
        </p:nvSpPr>
        <p:spPr>
          <a:xfrm>
            <a:off x="9875520" y="365760"/>
            <a:ext cx="2004840" cy="49608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TEMELLERİ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TextBox 18"/>
          <p:cNvSpPr/>
          <p:nvPr/>
        </p:nvSpPr>
        <p:spPr>
          <a:xfrm>
            <a:off x="1730160" y="1005840"/>
            <a:ext cx="75099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JAVA SANAL MAKİNESİ (JVM)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Box 19"/>
          <p:cNvSpPr/>
          <p:nvPr/>
        </p:nvSpPr>
        <p:spPr>
          <a:xfrm>
            <a:off x="3707640" y="2057400"/>
            <a:ext cx="355536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Java programlarını çalıştıran motor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Rounded Rectangle 20"/>
          <p:cNvSpPr/>
          <p:nvPr/>
        </p:nvSpPr>
        <p:spPr>
          <a:xfrm>
            <a:off x="987480" y="3182040"/>
            <a:ext cx="3285000" cy="27363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9" name="Rounded Rectangle 21"/>
          <p:cNvSpPr/>
          <p:nvPr/>
        </p:nvSpPr>
        <p:spPr>
          <a:xfrm>
            <a:off x="685800" y="2521440"/>
            <a:ext cx="3423240" cy="33238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Java Sanal Makinesi (JVM), Java bytecode’unu çalıştıran sanal bir çalışma zamanı motorudur.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✔ </a:t>
            </a: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Java programlarının herhangi bir platformda çalışmasına olanak sağlar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✔ </a:t>
            </a: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Java kodu makine koduna değil, bytecode’a derlenir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✔ </a:t>
            </a: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JVM, bytecode’u makineye özgü talimatlara çevirir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JVM’in Sorumlulukları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Platform bağımsızlığı (Bir Kez Yaz, Her Yerde Çalıştır)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Bytecode’un çalıştırılması (Yorumlayıcı + JIT Derleyici)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Otomatik bellek yönetimi (Çöp Toplama / Garbage Collection)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Kontrollü bir çalışma ortamı sayesinde güvenlik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👉 </a:t>
            </a: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JVM, Java programları ile işletim sistemi arasında bir köprü görevi görür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Rounded Rectangle 22"/>
          <p:cNvSpPr/>
          <p:nvPr/>
        </p:nvSpPr>
        <p:spPr>
          <a:xfrm>
            <a:off x="4507920" y="3182040"/>
            <a:ext cx="3285000" cy="27363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1" name="Rounded Rectangle 23"/>
          <p:cNvSpPr/>
          <p:nvPr/>
        </p:nvSpPr>
        <p:spPr>
          <a:xfrm>
            <a:off x="4434840" y="3108960"/>
            <a:ext cx="3285000" cy="27363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Java Kaynak Kodu (.java)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     ⬇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Java Derleyicisi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     ⬇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Bytecode (.class)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     ⬇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JVM (Yorumlayıcı + JIT)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     ⬇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İşletim Sistemi / CPU için Makine Kodu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Rounded Rectangle 24"/>
          <p:cNvSpPr/>
          <p:nvPr/>
        </p:nvSpPr>
        <p:spPr>
          <a:xfrm>
            <a:off x="8028360" y="3182040"/>
            <a:ext cx="3285000" cy="27363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3" name="Rounded Rectangle 25"/>
          <p:cNvSpPr/>
          <p:nvPr/>
        </p:nvSpPr>
        <p:spPr>
          <a:xfrm>
            <a:off x="7955280" y="3108960"/>
            <a:ext cx="3285000" cy="27363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Main {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System.out.println("Merhaba, JVM!");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TextBox 26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Rectangle 32"/>
          <p:cNvSpPr/>
          <p:nvPr/>
        </p:nvSpPr>
        <p:spPr>
          <a:xfrm>
            <a:off x="0" y="0"/>
            <a:ext cx="12182040" cy="685116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6" name="Rectangle 33"/>
          <p:cNvSpPr/>
          <p:nvPr/>
        </p:nvSpPr>
        <p:spPr>
          <a:xfrm>
            <a:off x="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7" name="Rectangle 34"/>
          <p:cNvSpPr/>
          <p:nvPr/>
        </p:nvSpPr>
        <p:spPr>
          <a:xfrm>
            <a:off x="9144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8" name="Rectangle 35"/>
          <p:cNvSpPr/>
          <p:nvPr/>
        </p:nvSpPr>
        <p:spPr>
          <a:xfrm>
            <a:off x="18288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9" name="Rectangle 36"/>
          <p:cNvSpPr/>
          <p:nvPr/>
        </p:nvSpPr>
        <p:spPr>
          <a:xfrm>
            <a:off x="27432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0" name="Rectangle 37"/>
          <p:cNvSpPr/>
          <p:nvPr/>
        </p:nvSpPr>
        <p:spPr>
          <a:xfrm>
            <a:off x="36576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1" name="Rectangle 38"/>
          <p:cNvSpPr/>
          <p:nvPr/>
        </p:nvSpPr>
        <p:spPr>
          <a:xfrm>
            <a:off x="45720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2" name="Rectangle 39"/>
          <p:cNvSpPr/>
          <p:nvPr/>
        </p:nvSpPr>
        <p:spPr>
          <a:xfrm>
            <a:off x="54864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3" name="Rectangle 40"/>
          <p:cNvSpPr/>
          <p:nvPr/>
        </p:nvSpPr>
        <p:spPr>
          <a:xfrm>
            <a:off x="64008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4" name="Rectangle 41"/>
          <p:cNvSpPr/>
          <p:nvPr/>
        </p:nvSpPr>
        <p:spPr>
          <a:xfrm>
            <a:off x="73152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5" name="Rectangle 42"/>
          <p:cNvSpPr/>
          <p:nvPr/>
        </p:nvSpPr>
        <p:spPr>
          <a:xfrm>
            <a:off x="82296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6" name="Rectangle 43"/>
          <p:cNvSpPr/>
          <p:nvPr/>
        </p:nvSpPr>
        <p:spPr>
          <a:xfrm>
            <a:off x="91440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7" name="Rectangle 44"/>
          <p:cNvSpPr/>
          <p:nvPr/>
        </p:nvSpPr>
        <p:spPr>
          <a:xfrm>
            <a:off x="100584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8" name="Rectangle 45"/>
          <p:cNvSpPr/>
          <p:nvPr/>
        </p:nvSpPr>
        <p:spPr>
          <a:xfrm>
            <a:off x="109728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9" name="Rectangle 46"/>
          <p:cNvSpPr/>
          <p:nvPr/>
        </p:nvSpPr>
        <p:spPr>
          <a:xfrm>
            <a:off x="11887200" y="0"/>
            <a:ext cx="11520" cy="68511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0" name="Rectangle 47"/>
          <p:cNvSpPr/>
          <p:nvPr/>
        </p:nvSpPr>
        <p:spPr>
          <a:xfrm>
            <a:off x="0" y="0"/>
            <a:ext cx="313200" cy="685116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1" name="Rounded Rectangle 8"/>
          <p:cNvSpPr/>
          <p:nvPr/>
        </p:nvSpPr>
        <p:spPr>
          <a:xfrm>
            <a:off x="9875520" y="365760"/>
            <a:ext cx="2004840" cy="49608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TEMELLERİ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TextBox 4"/>
          <p:cNvSpPr/>
          <p:nvPr/>
        </p:nvSpPr>
        <p:spPr>
          <a:xfrm>
            <a:off x="3660120" y="1005840"/>
            <a:ext cx="364968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JVM Mimarisi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Box 5"/>
          <p:cNvSpPr/>
          <p:nvPr/>
        </p:nvSpPr>
        <p:spPr>
          <a:xfrm>
            <a:off x="3961440" y="2194560"/>
            <a:ext cx="304776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JAVA SANAL MAKİNESİNİN İÇİ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Rounded Rectangle 9"/>
          <p:cNvSpPr/>
          <p:nvPr/>
        </p:nvSpPr>
        <p:spPr>
          <a:xfrm>
            <a:off x="987480" y="3182040"/>
            <a:ext cx="3285000" cy="27363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5" name="Rounded Rectangle 10"/>
          <p:cNvSpPr/>
          <p:nvPr/>
        </p:nvSpPr>
        <p:spPr>
          <a:xfrm>
            <a:off x="914400" y="3108960"/>
            <a:ext cx="3285000" cy="27363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JVM mimarisi, Java programlarını çalıştırmak için birlikte çalışan temel bileşenlerden oluşur.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Class Loader, sınıf dosyalarını belleğe yükler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Runtime Data Areas, çalışma sırasında verileri depolar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Execution Engine, bytecode’u çalıştırır (Yorumlayıcı + JIT)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Garbage Collector, kullanılmayan nesneleri otomatik olarak temizler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Bu bileşenler, Java programlarının işletim sisteminden bağımsız olarak güvenli, verimli ve kararlı şekilde çalışmasını sağlar.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Rounded Rectangle 11"/>
          <p:cNvSpPr/>
          <p:nvPr/>
        </p:nvSpPr>
        <p:spPr>
          <a:xfrm>
            <a:off x="4507920" y="3182040"/>
            <a:ext cx="3285000" cy="27363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7" name="Rounded Rectangle 12"/>
          <p:cNvSpPr/>
          <p:nvPr/>
        </p:nvSpPr>
        <p:spPr>
          <a:xfrm>
            <a:off x="4434840" y="3108960"/>
            <a:ext cx="3285000" cy="27363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Class Loader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Çalışma Zamanı Veri Alanları (Runtime Data Areas)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Çalıştırma Motoru (Yorumlayıcı + JIT)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Çöp Toplayıcı (Garbage Collector)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Rounded Rectangle 13"/>
          <p:cNvSpPr/>
          <p:nvPr/>
        </p:nvSpPr>
        <p:spPr>
          <a:xfrm>
            <a:off x="8028360" y="3182040"/>
            <a:ext cx="3285000" cy="27363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9" name="Rounded Rectangle 14"/>
          <p:cNvSpPr/>
          <p:nvPr/>
        </p:nvSpPr>
        <p:spPr>
          <a:xfrm>
            <a:off x="7955280" y="3108960"/>
            <a:ext cx="3285000" cy="27363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class Demo {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System.out.println("JVM Çalışıyor");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Süreç Akışı: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Yükle ⇒ Belleğe Kaydet ⇒ Çalıştır ⇒ Belleği Temizle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TextBox 6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Rectangle 48"/>
          <p:cNvSpPr/>
          <p:nvPr/>
        </p:nvSpPr>
        <p:spPr>
          <a:xfrm>
            <a:off x="0" y="0"/>
            <a:ext cx="12182760" cy="685188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2" name="Rectangle 17"/>
          <p:cNvSpPr/>
          <p:nvPr/>
        </p:nvSpPr>
        <p:spPr>
          <a:xfrm>
            <a:off x="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3" name="Rectangle 18"/>
          <p:cNvSpPr/>
          <p:nvPr/>
        </p:nvSpPr>
        <p:spPr>
          <a:xfrm>
            <a:off x="9144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4" name="Rectangle 19"/>
          <p:cNvSpPr/>
          <p:nvPr/>
        </p:nvSpPr>
        <p:spPr>
          <a:xfrm>
            <a:off x="18288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5" name="Rectangle 20"/>
          <p:cNvSpPr/>
          <p:nvPr/>
        </p:nvSpPr>
        <p:spPr>
          <a:xfrm>
            <a:off x="27432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6" name="Rectangle 21"/>
          <p:cNvSpPr/>
          <p:nvPr/>
        </p:nvSpPr>
        <p:spPr>
          <a:xfrm>
            <a:off x="36576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7" name="Rectangle 22"/>
          <p:cNvSpPr/>
          <p:nvPr/>
        </p:nvSpPr>
        <p:spPr>
          <a:xfrm>
            <a:off x="45720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8" name="Rectangle 23"/>
          <p:cNvSpPr/>
          <p:nvPr/>
        </p:nvSpPr>
        <p:spPr>
          <a:xfrm>
            <a:off x="54864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9" name="Rectangle 24"/>
          <p:cNvSpPr/>
          <p:nvPr/>
        </p:nvSpPr>
        <p:spPr>
          <a:xfrm>
            <a:off x="64008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0" name="Rectangle 25"/>
          <p:cNvSpPr/>
          <p:nvPr/>
        </p:nvSpPr>
        <p:spPr>
          <a:xfrm>
            <a:off x="73152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1" name="Rectangle 26"/>
          <p:cNvSpPr/>
          <p:nvPr/>
        </p:nvSpPr>
        <p:spPr>
          <a:xfrm>
            <a:off x="82296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2" name="Rectangle 27"/>
          <p:cNvSpPr/>
          <p:nvPr/>
        </p:nvSpPr>
        <p:spPr>
          <a:xfrm>
            <a:off x="91440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3" name="Rectangle 28"/>
          <p:cNvSpPr/>
          <p:nvPr/>
        </p:nvSpPr>
        <p:spPr>
          <a:xfrm>
            <a:off x="100584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4" name="Rectangle 29"/>
          <p:cNvSpPr/>
          <p:nvPr/>
        </p:nvSpPr>
        <p:spPr>
          <a:xfrm>
            <a:off x="109728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5" name="Rectangle 30"/>
          <p:cNvSpPr/>
          <p:nvPr/>
        </p:nvSpPr>
        <p:spPr>
          <a:xfrm>
            <a:off x="118872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6" name="Rectangle 31"/>
          <p:cNvSpPr/>
          <p:nvPr/>
        </p:nvSpPr>
        <p:spPr>
          <a:xfrm>
            <a:off x="0" y="0"/>
            <a:ext cx="313920" cy="685188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7" name="Rounded Rectangle 15"/>
          <p:cNvSpPr/>
          <p:nvPr/>
        </p:nvSpPr>
        <p:spPr>
          <a:xfrm>
            <a:off x="9875520" y="365760"/>
            <a:ext cx="2005560" cy="49680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TextBox 7"/>
          <p:cNvSpPr/>
          <p:nvPr/>
        </p:nvSpPr>
        <p:spPr>
          <a:xfrm>
            <a:off x="1713960" y="1005840"/>
            <a:ext cx="754344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JVM Program Yürütme Süreci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TextBox 8"/>
          <p:cNvSpPr/>
          <p:nvPr/>
        </p:nvSpPr>
        <p:spPr>
          <a:xfrm>
            <a:off x="2170440" y="2194560"/>
            <a:ext cx="66308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JVM’in bir Java programını arka planda adım adım nasıl çalıştırdığı.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Rounded Rectangle 16"/>
          <p:cNvSpPr/>
          <p:nvPr/>
        </p:nvSpPr>
        <p:spPr>
          <a:xfrm>
            <a:off x="987480" y="3182040"/>
            <a:ext cx="3285720" cy="27370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1" name="Rounded Rectangle 18"/>
          <p:cNvSpPr/>
          <p:nvPr/>
        </p:nvSpPr>
        <p:spPr>
          <a:xfrm>
            <a:off x="475560" y="2743200"/>
            <a:ext cx="3724560" cy="31028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Bir Java programı başladığında, JVM akıllı bir yürütme süreci izler.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İlk olarak Class Loader, derlenmiş .class dosyalarını belleğe yükler ve güvenlik açısından kontrol eder.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Daha sonra bellek, Heap (nesneler için) ve Stack (metot çağrıları ve değişkenler için) gibi alanlara ayrılır.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Ardından Execution Engine programı çalıştırır.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Interpreter bytecode’u satır satır okur, JIT Compiler ise sık kullanılan kodları daha hızlı çalışması için makine koduna çevirir.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Son olarak Garbage Collector, kullanılmayan nesneleri bellekten otomatik olarak temizler.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Bu süreç sayesinde Java programları güvenli, verimli bir şekilde ve JVM bulunan her sistemde çalışır.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Rounded Rectangle 19"/>
          <p:cNvSpPr/>
          <p:nvPr/>
        </p:nvSpPr>
        <p:spPr>
          <a:xfrm>
            <a:off x="4507920" y="3182040"/>
            <a:ext cx="3285720" cy="27370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3" name="Rounded Rectangle 26"/>
          <p:cNvSpPr/>
          <p:nvPr/>
        </p:nvSpPr>
        <p:spPr>
          <a:xfrm>
            <a:off x="4343400" y="2918520"/>
            <a:ext cx="3514320" cy="29275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Java Kaynak Kodu (.java)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  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Java Derleyicisi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   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Bytecode (.class)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Class Loader sınıfları yükler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Bellek Tahsisi (Heap / Stack)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Çalıştırma Motoru (Interpreter + JIT)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Yerel Makine Kodu Çalıştırma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Garbage Collector belleği temizler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Rounded Rectangle 27"/>
          <p:cNvSpPr/>
          <p:nvPr/>
        </p:nvSpPr>
        <p:spPr>
          <a:xfrm>
            <a:off x="8028360" y="3182040"/>
            <a:ext cx="3285720" cy="27370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5" name="Rounded Rectangle 28"/>
          <p:cNvSpPr/>
          <p:nvPr/>
        </p:nvSpPr>
        <p:spPr>
          <a:xfrm>
            <a:off x="8023680" y="2743200"/>
            <a:ext cx="3835800" cy="31953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ExecutionDemo {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String mesaj = "JVM Yürütme Başladı";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System.out.println(mesaj);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int sonuc = sayilariTopla(5, 7);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System.out.println("Sonuç: " + sonuc);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int sayilariTopla(int sayi1, int sayi2) {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return sayi1 + sayi2;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TextBox 9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Rectangle 64"/>
          <p:cNvSpPr/>
          <p:nvPr/>
        </p:nvSpPr>
        <p:spPr>
          <a:xfrm>
            <a:off x="0" y="0"/>
            <a:ext cx="12183120" cy="685224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8" name="Rectangle 49"/>
          <p:cNvSpPr/>
          <p:nvPr/>
        </p:nvSpPr>
        <p:spPr>
          <a:xfrm>
            <a:off x="0" y="0"/>
            <a:ext cx="12600" cy="6852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9" name="Rectangle 50"/>
          <p:cNvSpPr/>
          <p:nvPr/>
        </p:nvSpPr>
        <p:spPr>
          <a:xfrm>
            <a:off x="914400" y="0"/>
            <a:ext cx="12600" cy="6852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0" name="Rectangle 51"/>
          <p:cNvSpPr/>
          <p:nvPr/>
        </p:nvSpPr>
        <p:spPr>
          <a:xfrm>
            <a:off x="1828800" y="0"/>
            <a:ext cx="12600" cy="6852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1" name="Rectangle 52"/>
          <p:cNvSpPr/>
          <p:nvPr/>
        </p:nvSpPr>
        <p:spPr>
          <a:xfrm>
            <a:off x="2743200" y="0"/>
            <a:ext cx="12600" cy="6852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2" name="Rectangle 53"/>
          <p:cNvSpPr/>
          <p:nvPr/>
        </p:nvSpPr>
        <p:spPr>
          <a:xfrm>
            <a:off x="3657600" y="0"/>
            <a:ext cx="12600" cy="6852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3" name="Rectangle 54"/>
          <p:cNvSpPr/>
          <p:nvPr/>
        </p:nvSpPr>
        <p:spPr>
          <a:xfrm>
            <a:off x="4572000" y="0"/>
            <a:ext cx="12600" cy="6852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4" name="Rectangle 55"/>
          <p:cNvSpPr/>
          <p:nvPr/>
        </p:nvSpPr>
        <p:spPr>
          <a:xfrm>
            <a:off x="5486400" y="0"/>
            <a:ext cx="12600" cy="6852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5" name="Rectangle 56"/>
          <p:cNvSpPr/>
          <p:nvPr/>
        </p:nvSpPr>
        <p:spPr>
          <a:xfrm>
            <a:off x="6400800" y="0"/>
            <a:ext cx="12600" cy="6852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6" name="Rectangle 57"/>
          <p:cNvSpPr/>
          <p:nvPr/>
        </p:nvSpPr>
        <p:spPr>
          <a:xfrm>
            <a:off x="7315200" y="0"/>
            <a:ext cx="12600" cy="6852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7" name="Rectangle 58"/>
          <p:cNvSpPr/>
          <p:nvPr/>
        </p:nvSpPr>
        <p:spPr>
          <a:xfrm>
            <a:off x="8229600" y="0"/>
            <a:ext cx="12600" cy="6852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8" name="Rectangle 59"/>
          <p:cNvSpPr/>
          <p:nvPr/>
        </p:nvSpPr>
        <p:spPr>
          <a:xfrm>
            <a:off x="9144000" y="0"/>
            <a:ext cx="12600" cy="6852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9" name="Rectangle 60"/>
          <p:cNvSpPr/>
          <p:nvPr/>
        </p:nvSpPr>
        <p:spPr>
          <a:xfrm>
            <a:off x="10058400" y="0"/>
            <a:ext cx="12600" cy="6852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0" name="Rectangle 61"/>
          <p:cNvSpPr/>
          <p:nvPr/>
        </p:nvSpPr>
        <p:spPr>
          <a:xfrm>
            <a:off x="10972800" y="0"/>
            <a:ext cx="12600" cy="6852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1" name="Rectangle 62"/>
          <p:cNvSpPr/>
          <p:nvPr/>
        </p:nvSpPr>
        <p:spPr>
          <a:xfrm>
            <a:off x="11887200" y="0"/>
            <a:ext cx="12600" cy="6852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2" name="Rectangle 63"/>
          <p:cNvSpPr/>
          <p:nvPr/>
        </p:nvSpPr>
        <p:spPr>
          <a:xfrm>
            <a:off x="0" y="0"/>
            <a:ext cx="314280" cy="685224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3" name="Rounded Rectangle 29"/>
          <p:cNvSpPr/>
          <p:nvPr/>
        </p:nvSpPr>
        <p:spPr>
          <a:xfrm>
            <a:off x="9875520" y="365760"/>
            <a:ext cx="2005920" cy="49716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TextBox 10"/>
          <p:cNvSpPr/>
          <p:nvPr/>
        </p:nvSpPr>
        <p:spPr>
          <a:xfrm>
            <a:off x="3163320" y="1005840"/>
            <a:ext cx="464508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JRE vs JDK vs JVM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TextBox 11"/>
          <p:cNvSpPr/>
          <p:nvPr/>
        </p:nvSpPr>
        <p:spPr>
          <a:xfrm>
            <a:off x="3609720" y="2194560"/>
            <a:ext cx="375048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Java’nın Temel Bileşenlerini Anlamak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Rounded Rectangle 30"/>
          <p:cNvSpPr/>
          <p:nvPr/>
        </p:nvSpPr>
        <p:spPr>
          <a:xfrm>
            <a:off x="987480" y="3182040"/>
            <a:ext cx="3286080" cy="27374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7" name="Rounded Rectangle 31"/>
          <p:cNvSpPr/>
          <p:nvPr/>
        </p:nvSpPr>
        <p:spPr>
          <a:xfrm>
            <a:off x="685800" y="2971800"/>
            <a:ext cx="3514680" cy="31957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Java, uygulamaları geliştirmek ve çalıştırmak için birlikte çalışan üç temel katmandan oluşur.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✔ </a:t>
            </a: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JVM (Java Sanal Makinesi)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Java bytecode’u çalıştırır ve Java’yı platformdan bağımsız hale getirir.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✔ </a:t>
            </a: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JRE (Java Çalışma Ortamı)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Java uygulamalarını çalıştırmak için gereken her şeyi sağlar.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✔ </a:t>
            </a: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JDK (Java Geliştirme Kiti)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Java uygulamaları geliştirmek için gerekli araçları sağlar.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Şöyle düşünebilirsin: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JVM = Motor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JRE = Motor + Yakıt Sistemi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JDK = Tüm Arabanın Üretildiği Fabrika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Rounded Rectangle 32"/>
          <p:cNvSpPr/>
          <p:nvPr/>
        </p:nvSpPr>
        <p:spPr>
          <a:xfrm>
            <a:off x="4507920" y="3182040"/>
            <a:ext cx="3286080" cy="27374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9" name="Rounded Rectangle 33"/>
          <p:cNvSpPr/>
          <p:nvPr/>
        </p:nvSpPr>
        <p:spPr>
          <a:xfrm>
            <a:off x="4434840" y="3108960"/>
            <a:ext cx="3286080" cy="27374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Java Kaynak Kodu (.java)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JDK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(Derleyici + Geliştirme Araçları)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Bytecode (.class dosyaları)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JRE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(Kütüphaneler + JVM)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JVM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(Çalıştırma Motoru)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Makine Kodu (İşletim Sistemi / CPU)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Rounded Rectangle 34"/>
          <p:cNvSpPr/>
          <p:nvPr/>
        </p:nvSpPr>
        <p:spPr>
          <a:xfrm>
            <a:off x="8028360" y="3182040"/>
            <a:ext cx="3286080" cy="27374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1" name="Rounded Rectangle 35"/>
          <p:cNvSpPr/>
          <p:nvPr/>
        </p:nvSpPr>
        <p:spPr>
          <a:xfrm>
            <a:off x="7955280" y="3108960"/>
            <a:ext cx="3286080" cy="27374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# JDK ile derleme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javac Main.java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# JRE üzerinden çalıştırma (arka planda JVM kullanılır)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java Main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Main 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System.out.println("JDK, JRE ve JVM’i Anlıyoruz!");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TextBox 12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Rectangle 80"/>
          <p:cNvSpPr/>
          <p:nvPr/>
        </p:nvSpPr>
        <p:spPr>
          <a:xfrm>
            <a:off x="0" y="0"/>
            <a:ext cx="12183480" cy="68526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4" name="Rectangle 65"/>
          <p:cNvSpPr/>
          <p:nvPr/>
        </p:nvSpPr>
        <p:spPr>
          <a:xfrm>
            <a:off x="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5" name="Rectangle 66"/>
          <p:cNvSpPr/>
          <p:nvPr/>
        </p:nvSpPr>
        <p:spPr>
          <a:xfrm>
            <a:off x="9144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6" name="Rectangle 67"/>
          <p:cNvSpPr/>
          <p:nvPr/>
        </p:nvSpPr>
        <p:spPr>
          <a:xfrm>
            <a:off x="18288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7" name="Rectangle 68"/>
          <p:cNvSpPr/>
          <p:nvPr/>
        </p:nvSpPr>
        <p:spPr>
          <a:xfrm>
            <a:off x="27432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8" name="Rectangle 69"/>
          <p:cNvSpPr/>
          <p:nvPr/>
        </p:nvSpPr>
        <p:spPr>
          <a:xfrm>
            <a:off x="36576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9" name="Rectangle 70"/>
          <p:cNvSpPr/>
          <p:nvPr/>
        </p:nvSpPr>
        <p:spPr>
          <a:xfrm>
            <a:off x="45720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0" name="Rectangle 71"/>
          <p:cNvSpPr/>
          <p:nvPr/>
        </p:nvSpPr>
        <p:spPr>
          <a:xfrm>
            <a:off x="54864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1" name="Rectangle 72"/>
          <p:cNvSpPr/>
          <p:nvPr/>
        </p:nvSpPr>
        <p:spPr>
          <a:xfrm>
            <a:off x="64008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2" name="Rectangle 73"/>
          <p:cNvSpPr/>
          <p:nvPr/>
        </p:nvSpPr>
        <p:spPr>
          <a:xfrm>
            <a:off x="73152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3" name="Rectangle 74"/>
          <p:cNvSpPr/>
          <p:nvPr/>
        </p:nvSpPr>
        <p:spPr>
          <a:xfrm>
            <a:off x="82296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4" name="Rectangle 75"/>
          <p:cNvSpPr/>
          <p:nvPr/>
        </p:nvSpPr>
        <p:spPr>
          <a:xfrm>
            <a:off x="91440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5" name="Rectangle 76"/>
          <p:cNvSpPr/>
          <p:nvPr/>
        </p:nvSpPr>
        <p:spPr>
          <a:xfrm>
            <a:off x="100584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6" name="Rectangle 77"/>
          <p:cNvSpPr/>
          <p:nvPr/>
        </p:nvSpPr>
        <p:spPr>
          <a:xfrm>
            <a:off x="109728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7" name="Rectangle 78"/>
          <p:cNvSpPr/>
          <p:nvPr/>
        </p:nvSpPr>
        <p:spPr>
          <a:xfrm>
            <a:off x="118872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8" name="Rectangle 79"/>
          <p:cNvSpPr/>
          <p:nvPr/>
        </p:nvSpPr>
        <p:spPr>
          <a:xfrm>
            <a:off x="0" y="0"/>
            <a:ext cx="314640" cy="68526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9" name="Rounded Rectangle 36"/>
          <p:cNvSpPr/>
          <p:nvPr/>
        </p:nvSpPr>
        <p:spPr>
          <a:xfrm>
            <a:off x="9875520" y="365760"/>
            <a:ext cx="2006280" cy="4975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TextBox 13"/>
          <p:cNvSpPr/>
          <p:nvPr/>
        </p:nvSpPr>
        <p:spPr>
          <a:xfrm>
            <a:off x="2175120" y="1005840"/>
            <a:ext cx="662004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JAVA ORTAM KURULUMU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TextBox 14"/>
          <p:cNvSpPr/>
          <p:nvPr/>
        </p:nvSpPr>
        <p:spPr>
          <a:xfrm>
            <a:off x="2093040" y="2194560"/>
            <a:ext cx="678456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Java programlarını derlemek ve çalıştırmak için sistemi hazırlar.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Bunu, JDK’yı kurarak ve sistem değişkenlerini yapılandırarak yaparız.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Rounded Rectangle 37"/>
          <p:cNvSpPr/>
          <p:nvPr/>
        </p:nvSpPr>
        <p:spPr>
          <a:xfrm>
            <a:off x="987480" y="318204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3" name="Rounded Rectangle 38"/>
          <p:cNvSpPr/>
          <p:nvPr/>
        </p:nvSpPr>
        <p:spPr>
          <a:xfrm>
            <a:off x="914400" y="310896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JDK (Java Development Kit) derleyici (javac) ve çalıştırma ortamını (java) içerir.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PATH ve JAVA_HOME gibi sistem değişkenleri, komut satırının Java’yı bulmasını sağlar.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Doğru kurulum sayesinde Java programları sistemin her yerinden derlenip çalıştırılabilir.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Rounded Rectangle 39"/>
          <p:cNvSpPr/>
          <p:nvPr/>
        </p:nvSpPr>
        <p:spPr>
          <a:xfrm>
            <a:off x="4507920" y="318204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5" name="Rounded Rectangle 40"/>
          <p:cNvSpPr/>
          <p:nvPr/>
        </p:nvSpPr>
        <p:spPr>
          <a:xfrm>
            <a:off x="4434840" y="310896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JDK’yı indir →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Bilgisayarına kur →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JAVA_HOME ayarla →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JDK bin klasörünü PATH değişkenine ekle →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Terminalden doğrula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Rounded Rectangle 41"/>
          <p:cNvSpPr/>
          <p:nvPr/>
        </p:nvSpPr>
        <p:spPr>
          <a:xfrm>
            <a:off x="8028360" y="318204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7" name="Rounded Rectangle 42"/>
          <p:cNvSpPr/>
          <p:nvPr/>
        </p:nvSpPr>
        <p:spPr>
          <a:xfrm>
            <a:off x="7955280" y="310896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Komut İstemine şunları yaz: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java -version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javac -version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" name="TextBox 15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Rectangle 81"/>
          <p:cNvSpPr/>
          <p:nvPr/>
        </p:nvSpPr>
        <p:spPr>
          <a:xfrm>
            <a:off x="0" y="0"/>
            <a:ext cx="12183480" cy="68526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0" name="Rectangle 82"/>
          <p:cNvSpPr/>
          <p:nvPr/>
        </p:nvSpPr>
        <p:spPr>
          <a:xfrm>
            <a:off x="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1" name="Rectangle 83"/>
          <p:cNvSpPr/>
          <p:nvPr/>
        </p:nvSpPr>
        <p:spPr>
          <a:xfrm>
            <a:off x="9144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2" name="Rectangle 84"/>
          <p:cNvSpPr/>
          <p:nvPr/>
        </p:nvSpPr>
        <p:spPr>
          <a:xfrm>
            <a:off x="18288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3" name="Rectangle 85"/>
          <p:cNvSpPr/>
          <p:nvPr/>
        </p:nvSpPr>
        <p:spPr>
          <a:xfrm>
            <a:off x="27432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4" name="Rectangle 86"/>
          <p:cNvSpPr/>
          <p:nvPr/>
        </p:nvSpPr>
        <p:spPr>
          <a:xfrm>
            <a:off x="36576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5" name="Rectangle 87"/>
          <p:cNvSpPr/>
          <p:nvPr/>
        </p:nvSpPr>
        <p:spPr>
          <a:xfrm>
            <a:off x="45720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6" name="Rectangle 88"/>
          <p:cNvSpPr/>
          <p:nvPr/>
        </p:nvSpPr>
        <p:spPr>
          <a:xfrm>
            <a:off x="54864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7" name="Rectangle 89"/>
          <p:cNvSpPr/>
          <p:nvPr/>
        </p:nvSpPr>
        <p:spPr>
          <a:xfrm>
            <a:off x="64008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8" name="Rectangle 90"/>
          <p:cNvSpPr/>
          <p:nvPr/>
        </p:nvSpPr>
        <p:spPr>
          <a:xfrm>
            <a:off x="73152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9" name="Rectangle 91"/>
          <p:cNvSpPr/>
          <p:nvPr/>
        </p:nvSpPr>
        <p:spPr>
          <a:xfrm>
            <a:off x="82296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0" name="Rectangle 92"/>
          <p:cNvSpPr/>
          <p:nvPr/>
        </p:nvSpPr>
        <p:spPr>
          <a:xfrm>
            <a:off x="91440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1" name="Rectangle 93"/>
          <p:cNvSpPr/>
          <p:nvPr/>
        </p:nvSpPr>
        <p:spPr>
          <a:xfrm>
            <a:off x="100584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2" name="Rectangle 94"/>
          <p:cNvSpPr/>
          <p:nvPr/>
        </p:nvSpPr>
        <p:spPr>
          <a:xfrm>
            <a:off x="109728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3" name="Rectangle 95"/>
          <p:cNvSpPr/>
          <p:nvPr/>
        </p:nvSpPr>
        <p:spPr>
          <a:xfrm>
            <a:off x="118872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4" name="Rectangle 96"/>
          <p:cNvSpPr/>
          <p:nvPr/>
        </p:nvSpPr>
        <p:spPr>
          <a:xfrm>
            <a:off x="0" y="0"/>
            <a:ext cx="314640" cy="68526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5" name="Rounded Rectangle 43"/>
          <p:cNvSpPr/>
          <p:nvPr/>
        </p:nvSpPr>
        <p:spPr>
          <a:xfrm>
            <a:off x="9875520" y="365760"/>
            <a:ext cx="2006280" cy="4975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" name="TextBox 16"/>
          <p:cNvSpPr/>
          <p:nvPr/>
        </p:nvSpPr>
        <p:spPr>
          <a:xfrm>
            <a:off x="1023840" y="1005840"/>
            <a:ext cx="8922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5f5f5"/>
                </a:solidFill>
                <a:latin typeface="Calibri"/>
                <a:ea typeface="DejaVu Sans"/>
              </a:rPr>
              <a:t>JAVA ORTAM DEĞİŞKENLERİNİ YAPILANDIRMA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TextBox 17"/>
          <p:cNvSpPr/>
          <p:nvPr/>
        </p:nvSpPr>
        <p:spPr>
          <a:xfrm>
            <a:off x="-904320" y="2194560"/>
            <a:ext cx="127936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aaaaaa"/>
                </a:solidFill>
                <a:latin typeface="Calibri"/>
                <a:ea typeface="DejaVu Sans"/>
              </a:rPr>
              <a:t>                                </a:t>
            </a:r>
            <a:r>
              <a:rPr b="0" lang="en-US" sz="1500" spc="-1" strike="noStrike">
                <a:solidFill>
                  <a:srgbClr val="aaaaaa"/>
                </a:solidFill>
                <a:latin typeface="Calibri"/>
                <a:ea typeface="DejaVu Sans"/>
              </a:rPr>
              <a:t>Ortam değişkenleri, Java’nın sistemde nerede kurulu olduğunu belirtir ve araçların ile komutların herhangi bir klasörden düzgün çalışmasını sağlar.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Rounded Rectangle 44"/>
          <p:cNvSpPr/>
          <p:nvPr/>
        </p:nvSpPr>
        <p:spPr>
          <a:xfrm>
            <a:off x="987480" y="318204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9" name="Rounded Rectangle 45"/>
          <p:cNvSpPr/>
          <p:nvPr/>
        </p:nvSpPr>
        <p:spPr>
          <a:xfrm>
            <a:off x="914400" y="310896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JAVA_HOME, JDK’nın kurulu olduğu klasörü gösterir.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PATH, Java’nın bin klasörünü içerir, böylece Java araçları terminal/komut istemcisinden çalıştırılabilir.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Bunlar ayarlanmazsa Java komutları çalışmayabilir.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" name="Rounded Rectangle 46"/>
          <p:cNvSpPr/>
          <p:nvPr/>
        </p:nvSpPr>
        <p:spPr>
          <a:xfrm>
            <a:off x="4507920" y="318204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1" name="Rounded Rectangle 47"/>
          <p:cNvSpPr/>
          <p:nvPr/>
        </p:nvSpPr>
        <p:spPr>
          <a:xfrm>
            <a:off x="4434840" y="310896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JDK Kuruldu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  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</a:t>
            </a: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JAVA_HOME ayarla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→ C:\Program Files\Java\jdk-xx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     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</a:t>
            </a: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PATH’e ekle →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          %JAVA_HOME%\bin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       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java ve javac komutlarını çalıştır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" name="Rounded Rectangle 48"/>
          <p:cNvSpPr/>
          <p:nvPr/>
        </p:nvSpPr>
        <p:spPr>
          <a:xfrm>
            <a:off x="8028360" y="318204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3" name="Rounded Rectangle 49"/>
          <p:cNvSpPr/>
          <p:nvPr/>
        </p:nvSpPr>
        <p:spPr>
          <a:xfrm>
            <a:off x="7955280" y="310896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# Windows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setx JAVA_HOME "C:\Program Files\Java\jdk-xx"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setx PATH "%JAVA_HOME%\bin;%PATH%"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# Linux/Mac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export JAVA_HOME=/usr/lib/jvm/jdk-xx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export PATH=$JAVA_HOME/bin:$PATH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" name="TextBox 20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Rectangle 97"/>
          <p:cNvSpPr/>
          <p:nvPr/>
        </p:nvSpPr>
        <p:spPr>
          <a:xfrm>
            <a:off x="0" y="0"/>
            <a:ext cx="12183480" cy="68526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6" name="Rectangle 98"/>
          <p:cNvSpPr/>
          <p:nvPr/>
        </p:nvSpPr>
        <p:spPr>
          <a:xfrm>
            <a:off x="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7" name="Rectangle 99"/>
          <p:cNvSpPr/>
          <p:nvPr/>
        </p:nvSpPr>
        <p:spPr>
          <a:xfrm>
            <a:off x="9144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8" name="Rectangle 100"/>
          <p:cNvSpPr/>
          <p:nvPr/>
        </p:nvSpPr>
        <p:spPr>
          <a:xfrm>
            <a:off x="18288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9" name="Rectangle 101"/>
          <p:cNvSpPr/>
          <p:nvPr/>
        </p:nvSpPr>
        <p:spPr>
          <a:xfrm>
            <a:off x="27432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0" name="Rectangle 102"/>
          <p:cNvSpPr/>
          <p:nvPr/>
        </p:nvSpPr>
        <p:spPr>
          <a:xfrm>
            <a:off x="36576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1" name="Rectangle 103"/>
          <p:cNvSpPr/>
          <p:nvPr/>
        </p:nvSpPr>
        <p:spPr>
          <a:xfrm>
            <a:off x="45720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2" name="Rectangle 104"/>
          <p:cNvSpPr/>
          <p:nvPr/>
        </p:nvSpPr>
        <p:spPr>
          <a:xfrm>
            <a:off x="54864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3" name="Rectangle 105"/>
          <p:cNvSpPr/>
          <p:nvPr/>
        </p:nvSpPr>
        <p:spPr>
          <a:xfrm>
            <a:off x="64008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4" name="Rectangle 106"/>
          <p:cNvSpPr/>
          <p:nvPr/>
        </p:nvSpPr>
        <p:spPr>
          <a:xfrm>
            <a:off x="73152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5" name="Rectangle 107"/>
          <p:cNvSpPr/>
          <p:nvPr/>
        </p:nvSpPr>
        <p:spPr>
          <a:xfrm>
            <a:off x="82296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6" name="Rectangle 108"/>
          <p:cNvSpPr/>
          <p:nvPr/>
        </p:nvSpPr>
        <p:spPr>
          <a:xfrm>
            <a:off x="91440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7" name="Rectangle 109"/>
          <p:cNvSpPr/>
          <p:nvPr/>
        </p:nvSpPr>
        <p:spPr>
          <a:xfrm>
            <a:off x="100584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8" name="Rectangle 110"/>
          <p:cNvSpPr/>
          <p:nvPr/>
        </p:nvSpPr>
        <p:spPr>
          <a:xfrm>
            <a:off x="109728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9" name="Rectangle 111"/>
          <p:cNvSpPr/>
          <p:nvPr/>
        </p:nvSpPr>
        <p:spPr>
          <a:xfrm>
            <a:off x="118872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0" name="Rectangle 112"/>
          <p:cNvSpPr/>
          <p:nvPr/>
        </p:nvSpPr>
        <p:spPr>
          <a:xfrm>
            <a:off x="0" y="0"/>
            <a:ext cx="314640" cy="68526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1" name="Rounded Rectangle 50"/>
          <p:cNvSpPr/>
          <p:nvPr/>
        </p:nvSpPr>
        <p:spPr>
          <a:xfrm>
            <a:off x="9875520" y="365760"/>
            <a:ext cx="2006280" cy="4975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" name="TextBox 21"/>
          <p:cNvSpPr/>
          <p:nvPr/>
        </p:nvSpPr>
        <p:spPr>
          <a:xfrm>
            <a:off x="1706400" y="1005840"/>
            <a:ext cx="7557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5f5f5"/>
                </a:solidFill>
                <a:latin typeface="Calibri"/>
                <a:ea typeface="DejaVu Sans"/>
              </a:rPr>
              <a:t>JAVA KURULDUKTAN SONRA NE OLUR?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TextBox 22"/>
          <p:cNvSpPr/>
          <p:nvPr/>
        </p:nvSpPr>
        <p:spPr>
          <a:xfrm>
            <a:off x="4241160" y="2194560"/>
            <a:ext cx="24962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Ortam Kurulumundan Sonra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Rounded Rectangle 51"/>
          <p:cNvSpPr/>
          <p:nvPr/>
        </p:nvSpPr>
        <p:spPr>
          <a:xfrm>
            <a:off x="987480" y="318204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5" name="Rounded Rectangle 52"/>
          <p:cNvSpPr/>
          <p:nvPr/>
        </p:nvSpPr>
        <p:spPr>
          <a:xfrm>
            <a:off x="914400" y="310896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Java kurulduktan ve yapılandırıldıktan sonra, sisteminiz artık Java programlarını derleyip çalıştırmaya hazırdır.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.java uzantılı kaynak dosyalar oluşturabilirsiniz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javac derleyicisi, kaynak kodu bytecode (.class) dosyasına çevirir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JVM, bu bytecode'u çalıştırır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Programınız artık JVM bulunan herhangi bir sistemde çalışabilir.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Kurulum tamamlandı — artık Java geliştirmeye başlayabilirsiniz.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" name="Rounded Rectangle 53"/>
          <p:cNvSpPr/>
          <p:nvPr/>
        </p:nvSpPr>
        <p:spPr>
          <a:xfrm>
            <a:off x="4507920" y="318204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7" name="Rounded Rectangle 54"/>
          <p:cNvSpPr/>
          <p:nvPr/>
        </p:nvSpPr>
        <p:spPr>
          <a:xfrm>
            <a:off x="4434840" y="310896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Java Kodu Yaz (.java)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⬇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javac ile Derle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⬇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Bytecode Dosyası Oluşur (.class)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⬇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java komutu ile Çalıştır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⬇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JVM Programı Çalıştırır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⬇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Çıktı Ekranda Görünür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" name="Rounded Rectangle 55"/>
          <p:cNvSpPr/>
          <p:nvPr/>
        </p:nvSpPr>
        <p:spPr>
          <a:xfrm>
            <a:off x="8028360" y="318204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9" name="Rounded Rectangle 56"/>
          <p:cNvSpPr/>
          <p:nvPr/>
        </p:nvSpPr>
        <p:spPr>
          <a:xfrm>
            <a:off x="7955280" y="310896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HelloJava {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System.out.println("Java ortamı hazır!");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" name="TextBox 23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Rectangle 113"/>
          <p:cNvSpPr/>
          <p:nvPr/>
        </p:nvSpPr>
        <p:spPr>
          <a:xfrm>
            <a:off x="0" y="0"/>
            <a:ext cx="12183480" cy="68526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52" name="Rectangle 114"/>
          <p:cNvSpPr/>
          <p:nvPr/>
        </p:nvSpPr>
        <p:spPr>
          <a:xfrm>
            <a:off x="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53" name="Rectangle 115"/>
          <p:cNvSpPr/>
          <p:nvPr/>
        </p:nvSpPr>
        <p:spPr>
          <a:xfrm>
            <a:off x="9144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54" name="Rectangle 116"/>
          <p:cNvSpPr/>
          <p:nvPr/>
        </p:nvSpPr>
        <p:spPr>
          <a:xfrm>
            <a:off x="18288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55" name="Rectangle 117"/>
          <p:cNvSpPr/>
          <p:nvPr/>
        </p:nvSpPr>
        <p:spPr>
          <a:xfrm>
            <a:off x="27432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56" name="Rectangle 118"/>
          <p:cNvSpPr/>
          <p:nvPr/>
        </p:nvSpPr>
        <p:spPr>
          <a:xfrm>
            <a:off x="36576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57" name="Rectangle 119"/>
          <p:cNvSpPr/>
          <p:nvPr/>
        </p:nvSpPr>
        <p:spPr>
          <a:xfrm>
            <a:off x="45720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58" name="Rectangle 120"/>
          <p:cNvSpPr/>
          <p:nvPr/>
        </p:nvSpPr>
        <p:spPr>
          <a:xfrm>
            <a:off x="54864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59" name="Rectangle 121"/>
          <p:cNvSpPr/>
          <p:nvPr/>
        </p:nvSpPr>
        <p:spPr>
          <a:xfrm>
            <a:off x="64008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60" name="Rectangle 122"/>
          <p:cNvSpPr/>
          <p:nvPr/>
        </p:nvSpPr>
        <p:spPr>
          <a:xfrm>
            <a:off x="73152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61" name="Rectangle 123"/>
          <p:cNvSpPr/>
          <p:nvPr/>
        </p:nvSpPr>
        <p:spPr>
          <a:xfrm>
            <a:off x="82296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62" name="Rectangle 124"/>
          <p:cNvSpPr/>
          <p:nvPr/>
        </p:nvSpPr>
        <p:spPr>
          <a:xfrm>
            <a:off x="91440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63" name="Rectangle 125"/>
          <p:cNvSpPr/>
          <p:nvPr/>
        </p:nvSpPr>
        <p:spPr>
          <a:xfrm>
            <a:off x="100584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64" name="Rectangle 126"/>
          <p:cNvSpPr/>
          <p:nvPr/>
        </p:nvSpPr>
        <p:spPr>
          <a:xfrm>
            <a:off x="109728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65" name="Rectangle 127"/>
          <p:cNvSpPr/>
          <p:nvPr/>
        </p:nvSpPr>
        <p:spPr>
          <a:xfrm>
            <a:off x="118872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66" name="Rectangle 128"/>
          <p:cNvSpPr/>
          <p:nvPr/>
        </p:nvSpPr>
        <p:spPr>
          <a:xfrm>
            <a:off x="0" y="0"/>
            <a:ext cx="314640" cy="68526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67" name="Rounded Rectangle 57"/>
          <p:cNvSpPr/>
          <p:nvPr/>
        </p:nvSpPr>
        <p:spPr>
          <a:xfrm>
            <a:off x="9875520" y="365760"/>
            <a:ext cx="2006280" cy="4975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TextBox 24"/>
          <p:cNvSpPr/>
          <p:nvPr/>
        </p:nvSpPr>
        <p:spPr>
          <a:xfrm>
            <a:off x="2983320" y="1005840"/>
            <a:ext cx="50032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5f5f5"/>
                </a:solidFill>
                <a:latin typeface="Calibri"/>
                <a:ea typeface="DejaVu Sans"/>
              </a:rPr>
              <a:t>JAVA GELİŞTİRME İŞ AKIŞI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TextBox 25"/>
          <p:cNvSpPr/>
          <p:nvPr/>
        </p:nvSpPr>
        <p:spPr>
          <a:xfrm>
            <a:off x="1775880" y="2057400"/>
            <a:ext cx="743400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aaaaaa"/>
                </a:solidFill>
                <a:latin typeface="Calibri"/>
                <a:ea typeface="DejaVu Sans"/>
              </a:rPr>
              <a:t>Bu slayt, ortam kurulumu tamamlandıktan sonra geliştiricilerin Java programlarını oluşturmak,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aaaaaa"/>
                </a:solidFill>
                <a:latin typeface="Calibri"/>
                <a:ea typeface="DejaVu Sans"/>
              </a:rPr>
              <a:t> </a:t>
            </a:r>
            <a:r>
              <a:rPr b="0" lang="en-US" sz="1500" spc="-1" strike="noStrike">
                <a:solidFill>
                  <a:srgbClr val="aaaaaa"/>
                </a:solidFill>
                <a:latin typeface="Calibri"/>
                <a:ea typeface="DejaVu Sans"/>
              </a:rPr>
              <a:t>test etmek ve geliştirmek için izlediği temel adım adım süreci açıklar.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Rounded Rectangle 58"/>
          <p:cNvSpPr/>
          <p:nvPr/>
        </p:nvSpPr>
        <p:spPr>
          <a:xfrm>
            <a:off x="987480" y="318204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71" name="Rounded Rectangle 59"/>
          <p:cNvSpPr/>
          <p:nvPr/>
        </p:nvSpPr>
        <p:spPr>
          <a:xfrm>
            <a:off x="914400" y="310896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Kurulumdan sonra Java programlama şu basit geliştirme döngüsünü izler: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StarSymbol"/>
              <a:buAutoNum type="arabicParenR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Programı yaz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StarSymbol"/>
              <a:buAutoNum type="arabicParenR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Programı derle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StarSymbol"/>
              <a:buAutoNum type="arabicParenR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Programı çalıştır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StarSymbol"/>
              <a:buAutoNum type="arabicParenR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Gerekirse hataları düzelt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StarSymbol"/>
              <a:buAutoNum type="arabicParenR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Süreci tekrarla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Bu döngü, gerçek dünyadaki Java yazılımlarının nasıl geliştirildiğini gösterir.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" name="Rounded Rectangle 60"/>
          <p:cNvSpPr/>
          <p:nvPr/>
        </p:nvSpPr>
        <p:spPr>
          <a:xfrm>
            <a:off x="4507920" y="318204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73" name="Rounded Rectangle 61"/>
          <p:cNvSpPr/>
          <p:nvPr/>
        </p:nvSpPr>
        <p:spPr>
          <a:xfrm>
            <a:off x="4434840" y="310896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Kodu Yaz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⬇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Derle → javac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⬇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Çalıştır → java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⬇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Çıktıyı Kontrol Et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⬇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Hata Varsa → Kodu Düzelt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⬇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Tekrar Derle ve Çalıştır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" name="Rounded Rectangle 62"/>
          <p:cNvSpPr/>
          <p:nvPr/>
        </p:nvSpPr>
        <p:spPr>
          <a:xfrm>
            <a:off x="8028360" y="318204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75" name="Rounded Rectangle 63"/>
          <p:cNvSpPr/>
          <p:nvPr/>
        </p:nvSpPr>
        <p:spPr>
          <a:xfrm>
            <a:off x="7955280" y="310896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Calculator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int sum = 5 + 7;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System.out.println("Sonuç: " + sum);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javac Calculator.java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java Calculator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" name="TextBox 27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Rectangle 129"/>
          <p:cNvSpPr/>
          <p:nvPr/>
        </p:nvSpPr>
        <p:spPr>
          <a:xfrm>
            <a:off x="0" y="0"/>
            <a:ext cx="12183480" cy="68526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78" name="Rectangle 130"/>
          <p:cNvSpPr/>
          <p:nvPr/>
        </p:nvSpPr>
        <p:spPr>
          <a:xfrm>
            <a:off x="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79" name="Rectangle 131"/>
          <p:cNvSpPr/>
          <p:nvPr/>
        </p:nvSpPr>
        <p:spPr>
          <a:xfrm>
            <a:off x="9144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80" name="Rectangle 132"/>
          <p:cNvSpPr/>
          <p:nvPr/>
        </p:nvSpPr>
        <p:spPr>
          <a:xfrm>
            <a:off x="18288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81" name="Rectangle 133"/>
          <p:cNvSpPr/>
          <p:nvPr/>
        </p:nvSpPr>
        <p:spPr>
          <a:xfrm>
            <a:off x="27432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82" name="Rectangle 134"/>
          <p:cNvSpPr/>
          <p:nvPr/>
        </p:nvSpPr>
        <p:spPr>
          <a:xfrm>
            <a:off x="36576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83" name="Rectangle 135"/>
          <p:cNvSpPr/>
          <p:nvPr/>
        </p:nvSpPr>
        <p:spPr>
          <a:xfrm>
            <a:off x="45720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84" name="Rectangle 136"/>
          <p:cNvSpPr/>
          <p:nvPr/>
        </p:nvSpPr>
        <p:spPr>
          <a:xfrm>
            <a:off x="54864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85" name="Rectangle 137"/>
          <p:cNvSpPr/>
          <p:nvPr/>
        </p:nvSpPr>
        <p:spPr>
          <a:xfrm>
            <a:off x="64008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86" name="Rectangle 138"/>
          <p:cNvSpPr/>
          <p:nvPr/>
        </p:nvSpPr>
        <p:spPr>
          <a:xfrm>
            <a:off x="73152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87" name="Rectangle 139"/>
          <p:cNvSpPr/>
          <p:nvPr/>
        </p:nvSpPr>
        <p:spPr>
          <a:xfrm>
            <a:off x="82296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88" name="Rectangle 140"/>
          <p:cNvSpPr/>
          <p:nvPr/>
        </p:nvSpPr>
        <p:spPr>
          <a:xfrm>
            <a:off x="91440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89" name="Rectangle 141"/>
          <p:cNvSpPr/>
          <p:nvPr/>
        </p:nvSpPr>
        <p:spPr>
          <a:xfrm>
            <a:off x="100584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90" name="Rectangle 142"/>
          <p:cNvSpPr/>
          <p:nvPr/>
        </p:nvSpPr>
        <p:spPr>
          <a:xfrm>
            <a:off x="109728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91" name="Rectangle 143"/>
          <p:cNvSpPr/>
          <p:nvPr/>
        </p:nvSpPr>
        <p:spPr>
          <a:xfrm>
            <a:off x="118872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92" name="Rectangle 144"/>
          <p:cNvSpPr/>
          <p:nvPr/>
        </p:nvSpPr>
        <p:spPr>
          <a:xfrm>
            <a:off x="0" y="0"/>
            <a:ext cx="314640" cy="68526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93" name="Rounded Rectangle 64"/>
          <p:cNvSpPr/>
          <p:nvPr/>
        </p:nvSpPr>
        <p:spPr>
          <a:xfrm>
            <a:off x="9875520" y="365760"/>
            <a:ext cx="2006280" cy="4975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4" name="TextBox 28"/>
          <p:cNvSpPr/>
          <p:nvPr/>
        </p:nvSpPr>
        <p:spPr>
          <a:xfrm>
            <a:off x="3053160" y="1005840"/>
            <a:ext cx="4862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5f5f5"/>
                </a:solidFill>
                <a:latin typeface="Calibri"/>
                <a:ea typeface="DejaVu Sans"/>
              </a:rPr>
              <a:t>JAVA KURULUM TÜRLERİ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TextBox 29"/>
          <p:cNvSpPr/>
          <p:nvPr/>
        </p:nvSpPr>
        <p:spPr>
          <a:xfrm>
            <a:off x="1154520" y="2194560"/>
            <a:ext cx="867456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aaaaaa"/>
                </a:solidFill>
                <a:latin typeface="Calibri"/>
                <a:ea typeface="DejaVu Sans"/>
              </a:rPr>
              <a:t>Farklı Java dağıtımları ve kurulum türleri, geliştirme veya üretim (production) ihtiyaçlarına göre esneklik sağlar.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Rounded Rectangle 65"/>
          <p:cNvSpPr/>
          <p:nvPr/>
        </p:nvSpPr>
        <p:spPr>
          <a:xfrm>
            <a:off x="987480" y="318204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97" name="Rounded Rectangle 66"/>
          <p:cNvSpPr/>
          <p:nvPr/>
        </p:nvSpPr>
        <p:spPr>
          <a:xfrm>
            <a:off x="914400" y="310896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Java’yı kurmanın birden fazla yolu vardır: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Oracle JDK (Resmi dağıtım)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OpenJDK (Açık kaynak sürüm)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LTS (Uzun Süreli Destek) sürümleri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LTS olmayan sürümler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LTS sürümleri (örneğin Java 17, 21) kararlılık ve uzun vadeli projeler için önerilir.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Doğru dağıtımı seçmek; uyumluluk, güvenlik güncellemeleri ve uzun süreli destek sağlar.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8" name="Rounded Rectangle 67"/>
          <p:cNvSpPr/>
          <p:nvPr/>
        </p:nvSpPr>
        <p:spPr>
          <a:xfrm>
            <a:off x="4507920" y="318204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99" name="Rounded Rectangle 68"/>
          <p:cNvSpPr/>
          <p:nvPr/>
        </p:nvSpPr>
        <p:spPr>
          <a:xfrm>
            <a:off x="4434840" y="310896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Sürüm Seç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Dağıtımı İndir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JDK’yı Kur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JAVA_HOME Ayarla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PATH Güncelle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Kurulumu Doğrula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0" name="Rounded Rectangle 69"/>
          <p:cNvSpPr/>
          <p:nvPr/>
        </p:nvSpPr>
        <p:spPr>
          <a:xfrm>
            <a:off x="8028360" y="318204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01" name="Rounded Rectangle 70"/>
          <p:cNvSpPr/>
          <p:nvPr/>
        </p:nvSpPr>
        <p:spPr>
          <a:xfrm>
            <a:off x="7955280" y="310896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Windows:</a:t>
            </a:r>
            <a:br>
              <a:rPr sz="1500"/>
            </a:b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where java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where javac</a:t>
            </a:r>
            <a:br>
              <a:rPr sz="1500"/>
            </a:br>
            <a:br>
              <a:rPr sz="1500"/>
            </a:b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Linux:</a:t>
            </a:r>
            <a:br>
              <a:rPr sz="1500"/>
            </a:b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which java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which javac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br>
              <a:rPr sz="1500"/>
            </a:b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Detaylı sürüm bilgisi kontrolü:</a:t>
            </a:r>
            <a:br>
              <a:rPr sz="1500"/>
            </a:b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java -version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javac -version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2" name="TextBox 30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Rectangle 145"/>
          <p:cNvSpPr/>
          <p:nvPr/>
        </p:nvSpPr>
        <p:spPr>
          <a:xfrm>
            <a:off x="0" y="0"/>
            <a:ext cx="12183480" cy="68526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04" name="Rectangle 146"/>
          <p:cNvSpPr/>
          <p:nvPr/>
        </p:nvSpPr>
        <p:spPr>
          <a:xfrm>
            <a:off x="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05" name="Rectangle 147"/>
          <p:cNvSpPr/>
          <p:nvPr/>
        </p:nvSpPr>
        <p:spPr>
          <a:xfrm>
            <a:off x="9144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06" name="Rectangle 148"/>
          <p:cNvSpPr/>
          <p:nvPr/>
        </p:nvSpPr>
        <p:spPr>
          <a:xfrm>
            <a:off x="18288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07" name="Rectangle 149"/>
          <p:cNvSpPr/>
          <p:nvPr/>
        </p:nvSpPr>
        <p:spPr>
          <a:xfrm>
            <a:off x="27432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08" name="Rectangle 150"/>
          <p:cNvSpPr/>
          <p:nvPr/>
        </p:nvSpPr>
        <p:spPr>
          <a:xfrm>
            <a:off x="36576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09" name="Rectangle 151"/>
          <p:cNvSpPr/>
          <p:nvPr/>
        </p:nvSpPr>
        <p:spPr>
          <a:xfrm>
            <a:off x="45720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0" name="Rectangle 152"/>
          <p:cNvSpPr/>
          <p:nvPr/>
        </p:nvSpPr>
        <p:spPr>
          <a:xfrm>
            <a:off x="54864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1" name="Rectangle 153"/>
          <p:cNvSpPr/>
          <p:nvPr/>
        </p:nvSpPr>
        <p:spPr>
          <a:xfrm>
            <a:off x="64008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2" name="Rectangle 154"/>
          <p:cNvSpPr/>
          <p:nvPr/>
        </p:nvSpPr>
        <p:spPr>
          <a:xfrm>
            <a:off x="73152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3" name="Rectangle 155"/>
          <p:cNvSpPr/>
          <p:nvPr/>
        </p:nvSpPr>
        <p:spPr>
          <a:xfrm>
            <a:off x="82296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4" name="Rectangle 156"/>
          <p:cNvSpPr/>
          <p:nvPr/>
        </p:nvSpPr>
        <p:spPr>
          <a:xfrm>
            <a:off x="91440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5" name="Rectangle 157"/>
          <p:cNvSpPr/>
          <p:nvPr/>
        </p:nvSpPr>
        <p:spPr>
          <a:xfrm>
            <a:off x="100584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6" name="Rectangle 158"/>
          <p:cNvSpPr/>
          <p:nvPr/>
        </p:nvSpPr>
        <p:spPr>
          <a:xfrm>
            <a:off x="109728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7" name="Rectangle 159"/>
          <p:cNvSpPr/>
          <p:nvPr/>
        </p:nvSpPr>
        <p:spPr>
          <a:xfrm>
            <a:off x="118872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8" name="Rectangle 160"/>
          <p:cNvSpPr/>
          <p:nvPr/>
        </p:nvSpPr>
        <p:spPr>
          <a:xfrm>
            <a:off x="0" y="0"/>
            <a:ext cx="314640" cy="68526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9" name="Rounded Rectangle 71"/>
          <p:cNvSpPr/>
          <p:nvPr/>
        </p:nvSpPr>
        <p:spPr>
          <a:xfrm>
            <a:off x="9875520" y="365760"/>
            <a:ext cx="2006280" cy="4975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0" name="TextBox 31"/>
          <p:cNvSpPr/>
          <p:nvPr/>
        </p:nvSpPr>
        <p:spPr>
          <a:xfrm>
            <a:off x="1023120" y="1005840"/>
            <a:ext cx="8924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5f5f5"/>
                </a:solidFill>
                <a:latin typeface="Calibri"/>
                <a:ea typeface="DejaVu Sans"/>
              </a:rPr>
              <a:t>YAYGIN KURULUM SORUNLARI VE ÇÖZÜMLERİ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TextBox 32"/>
          <p:cNvSpPr/>
          <p:nvPr/>
        </p:nvSpPr>
        <p:spPr>
          <a:xfrm>
            <a:off x="2109960" y="2194560"/>
            <a:ext cx="67633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aaaaaa"/>
                </a:solidFill>
                <a:latin typeface="Calibri"/>
                <a:ea typeface="DejaVu Sans"/>
              </a:rPr>
              <a:t>Yanlış ortam (environment) yapılandırması, Java’nın düzgün çalışmasını engelleyebilir.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Rounded Rectangle 72"/>
          <p:cNvSpPr/>
          <p:nvPr/>
        </p:nvSpPr>
        <p:spPr>
          <a:xfrm>
            <a:off x="987480" y="318204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23" name="Rounded Rectangle 73"/>
          <p:cNvSpPr/>
          <p:nvPr/>
        </p:nvSpPr>
        <p:spPr>
          <a:xfrm>
            <a:off x="914400" y="310896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Yaygın Sorunlar: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'java is not recognized as an internal or external command' hatası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Yanlış JAVA_HOME yolu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PATH değişkeninin güncellenmemesi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Birden fazla Java sürümünün çakışması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JDK yerine sadece JRE’nin kurulmuş olması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Çoğu sorun, ortam değişkenlerinin hatalı ayarlanmasından kaynaklanır.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4" name="Rounded Rectangle 74"/>
          <p:cNvSpPr/>
          <p:nvPr/>
        </p:nvSpPr>
        <p:spPr>
          <a:xfrm>
            <a:off x="4507920" y="318204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25" name="Rounded Rectangle 75"/>
          <p:cNvSpPr/>
          <p:nvPr/>
        </p:nvSpPr>
        <p:spPr>
          <a:xfrm>
            <a:off x="4434840" y="310896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Hata ortaya çıkar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java -version kontrol et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JAVA_HOME doğrula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PATH değişkenini kontrol et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Terminali yeniden başlat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Sorun çözülür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6" name="Rounded Rectangle 76"/>
          <p:cNvSpPr/>
          <p:nvPr/>
        </p:nvSpPr>
        <p:spPr>
          <a:xfrm>
            <a:off x="8028360" y="318204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27" name="Rounded Rectangle 77"/>
          <p:cNvSpPr/>
          <p:nvPr/>
        </p:nvSpPr>
        <p:spPr>
          <a:xfrm>
            <a:off x="7955280" y="3108960"/>
            <a:ext cx="3286440" cy="30596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Windows:</a:t>
            </a:r>
            <a:br>
              <a:rPr sz="1400"/>
            </a:b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echo %JAVA_HOME%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echo %PATH%</a:t>
            </a:r>
            <a:br>
              <a:rPr sz="1400"/>
            </a:br>
            <a:br>
              <a:rPr sz="1400"/>
            </a:b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Linux / Mac:</a:t>
            </a:r>
            <a:br>
              <a:rPr sz="1400"/>
            </a:b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echo $JAVA_HOME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echo $PATH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br>
              <a:rPr sz="1400"/>
            </a:b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Geçici olarak JAVA_HOME ayarlama (Linux/Mac):</a:t>
            </a:r>
            <a:br>
              <a:rPr sz="1400"/>
            </a:b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export JAVA_HOME=/usr/lib/jvm/jdk-xx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export PATH=$JAVA_HOME/bin:$PATH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8" name="TextBox 33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Rectangle 161"/>
          <p:cNvSpPr/>
          <p:nvPr/>
        </p:nvSpPr>
        <p:spPr>
          <a:xfrm>
            <a:off x="0" y="0"/>
            <a:ext cx="12183480" cy="68526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30" name="Rectangle 162"/>
          <p:cNvSpPr/>
          <p:nvPr/>
        </p:nvSpPr>
        <p:spPr>
          <a:xfrm>
            <a:off x="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31" name="Rectangle 163"/>
          <p:cNvSpPr/>
          <p:nvPr/>
        </p:nvSpPr>
        <p:spPr>
          <a:xfrm>
            <a:off x="9144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32" name="Rectangle 164"/>
          <p:cNvSpPr/>
          <p:nvPr/>
        </p:nvSpPr>
        <p:spPr>
          <a:xfrm>
            <a:off x="18288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33" name="Rectangle 165"/>
          <p:cNvSpPr/>
          <p:nvPr/>
        </p:nvSpPr>
        <p:spPr>
          <a:xfrm>
            <a:off x="27432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34" name="Rectangle 166"/>
          <p:cNvSpPr/>
          <p:nvPr/>
        </p:nvSpPr>
        <p:spPr>
          <a:xfrm>
            <a:off x="36576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35" name="Rectangle 167"/>
          <p:cNvSpPr/>
          <p:nvPr/>
        </p:nvSpPr>
        <p:spPr>
          <a:xfrm>
            <a:off x="45720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36" name="Rectangle 168"/>
          <p:cNvSpPr/>
          <p:nvPr/>
        </p:nvSpPr>
        <p:spPr>
          <a:xfrm>
            <a:off x="54864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37" name="Rectangle 169"/>
          <p:cNvSpPr/>
          <p:nvPr/>
        </p:nvSpPr>
        <p:spPr>
          <a:xfrm>
            <a:off x="64008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38" name="Rectangle 170"/>
          <p:cNvSpPr/>
          <p:nvPr/>
        </p:nvSpPr>
        <p:spPr>
          <a:xfrm>
            <a:off x="73152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39" name="Rectangle 171"/>
          <p:cNvSpPr/>
          <p:nvPr/>
        </p:nvSpPr>
        <p:spPr>
          <a:xfrm>
            <a:off x="82296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40" name="Rectangle 172"/>
          <p:cNvSpPr/>
          <p:nvPr/>
        </p:nvSpPr>
        <p:spPr>
          <a:xfrm>
            <a:off x="91440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41" name="Rectangle 173"/>
          <p:cNvSpPr/>
          <p:nvPr/>
        </p:nvSpPr>
        <p:spPr>
          <a:xfrm>
            <a:off x="100584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42" name="Rectangle 174"/>
          <p:cNvSpPr/>
          <p:nvPr/>
        </p:nvSpPr>
        <p:spPr>
          <a:xfrm>
            <a:off x="109728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43" name="Rectangle 175"/>
          <p:cNvSpPr/>
          <p:nvPr/>
        </p:nvSpPr>
        <p:spPr>
          <a:xfrm>
            <a:off x="118872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44" name="Rectangle 176"/>
          <p:cNvSpPr/>
          <p:nvPr/>
        </p:nvSpPr>
        <p:spPr>
          <a:xfrm>
            <a:off x="0" y="0"/>
            <a:ext cx="314640" cy="68526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45" name="Rounded Rectangle 78"/>
          <p:cNvSpPr/>
          <p:nvPr/>
        </p:nvSpPr>
        <p:spPr>
          <a:xfrm>
            <a:off x="9875520" y="365760"/>
            <a:ext cx="2006280" cy="4975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6" name="TextBox 34"/>
          <p:cNvSpPr/>
          <p:nvPr/>
        </p:nvSpPr>
        <p:spPr>
          <a:xfrm>
            <a:off x="3134520" y="1005840"/>
            <a:ext cx="46998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5f5f5"/>
                </a:solidFill>
                <a:latin typeface="Calibri"/>
                <a:ea typeface="DejaVu Sans"/>
              </a:rPr>
              <a:t>JAVA SÜRÜM YÖNETİMİ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TextBox 35"/>
          <p:cNvSpPr/>
          <p:nvPr/>
        </p:nvSpPr>
        <p:spPr>
          <a:xfrm>
            <a:off x="2258640" y="2194560"/>
            <a:ext cx="646776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aaaaaa"/>
                </a:solidFill>
                <a:latin typeface="Calibri"/>
                <a:ea typeface="DejaVu Sans"/>
              </a:rPr>
              <a:t>Birden fazla Java sürümünü yönetmek ve aralarında güvenli şekilde geçiş yapmak.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Rounded Rectangle 79"/>
          <p:cNvSpPr/>
          <p:nvPr/>
        </p:nvSpPr>
        <p:spPr>
          <a:xfrm>
            <a:off x="987480" y="318204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49" name="Rounded Rectangle 80"/>
          <p:cNvSpPr/>
          <p:nvPr/>
        </p:nvSpPr>
        <p:spPr>
          <a:xfrm>
            <a:off x="457200" y="2971800"/>
            <a:ext cx="3781440" cy="31971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Bazen aynı sistemde birden fazla Java sürümü yüklü olabilir.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Örneğin: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Java 17 (LTS – Uzun Süreli Destek)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Java 21 (LTS – Uzun Süreli Destek)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Daha eski sürüm (Java 8)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Farklı projeler farklı sürümler gerektirebilir.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Sürümler doğru şekilde yönetilmezse: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PATH çakışmaları oluşur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Yanlış JDK proje derler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Build araçları (Maven / Gradle) hata verir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Doğru sürüm yönetimi çakışmaları önler.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0" name="Rounded Rectangle 81"/>
          <p:cNvSpPr/>
          <p:nvPr/>
        </p:nvSpPr>
        <p:spPr>
          <a:xfrm>
            <a:off x="4507920" y="318204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51" name="Rounded Rectangle 82"/>
          <p:cNvSpPr/>
          <p:nvPr/>
        </p:nvSpPr>
        <p:spPr>
          <a:xfrm>
            <a:off x="4434840" y="3108960"/>
            <a:ext cx="3286440" cy="28314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Yüklü sürümleri kontrol et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⬇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JDK klasörlerini bul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⬇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JAVA_HOME değişkenini güncelle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⬇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PATH değişkenini güncelle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⬇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Terminali yeniden başlat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⬇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Şu komutlarla doğrula: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java -version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javac -version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2" name="Rounded Rectangle 83"/>
          <p:cNvSpPr/>
          <p:nvPr/>
        </p:nvSpPr>
        <p:spPr>
          <a:xfrm>
            <a:off x="8028360" y="318204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53" name="Rounded Rectangle 84"/>
          <p:cNvSpPr/>
          <p:nvPr/>
        </p:nvSpPr>
        <p:spPr>
          <a:xfrm>
            <a:off x="8001000" y="2743200"/>
            <a:ext cx="3425760" cy="34257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# Mevcut sürümü kontrol et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java -version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javac -version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# Aktif JAVA_HOME değişkenini göster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echo %JAVA_HOME%     (Windows)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echo $JAVA_HOME      (Linux/Mac)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# Örnek sürüm klasörleri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Java 17 → /jdk-17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Java 21 → /jdk-21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# Sürüm değişiminden sonra kontrol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java -version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4" name="TextBox 36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Rectangle 177"/>
          <p:cNvSpPr/>
          <p:nvPr/>
        </p:nvSpPr>
        <p:spPr>
          <a:xfrm>
            <a:off x="0" y="0"/>
            <a:ext cx="12184920" cy="685404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56" name="Rectangle 178"/>
          <p:cNvSpPr/>
          <p:nvPr/>
        </p:nvSpPr>
        <p:spPr>
          <a:xfrm>
            <a:off x="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57" name="Rectangle 179"/>
          <p:cNvSpPr/>
          <p:nvPr/>
        </p:nvSpPr>
        <p:spPr>
          <a:xfrm>
            <a:off x="91440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58" name="Rectangle 180"/>
          <p:cNvSpPr/>
          <p:nvPr/>
        </p:nvSpPr>
        <p:spPr>
          <a:xfrm>
            <a:off x="182880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59" name="Rectangle 181"/>
          <p:cNvSpPr/>
          <p:nvPr/>
        </p:nvSpPr>
        <p:spPr>
          <a:xfrm>
            <a:off x="274320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60" name="Rectangle 182"/>
          <p:cNvSpPr/>
          <p:nvPr/>
        </p:nvSpPr>
        <p:spPr>
          <a:xfrm>
            <a:off x="365760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61" name="Rectangle 183"/>
          <p:cNvSpPr/>
          <p:nvPr/>
        </p:nvSpPr>
        <p:spPr>
          <a:xfrm>
            <a:off x="457200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62" name="Rectangle 184"/>
          <p:cNvSpPr/>
          <p:nvPr/>
        </p:nvSpPr>
        <p:spPr>
          <a:xfrm>
            <a:off x="548640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63" name="Rectangle 185"/>
          <p:cNvSpPr/>
          <p:nvPr/>
        </p:nvSpPr>
        <p:spPr>
          <a:xfrm>
            <a:off x="640080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64" name="Rectangle 186"/>
          <p:cNvSpPr/>
          <p:nvPr/>
        </p:nvSpPr>
        <p:spPr>
          <a:xfrm>
            <a:off x="731520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65" name="Rectangle 187"/>
          <p:cNvSpPr/>
          <p:nvPr/>
        </p:nvSpPr>
        <p:spPr>
          <a:xfrm>
            <a:off x="821232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66" name="Rectangle 188"/>
          <p:cNvSpPr/>
          <p:nvPr/>
        </p:nvSpPr>
        <p:spPr>
          <a:xfrm>
            <a:off x="914400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67" name="Rectangle 189"/>
          <p:cNvSpPr/>
          <p:nvPr/>
        </p:nvSpPr>
        <p:spPr>
          <a:xfrm>
            <a:off x="1005840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68" name="Rectangle 190"/>
          <p:cNvSpPr/>
          <p:nvPr/>
        </p:nvSpPr>
        <p:spPr>
          <a:xfrm>
            <a:off x="1097280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69" name="Rectangle 191"/>
          <p:cNvSpPr/>
          <p:nvPr/>
        </p:nvSpPr>
        <p:spPr>
          <a:xfrm>
            <a:off x="1188720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70" name="Rectangle 192"/>
          <p:cNvSpPr/>
          <p:nvPr/>
        </p:nvSpPr>
        <p:spPr>
          <a:xfrm>
            <a:off x="0" y="0"/>
            <a:ext cx="316080" cy="685404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71" name="Rounded Rectangle 85"/>
          <p:cNvSpPr/>
          <p:nvPr/>
        </p:nvSpPr>
        <p:spPr>
          <a:xfrm>
            <a:off x="9875520" y="365760"/>
            <a:ext cx="2007720" cy="49896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2" name="TextBox 37"/>
          <p:cNvSpPr/>
          <p:nvPr/>
        </p:nvSpPr>
        <p:spPr>
          <a:xfrm>
            <a:off x="2876040" y="1005840"/>
            <a:ext cx="521964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JAVA HELLO WORLD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TextBox 38"/>
          <p:cNvSpPr/>
          <p:nvPr/>
        </p:nvSpPr>
        <p:spPr>
          <a:xfrm>
            <a:off x="1742040" y="2013840"/>
            <a:ext cx="7629120" cy="95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Her Java geliştiricisinin yazdığı ilk programdır.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Bir Java uygulamasının temel yapısını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tanıtır ve kodun Java Sanal Makinesi (JVM) içinde nasıl çalıştırıldığını gösterir.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Rounded Rectangle 86"/>
          <p:cNvSpPr/>
          <p:nvPr/>
        </p:nvSpPr>
        <p:spPr>
          <a:xfrm>
            <a:off x="987480" y="3182040"/>
            <a:ext cx="3287880" cy="27392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75" name="Rounded Rectangle 87"/>
          <p:cNvSpPr/>
          <p:nvPr/>
        </p:nvSpPr>
        <p:spPr>
          <a:xfrm>
            <a:off x="914400" y="3108960"/>
            <a:ext cx="3287880" cy="27392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Her Java programı bir class ile başlar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Programın çalışması main() metodundan başlar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System.out.println() çıktıyı konsola yazdırır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Java kodu bytecode’a derlenir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Bytecode, JVM içerisinde çalıştırılır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Temel Fikir: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Hello World, Java kaynak kodunun nasıl çalışabilir çıktıya dönüştüğünü gösterir.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6" name="Rounded Rectangle 88"/>
          <p:cNvSpPr/>
          <p:nvPr/>
        </p:nvSpPr>
        <p:spPr>
          <a:xfrm>
            <a:off x="4507920" y="3182040"/>
            <a:ext cx="3287880" cy="27392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77" name="Rounded Rectangle 89"/>
          <p:cNvSpPr/>
          <p:nvPr/>
        </p:nvSpPr>
        <p:spPr>
          <a:xfrm>
            <a:off x="4434840" y="3108960"/>
            <a:ext cx="3287880" cy="27392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Java Kodunu Yaz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       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Derle (javac)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       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Bytecode (.class)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       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JVM ile Çalıştır (java)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       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Konsol Çıktısı → Hello World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8" name="Rounded Rectangle 90"/>
          <p:cNvSpPr/>
          <p:nvPr/>
        </p:nvSpPr>
        <p:spPr>
          <a:xfrm>
            <a:off x="8028360" y="3182040"/>
            <a:ext cx="3287880" cy="27392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79" name="Rounded Rectangle 91"/>
          <p:cNvSpPr/>
          <p:nvPr/>
        </p:nvSpPr>
        <p:spPr>
          <a:xfrm>
            <a:off x="7955280" y="3108960"/>
            <a:ext cx="3287880" cy="27392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HelloWorld {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System.out.println("Hello World");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0" name="TextBox 39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Rectangle 193"/>
          <p:cNvSpPr/>
          <p:nvPr/>
        </p:nvSpPr>
        <p:spPr>
          <a:xfrm>
            <a:off x="0" y="0"/>
            <a:ext cx="12184920" cy="685404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82" name="Rectangle 194"/>
          <p:cNvSpPr/>
          <p:nvPr/>
        </p:nvSpPr>
        <p:spPr>
          <a:xfrm>
            <a:off x="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83" name="Rectangle 195"/>
          <p:cNvSpPr/>
          <p:nvPr/>
        </p:nvSpPr>
        <p:spPr>
          <a:xfrm>
            <a:off x="91440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84" name="Rectangle 196"/>
          <p:cNvSpPr/>
          <p:nvPr/>
        </p:nvSpPr>
        <p:spPr>
          <a:xfrm>
            <a:off x="182880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85" name="Rectangle 197"/>
          <p:cNvSpPr/>
          <p:nvPr/>
        </p:nvSpPr>
        <p:spPr>
          <a:xfrm>
            <a:off x="274320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86" name="Rectangle 198"/>
          <p:cNvSpPr/>
          <p:nvPr/>
        </p:nvSpPr>
        <p:spPr>
          <a:xfrm>
            <a:off x="365760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87" name="Rectangle 199"/>
          <p:cNvSpPr/>
          <p:nvPr/>
        </p:nvSpPr>
        <p:spPr>
          <a:xfrm>
            <a:off x="457200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88" name="Rectangle 200"/>
          <p:cNvSpPr/>
          <p:nvPr/>
        </p:nvSpPr>
        <p:spPr>
          <a:xfrm>
            <a:off x="548640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89" name="Rectangle 201"/>
          <p:cNvSpPr/>
          <p:nvPr/>
        </p:nvSpPr>
        <p:spPr>
          <a:xfrm>
            <a:off x="640080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90" name="Rectangle 202"/>
          <p:cNvSpPr/>
          <p:nvPr/>
        </p:nvSpPr>
        <p:spPr>
          <a:xfrm>
            <a:off x="731520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91" name="Rectangle 203"/>
          <p:cNvSpPr/>
          <p:nvPr/>
        </p:nvSpPr>
        <p:spPr>
          <a:xfrm>
            <a:off x="821232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92" name="Rectangle 204"/>
          <p:cNvSpPr/>
          <p:nvPr/>
        </p:nvSpPr>
        <p:spPr>
          <a:xfrm>
            <a:off x="914400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93" name="Rectangle 205"/>
          <p:cNvSpPr/>
          <p:nvPr/>
        </p:nvSpPr>
        <p:spPr>
          <a:xfrm>
            <a:off x="1005840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94" name="Rectangle 206"/>
          <p:cNvSpPr/>
          <p:nvPr/>
        </p:nvSpPr>
        <p:spPr>
          <a:xfrm>
            <a:off x="1097280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95" name="Rectangle 207"/>
          <p:cNvSpPr/>
          <p:nvPr/>
        </p:nvSpPr>
        <p:spPr>
          <a:xfrm>
            <a:off x="1188720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96" name="Rectangle 208"/>
          <p:cNvSpPr/>
          <p:nvPr/>
        </p:nvSpPr>
        <p:spPr>
          <a:xfrm>
            <a:off x="0" y="0"/>
            <a:ext cx="316080" cy="685404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97" name="Rounded Rectangle 92"/>
          <p:cNvSpPr/>
          <p:nvPr/>
        </p:nvSpPr>
        <p:spPr>
          <a:xfrm>
            <a:off x="9875520" y="365760"/>
            <a:ext cx="2007720" cy="49896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8" name="TextBox 40"/>
          <p:cNvSpPr/>
          <p:nvPr/>
        </p:nvSpPr>
        <p:spPr>
          <a:xfrm>
            <a:off x="658080" y="1005840"/>
            <a:ext cx="96544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f5f5f5"/>
                </a:solidFill>
                <a:latin typeface="Calibri"/>
                <a:ea typeface="DejaVu Sans"/>
              </a:rPr>
              <a:t>JAVA HELLO WORLD PROGRAMINI ANLAMAK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TextBox 41"/>
          <p:cNvSpPr/>
          <p:nvPr/>
        </p:nvSpPr>
        <p:spPr>
          <a:xfrm>
            <a:off x="2366640" y="2013840"/>
            <a:ext cx="637920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Hello World programı basit görünse de, her Java uygulamasının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temel yapısını ve çalışma mantığını içerir.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Rounded Rectangle 93"/>
          <p:cNvSpPr/>
          <p:nvPr/>
        </p:nvSpPr>
        <p:spPr>
          <a:xfrm>
            <a:off x="987480" y="3182040"/>
            <a:ext cx="3287880" cy="27392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01" name="Rounded Rectangle 94"/>
          <p:cNvSpPr/>
          <p:nvPr/>
        </p:nvSpPr>
        <p:spPr>
          <a:xfrm>
            <a:off x="914400" y="3108960"/>
            <a:ext cx="3287880" cy="27392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●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Java programı çalışmaya main() metodundan başlar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●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public → her yerden erişilebilir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●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static → nesne oluşturmadan çalışır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●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void → metod geriye değer döndürmez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●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String[] args → komut satırı parametreleri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Ana Fikir: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main() metodu, Java uygulamasının başlangıç noktasıdır.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2" name="Rounded Rectangle 95"/>
          <p:cNvSpPr/>
          <p:nvPr/>
        </p:nvSpPr>
        <p:spPr>
          <a:xfrm>
            <a:off x="4507920" y="3182040"/>
            <a:ext cx="3287880" cy="27392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03" name="Rounded Rectangle 96"/>
          <p:cNvSpPr/>
          <p:nvPr/>
        </p:nvSpPr>
        <p:spPr>
          <a:xfrm>
            <a:off x="4434840" y="3108960"/>
            <a:ext cx="3287880" cy="27392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Program Başlar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JVM main() metodunu arar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main() içindeki komutlar çalışır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System.out.println() çalışır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Metin konsolda görüntülenir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4" name="Rounded Rectangle 97"/>
          <p:cNvSpPr/>
          <p:nvPr/>
        </p:nvSpPr>
        <p:spPr>
          <a:xfrm>
            <a:off x="8028360" y="3182040"/>
            <a:ext cx="3287880" cy="27392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05" name="Rounded Rectangle 98"/>
          <p:cNvSpPr/>
          <p:nvPr/>
        </p:nvSpPr>
        <p:spPr>
          <a:xfrm>
            <a:off x="7955280" y="3108960"/>
            <a:ext cx="3287880" cy="27392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HelloWorld {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System.out.println("Hello World");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6" name="TextBox 42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Rectangle 225"/>
          <p:cNvSpPr/>
          <p:nvPr/>
        </p:nvSpPr>
        <p:spPr>
          <a:xfrm>
            <a:off x="0" y="0"/>
            <a:ext cx="12185640" cy="685476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08" name="Rectangle 209"/>
          <p:cNvSpPr/>
          <p:nvPr/>
        </p:nvSpPr>
        <p:spPr>
          <a:xfrm>
            <a:off x="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09" name="Rectangle 210"/>
          <p:cNvSpPr/>
          <p:nvPr/>
        </p:nvSpPr>
        <p:spPr>
          <a:xfrm>
            <a:off x="9144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10" name="Rectangle 211"/>
          <p:cNvSpPr/>
          <p:nvPr/>
        </p:nvSpPr>
        <p:spPr>
          <a:xfrm>
            <a:off x="18288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11" name="Rectangle 212"/>
          <p:cNvSpPr/>
          <p:nvPr/>
        </p:nvSpPr>
        <p:spPr>
          <a:xfrm>
            <a:off x="27432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12" name="Rectangle 213"/>
          <p:cNvSpPr/>
          <p:nvPr/>
        </p:nvSpPr>
        <p:spPr>
          <a:xfrm>
            <a:off x="36576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13" name="Rectangle 214"/>
          <p:cNvSpPr/>
          <p:nvPr/>
        </p:nvSpPr>
        <p:spPr>
          <a:xfrm>
            <a:off x="45720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14" name="Rectangle 215"/>
          <p:cNvSpPr/>
          <p:nvPr/>
        </p:nvSpPr>
        <p:spPr>
          <a:xfrm>
            <a:off x="54864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15" name="Rectangle 216"/>
          <p:cNvSpPr/>
          <p:nvPr/>
        </p:nvSpPr>
        <p:spPr>
          <a:xfrm>
            <a:off x="64008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16" name="Rectangle 217"/>
          <p:cNvSpPr/>
          <p:nvPr/>
        </p:nvSpPr>
        <p:spPr>
          <a:xfrm>
            <a:off x="73152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17" name="Rectangle 218"/>
          <p:cNvSpPr/>
          <p:nvPr/>
        </p:nvSpPr>
        <p:spPr>
          <a:xfrm>
            <a:off x="82296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18" name="Rectangle 219"/>
          <p:cNvSpPr/>
          <p:nvPr/>
        </p:nvSpPr>
        <p:spPr>
          <a:xfrm>
            <a:off x="91440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19" name="Rectangle 220"/>
          <p:cNvSpPr/>
          <p:nvPr/>
        </p:nvSpPr>
        <p:spPr>
          <a:xfrm>
            <a:off x="100584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20" name="Rectangle 221"/>
          <p:cNvSpPr/>
          <p:nvPr/>
        </p:nvSpPr>
        <p:spPr>
          <a:xfrm>
            <a:off x="109728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21" name="Rectangle 222"/>
          <p:cNvSpPr/>
          <p:nvPr/>
        </p:nvSpPr>
        <p:spPr>
          <a:xfrm>
            <a:off x="118872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22" name="Rectangle 223"/>
          <p:cNvSpPr/>
          <p:nvPr/>
        </p:nvSpPr>
        <p:spPr>
          <a:xfrm>
            <a:off x="0" y="0"/>
            <a:ext cx="316800" cy="685476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23" name="Rounded Rectangle 99"/>
          <p:cNvSpPr/>
          <p:nvPr/>
        </p:nvSpPr>
        <p:spPr>
          <a:xfrm>
            <a:off x="9875520" y="365760"/>
            <a:ext cx="2008440" cy="49968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4" name="TextBox 43"/>
          <p:cNvSpPr/>
          <p:nvPr/>
        </p:nvSpPr>
        <p:spPr>
          <a:xfrm>
            <a:off x="2463840" y="1005840"/>
            <a:ext cx="604404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JAVA TEMEL SÖZDİZİMİ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TextBox 44"/>
          <p:cNvSpPr/>
          <p:nvPr/>
        </p:nvSpPr>
        <p:spPr>
          <a:xfrm>
            <a:off x="2525760" y="2194560"/>
            <a:ext cx="591912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Temel Sözdizimi, bir Java programını yazmak ve çalıştırmak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için gereken temel kuralları ve yapıyı ifade eder.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Rounded Rectangle 100"/>
          <p:cNvSpPr/>
          <p:nvPr/>
        </p:nvSpPr>
        <p:spPr>
          <a:xfrm>
            <a:off x="987480" y="318204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27" name="Rounded Rectangle 101"/>
          <p:cNvSpPr/>
          <p:nvPr/>
        </p:nvSpPr>
        <p:spPr>
          <a:xfrm>
            <a:off x="914400" y="310896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Java Temel Sözdizimi, Java programlarının temel yazım kurallarıdır.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Tüm kodlar bir class içinde yazılır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Program main() metodu ile başlar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Kod satırları noktalı virgül ( ; ) ile biter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{ } işaretleri kod bloklarını belirtir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Java büyük/küçük harfe duyarlıdır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8" name="Rounded Rectangle 102"/>
          <p:cNvSpPr/>
          <p:nvPr/>
        </p:nvSpPr>
        <p:spPr>
          <a:xfrm>
            <a:off x="4507920" y="318204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29" name="Rounded Rectangle 103"/>
          <p:cNvSpPr/>
          <p:nvPr/>
        </p:nvSpPr>
        <p:spPr>
          <a:xfrm>
            <a:off x="4434840" y="310896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Program Başlar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Class Yüklenir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main() Metodu Çalışır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Kod Satırları Çalışır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Program Biter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0" name="Rounded Rectangle 104"/>
          <p:cNvSpPr/>
          <p:nvPr/>
        </p:nvSpPr>
        <p:spPr>
          <a:xfrm>
            <a:off x="8028360" y="318204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31" name="Rounded Rectangle 105"/>
          <p:cNvSpPr/>
          <p:nvPr/>
        </p:nvSpPr>
        <p:spPr>
          <a:xfrm>
            <a:off x="7955280" y="310896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BasicSyntax {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System.out.println("Selam Java!");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2" name="TextBox 45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Rectangle 224"/>
          <p:cNvSpPr/>
          <p:nvPr/>
        </p:nvSpPr>
        <p:spPr>
          <a:xfrm>
            <a:off x="0" y="0"/>
            <a:ext cx="12185640" cy="685476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34" name="Rectangle 226"/>
          <p:cNvSpPr/>
          <p:nvPr/>
        </p:nvSpPr>
        <p:spPr>
          <a:xfrm>
            <a:off x="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35" name="Rectangle 227"/>
          <p:cNvSpPr/>
          <p:nvPr/>
        </p:nvSpPr>
        <p:spPr>
          <a:xfrm>
            <a:off x="9144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36" name="Rectangle 228"/>
          <p:cNvSpPr/>
          <p:nvPr/>
        </p:nvSpPr>
        <p:spPr>
          <a:xfrm>
            <a:off x="18288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37" name="Rectangle 229"/>
          <p:cNvSpPr/>
          <p:nvPr/>
        </p:nvSpPr>
        <p:spPr>
          <a:xfrm>
            <a:off x="27432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38" name="Rectangle 230"/>
          <p:cNvSpPr/>
          <p:nvPr/>
        </p:nvSpPr>
        <p:spPr>
          <a:xfrm>
            <a:off x="36576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39" name="Rectangle 231"/>
          <p:cNvSpPr/>
          <p:nvPr/>
        </p:nvSpPr>
        <p:spPr>
          <a:xfrm>
            <a:off x="45720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0" name="Rectangle 232"/>
          <p:cNvSpPr/>
          <p:nvPr/>
        </p:nvSpPr>
        <p:spPr>
          <a:xfrm>
            <a:off x="54864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1" name="Rectangle 233"/>
          <p:cNvSpPr/>
          <p:nvPr/>
        </p:nvSpPr>
        <p:spPr>
          <a:xfrm>
            <a:off x="64008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2" name="Rectangle 234"/>
          <p:cNvSpPr/>
          <p:nvPr/>
        </p:nvSpPr>
        <p:spPr>
          <a:xfrm>
            <a:off x="73152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3" name="Rectangle 235"/>
          <p:cNvSpPr/>
          <p:nvPr/>
        </p:nvSpPr>
        <p:spPr>
          <a:xfrm>
            <a:off x="82296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4" name="Rectangle 236"/>
          <p:cNvSpPr/>
          <p:nvPr/>
        </p:nvSpPr>
        <p:spPr>
          <a:xfrm>
            <a:off x="91440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5" name="Rectangle 237"/>
          <p:cNvSpPr/>
          <p:nvPr/>
        </p:nvSpPr>
        <p:spPr>
          <a:xfrm>
            <a:off x="100584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6" name="Rectangle 238"/>
          <p:cNvSpPr/>
          <p:nvPr/>
        </p:nvSpPr>
        <p:spPr>
          <a:xfrm>
            <a:off x="109728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7" name="Rectangle 239"/>
          <p:cNvSpPr/>
          <p:nvPr/>
        </p:nvSpPr>
        <p:spPr>
          <a:xfrm>
            <a:off x="118872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8" name="Rectangle 240"/>
          <p:cNvSpPr/>
          <p:nvPr/>
        </p:nvSpPr>
        <p:spPr>
          <a:xfrm>
            <a:off x="0" y="0"/>
            <a:ext cx="316800" cy="685476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9" name="Rounded Rectangle 106"/>
          <p:cNvSpPr/>
          <p:nvPr/>
        </p:nvSpPr>
        <p:spPr>
          <a:xfrm>
            <a:off x="9875520" y="365760"/>
            <a:ext cx="2008440" cy="49968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0" name="TextBox 46"/>
          <p:cNvSpPr/>
          <p:nvPr/>
        </p:nvSpPr>
        <p:spPr>
          <a:xfrm>
            <a:off x="802080" y="1005840"/>
            <a:ext cx="936792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JAVA TANIMLAYICILAR (IDENTIFIERS)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TextBox 47"/>
          <p:cNvSpPr/>
          <p:nvPr/>
        </p:nvSpPr>
        <p:spPr>
          <a:xfrm>
            <a:off x="1519920" y="2194560"/>
            <a:ext cx="79322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Tanımlayıcılar, Java’da sınıf, değişken ve metot gibi elemanlara verilen isimlerdir.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Rounded Rectangle 107"/>
          <p:cNvSpPr/>
          <p:nvPr/>
        </p:nvSpPr>
        <p:spPr>
          <a:xfrm>
            <a:off x="987480" y="318204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53" name="Rounded Rectangle 108"/>
          <p:cNvSpPr/>
          <p:nvPr/>
        </p:nvSpPr>
        <p:spPr>
          <a:xfrm>
            <a:off x="914400" y="310896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Java Tanımlayıcıları için Kurallar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●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Bir harf, $ veya _ ile başlamalıdır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●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İlk karakterden sonra her türlü kombinasyon kullanılabilir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●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Anahtar kelimeler (keywords) tanımlayıcı olarak kullanılamaz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●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Java tanımlayıcıları büyük/küçük harfe duyarlıdır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●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İsimler anlamlı ve okunabilir olmalıdır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4" name="Rounded Rectangle 109"/>
          <p:cNvSpPr/>
          <p:nvPr/>
        </p:nvSpPr>
        <p:spPr>
          <a:xfrm>
            <a:off x="4507920" y="318204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55" name="Rounded Rectangle 110"/>
          <p:cNvSpPr/>
          <p:nvPr/>
        </p:nvSpPr>
        <p:spPr>
          <a:xfrm>
            <a:off x="4434840" y="310896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İsim Tanımlanır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İlk Karakter Kontrol Edilir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Anahtar Kelimeler Kontrol Edilir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Geçerli Tanımlayıcı Oluşturulur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Program İçinde Kullanılır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6" name="Rounded Rectangle 111"/>
          <p:cNvSpPr/>
          <p:nvPr/>
        </p:nvSpPr>
        <p:spPr>
          <a:xfrm>
            <a:off x="8028360" y="318204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57" name="Rounded Rectangle 112"/>
          <p:cNvSpPr/>
          <p:nvPr/>
        </p:nvSpPr>
        <p:spPr>
          <a:xfrm>
            <a:off x="7955280" y="310896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int age = 25;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double $salary = 5000;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int _value = 10;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int __1_value = 20;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// Geçersiz örnekler: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// int 123abc;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// int -salary;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8" name="TextBox 48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Rectangle 257"/>
          <p:cNvSpPr/>
          <p:nvPr/>
        </p:nvSpPr>
        <p:spPr>
          <a:xfrm>
            <a:off x="0" y="0"/>
            <a:ext cx="12185280" cy="68544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60" name="Rectangle 241"/>
          <p:cNvSpPr/>
          <p:nvPr/>
        </p:nvSpPr>
        <p:spPr>
          <a:xfrm>
            <a:off x="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61" name="Rectangle 242"/>
          <p:cNvSpPr/>
          <p:nvPr/>
        </p:nvSpPr>
        <p:spPr>
          <a:xfrm>
            <a:off x="9144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62" name="Rectangle 243"/>
          <p:cNvSpPr/>
          <p:nvPr/>
        </p:nvSpPr>
        <p:spPr>
          <a:xfrm>
            <a:off x="18288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63" name="Rectangle 244"/>
          <p:cNvSpPr/>
          <p:nvPr/>
        </p:nvSpPr>
        <p:spPr>
          <a:xfrm>
            <a:off x="27432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64" name="Rectangle 245"/>
          <p:cNvSpPr/>
          <p:nvPr/>
        </p:nvSpPr>
        <p:spPr>
          <a:xfrm>
            <a:off x="36576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65" name="Rectangle 246"/>
          <p:cNvSpPr/>
          <p:nvPr/>
        </p:nvSpPr>
        <p:spPr>
          <a:xfrm>
            <a:off x="45720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66" name="Rectangle 247"/>
          <p:cNvSpPr/>
          <p:nvPr/>
        </p:nvSpPr>
        <p:spPr>
          <a:xfrm>
            <a:off x="54864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67" name="Rectangle 248"/>
          <p:cNvSpPr/>
          <p:nvPr/>
        </p:nvSpPr>
        <p:spPr>
          <a:xfrm>
            <a:off x="64008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68" name="Rectangle 249"/>
          <p:cNvSpPr/>
          <p:nvPr/>
        </p:nvSpPr>
        <p:spPr>
          <a:xfrm>
            <a:off x="73152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69" name="Rectangle 250"/>
          <p:cNvSpPr/>
          <p:nvPr/>
        </p:nvSpPr>
        <p:spPr>
          <a:xfrm>
            <a:off x="82296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70" name="Rectangle 251"/>
          <p:cNvSpPr/>
          <p:nvPr/>
        </p:nvSpPr>
        <p:spPr>
          <a:xfrm>
            <a:off x="91440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71" name="Rectangle 252"/>
          <p:cNvSpPr/>
          <p:nvPr/>
        </p:nvSpPr>
        <p:spPr>
          <a:xfrm>
            <a:off x="100584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72" name="Rectangle 253"/>
          <p:cNvSpPr/>
          <p:nvPr/>
        </p:nvSpPr>
        <p:spPr>
          <a:xfrm>
            <a:off x="109728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73" name="Rectangle 254"/>
          <p:cNvSpPr/>
          <p:nvPr/>
        </p:nvSpPr>
        <p:spPr>
          <a:xfrm>
            <a:off x="118872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74" name="Rectangle 255"/>
          <p:cNvSpPr/>
          <p:nvPr/>
        </p:nvSpPr>
        <p:spPr>
          <a:xfrm>
            <a:off x="0" y="0"/>
            <a:ext cx="316440" cy="68544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75" name="Rounded Rectangle 113"/>
          <p:cNvSpPr/>
          <p:nvPr/>
        </p:nvSpPr>
        <p:spPr>
          <a:xfrm>
            <a:off x="9875520" y="365760"/>
            <a:ext cx="2008080" cy="4993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6" name="TextBox 49"/>
          <p:cNvSpPr/>
          <p:nvPr/>
        </p:nvSpPr>
        <p:spPr>
          <a:xfrm>
            <a:off x="3572280" y="550800"/>
            <a:ext cx="382500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Java Modifiers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TextBox 50"/>
          <p:cNvSpPr/>
          <p:nvPr/>
        </p:nvSpPr>
        <p:spPr>
          <a:xfrm>
            <a:off x="849960" y="1388880"/>
            <a:ext cx="944856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Tanımlayıcılar (Identifiers); sınıflar, değişkenler ve metotlar gibi Java öğelerine verilen isimlerdir.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Rounded Rectangle 114"/>
          <p:cNvSpPr/>
          <p:nvPr/>
        </p:nvSpPr>
        <p:spPr>
          <a:xfrm>
            <a:off x="987480" y="3182040"/>
            <a:ext cx="3288240" cy="2739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79" name="Rounded Rectangle 115"/>
          <p:cNvSpPr/>
          <p:nvPr/>
        </p:nvSpPr>
        <p:spPr>
          <a:xfrm>
            <a:off x="685800" y="2286000"/>
            <a:ext cx="3516840" cy="43416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Java Modifiers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Modifier’lar, sınıfların, metotların ve değişkenlerin erişim seviyesini ve davranışını belirler.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Kontrol ettikleri: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Görünürlük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Kalıtım (Inheritance)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Değiştirilebilirlik (Mutability)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Metot ezme (Method overriding)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Erişim Belirleyiciler (Access Modifiers)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public → Her yerden erişilebilir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private → Sadece sınıf içinden erişilebilir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protected → Aynı paket + alt sınıflar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default → Sadece aynı paket içinde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Erişim Dışı Belirleyiciler (Non-Access Modifiers)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final → Değiştirilemez / override edilemez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abstract → Alt sınıfta uygulanmalıdır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static → Sınıfa aittir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volatile → Bellek görünürlüğünü garanti eder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0" name="Rounded Rectangle 116"/>
          <p:cNvSpPr/>
          <p:nvPr/>
        </p:nvSpPr>
        <p:spPr>
          <a:xfrm>
            <a:off x="4507920" y="3182040"/>
            <a:ext cx="3288240" cy="2739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81" name="Rounded Rectangle 117"/>
          <p:cNvSpPr/>
          <p:nvPr/>
        </p:nvSpPr>
        <p:spPr>
          <a:xfrm>
            <a:off x="4434840" y="2286000"/>
            <a:ext cx="3288240" cy="41130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Java Modifier’lar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ERİŞİM BELİRLEYİCİLERİ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public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private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protected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default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ERİŞİM DIŞI BELİRLEYİCİLER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final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abstract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static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volatile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2" name="Rounded Rectangle 118"/>
          <p:cNvSpPr/>
          <p:nvPr/>
        </p:nvSpPr>
        <p:spPr>
          <a:xfrm>
            <a:off x="8028360" y="3182040"/>
            <a:ext cx="3288240" cy="2739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83" name="Rounded Rectangle 119"/>
          <p:cNvSpPr/>
          <p:nvPr/>
        </p:nvSpPr>
        <p:spPr>
          <a:xfrm>
            <a:off x="7955280" y="2743200"/>
            <a:ext cx="3288240" cy="34272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Car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private String brand;      // Erişim belirleyici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int count;   // Erişim dışı belirleyici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Car(String brand)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this.brand = brand;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count++;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final void displayBrand()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System.out.println("Marka: " + brand);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4" name="TextBox 51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Rectangle 256"/>
          <p:cNvSpPr/>
          <p:nvPr/>
        </p:nvSpPr>
        <p:spPr>
          <a:xfrm>
            <a:off x="0" y="0"/>
            <a:ext cx="12185280" cy="68544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86" name="Rectangle 258"/>
          <p:cNvSpPr/>
          <p:nvPr/>
        </p:nvSpPr>
        <p:spPr>
          <a:xfrm>
            <a:off x="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87" name="Rectangle 259"/>
          <p:cNvSpPr/>
          <p:nvPr/>
        </p:nvSpPr>
        <p:spPr>
          <a:xfrm>
            <a:off x="9144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88" name="Rectangle 260"/>
          <p:cNvSpPr/>
          <p:nvPr/>
        </p:nvSpPr>
        <p:spPr>
          <a:xfrm>
            <a:off x="18288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89" name="Rectangle 261"/>
          <p:cNvSpPr/>
          <p:nvPr/>
        </p:nvSpPr>
        <p:spPr>
          <a:xfrm>
            <a:off x="27432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0" name="Rectangle 262"/>
          <p:cNvSpPr/>
          <p:nvPr/>
        </p:nvSpPr>
        <p:spPr>
          <a:xfrm>
            <a:off x="36576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1" name="Rectangle 263"/>
          <p:cNvSpPr/>
          <p:nvPr/>
        </p:nvSpPr>
        <p:spPr>
          <a:xfrm>
            <a:off x="45720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2" name="Rectangle 264"/>
          <p:cNvSpPr/>
          <p:nvPr/>
        </p:nvSpPr>
        <p:spPr>
          <a:xfrm>
            <a:off x="54864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3" name="Rectangle 265"/>
          <p:cNvSpPr/>
          <p:nvPr/>
        </p:nvSpPr>
        <p:spPr>
          <a:xfrm>
            <a:off x="64008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4" name="Rectangle 266"/>
          <p:cNvSpPr/>
          <p:nvPr/>
        </p:nvSpPr>
        <p:spPr>
          <a:xfrm>
            <a:off x="73152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5" name="Rectangle 267"/>
          <p:cNvSpPr/>
          <p:nvPr/>
        </p:nvSpPr>
        <p:spPr>
          <a:xfrm>
            <a:off x="82296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6" name="Rectangle 268"/>
          <p:cNvSpPr/>
          <p:nvPr/>
        </p:nvSpPr>
        <p:spPr>
          <a:xfrm>
            <a:off x="91440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7" name="Rectangle 269"/>
          <p:cNvSpPr/>
          <p:nvPr/>
        </p:nvSpPr>
        <p:spPr>
          <a:xfrm>
            <a:off x="100584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8" name="Rectangle 270"/>
          <p:cNvSpPr/>
          <p:nvPr/>
        </p:nvSpPr>
        <p:spPr>
          <a:xfrm>
            <a:off x="109728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9" name="Rectangle 271"/>
          <p:cNvSpPr/>
          <p:nvPr/>
        </p:nvSpPr>
        <p:spPr>
          <a:xfrm>
            <a:off x="118872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00" name="Rectangle 272"/>
          <p:cNvSpPr/>
          <p:nvPr/>
        </p:nvSpPr>
        <p:spPr>
          <a:xfrm>
            <a:off x="0" y="0"/>
            <a:ext cx="316440" cy="68544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01" name="Rounded Rectangle 120"/>
          <p:cNvSpPr/>
          <p:nvPr/>
        </p:nvSpPr>
        <p:spPr>
          <a:xfrm>
            <a:off x="9875520" y="365760"/>
            <a:ext cx="2008080" cy="4993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2" name="TextBox 52"/>
          <p:cNvSpPr/>
          <p:nvPr/>
        </p:nvSpPr>
        <p:spPr>
          <a:xfrm>
            <a:off x="3239640" y="1005840"/>
            <a:ext cx="449424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Java Değişkenleri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TextBox 53"/>
          <p:cNvSpPr/>
          <p:nvPr/>
        </p:nvSpPr>
        <p:spPr>
          <a:xfrm>
            <a:off x="1310400" y="2013840"/>
            <a:ext cx="8348400" cy="95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Java Değişkenleri, verileri depolamak için kullanılan isimlendirilmiş bellek alanlarıdır.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Her değişken bir veri tipine sahiptir ve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bilginin program içinde nasıl saklandığını, erişildiğini ve işlendiğini belirler.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Rounded Rectangle 121"/>
          <p:cNvSpPr/>
          <p:nvPr/>
        </p:nvSpPr>
        <p:spPr>
          <a:xfrm>
            <a:off x="987480" y="3182040"/>
            <a:ext cx="3288240" cy="2739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05" name="Rounded Rectangle 122"/>
          <p:cNvSpPr/>
          <p:nvPr/>
        </p:nvSpPr>
        <p:spPr>
          <a:xfrm>
            <a:off x="914400" y="3108960"/>
            <a:ext cx="3288240" cy="27396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Değişken Türleri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Yerel Değişken (Local Variable)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Metot içinde tanımlanır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Sadece metot çalıştığı sürece var olur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Örnek Değişken (Instance Variable)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Sınıf içinde tanımlanır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Her nesneye aittir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Statik Değişken (Static Variable)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static anahtar kelimesi ile tanımlanır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Tüm nesneler arasında paylaşılır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6" name="Rounded Rectangle 123"/>
          <p:cNvSpPr/>
          <p:nvPr/>
        </p:nvSpPr>
        <p:spPr>
          <a:xfrm>
            <a:off x="4507920" y="3182040"/>
            <a:ext cx="3288240" cy="2739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07" name="Rounded Rectangle 124"/>
          <p:cNvSpPr/>
          <p:nvPr/>
        </p:nvSpPr>
        <p:spPr>
          <a:xfrm>
            <a:off x="4434840" y="3108960"/>
            <a:ext cx="3288240" cy="27396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Veri Tipi Kategorileri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İlkel Tipler (Primitive Types)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int, double, char, boolean, long, float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Referans Tipler (Reference Types)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String, Diziler (Arrays), Nesneler (Objects)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8" name="Rounded Rectangle 125"/>
          <p:cNvSpPr/>
          <p:nvPr/>
        </p:nvSpPr>
        <p:spPr>
          <a:xfrm>
            <a:off x="8028360" y="3182040"/>
            <a:ext cx="3288240" cy="2739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09" name="Rounded Rectangle 126"/>
          <p:cNvSpPr/>
          <p:nvPr/>
        </p:nvSpPr>
        <p:spPr>
          <a:xfrm>
            <a:off x="7955280" y="2971800"/>
            <a:ext cx="3288240" cy="34272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Student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String name;            // Örnek değişken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static String school = "Tech University";  // Statik değişken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void display()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int age = 20;       // Yerel değişken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System.out.println(name + " - " + age + " - " + school);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0" name="TextBox 54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Rectangle 273"/>
          <p:cNvSpPr/>
          <p:nvPr/>
        </p:nvSpPr>
        <p:spPr>
          <a:xfrm>
            <a:off x="0" y="0"/>
            <a:ext cx="12186720" cy="685584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12" name="Rectangle 274"/>
          <p:cNvSpPr/>
          <p:nvPr/>
        </p:nvSpPr>
        <p:spPr>
          <a:xfrm>
            <a:off x="0" y="0"/>
            <a:ext cx="16200" cy="68558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13" name="Rectangle 275"/>
          <p:cNvSpPr/>
          <p:nvPr/>
        </p:nvSpPr>
        <p:spPr>
          <a:xfrm>
            <a:off x="914400" y="0"/>
            <a:ext cx="16200" cy="68558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14" name="Rectangle 276"/>
          <p:cNvSpPr/>
          <p:nvPr/>
        </p:nvSpPr>
        <p:spPr>
          <a:xfrm>
            <a:off x="1828800" y="0"/>
            <a:ext cx="16200" cy="68558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15" name="Rectangle 277"/>
          <p:cNvSpPr/>
          <p:nvPr/>
        </p:nvSpPr>
        <p:spPr>
          <a:xfrm>
            <a:off x="2743200" y="0"/>
            <a:ext cx="16200" cy="68558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16" name="Rectangle 278"/>
          <p:cNvSpPr/>
          <p:nvPr/>
        </p:nvSpPr>
        <p:spPr>
          <a:xfrm>
            <a:off x="3657600" y="0"/>
            <a:ext cx="16200" cy="68558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17" name="Rectangle 279"/>
          <p:cNvSpPr/>
          <p:nvPr/>
        </p:nvSpPr>
        <p:spPr>
          <a:xfrm>
            <a:off x="4572000" y="0"/>
            <a:ext cx="16200" cy="68558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18" name="Rectangle 280"/>
          <p:cNvSpPr/>
          <p:nvPr/>
        </p:nvSpPr>
        <p:spPr>
          <a:xfrm>
            <a:off x="5486400" y="0"/>
            <a:ext cx="16200" cy="68558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19" name="Rectangle 281"/>
          <p:cNvSpPr/>
          <p:nvPr/>
        </p:nvSpPr>
        <p:spPr>
          <a:xfrm>
            <a:off x="6400800" y="0"/>
            <a:ext cx="16200" cy="68558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20" name="Rectangle 282"/>
          <p:cNvSpPr/>
          <p:nvPr/>
        </p:nvSpPr>
        <p:spPr>
          <a:xfrm>
            <a:off x="7315200" y="0"/>
            <a:ext cx="16200" cy="68558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21" name="Rectangle 283"/>
          <p:cNvSpPr/>
          <p:nvPr/>
        </p:nvSpPr>
        <p:spPr>
          <a:xfrm>
            <a:off x="8229600" y="0"/>
            <a:ext cx="16200" cy="68558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22" name="Rectangle 284"/>
          <p:cNvSpPr/>
          <p:nvPr/>
        </p:nvSpPr>
        <p:spPr>
          <a:xfrm>
            <a:off x="9144000" y="0"/>
            <a:ext cx="16200" cy="68558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23" name="Rectangle 285"/>
          <p:cNvSpPr/>
          <p:nvPr/>
        </p:nvSpPr>
        <p:spPr>
          <a:xfrm>
            <a:off x="10058400" y="0"/>
            <a:ext cx="16200" cy="68558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24" name="Rectangle 286"/>
          <p:cNvSpPr/>
          <p:nvPr/>
        </p:nvSpPr>
        <p:spPr>
          <a:xfrm>
            <a:off x="10972800" y="0"/>
            <a:ext cx="16200" cy="68558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25" name="Rectangle 287"/>
          <p:cNvSpPr/>
          <p:nvPr/>
        </p:nvSpPr>
        <p:spPr>
          <a:xfrm>
            <a:off x="11887200" y="0"/>
            <a:ext cx="16200" cy="68558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26" name="Rectangle 288"/>
          <p:cNvSpPr/>
          <p:nvPr/>
        </p:nvSpPr>
        <p:spPr>
          <a:xfrm>
            <a:off x="0" y="0"/>
            <a:ext cx="317880" cy="685584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27" name="Rounded Rectangle 127"/>
          <p:cNvSpPr/>
          <p:nvPr/>
        </p:nvSpPr>
        <p:spPr>
          <a:xfrm>
            <a:off x="9875520" y="365760"/>
            <a:ext cx="2009520" cy="50076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8" name="TextBox 55"/>
          <p:cNvSpPr/>
          <p:nvPr/>
        </p:nvSpPr>
        <p:spPr>
          <a:xfrm>
            <a:off x="3756960" y="1005840"/>
            <a:ext cx="345780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JAVA ENUMS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TextBox 56"/>
          <p:cNvSpPr/>
          <p:nvPr/>
        </p:nvSpPr>
        <p:spPr>
          <a:xfrm>
            <a:off x="1149480" y="1828800"/>
            <a:ext cx="9628920" cy="7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aaaaaa"/>
                </a:solidFill>
                <a:latin typeface="Calibri"/>
                <a:ea typeface="DejaVu Sans"/>
              </a:rPr>
              <a:t>Bir enum (Enumeration’ın kısaltması), Java’da sabit bir değer kümesini tanımlamak için kullanılan özel bir veri tipidir.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aaaaaa"/>
                </a:solidFill>
                <a:latin typeface="Calibri"/>
                <a:ea typeface="DejaVu Sans"/>
              </a:rPr>
              <a:t>Java sözdiziminin (syntax) bir parçasıdır çünkü class, int veya String gibi yeni bir tür tanımlar.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aaaaaa"/>
                </a:solidFill>
                <a:latin typeface="Calibri"/>
                <a:ea typeface="DejaVu Sans"/>
              </a:rPr>
              <a:t>Enum’lar, değerleri önceden tanımlanmış sabitlerle sınırlandırarak programları daha güvenli ve daha okunabilir hale getirir.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Rounded Rectangle 128"/>
          <p:cNvSpPr/>
          <p:nvPr/>
        </p:nvSpPr>
        <p:spPr>
          <a:xfrm>
            <a:off x="987480" y="3182040"/>
            <a:ext cx="3289680" cy="27410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31" name="Rounded Rectangle 129"/>
          <p:cNvSpPr/>
          <p:nvPr/>
        </p:nvSpPr>
        <p:spPr>
          <a:xfrm>
            <a:off x="685800" y="2743200"/>
            <a:ext cx="3518280" cy="38851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Enum Nedir?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Özel bir referans tipidir.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Sabit değer gruplarını temsil etmek için kullanılır.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enum anahtar kelimesi ile tanımlanır.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Tip güvenliği sağlar (type safety).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Neden Enum Kullanırız?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Normal bir String kullanımı: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String day = "MONDA";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Bu kod derlenir, ancak yanlıştır.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Day day = Day.MONDAY;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1200"/>
            </a:b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Eğer </a:t>
            </a: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MONDA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yazarsanız, derleyici hata verir.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Bu da demektir ki enum’lar, hatalı değerleri derleme zamanında engeller.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2" name="Rounded Rectangle 130"/>
          <p:cNvSpPr/>
          <p:nvPr/>
        </p:nvSpPr>
        <p:spPr>
          <a:xfrm>
            <a:off x="4507920" y="3182040"/>
            <a:ext cx="3289680" cy="27410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33" name="Rounded Rectangle 131"/>
          <p:cNvSpPr/>
          <p:nvPr/>
        </p:nvSpPr>
        <p:spPr>
          <a:xfrm>
            <a:off x="4434840" y="3108960"/>
            <a:ext cx="3289680" cy="27410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Enum tanımlanır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Java sabit nesneler oluşturur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EnumName.VALUE şeklinde erişilir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Sadece tanımlı değerler kullanılabilir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4" name="Rounded Rectangle 132"/>
          <p:cNvSpPr/>
          <p:nvPr/>
        </p:nvSpPr>
        <p:spPr>
          <a:xfrm>
            <a:off x="8028360" y="3182040"/>
            <a:ext cx="3289680" cy="27410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35" name="Rounded Rectangle 133"/>
          <p:cNvSpPr/>
          <p:nvPr/>
        </p:nvSpPr>
        <p:spPr>
          <a:xfrm>
            <a:off x="7955280" y="3108960"/>
            <a:ext cx="3289680" cy="27410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enum Level 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LOW,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MEDIUM,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HIGH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Test 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Level myLevel = Level.MEDIUM;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System.out.println(myLevel);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6" name="TextBox 57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Rectangle 289"/>
          <p:cNvSpPr/>
          <p:nvPr/>
        </p:nvSpPr>
        <p:spPr>
          <a:xfrm>
            <a:off x="0" y="0"/>
            <a:ext cx="12185640" cy="685476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38" name="Rectangle 290"/>
          <p:cNvSpPr/>
          <p:nvPr/>
        </p:nvSpPr>
        <p:spPr>
          <a:xfrm>
            <a:off x="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39" name="Rectangle 291"/>
          <p:cNvSpPr/>
          <p:nvPr/>
        </p:nvSpPr>
        <p:spPr>
          <a:xfrm>
            <a:off x="9144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40" name="Rectangle 292"/>
          <p:cNvSpPr/>
          <p:nvPr/>
        </p:nvSpPr>
        <p:spPr>
          <a:xfrm>
            <a:off x="18288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41" name="Rectangle 293"/>
          <p:cNvSpPr/>
          <p:nvPr/>
        </p:nvSpPr>
        <p:spPr>
          <a:xfrm>
            <a:off x="27432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42" name="Rectangle 294"/>
          <p:cNvSpPr/>
          <p:nvPr/>
        </p:nvSpPr>
        <p:spPr>
          <a:xfrm>
            <a:off x="36576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43" name="Rectangle 295"/>
          <p:cNvSpPr/>
          <p:nvPr/>
        </p:nvSpPr>
        <p:spPr>
          <a:xfrm>
            <a:off x="45720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44" name="Rectangle 296"/>
          <p:cNvSpPr/>
          <p:nvPr/>
        </p:nvSpPr>
        <p:spPr>
          <a:xfrm>
            <a:off x="54864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45" name="Rectangle 297"/>
          <p:cNvSpPr/>
          <p:nvPr/>
        </p:nvSpPr>
        <p:spPr>
          <a:xfrm>
            <a:off x="64008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46" name="Rectangle 298"/>
          <p:cNvSpPr/>
          <p:nvPr/>
        </p:nvSpPr>
        <p:spPr>
          <a:xfrm>
            <a:off x="73152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47" name="Rectangle 299"/>
          <p:cNvSpPr/>
          <p:nvPr/>
        </p:nvSpPr>
        <p:spPr>
          <a:xfrm>
            <a:off x="82296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48" name="Rectangle 300"/>
          <p:cNvSpPr/>
          <p:nvPr/>
        </p:nvSpPr>
        <p:spPr>
          <a:xfrm>
            <a:off x="91440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49" name="Rectangle 301"/>
          <p:cNvSpPr/>
          <p:nvPr/>
        </p:nvSpPr>
        <p:spPr>
          <a:xfrm>
            <a:off x="100584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50" name="Rectangle 302"/>
          <p:cNvSpPr/>
          <p:nvPr/>
        </p:nvSpPr>
        <p:spPr>
          <a:xfrm>
            <a:off x="109728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51" name="Rectangle 303"/>
          <p:cNvSpPr/>
          <p:nvPr/>
        </p:nvSpPr>
        <p:spPr>
          <a:xfrm>
            <a:off x="118872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52" name="Rectangle 304"/>
          <p:cNvSpPr/>
          <p:nvPr/>
        </p:nvSpPr>
        <p:spPr>
          <a:xfrm>
            <a:off x="0" y="0"/>
            <a:ext cx="316800" cy="685476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53" name="Rounded Rectangle 134"/>
          <p:cNvSpPr/>
          <p:nvPr/>
        </p:nvSpPr>
        <p:spPr>
          <a:xfrm>
            <a:off x="9875520" y="365760"/>
            <a:ext cx="2008440" cy="49968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4" name="TextBox 58"/>
          <p:cNvSpPr/>
          <p:nvPr/>
        </p:nvSpPr>
        <p:spPr>
          <a:xfrm>
            <a:off x="1930320" y="1005840"/>
            <a:ext cx="711000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JAVA ANAHTAR KELİMELERİ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TextBox 59"/>
          <p:cNvSpPr/>
          <p:nvPr/>
        </p:nvSpPr>
        <p:spPr>
          <a:xfrm>
            <a:off x="3064320" y="1826640"/>
            <a:ext cx="48841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Ayrılmış Kelimeler (Reserved Words) &amp; Açıklama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Rounded Rectangle 135"/>
          <p:cNvSpPr/>
          <p:nvPr/>
        </p:nvSpPr>
        <p:spPr>
          <a:xfrm>
            <a:off x="987480" y="318204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57" name="Rounded Rectangle 136"/>
          <p:cNvSpPr/>
          <p:nvPr/>
        </p:nvSpPr>
        <p:spPr>
          <a:xfrm>
            <a:off x="685800" y="2286000"/>
            <a:ext cx="3517200" cy="43426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Java Anahtar Kelimeleri Nedir?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Java Anahtar Kelimeleri, Java dilinde önceden tanımlanmış özel anlamlara sahip ayrılmış kelimelerdir.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Bu kelimeler: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Değişken ismi olarak kullanılamaz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Sınıf ismi olarak kullanılamaz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Yeniden tanımlanamaz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Derleyici için özel anlam taşır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Şunları tanımlar: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Veri tipleri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Erişim seviyeleri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Kontrol akışı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Sınıf yapısı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Nesne davranışı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Java’da şu anda 50’den fazla ayrılmış anahtar kelime bulunmaktadır.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8" name="Rounded Rectangle 137"/>
          <p:cNvSpPr/>
          <p:nvPr/>
        </p:nvSpPr>
        <p:spPr>
          <a:xfrm>
            <a:off x="4507920" y="318204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59" name="Rounded Rectangle 138"/>
          <p:cNvSpPr/>
          <p:nvPr/>
        </p:nvSpPr>
        <p:spPr>
          <a:xfrm>
            <a:off x="4434840" y="3108960"/>
            <a:ext cx="3288600" cy="30625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ERİŞİM        TİPLER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public            int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private          double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protected     boolean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KONTROL      OOP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if                    class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else               extends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for                  new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while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0" name="Rounded Rectangle 139"/>
          <p:cNvSpPr/>
          <p:nvPr/>
        </p:nvSpPr>
        <p:spPr>
          <a:xfrm>
            <a:off x="8028360" y="318204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61" name="Rounded Rectangle 140"/>
          <p:cNvSpPr/>
          <p:nvPr/>
        </p:nvSpPr>
        <p:spPr>
          <a:xfrm>
            <a:off x="8001000" y="2057400"/>
            <a:ext cx="3656880" cy="45712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Student 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private String name;      // private anahtar kelimesi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protected int age;        // protected anahtar kelimesi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Student(String name, int age) 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this.name = name;     // this anahtar kelimesi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this.age = age;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void printInfo() 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if(age &gt; 18) {        // if anahtar kelimesi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System.out.println("Yetişkin");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 else 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System.out.println("Küçük");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2" name="TextBox 60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Rectangle 305"/>
          <p:cNvSpPr/>
          <p:nvPr/>
        </p:nvSpPr>
        <p:spPr>
          <a:xfrm>
            <a:off x="0" y="0"/>
            <a:ext cx="12185640" cy="685476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64" name="Rectangle 306"/>
          <p:cNvSpPr/>
          <p:nvPr/>
        </p:nvSpPr>
        <p:spPr>
          <a:xfrm>
            <a:off x="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65" name="Rectangle 307"/>
          <p:cNvSpPr/>
          <p:nvPr/>
        </p:nvSpPr>
        <p:spPr>
          <a:xfrm>
            <a:off x="9144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66" name="Rectangle 308"/>
          <p:cNvSpPr/>
          <p:nvPr/>
        </p:nvSpPr>
        <p:spPr>
          <a:xfrm>
            <a:off x="18288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67" name="Rectangle 309"/>
          <p:cNvSpPr/>
          <p:nvPr/>
        </p:nvSpPr>
        <p:spPr>
          <a:xfrm>
            <a:off x="27432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68" name="Rectangle 310"/>
          <p:cNvSpPr/>
          <p:nvPr/>
        </p:nvSpPr>
        <p:spPr>
          <a:xfrm>
            <a:off x="36576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69" name="Rectangle 311"/>
          <p:cNvSpPr/>
          <p:nvPr/>
        </p:nvSpPr>
        <p:spPr>
          <a:xfrm>
            <a:off x="45720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70" name="Rectangle 312"/>
          <p:cNvSpPr/>
          <p:nvPr/>
        </p:nvSpPr>
        <p:spPr>
          <a:xfrm>
            <a:off x="54864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71" name="Rectangle 313"/>
          <p:cNvSpPr/>
          <p:nvPr/>
        </p:nvSpPr>
        <p:spPr>
          <a:xfrm>
            <a:off x="64008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72" name="Rectangle 314"/>
          <p:cNvSpPr/>
          <p:nvPr/>
        </p:nvSpPr>
        <p:spPr>
          <a:xfrm>
            <a:off x="73152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73" name="Rectangle 315"/>
          <p:cNvSpPr/>
          <p:nvPr/>
        </p:nvSpPr>
        <p:spPr>
          <a:xfrm>
            <a:off x="82296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74" name="Rectangle 316"/>
          <p:cNvSpPr/>
          <p:nvPr/>
        </p:nvSpPr>
        <p:spPr>
          <a:xfrm>
            <a:off x="91440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75" name="Rectangle 317"/>
          <p:cNvSpPr/>
          <p:nvPr/>
        </p:nvSpPr>
        <p:spPr>
          <a:xfrm>
            <a:off x="100584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76" name="Rectangle 318"/>
          <p:cNvSpPr/>
          <p:nvPr/>
        </p:nvSpPr>
        <p:spPr>
          <a:xfrm>
            <a:off x="109728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77" name="Rectangle 319"/>
          <p:cNvSpPr/>
          <p:nvPr/>
        </p:nvSpPr>
        <p:spPr>
          <a:xfrm>
            <a:off x="118872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78" name="Rectangle 320"/>
          <p:cNvSpPr/>
          <p:nvPr/>
        </p:nvSpPr>
        <p:spPr>
          <a:xfrm>
            <a:off x="0" y="0"/>
            <a:ext cx="316800" cy="685476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79" name="Rounded Rectangle 141"/>
          <p:cNvSpPr/>
          <p:nvPr/>
        </p:nvSpPr>
        <p:spPr>
          <a:xfrm>
            <a:off x="9875520" y="365760"/>
            <a:ext cx="2008440" cy="49968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0" name="TextBox 61"/>
          <p:cNvSpPr/>
          <p:nvPr/>
        </p:nvSpPr>
        <p:spPr>
          <a:xfrm>
            <a:off x="2800080" y="1005840"/>
            <a:ext cx="537192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JAVA'DA YORUMLAR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TextBox 62"/>
          <p:cNvSpPr/>
          <p:nvPr/>
        </p:nvSpPr>
        <p:spPr>
          <a:xfrm>
            <a:off x="2288520" y="1828800"/>
            <a:ext cx="6532920" cy="95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Yorumlar, kodu açıklamak için kullanılan çalıştırılmayan satırlardır.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Okunabilirliği artırır ve programın çalışmasını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etkilemeden geliştiricilerin mantığı anlamasını sağlar.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" name="Rounded Rectangle 142"/>
          <p:cNvSpPr/>
          <p:nvPr/>
        </p:nvSpPr>
        <p:spPr>
          <a:xfrm>
            <a:off x="987480" y="318204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83" name="Rounded Rectangle 143"/>
          <p:cNvSpPr/>
          <p:nvPr/>
        </p:nvSpPr>
        <p:spPr>
          <a:xfrm>
            <a:off x="685800" y="2971800"/>
            <a:ext cx="3517200" cy="32000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Java’da yorumlar derleyici tarafından yok sayılır.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Sadece geliştiriciler için yazılır.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Üç tür yorum vardır: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Tek satır yorum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Çok satırlı yorum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Dokümantasyon yorumu (Javadoc)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Yorumlar kodu daha temiz, daha sürdürülebilir ve ekip çalışmalarında daha anlaşılır hale getirir.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4" name="Rounded Rectangle 144"/>
          <p:cNvSpPr/>
          <p:nvPr/>
        </p:nvSpPr>
        <p:spPr>
          <a:xfrm>
            <a:off x="4507920" y="318204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85" name="Rounded Rectangle 145"/>
          <p:cNvSpPr/>
          <p:nvPr/>
        </p:nvSpPr>
        <p:spPr>
          <a:xfrm>
            <a:off x="4434840" y="310896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Kodu Yaz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Yorum Ekleyerek Açıklama Yap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Derleyici Yorumları Yok Sayar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Program Normal Şekilde Çalışır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Amaç: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Davranışı değiştirmeden okunabilirliği artırmak.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6" name="Rounded Rectangle 146"/>
          <p:cNvSpPr/>
          <p:nvPr/>
        </p:nvSpPr>
        <p:spPr>
          <a:xfrm>
            <a:off x="8028360" y="318204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87" name="Rounded Rectangle 147"/>
          <p:cNvSpPr/>
          <p:nvPr/>
        </p:nvSpPr>
        <p:spPr>
          <a:xfrm>
            <a:off x="7955280" y="3108960"/>
            <a:ext cx="3474360" cy="30628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CommentExample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// Tek satır yorum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/* Çok satırlı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yorum */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System.out.println("Merhaba Java"); // Satır sonu yorumu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8" name="TextBox 63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Rectangle 321"/>
          <p:cNvSpPr/>
          <p:nvPr/>
        </p:nvSpPr>
        <p:spPr>
          <a:xfrm>
            <a:off x="0" y="0"/>
            <a:ext cx="12187800" cy="68569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90" name="Rectangle 322"/>
          <p:cNvSpPr/>
          <p:nvPr/>
        </p:nvSpPr>
        <p:spPr>
          <a:xfrm>
            <a:off x="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91" name="Rectangle 323"/>
          <p:cNvSpPr/>
          <p:nvPr/>
        </p:nvSpPr>
        <p:spPr>
          <a:xfrm>
            <a:off x="9144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92" name="Rectangle 324"/>
          <p:cNvSpPr/>
          <p:nvPr/>
        </p:nvSpPr>
        <p:spPr>
          <a:xfrm>
            <a:off x="18288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93" name="Rectangle 325"/>
          <p:cNvSpPr/>
          <p:nvPr/>
        </p:nvSpPr>
        <p:spPr>
          <a:xfrm>
            <a:off x="27432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94" name="Rectangle 326"/>
          <p:cNvSpPr/>
          <p:nvPr/>
        </p:nvSpPr>
        <p:spPr>
          <a:xfrm>
            <a:off x="36576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95" name="Rectangle 327"/>
          <p:cNvSpPr/>
          <p:nvPr/>
        </p:nvSpPr>
        <p:spPr>
          <a:xfrm>
            <a:off x="45720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96" name="Rectangle 328"/>
          <p:cNvSpPr/>
          <p:nvPr/>
        </p:nvSpPr>
        <p:spPr>
          <a:xfrm>
            <a:off x="54864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97" name="Rectangle 329"/>
          <p:cNvSpPr/>
          <p:nvPr/>
        </p:nvSpPr>
        <p:spPr>
          <a:xfrm>
            <a:off x="64008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98" name="Rectangle 330"/>
          <p:cNvSpPr/>
          <p:nvPr/>
        </p:nvSpPr>
        <p:spPr>
          <a:xfrm>
            <a:off x="73152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99" name="Rectangle 331"/>
          <p:cNvSpPr/>
          <p:nvPr/>
        </p:nvSpPr>
        <p:spPr>
          <a:xfrm>
            <a:off x="82296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00" name="Rectangle 332"/>
          <p:cNvSpPr/>
          <p:nvPr/>
        </p:nvSpPr>
        <p:spPr>
          <a:xfrm>
            <a:off x="91440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01" name="Rectangle 333"/>
          <p:cNvSpPr/>
          <p:nvPr/>
        </p:nvSpPr>
        <p:spPr>
          <a:xfrm>
            <a:off x="100584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02" name="Rectangle 334"/>
          <p:cNvSpPr/>
          <p:nvPr/>
        </p:nvSpPr>
        <p:spPr>
          <a:xfrm>
            <a:off x="109728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03" name="Rectangle 335"/>
          <p:cNvSpPr/>
          <p:nvPr/>
        </p:nvSpPr>
        <p:spPr>
          <a:xfrm>
            <a:off x="11887200" y="0"/>
            <a:ext cx="17280" cy="68569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04" name="Rectangle 336"/>
          <p:cNvSpPr/>
          <p:nvPr/>
        </p:nvSpPr>
        <p:spPr>
          <a:xfrm>
            <a:off x="0" y="0"/>
            <a:ext cx="318960" cy="68569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05" name="Rounded Rectangle 148"/>
          <p:cNvSpPr/>
          <p:nvPr/>
        </p:nvSpPr>
        <p:spPr>
          <a:xfrm>
            <a:off x="9875520" y="365760"/>
            <a:ext cx="2010600" cy="5018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6" name="TextBox 64"/>
          <p:cNvSpPr/>
          <p:nvPr/>
        </p:nvSpPr>
        <p:spPr>
          <a:xfrm>
            <a:off x="3342240" y="1005840"/>
            <a:ext cx="428832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JAVA TEMELLERI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TextBox 65"/>
          <p:cNvSpPr/>
          <p:nvPr/>
        </p:nvSpPr>
        <p:spPr>
          <a:xfrm>
            <a:off x="4232520" y="2194560"/>
            <a:ext cx="250668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Sonraki Sunum Konuları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8" name="Rounded Rectangle 149"/>
          <p:cNvSpPr/>
          <p:nvPr/>
        </p:nvSpPr>
        <p:spPr>
          <a:xfrm>
            <a:off x="987480" y="3182040"/>
            <a:ext cx="3290760" cy="27421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09" name="Rounded Rectangle 150"/>
          <p:cNvSpPr/>
          <p:nvPr/>
        </p:nvSpPr>
        <p:spPr>
          <a:xfrm>
            <a:off x="914400" y="3108960"/>
            <a:ext cx="3290760" cy="30632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Önümüzdeki slaytlarda Java’nın temel yapı taşlarını inceleyeceğiz: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Değişkenler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– Java veriyi bellekte nasıl saklar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Veri Tipleri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– İlkel (primitive) ve referans tipler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Tür Dönüşümü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– Veriyi bir tipten başka bir tipe dönüştürme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Unicode Sistemi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– Java karakterleri dahili olarak nasıl temsil eder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Kullanıcı Girdisi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– Konsol üzerinden veri alma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0" name="Rounded Rectangle 151"/>
          <p:cNvSpPr/>
          <p:nvPr/>
        </p:nvSpPr>
        <p:spPr>
          <a:xfrm>
            <a:off x="4507920" y="3182040"/>
            <a:ext cx="3290760" cy="27421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11" name="Rounded Rectangle 152"/>
          <p:cNvSpPr/>
          <p:nvPr/>
        </p:nvSpPr>
        <p:spPr>
          <a:xfrm>
            <a:off x="4343400" y="2743200"/>
            <a:ext cx="3382200" cy="36576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Öğrenme İlerlemesi: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Variables (Değişkenler)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⬇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Data Types (Veri Tipleri)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⬇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Type Casting (Tür Dönüşümü)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⬇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Unicode System (Unicode Sistemi)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⬇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User Input (Kullanıcı Girdisi)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Her konu bir öncekinin üzerine inşa edilir.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Bu bölümün sonunda verinin Java’da nasıl saklandığını işlendiğini, dönüştürüldüğünü ve kullanıcıdan nasıl alındığını anlayacaksınız.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2" name="Rounded Rectangle 153"/>
          <p:cNvSpPr/>
          <p:nvPr/>
        </p:nvSpPr>
        <p:spPr>
          <a:xfrm>
            <a:off x="8028360" y="3182040"/>
            <a:ext cx="3290760" cy="27421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13" name="Rounded Rectangle 154"/>
          <p:cNvSpPr/>
          <p:nvPr/>
        </p:nvSpPr>
        <p:spPr>
          <a:xfrm>
            <a:off x="7955280" y="3108960"/>
            <a:ext cx="3290760" cy="27421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Bu slaytta kod örneği bulunmamaktadır.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4" name="TextBox 66"/>
          <p:cNvSpPr/>
          <p:nvPr/>
        </p:nvSpPr>
        <p:spPr>
          <a:xfrm>
            <a:off x="4600080" y="6446520"/>
            <a:ext cx="3051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662</TotalTime>
  <Application>LibreOffice/7.4.2.3$Windows_X86_64 LibreOffice_project/382eef1f22670f7f4118c8c2dd222ec7ad009daf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2026-02-28T17:35:33Z</dcterms:modified>
  <cp:revision>40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