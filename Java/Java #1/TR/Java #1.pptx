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658E2D-A8A1-4601-9D3A-76031738CA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D34C72-36F0-460A-A80E-135F789FD8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E36678-AA87-46DA-8128-0AC34D70135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3E65D9-F086-476F-AAA3-86B6DB78D7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582A75-65B1-4DCF-89F6-DD38D4A051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351683-439B-47E1-B562-BA7C835570E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644F41-561A-471C-91A4-B096CD5FA8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CE23ED-1718-41EF-9BB9-82C674B11E3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9B4126-56B7-4D98-9768-605CBB5F08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58BF9C-8AFA-4482-8075-2397F681641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57397F-E336-4EAF-A0DB-DA67237F570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E47E33-2D0B-44F6-9F4F-CD49D5C1E2E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36FE44-28C8-4318-B9DF-7ACA61CB87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D0C5D87-046A-4B05-833C-CE4D318D4B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C790FE-5B01-400D-99E6-8F79D0A243B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0157BAD-7A13-48AC-970C-68684FA115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353D42F-C56C-4671-A9DE-CA4935CD76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BD5959-45C2-4779-9581-C1ACE114AB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34B63BE-ABBF-4D1F-BB76-51BCE83807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8DD02DA-7A3B-40B0-80E2-8CA0C40ED21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BB617A0-E5A4-4158-8EF0-804672ADD8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27245EC-BC7F-40BB-B861-6F183EF922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1D6243A-F22B-47BB-8913-DA31E4F2986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2B0A655-0E06-497A-A06D-FA4843E29F3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2D6D99B-D8D5-4C59-A00D-39F04AC72B0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74649F8-5E3E-4ED3-9E06-02086E8438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62A2C5C-0070-4210-8476-C14CEA603C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475373A-BFE4-41D9-8E96-4170DB5FC5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E8160C3-1170-4D6E-9DB1-C6CF319BC8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AE1CA0C-233C-4D23-8FF5-51EABBAA96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84A47BD-7E94-4BE2-B1F5-54D2AD6252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9862822-2FBD-4788-8B89-AADA22FE27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5B3B662-A69D-4DE2-BE0D-6EFD6E28A9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411F42D-45B7-485A-9A1C-7D417505092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985FD4B-D1A9-4640-81DC-AB288A96938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5FB5C84-0978-4667-BD8B-D912D145F7B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685D3E5-F587-43BB-BD45-211CE69B4CB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DD60C29-3BEF-4123-873B-5D36830C13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6C1A29A-CD7B-43C1-B06F-91708C0EFC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5567330-9648-4365-A6A1-CDC4AE3221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2A0F57-E799-4409-BF19-62D843D599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3EB0235-4EE0-4D5A-81ED-72873F79D0D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89A62C4-CE98-4533-8E64-2083A1B64E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AAD3873-A960-4CDF-B787-43B71F65DE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F4FFD89-F664-4DAE-8CC2-890839D10E3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09FF3FA-8709-45BC-9BBD-F07DC2E7C8F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FAC94A5-AC3F-4730-ADE9-1B418DF5550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6C2DD27-C469-44F1-8ECD-E7AB1F9FD48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47C2400-EA37-46B3-9D8E-69962E056E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5F3514A-8C81-45BB-9C19-F0F710A9F5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0D727BF-80ED-4476-8BEB-F55F7066E7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A00F0F7-18CC-4864-B5F2-1AC371CA0B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016FCB6-A4FD-4D8F-B550-A31F203398A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6FB6E66-1C89-4C2F-AE94-ECD2946E02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9B3DE45-4471-4F77-9174-4931D6A891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09AEE93-65A5-4340-84CE-695ECA97C1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AE34C1C-605A-416D-B42E-2420A729FC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8930752-BC3F-433A-9D72-F2B15BCC63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CE368E2-D589-4F89-B57F-6AC36A7C485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07C1FE3-0491-4285-B9F6-2D50BF359A9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60A3ACE-769B-44A0-95A5-2A9E614F82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9EA33D9-36A9-4BC3-A503-34F1BE3DD46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3C50891-A0AA-4AF5-9049-F351BEEEF6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AB748B3-26E5-488D-A0C7-B2ACD09713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53E4081-7ADE-4EB1-972D-AE7EE2F31B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86F7ADB-85D2-4519-B053-0ABD273F9E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04F84D3-FDDA-4A26-8182-D4631FBC87A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505F66E-DF62-4E16-A921-84421DB9E5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91F73E0-43E3-415A-9543-304AEFE250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78F397B-D929-49BD-99AB-158E658BFA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C9E2B65-5EFC-43DD-AB7E-728DA7DF5E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D74516A-1FC1-46A1-B585-DD0088BE03E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91EC783-6E72-48C3-9609-F598293E6B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F9AB563-CE4B-47BC-ABB3-3DDB051265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CE87B83-4FA6-4BC0-9E4C-8877901105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4E87382-1751-4C86-8A02-53130F4BC5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1574347-84F3-4741-9114-3ECE9839128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20B462B-0B51-4B92-8B8F-1244759DF5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0CEF9AA-8364-49B0-9A7A-69B3CB7001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7E9E6A8-8B4C-4B50-82F1-552C79E6E3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E5D961A-C14C-4687-AB7D-D1BE2F70C3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CFE33B5-E784-4180-9258-1052111A8B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C7B76A1-C997-4CE4-9FBC-524FF16174F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0877687-9319-4966-9FE5-9CFFCA1AA3F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CAE7394-0F94-4980-9E69-2E221D8E74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108E148-1384-41A6-8E8C-D386A6CEA7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43D487D-36D6-472E-9403-61A432CA0F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89A2DE5-CE62-4914-8A75-9E946F1A9D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CE9B1B2-532D-4CCF-8647-148300DD93B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73AA4DF-F509-4A09-B414-C3B3D39DA6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4C15E55-D633-4196-B3E2-24971E8AD9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1A001BC-AC91-4231-9B5B-901E544B41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5F70ABC-3A22-48E4-9C18-F6BC12E244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13C3410-8BFF-4C49-B8DB-F41CFF5F47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F9E1A3A-225F-41FC-9C9E-1E8DB96D901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8FEF2EB-55E9-4B3E-B2D1-E0416645551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62B07D2-D31C-4A63-B58D-43407EDF3C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BEE430F-8799-48E0-BC8B-F6A1FEAFCF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0945E85-A2BB-45EB-98CB-864F56A24B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0C7BA9C-477D-4D56-8DF5-0FEB7C2ED7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CCF9B97-3176-4D31-8AC2-5A89CE8C6A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73D4F49-574C-4F40-AF0D-F1EB9A2CF2F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535DA66-7696-4933-8A5F-6981BA82F9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933EAAE-912E-4F47-A55A-999865B6DD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46FE398-36AD-44CE-AA2B-8C4B8D21A5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35EF7F9-1275-4BD6-BB12-F35046ECFD8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AEF326A-3103-4405-8BA6-D649FEBA8CB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5285F1C-713B-4383-802D-C0D4FF106FA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806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108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373169-BDF5-403A-9780-ACA35BD1B03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108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27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87AAE8-E75B-4C47-8A37-81B886E299A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324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348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7433D1-1AFC-463D-B973-7A81D0C8AF1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442320" y="7005240"/>
            <a:ext cx="31838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722304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9471BA-52DC-4747-8E24-3BBECBE759F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50292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442320" y="7005240"/>
            <a:ext cx="31838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722304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CE00C7-9878-4DC7-984F-2E1C47CC033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50292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442320" y="7005240"/>
            <a:ext cx="31842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722304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0CE241-B554-410E-8E7E-BDC3B30590C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50292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442320" y="7005240"/>
            <a:ext cx="31842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722304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9A1734-A8F1-4E37-9066-EFB940AC81A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50292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442320" y="7005240"/>
            <a:ext cx="318456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722304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AB813A-0CB0-4BB1-B26C-8B218A44E52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50292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442320" y="7005240"/>
            <a:ext cx="31838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722304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D38D19-3063-44EF-BD99-A554D06CD80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50292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1"/>
          <p:cNvSpPr/>
          <p:nvPr/>
        </p:nvSpPr>
        <p:spPr>
          <a:xfrm>
            <a:off x="1800" y="1800"/>
            <a:ext cx="1342116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2"/>
          <p:cNvSpPr/>
          <p:nvPr/>
        </p:nvSpPr>
        <p:spPr>
          <a:xfrm>
            <a:off x="1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3"/>
          <p:cNvSpPr/>
          <p:nvPr/>
        </p:nvSpPr>
        <p:spPr>
          <a:xfrm>
            <a:off x="10047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4"/>
          <p:cNvSpPr/>
          <p:nvPr/>
        </p:nvSpPr>
        <p:spPr>
          <a:xfrm>
            <a:off x="20124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5"/>
          <p:cNvSpPr/>
          <p:nvPr/>
        </p:nvSpPr>
        <p:spPr>
          <a:xfrm>
            <a:off x="30200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6"/>
          <p:cNvSpPr/>
          <p:nvPr/>
        </p:nvSpPr>
        <p:spPr>
          <a:xfrm>
            <a:off x="40276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7"/>
          <p:cNvSpPr/>
          <p:nvPr/>
        </p:nvSpPr>
        <p:spPr>
          <a:xfrm>
            <a:off x="50353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8"/>
          <p:cNvSpPr/>
          <p:nvPr/>
        </p:nvSpPr>
        <p:spPr>
          <a:xfrm>
            <a:off x="60429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9"/>
          <p:cNvSpPr/>
          <p:nvPr/>
        </p:nvSpPr>
        <p:spPr>
          <a:xfrm>
            <a:off x="70506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0"/>
          <p:cNvSpPr/>
          <p:nvPr/>
        </p:nvSpPr>
        <p:spPr>
          <a:xfrm>
            <a:off x="80582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1"/>
          <p:cNvSpPr/>
          <p:nvPr/>
        </p:nvSpPr>
        <p:spPr>
          <a:xfrm>
            <a:off x="90658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2"/>
          <p:cNvSpPr/>
          <p:nvPr/>
        </p:nvSpPr>
        <p:spPr>
          <a:xfrm>
            <a:off x="100735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3"/>
          <p:cNvSpPr/>
          <p:nvPr/>
        </p:nvSpPr>
        <p:spPr>
          <a:xfrm>
            <a:off x="11080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4"/>
          <p:cNvSpPr/>
          <p:nvPr/>
        </p:nvSpPr>
        <p:spPr>
          <a:xfrm>
            <a:off x="120884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5"/>
          <p:cNvSpPr/>
          <p:nvPr/>
        </p:nvSpPr>
        <p:spPr>
          <a:xfrm>
            <a:off x="130960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16"/>
          <p:cNvSpPr/>
          <p:nvPr/>
        </p:nvSpPr>
        <p:spPr>
          <a:xfrm>
            <a:off x="1800" y="1800"/>
            <a:ext cx="34272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17"/>
          <p:cNvSpPr/>
          <p:nvPr/>
        </p:nvSpPr>
        <p:spPr>
          <a:xfrm>
            <a:off x="10880640" y="401400"/>
            <a:ext cx="220644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Rounded Rectangle 20"/>
          <p:cNvSpPr/>
          <p:nvPr/>
        </p:nvSpPr>
        <p:spPr>
          <a:xfrm>
            <a:off x="108612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21"/>
          <p:cNvSpPr/>
          <p:nvPr/>
        </p:nvSpPr>
        <p:spPr>
          <a:xfrm>
            <a:off x="1019520" y="342684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Rounded Rectangle 22"/>
          <p:cNvSpPr/>
          <p:nvPr/>
        </p:nvSpPr>
        <p:spPr>
          <a:xfrm>
            <a:off x="496620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ounded Rectangle 23"/>
          <p:cNvSpPr/>
          <p:nvPr/>
        </p:nvSpPr>
        <p:spPr>
          <a:xfrm>
            <a:off x="4884480" y="342684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Rounded Rectangle 24"/>
          <p:cNvSpPr/>
          <p:nvPr/>
        </p:nvSpPr>
        <p:spPr>
          <a:xfrm>
            <a:off x="884556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ounded Rectangle 25"/>
          <p:cNvSpPr/>
          <p:nvPr/>
        </p:nvSpPr>
        <p:spPr>
          <a:xfrm>
            <a:off x="8763840" y="342684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Rectangle 32"/>
          <p:cNvSpPr/>
          <p:nvPr/>
        </p:nvSpPr>
        <p:spPr>
          <a:xfrm>
            <a:off x="1800" y="1800"/>
            <a:ext cx="1342116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33"/>
          <p:cNvSpPr/>
          <p:nvPr/>
        </p:nvSpPr>
        <p:spPr>
          <a:xfrm>
            <a:off x="1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34"/>
          <p:cNvSpPr/>
          <p:nvPr/>
        </p:nvSpPr>
        <p:spPr>
          <a:xfrm>
            <a:off x="10047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35"/>
          <p:cNvSpPr/>
          <p:nvPr/>
        </p:nvSpPr>
        <p:spPr>
          <a:xfrm>
            <a:off x="20124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36"/>
          <p:cNvSpPr/>
          <p:nvPr/>
        </p:nvSpPr>
        <p:spPr>
          <a:xfrm>
            <a:off x="30200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37"/>
          <p:cNvSpPr/>
          <p:nvPr/>
        </p:nvSpPr>
        <p:spPr>
          <a:xfrm>
            <a:off x="40276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38"/>
          <p:cNvSpPr/>
          <p:nvPr/>
        </p:nvSpPr>
        <p:spPr>
          <a:xfrm>
            <a:off x="50353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39"/>
          <p:cNvSpPr/>
          <p:nvPr/>
        </p:nvSpPr>
        <p:spPr>
          <a:xfrm>
            <a:off x="60429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40"/>
          <p:cNvSpPr/>
          <p:nvPr/>
        </p:nvSpPr>
        <p:spPr>
          <a:xfrm>
            <a:off x="70506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41"/>
          <p:cNvSpPr/>
          <p:nvPr/>
        </p:nvSpPr>
        <p:spPr>
          <a:xfrm>
            <a:off x="80582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42"/>
          <p:cNvSpPr/>
          <p:nvPr/>
        </p:nvSpPr>
        <p:spPr>
          <a:xfrm>
            <a:off x="90658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43"/>
          <p:cNvSpPr/>
          <p:nvPr/>
        </p:nvSpPr>
        <p:spPr>
          <a:xfrm>
            <a:off x="100735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44"/>
          <p:cNvSpPr/>
          <p:nvPr/>
        </p:nvSpPr>
        <p:spPr>
          <a:xfrm>
            <a:off x="11080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45"/>
          <p:cNvSpPr/>
          <p:nvPr/>
        </p:nvSpPr>
        <p:spPr>
          <a:xfrm>
            <a:off x="120884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46"/>
          <p:cNvSpPr/>
          <p:nvPr/>
        </p:nvSpPr>
        <p:spPr>
          <a:xfrm>
            <a:off x="130960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47"/>
          <p:cNvSpPr/>
          <p:nvPr/>
        </p:nvSpPr>
        <p:spPr>
          <a:xfrm>
            <a:off x="1800" y="1800"/>
            <a:ext cx="34272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8"/>
          <p:cNvSpPr/>
          <p:nvPr/>
        </p:nvSpPr>
        <p:spPr>
          <a:xfrm>
            <a:off x="10880640" y="401400"/>
            <a:ext cx="220644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Rounded Rectangle 9"/>
          <p:cNvSpPr/>
          <p:nvPr/>
        </p:nvSpPr>
        <p:spPr>
          <a:xfrm>
            <a:off x="108612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10"/>
          <p:cNvSpPr/>
          <p:nvPr/>
        </p:nvSpPr>
        <p:spPr>
          <a:xfrm>
            <a:off x="100584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496620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ounded Rectangle 12"/>
          <p:cNvSpPr/>
          <p:nvPr/>
        </p:nvSpPr>
        <p:spPr>
          <a:xfrm>
            <a:off x="488448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Rounded Rectangle 13"/>
          <p:cNvSpPr/>
          <p:nvPr/>
        </p:nvSpPr>
        <p:spPr>
          <a:xfrm>
            <a:off x="884556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8763840" y="342684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Rectangle 17"/>
          <p:cNvSpPr/>
          <p:nvPr/>
        </p:nvSpPr>
        <p:spPr>
          <a:xfrm>
            <a:off x="1800" y="1800"/>
            <a:ext cx="1342116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8"/>
          <p:cNvSpPr/>
          <p:nvPr/>
        </p:nvSpPr>
        <p:spPr>
          <a:xfrm>
            <a:off x="1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9"/>
          <p:cNvSpPr/>
          <p:nvPr/>
        </p:nvSpPr>
        <p:spPr>
          <a:xfrm>
            <a:off x="10047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0"/>
          <p:cNvSpPr/>
          <p:nvPr/>
        </p:nvSpPr>
        <p:spPr>
          <a:xfrm>
            <a:off x="20124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"/>
          <p:cNvSpPr/>
          <p:nvPr/>
        </p:nvSpPr>
        <p:spPr>
          <a:xfrm>
            <a:off x="30200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2"/>
          <p:cNvSpPr/>
          <p:nvPr/>
        </p:nvSpPr>
        <p:spPr>
          <a:xfrm>
            <a:off x="40276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3"/>
          <p:cNvSpPr/>
          <p:nvPr/>
        </p:nvSpPr>
        <p:spPr>
          <a:xfrm>
            <a:off x="50353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4"/>
          <p:cNvSpPr/>
          <p:nvPr/>
        </p:nvSpPr>
        <p:spPr>
          <a:xfrm>
            <a:off x="60429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5"/>
          <p:cNvSpPr/>
          <p:nvPr/>
        </p:nvSpPr>
        <p:spPr>
          <a:xfrm>
            <a:off x="70506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6"/>
          <p:cNvSpPr/>
          <p:nvPr/>
        </p:nvSpPr>
        <p:spPr>
          <a:xfrm>
            <a:off x="80582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7"/>
          <p:cNvSpPr/>
          <p:nvPr/>
        </p:nvSpPr>
        <p:spPr>
          <a:xfrm>
            <a:off x="90658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8"/>
          <p:cNvSpPr/>
          <p:nvPr/>
        </p:nvSpPr>
        <p:spPr>
          <a:xfrm>
            <a:off x="100735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9"/>
          <p:cNvSpPr/>
          <p:nvPr/>
        </p:nvSpPr>
        <p:spPr>
          <a:xfrm>
            <a:off x="11080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30"/>
          <p:cNvSpPr/>
          <p:nvPr/>
        </p:nvSpPr>
        <p:spPr>
          <a:xfrm>
            <a:off x="120884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31"/>
          <p:cNvSpPr/>
          <p:nvPr/>
        </p:nvSpPr>
        <p:spPr>
          <a:xfrm>
            <a:off x="130960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48"/>
          <p:cNvSpPr/>
          <p:nvPr/>
        </p:nvSpPr>
        <p:spPr>
          <a:xfrm>
            <a:off x="1800" y="1800"/>
            <a:ext cx="34272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5"/>
          <p:cNvSpPr/>
          <p:nvPr/>
        </p:nvSpPr>
        <p:spPr>
          <a:xfrm>
            <a:off x="10880640" y="401400"/>
            <a:ext cx="220644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Rounded Rectangle 16"/>
          <p:cNvSpPr/>
          <p:nvPr/>
        </p:nvSpPr>
        <p:spPr>
          <a:xfrm>
            <a:off x="108612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8"/>
          <p:cNvSpPr/>
          <p:nvPr/>
        </p:nvSpPr>
        <p:spPr>
          <a:xfrm>
            <a:off x="1005840" y="342684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Rounded Rectangle 19"/>
          <p:cNvSpPr/>
          <p:nvPr/>
        </p:nvSpPr>
        <p:spPr>
          <a:xfrm>
            <a:off x="496620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ounded Rectangle 26"/>
          <p:cNvSpPr/>
          <p:nvPr/>
        </p:nvSpPr>
        <p:spPr>
          <a:xfrm>
            <a:off x="4884480" y="342540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Rounded Rectangle 27"/>
          <p:cNvSpPr/>
          <p:nvPr/>
        </p:nvSpPr>
        <p:spPr>
          <a:xfrm>
            <a:off x="884556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ounded Rectangle 28"/>
          <p:cNvSpPr/>
          <p:nvPr/>
        </p:nvSpPr>
        <p:spPr>
          <a:xfrm>
            <a:off x="876384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Rectangle 49"/>
          <p:cNvSpPr/>
          <p:nvPr/>
        </p:nvSpPr>
        <p:spPr>
          <a:xfrm>
            <a:off x="1800" y="1800"/>
            <a:ext cx="1342116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50"/>
          <p:cNvSpPr/>
          <p:nvPr/>
        </p:nvSpPr>
        <p:spPr>
          <a:xfrm>
            <a:off x="1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51"/>
          <p:cNvSpPr/>
          <p:nvPr/>
        </p:nvSpPr>
        <p:spPr>
          <a:xfrm>
            <a:off x="10047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52"/>
          <p:cNvSpPr/>
          <p:nvPr/>
        </p:nvSpPr>
        <p:spPr>
          <a:xfrm>
            <a:off x="20124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53"/>
          <p:cNvSpPr/>
          <p:nvPr/>
        </p:nvSpPr>
        <p:spPr>
          <a:xfrm>
            <a:off x="30200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54"/>
          <p:cNvSpPr/>
          <p:nvPr/>
        </p:nvSpPr>
        <p:spPr>
          <a:xfrm>
            <a:off x="40276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55"/>
          <p:cNvSpPr/>
          <p:nvPr/>
        </p:nvSpPr>
        <p:spPr>
          <a:xfrm>
            <a:off x="50353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56"/>
          <p:cNvSpPr/>
          <p:nvPr/>
        </p:nvSpPr>
        <p:spPr>
          <a:xfrm>
            <a:off x="60429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57"/>
          <p:cNvSpPr/>
          <p:nvPr/>
        </p:nvSpPr>
        <p:spPr>
          <a:xfrm>
            <a:off x="70506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58"/>
          <p:cNvSpPr/>
          <p:nvPr/>
        </p:nvSpPr>
        <p:spPr>
          <a:xfrm>
            <a:off x="80582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59"/>
          <p:cNvSpPr/>
          <p:nvPr/>
        </p:nvSpPr>
        <p:spPr>
          <a:xfrm>
            <a:off x="90658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60"/>
          <p:cNvSpPr/>
          <p:nvPr/>
        </p:nvSpPr>
        <p:spPr>
          <a:xfrm>
            <a:off x="100735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61"/>
          <p:cNvSpPr/>
          <p:nvPr/>
        </p:nvSpPr>
        <p:spPr>
          <a:xfrm>
            <a:off x="11080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62"/>
          <p:cNvSpPr/>
          <p:nvPr/>
        </p:nvSpPr>
        <p:spPr>
          <a:xfrm>
            <a:off x="120884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63"/>
          <p:cNvSpPr/>
          <p:nvPr/>
        </p:nvSpPr>
        <p:spPr>
          <a:xfrm>
            <a:off x="130960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64"/>
          <p:cNvSpPr/>
          <p:nvPr/>
        </p:nvSpPr>
        <p:spPr>
          <a:xfrm>
            <a:off x="1800" y="1800"/>
            <a:ext cx="34272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29"/>
          <p:cNvSpPr/>
          <p:nvPr/>
        </p:nvSpPr>
        <p:spPr>
          <a:xfrm>
            <a:off x="10880640" y="401400"/>
            <a:ext cx="220644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ounded Rectangle 30"/>
          <p:cNvSpPr/>
          <p:nvPr/>
        </p:nvSpPr>
        <p:spPr>
          <a:xfrm>
            <a:off x="108612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31"/>
          <p:cNvSpPr/>
          <p:nvPr/>
        </p:nvSpPr>
        <p:spPr>
          <a:xfrm>
            <a:off x="100584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Rounded Rectangle 32"/>
          <p:cNvSpPr/>
          <p:nvPr/>
        </p:nvSpPr>
        <p:spPr>
          <a:xfrm>
            <a:off x="496620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ounded Rectangle 33"/>
          <p:cNvSpPr/>
          <p:nvPr/>
        </p:nvSpPr>
        <p:spPr>
          <a:xfrm>
            <a:off x="488448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Rounded Rectangle 34"/>
          <p:cNvSpPr/>
          <p:nvPr/>
        </p:nvSpPr>
        <p:spPr>
          <a:xfrm>
            <a:off x="884556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35"/>
          <p:cNvSpPr/>
          <p:nvPr/>
        </p:nvSpPr>
        <p:spPr>
          <a:xfrm>
            <a:off x="876384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65"/>
          <p:cNvSpPr/>
          <p:nvPr/>
        </p:nvSpPr>
        <p:spPr>
          <a:xfrm>
            <a:off x="1800" y="1800"/>
            <a:ext cx="1342152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66"/>
          <p:cNvSpPr/>
          <p:nvPr/>
        </p:nvSpPr>
        <p:spPr>
          <a:xfrm>
            <a:off x="1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67"/>
          <p:cNvSpPr/>
          <p:nvPr/>
        </p:nvSpPr>
        <p:spPr>
          <a:xfrm>
            <a:off x="10047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68"/>
          <p:cNvSpPr/>
          <p:nvPr/>
        </p:nvSpPr>
        <p:spPr>
          <a:xfrm>
            <a:off x="20124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69"/>
          <p:cNvSpPr/>
          <p:nvPr/>
        </p:nvSpPr>
        <p:spPr>
          <a:xfrm>
            <a:off x="30200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70"/>
          <p:cNvSpPr/>
          <p:nvPr/>
        </p:nvSpPr>
        <p:spPr>
          <a:xfrm>
            <a:off x="40276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71"/>
          <p:cNvSpPr/>
          <p:nvPr/>
        </p:nvSpPr>
        <p:spPr>
          <a:xfrm>
            <a:off x="50353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72"/>
          <p:cNvSpPr/>
          <p:nvPr/>
        </p:nvSpPr>
        <p:spPr>
          <a:xfrm>
            <a:off x="60429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73"/>
          <p:cNvSpPr/>
          <p:nvPr/>
        </p:nvSpPr>
        <p:spPr>
          <a:xfrm>
            <a:off x="70506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74"/>
          <p:cNvSpPr/>
          <p:nvPr/>
        </p:nvSpPr>
        <p:spPr>
          <a:xfrm>
            <a:off x="80582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75"/>
          <p:cNvSpPr/>
          <p:nvPr/>
        </p:nvSpPr>
        <p:spPr>
          <a:xfrm>
            <a:off x="90658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76"/>
          <p:cNvSpPr/>
          <p:nvPr/>
        </p:nvSpPr>
        <p:spPr>
          <a:xfrm>
            <a:off x="100735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77"/>
          <p:cNvSpPr/>
          <p:nvPr/>
        </p:nvSpPr>
        <p:spPr>
          <a:xfrm>
            <a:off x="11080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78"/>
          <p:cNvSpPr/>
          <p:nvPr/>
        </p:nvSpPr>
        <p:spPr>
          <a:xfrm>
            <a:off x="120884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79"/>
          <p:cNvSpPr/>
          <p:nvPr/>
        </p:nvSpPr>
        <p:spPr>
          <a:xfrm>
            <a:off x="130960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80"/>
          <p:cNvSpPr/>
          <p:nvPr/>
        </p:nvSpPr>
        <p:spPr>
          <a:xfrm>
            <a:off x="1800" y="1800"/>
            <a:ext cx="34308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36"/>
          <p:cNvSpPr/>
          <p:nvPr/>
        </p:nvSpPr>
        <p:spPr>
          <a:xfrm>
            <a:off x="10880640" y="401400"/>
            <a:ext cx="220680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ounded Rectangle 37"/>
          <p:cNvSpPr/>
          <p:nvPr/>
        </p:nvSpPr>
        <p:spPr>
          <a:xfrm>
            <a:off x="108612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38"/>
          <p:cNvSpPr/>
          <p:nvPr/>
        </p:nvSpPr>
        <p:spPr>
          <a:xfrm>
            <a:off x="679320" y="3274920"/>
            <a:ext cx="4025160" cy="316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Rounded Rectangle 39"/>
          <p:cNvSpPr/>
          <p:nvPr/>
        </p:nvSpPr>
        <p:spPr>
          <a:xfrm>
            <a:off x="496620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ounded Rectangle 40"/>
          <p:cNvSpPr/>
          <p:nvPr/>
        </p:nvSpPr>
        <p:spPr>
          <a:xfrm>
            <a:off x="4884480" y="342684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Rounded Rectangle 41"/>
          <p:cNvSpPr/>
          <p:nvPr/>
        </p:nvSpPr>
        <p:spPr>
          <a:xfrm>
            <a:off x="884556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ounded Rectangle 42"/>
          <p:cNvSpPr/>
          <p:nvPr/>
        </p:nvSpPr>
        <p:spPr>
          <a:xfrm>
            <a:off x="876384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81"/>
          <p:cNvSpPr/>
          <p:nvPr/>
        </p:nvSpPr>
        <p:spPr>
          <a:xfrm>
            <a:off x="1800" y="1800"/>
            <a:ext cx="1342152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82"/>
          <p:cNvSpPr/>
          <p:nvPr/>
        </p:nvSpPr>
        <p:spPr>
          <a:xfrm>
            <a:off x="1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83"/>
          <p:cNvSpPr/>
          <p:nvPr/>
        </p:nvSpPr>
        <p:spPr>
          <a:xfrm>
            <a:off x="10047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84"/>
          <p:cNvSpPr/>
          <p:nvPr/>
        </p:nvSpPr>
        <p:spPr>
          <a:xfrm>
            <a:off x="20124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85"/>
          <p:cNvSpPr/>
          <p:nvPr/>
        </p:nvSpPr>
        <p:spPr>
          <a:xfrm>
            <a:off x="30200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86"/>
          <p:cNvSpPr/>
          <p:nvPr/>
        </p:nvSpPr>
        <p:spPr>
          <a:xfrm>
            <a:off x="40276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87"/>
          <p:cNvSpPr/>
          <p:nvPr/>
        </p:nvSpPr>
        <p:spPr>
          <a:xfrm>
            <a:off x="50353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88"/>
          <p:cNvSpPr/>
          <p:nvPr/>
        </p:nvSpPr>
        <p:spPr>
          <a:xfrm>
            <a:off x="60429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89"/>
          <p:cNvSpPr/>
          <p:nvPr/>
        </p:nvSpPr>
        <p:spPr>
          <a:xfrm>
            <a:off x="70506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90"/>
          <p:cNvSpPr/>
          <p:nvPr/>
        </p:nvSpPr>
        <p:spPr>
          <a:xfrm>
            <a:off x="80582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91"/>
          <p:cNvSpPr/>
          <p:nvPr/>
        </p:nvSpPr>
        <p:spPr>
          <a:xfrm>
            <a:off x="90658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92"/>
          <p:cNvSpPr/>
          <p:nvPr/>
        </p:nvSpPr>
        <p:spPr>
          <a:xfrm>
            <a:off x="100735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93"/>
          <p:cNvSpPr/>
          <p:nvPr/>
        </p:nvSpPr>
        <p:spPr>
          <a:xfrm>
            <a:off x="11080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94"/>
          <p:cNvSpPr/>
          <p:nvPr/>
        </p:nvSpPr>
        <p:spPr>
          <a:xfrm>
            <a:off x="120884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95"/>
          <p:cNvSpPr/>
          <p:nvPr/>
        </p:nvSpPr>
        <p:spPr>
          <a:xfrm>
            <a:off x="130960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96"/>
          <p:cNvSpPr/>
          <p:nvPr/>
        </p:nvSpPr>
        <p:spPr>
          <a:xfrm>
            <a:off x="1800" y="1800"/>
            <a:ext cx="34308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"/>
          <p:cNvSpPr/>
          <p:nvPr/>
        </p:nvSpPr>
        <p:spPr>
          <a:xfrm>
            <a:off x="10880640" y="401400"/>
            <a:ext cx="220680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Rounded Rectangle 43"/>
          <p:cNvSpPr/>
          <p:nvPr/>
        </p:nvSpPr>
        <p:spPr>
          <a:xfrm>
            <a:off x="108612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44"/>
          <p:cNvSpPr/>
          <p:nvPr/>
        </p:nvSpPr>
        <p:spPr>
          <a:xfrm>
            <a:off x="1005840" y="342540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Rounded Rectangle 45"/>
          <p:cNvSpPr/>
          <p:nvPr/>
        </p:nvSpPr>
        <p:spPr>
          <a:xfrm>
            <a:off x="496620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ounded Rectangle 46"/>
          <p:cNvSpPr/>
          <p:nvPr/>
        </p:nvSpPr>
        <p:spPr>
          <a:xfrm>
            <a:off x="884556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47"/>
          <p:cNvSpPr/>
          <p:nvPr/>
        </p:nvSpPr>
        <p:spPr>
          <a:xfrm>
            <a:off x="8763840" y="342684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Rounded Rectangle 48"/>
          <p:cNvSpPr/>
          <p:nvPr/>
        </p:nvSpPr>
        <p:spPr>
          <a:xfrm>
            <a:off x="4938840" y="345096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Rectangle 97"/>
          <p:cNvSpPr/>
          <p:nvPr/>
        </p:nvSpPr>
        <p:spPr>
          <a:xfrm>
            <a:off x="1800" y="1800"/>
            <a:ext cx="1342188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98"/>
          <p:cNvSpPr/>
          <p:nvPr/>
        </p:nvSpPr>
        <p:spPr>
          <a:xfrm>
            <a:off x="1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99"/>
          <p:cNvSpPr/>
          <p:nvPr/>
        </p:nvSpPr>
        <p:spPr>
          <a:xfrm>
            <a:off x="10047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00"/>
          <p:cNvSpPr/>
          <p:nvPr/>
        </p:nvSpPr>
        <p:spPr>
          <a:xfrm>
            <a:off x="20124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01"/>
          <p:cNvSpPr/>
          <p:nvPr/>
        </p:nvSpPr>
        <p:spPr>
          <a:xfrm>
            <a:off x="30200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02"/>
          <p:cNvSpPr/>
          <p:nvPr/>
        </p:nvSpPr>
        <p:spPr>
          <a:xfrm>
            <a:off x="40276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03"/>
          <p:cNvSpPr/>
          <p:nvPr/>
        </p:nvSpPr>
        <p:spPr>
          <a:xfrm>
            <a:off x="50353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04"/>
          <p:cNvSpPr/>
          <p:nvPr/>
        </p:nvSpPr>
        <p:spPr>
          <a:xfrm>
            <a:off x="60429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05"/>
          <p:cNvSpPr/>
          <p:nvPr/>
        </p:nvSpPr>
        <p:spPr>
          <a:xfrm>
            <a:off x="70506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06"/>
          <p:cNvSpPr/>
          <p:nvPr/>
        </p:nvSpPr>
        <p:spPr>
          <a:xfrm>
            <a:off x="80582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07"/>
          <p:cNvSpPr/>
          <p:nvPr/>
        </p:nvSpPr>
        <p:spPr>
          <a:xfrm>
            <a:off x="90658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08"/>
          <p:cNvSpPr/>
          <p:nvPr/>
        </p:nvSpPr>
        <p:spPr>
          <a:xfrm>
            <a:off x="100735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09"/>
          <p:cNvSpPr/>
          <p:nvPr/>
        </p:nvSpPr>
        <p:spPr>
          <a:xfrm>
            <a:off x="11080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10"/>
          <p:cNvSpPr/>
          <p:nvPr/>
        </p:nvSpPr>
        <p:spPr>
          <a:xfrm>
            <a:off x="120884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11"/>
          <p:cNvSpPr/>
          <p:nvPr/>
        </p:nvSpPr>
        <p:spPr>
          <a:xfrm>
            <a:off x="130960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12"/>
          <p:cNvSpPr/>
          <p:nvPr/>
        </p:nvSpPr>
        <p:spPr>
          <a:xfrm>
            <a:off x="1800" y="1800"/>
            <a:ext cx="34344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49"/>
          <p:cNvSpPr/>
          <p:nvPr/>
        </p:nvSpPr>
        <p:spPr>
          <a:xfrm>
            <a:off x="10880640" y="401400"/>
            <a:ext cx="220716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Rounded Rectangle 50"/>
          <p:cNvSpPr/>
          <p:nvPr/>
        </p:nvSpPr>
        <p:spPr>
          <a:xfrm>
            <a:off x="108612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51"/>
          <p:cNvSpPr/>
          <p:nvPr/>
        </p:nvSpPr>
        <p:spPr>
          <a:xfrm>
            <a:off x="100584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Rounded Rectangle 52"/>
          <p:cNvSpPr/>
          <p:nvPr/>
        </p:nvSpPr>
        <p:spPr>
          <a:xfrm>
            <a:off x="496620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ounded Rectangle 53"/>
          <p:cNvSpPr/>
          <p:nvPr/>
        </p:nvSpPr>
        <p:spPr>
          <a:xfrm>
            <a:off x="884556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54"/>
          <p:cNvSpPr/>
          <p:nvPr/>
        </p:nvSpPr>
        <p:spPr>
          <a:xfrm>
            <a:off x="876384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Rounded Rectangle 55"/>
          <p:cNvSpPr/>
          <p:nvPr/>
        </p:nvSpPr>
        <p:spPr>
          <a:xfrm>
            <a:off x="4938840" y="345060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Rectangle 113"/>
          <p:cNvSpPr/>
          <p:nvPr/>
        </p:nvSpPr>
        <p:spPr>
          <a:xfrm>
            <a:off x="1800" y="1800"/>
            <a:ext cx="1342188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14"/>
          <p:cNvSpPr/>
          <p:nvPr/>
        </p:nvSpPr>
        <p:spPr>
          <a:xfrm>
            <a:off x="1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15"/>
          <p:cNvSpPr/>
          <p:nvPr/>
        </p:nvSpPr>
        <p:spPr>
          <a:xfrm>
            <a:off x="10047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16"/>
          <p:cNvSpPr/>
          <p:nvPr/>
        </p:nvSpPr>
        <p:spPr>
          <a:xfrm>
            <a:off x="20124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17"/>
          <p:cNvSpPr/>
          <p:nvPr/>
        </p:nvSpPr>
        <p:spPr>
          <a:xfrm>
            <a:off x="30200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18"/>
          <p:cNvSpPr/>
          <p:nvPr/>
        </p:nvSpPr>
        <p:spPr>
          <a:xfrm>
            <a:off x="40276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19"/>
          <p:cNvSpPr/>
          <p:nvPr/>
        </p:nvSpPr>
        <p:spPr>
          <a:xfrm>
            <a:off x="50353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20"/>
          <p:cNvSpPr/>
          <p:nvPr/>
        </p:nvSpPr>
        <p:spPr>
          <a:xfrm>
            <a:off x="60429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21"/>
          <p:cNvSpPr/>
          <p:nvPr/>
        </p:nvSpPr>
        <p:spPr>
          <a:xfrm>
            <a:off x="70506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22"/>
          <p:cNvSpPr/>
          <p:nvPr/>
        </p:nvSpPr>
        <p:spPr>
          <a:xfrm>
            <a:off x="80582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23"/>
          <p:cNvSpPr/>
          <p:nvPr/>
        </p:nvSpPr>
        <p:spPr>
          <a:xfrm>
            <a:off x="90658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24"/>
          <p:cNvSpPr/>
          <p:nvPr/>
        </p:nvSpPr>
        <p:spPr>
          <a:xfrm>
            <a:off x="100735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25"/>
          <p:cNvSpPr/>
          <p:nvPr/>
        </p:nvSpPr>
        <p:spPr>
          <a:xfrm>
            <a:off x="11080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26"/>
          <p:cNvSpPr/>
          <p:nvPr/>
        </p:nvSpPr>
        <p:spPr>
          <a:xfrm>
            <a:off x="120884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27"/>
          <p:cNvSpPr/>
          <p:nvPr/>
        </p:nvSpPr>
        <p:spPr>
          <a:xfrm>
            <a:off x="130960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28"/>
          <p:cNvSpPr/>
          <p:nvPr/>
        </p:nvSpPr>
        <p:spPr>
          <a:xfrm>
            <a:off x="1800" y="1800"/>
            <a:ext cx="34344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56"/>
          <p:cNvSpPr/>
          <p:nvPr/>
        </p:nvSpPr>
        <p:spPr>
          <a:xfrm>
            <a:off x="10880640" y="401400"/>
            <a:ext cx="220716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ounded Rectangle 57"/>
          <p:cNvSpPr/>
          <p:nvPr/>
        </p:nvSpPr>
        <p:spPr>
          <a:xfrm>
            <a:off x="108612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58"/>
          <p:cNvSpPr/>
          <p:nvPr/>
        </p:nvSpPr>
        <p:spPr>
          <a:xfrm>
            <a:off x="100584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Rounded Rectangle 59"/>
          <p:cNvSpPr/>
          <p:nvPr/>
        </p:nvSpPr>
        <p:spPr>
          <a:xfrm>
            <a:off x="496620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ounded Rectangle 60"/>
          <p:cNvSpPr/>
          <p:nvPr/>
        </p:nvSpPr>
        <p:spPr>
          <a:xfrm>
            <a:off x="884556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61"/>
          <p:cNvSpPr/>
          <p:nvPr/>
        </p:nvSpPr>
        <p:spPr>
          <a:xfrm>
            <a:off x="876384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Rounded Rectangle 62"/>
          <p:cNvSpPr/>
          <p:nvPr/>
        </p:nvSpPr>
        <p:spPr>
          <a:xfrm>
            <a:off x="4938840" y="345204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Rectangle 129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30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31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32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33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34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35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36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37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38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39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40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41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42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43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44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63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ounded Rectangle 64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65"/>
          <p:cNvSpPr/>
          <p:nvPr/>
        </p:nvSpPr>
        <p:spPr>
          <a:xfrm>
            <a:off x="100656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Rounded Rectangle 66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ounded Rectangle 67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68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Rounded Rectangle 69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ectangle 145"/>
          <p:cNvSpPr/>
          <p:nvPr/>
        </p:nvSpPr>
        <p:spPr>
          <a:xfrm>
            <a:off x="16920" y="1800"/>
            <a:ext cx="13427640" cy="7551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46"/>
          <p:cNvSpPr/>
          <p:nvPr/>
        </p:nvSpPr>
        <p:spPr>
          <a:xfrm>
            <a:off x="144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47"/>
          <p:cNvSpPr/>
          <p:nvPr/>
        </p:nvSpPr>
        <p:spPr>
          <a:xfrm>
            <a:off x="100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148"/>
          <p:cNvSpPr/>
          <p:nvPr/>
        </p:nvSpPr>
        <p:spPr>
          <a:xfrm>
            <a:off x="201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149"/>
          <p:cNvSpPr/>
          <p:nvPr/>
        </p:nvSpPr>
        <p:spPr>
          <a:xfrm>
            <a:off x="302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150"/>
          <p:cNvSpPr/>
          <p:nvPr/>
        </p:nvSpPr>
        <p:spPr>
          <a:xfrm>
            <a:off x="402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151"/>
          <p:cNvSpPr/>
          <p:nvPr/>
        </p:nvSpPr>
        <p:spPr>
          <a:xfrm>
            <a:off x="503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52"/>
          <p:cNvSpPr/>
          <p:nvPr/>
        </p:nvSpPr>
        <p:spPr>
          <a:xfrm>
            <a:off x="604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53"/>
          <p:cNvSpPr/>
          <p:nvPr/>
        </p:nvSpPr>
        <p:spPr>
          <a:xfrm>
            <a:off x="705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54"/>
          <p:cNvSpPr/>
          <p:nvPr/>
        </p:nvSpPr>
        <p:spPr>
          <a:xfrm>
            <a:off x="806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55"/>
          <p:cNvSpPr/>
          <p:nvPr/>
        </p:nvSpPr>
        <p:spPr>
          <a:xfrm>
            <a:off x="9069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56"/>
          <p:cNvSpPr/>
          <p:nvPr/>
        </p:nvSpPr>
        <p:spPr>
          <a:xfrm>
            <a:off x="10077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57"/>
          <p:cNvSpPr/>
          <p:nvPr/>
        </p:nvSpPr>
        <p:spPr>
          <a:xfrm>
            <a:off x="11085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58"/>
          <p:cNvSpPr/>
          <p:nvPr/>
        </p:nvSpPr>
        <p:spPr>
          <a:xfrm>
            <a:off x="12093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59"/>
          <p:cNvSpPr/>
          <p:nvPr/>
        </p:nvSpPr>
        <p:spPr>
          <a:xfrm>
            <a:off x="13101480" y="1800"/>
            <a:ext cx="11880" cy="7551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60"/>
          <p:cNvSpPr/>
          <p:nvPr/>
        </p:nvSpPr>
        <p:spPr>
          <a:xfrm>
            <a:off x="1440" y="1800"/>
            <a:ext cx="343800" cy="7551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70"/>
          <p:cNvSpPr/>
          <p:nvPr/>
        </p:nvSpPr>
        <p:spPr>
          <a:xfrm>
            <a:off x="10884960" y="401400"/>
            <a:ext cx="220824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TextBox 31"/>
          <p:cNvSpPr/>
          <p:nvPr/>
        </p:nvSpPr>
        <p:spPr>
          <a:xfrm>
            <a:off x="2953800" y="1107360"/>
            <a:ext cx="6199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Rounded Rectangle 71"/>
          <p:cNvSpPr/>
          <p:nvPr/>
        </p:nvSpPr>
        <p:spPr>
          <a:xfrm>
            <a:off x="108684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72"/>
          <p:cNvSpPr/>
          <p:nvPr/>
        </p:nvSpPr>
        <p:spPr>
          <a:xfrm>
            <a:off x="1006560" y="342432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Rounded Rectangle 73"/>
          <p:cNvSpPr/>
          <p:nvPr/>
        </p:nvSpPr>
        <p:spPr>
          <a:xfrm>
            <a:off x="49683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ounded Rectangle 74"/>
          <p:cNvSpPr/>
          <p:nvPr/>
        </p:nvSpPr>
        <p:spPr>
          <a:xfrm>
            <a:off x="8849160" y="3506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75"/>
          <p:cNvSpPr/>
          <p:nvPr/>
        </p:nvSpPr>
        <p:spPr>
          <a:xfrm>
            <a:off x="8767440" y="3425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Rounded Rectangle 76"/>
          <p:cNvSpPr/>
          <p:nvPr/>
        </p:nvSpPr>
        <p:spPr>
          <a:xfrm>
            <a:off x="4941000" y="345096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Rectangle 161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62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63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64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65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66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67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68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69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70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71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72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73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74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75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76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77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Rounded Rectangle 78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79"/>
          <p:cNvSpPr/>
          <p:nvPr/>
        </p:nvSpPr>
        <p:spPr>
          <a:xfrm>
            <a:off x="10065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Rounded Rectangle 80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ounded Rectangle 81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82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Rounded Rectangle 83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Rectangle 177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78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79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80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81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82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83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84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85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86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87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88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89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90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91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92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84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37"/>
          <p:cNvSpPr/>
          <p:nvPr/>
        </p:nvSpPr>
        <p:spPr>
          <a:xfrm>
            <a:off x="1708920" y="1107360"/>
            <a:ext cx="8695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Box 38"/>
          <p:cNvSpPr/>
          <p:nvPr/>
        </p:nvSpPr>
        <p:spPr>
          <a:xfrm>
            <a:off x="4586400" y="2266200"/>
            <a:ext cx="356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Rounded Rectangle 85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86"/>
          <p:cNvSpPr/>
          <p:nvPr/>
        </p:nvSpPr>
        <p:spPr>
          <a:xfrm>
            <a:off x="10065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Rounded Rectangle 87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88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89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Rounded Rectangle 90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Rectangle 193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94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195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196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197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98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99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200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01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02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03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04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05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06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07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08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91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Box 40"/>
          <p:cNvSpPr/>
          <p:nvPr/>
        </p:nvSpPr>
        <p:spPr>
          <a:xfrm>
            <a:off x="2097720" y="1107360"/>
            <a:ext cx="79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Teknolojileri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Box 41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Rounded Rectangle 92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93"/>
          <p:cNvSpPr/>
          <p:nvPr/>
        </p:nvSpPr>
        <p:spPr>
          <a:xfrm>
            <a:off x="10065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 (Ortaya çıkanlar):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(Kontrolün Tersine Çevrilmesi – IoC, Bağımlılık Enjeksiyonu – DI)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(Nesne-İlişkisel Eşleme – ORM)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(XML ağırlıklı yapılandırmaların yerini anotasyonlar aldı)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(Bileşen tabanlı kullanıcı arayüzü)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(Standart derleme ve bağımlılık yönetimi)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Rounded Rectangle 94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95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96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Rounded Rectangle 97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dönem neden önemliydi: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 ağırlıklı kurumsal Java yapıları sadeleştirildi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Gereksiz tekrar kod ciddi şekilde azaldı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Gevşek bağlılık  standart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ve katmanlı mimari yaygınlaştı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üretkenlik ve esneklik kazandı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öncesi: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karmaşık, uzun, bakımı zor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sonrası: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daha temiz, modüler, framework odaklı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Rectangle 209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210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211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212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213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214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215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216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217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218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219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220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21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22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23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24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98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Box 43"/>
          <p:cNvSpPr/>
          <p:nvPr/>
        </p:nvSpPr>
        <p:spPr>
          <a:xfrm>
            <a:off x="2808000" y="1107360"/>
            <a:ext cx="6498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ve Bulut Çağı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TextBox 44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Rounded Rectangle 99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00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(Temel teknolojiler):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API’ler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 ifadeleri, Stream API)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Rounded Rectangle 101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ounded Rectangle 102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03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Rounded Rectangle 104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Bulut uyumlu (cloud-native)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 mimarisi ile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Hızlı dağıtım (deployment)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Fonksiyonel programlama yaklaşımı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Uzun süreli destek (LTS – Long Term Support)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Rectangle 225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226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227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228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229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230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231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232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233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234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235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236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37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38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39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40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05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Box 46"/>
          <p:cNvSpPr/>
          <p:nvPr/>
        </p:nvSpPr>
        <p:spPr>
          <a:xfrm>
            <a:off x="3957120" y="1107360"/>
            <a:ext cx="4198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2015 Sonrası Java: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TextBox 47"/>
          <p:cNvSpPr/>
          <p:nvPr/>
        </p:nvSpPr>
        <p:spPr>
          <a:xfrm>
            <a:off x="4066200" y="2266200"/>
            <a:ext cx="460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büyüyor: daha hızlı, daha temiz, daha akıllı.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Rounded Rectangle 106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07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İfadeleri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Fonksiyonel Arayüzler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(Asenkron programlama)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(değiştirilemez veri taşıyıcıları)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Rounded Rectangle 108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ounded Rectangle 109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10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Rounded Rectangle 111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ifade gücü yüksek kode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az tekrar (boilerplate)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iyi performans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Paralel ve asenkron işlem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programlama paradigmaları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Okunabilirlik + sürdürülebilirlik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Öncesi: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Emredici (imperative), uzun, döngü ağırlıklı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Sonrası: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Bildirime dayalı, fonksiyonel, akıcı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Rectangle 241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242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243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244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245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246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247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248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249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250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251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52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53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54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55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56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12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TextBox 49"/>
          <p:cNvSpPr/>
          <p:nvPr/>
        </p:nvSpPr>
        <p:spPr>
          <a:xfrm>
            <a:off x="1362960" y="1107360"/>
            <a:ext cx="93891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Bugünün Java’sı: Kurumsal, Bulut ve Ötesi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50"/>
          <p:cNvSpPr/>
          <p:nvPr/>
        </p:nvSpPr>
        <p:spPr>
          <a:xfrm>
            <a:off x="4168080" y="2266200"/>
            <a:ext cx="440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artık sadece kurumsal değil — her yerde.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Rounded Rectangle 113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14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Bulut-yerel (cloud-native) backend’ler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performanslı API’ler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Finansal sistemler ve bankacılık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veri ve akış (streaming) platformları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(çekirdek dil temelleri)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Oyun sunucuları ve gerçek zamanlı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Rounded Rectangle 115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ounded Rectangle 116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117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ResponseEntity.ok("Servis çalışıyor");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Rounded Rectangle 118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Modern Java Ekosistemi;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Reaktif programlama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Kubernetes-yerel dağıtımlar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Gözlemlenebilirlik (metrikler, izleme/tracing)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Uzun dönem destek (LTS) kararlılığı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Rectangle 257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258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259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260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261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62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63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64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65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266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67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68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69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70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71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72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19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TextBox 52"/>
          <p:cNvSpPr/>
          <p:nvPr/>
        </p:nvSpPr>
        <p:spPr>
          <a:xfrm>
            <a:off x="2818440" y="1107360"/>
            <a:ext cx="647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Pratik: Fikirden Koda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extBox 53"/>
          <p:cNvSpPr/>
          <p:nvPr/>
        </p:nvSpPr>
        <p:spPr>
          <a:xfrm>
            <a:off x="2823120" y="2266200"/>
            <a:ext cx="7092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fikirleri temiz, düzenli ve sürdürülebilir koda dönüştürmeye odaklanır.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Rounded Rectangle 120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121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okunabilirliği ve yapısal düzeni ön planda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sistemi, birçok çalışma zamanı hatasını önler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okunabilirliği, uzun vadeli bakımı kolaylaştırır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 uzun ömürlü sistemler için uygundur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Rounded Rectangle 122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ounded Rectangle 123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124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Rounded Rectangle 125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Tanımı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Çözüm Planlaması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Sınıf ve Metot Tasarımı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Uygulama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Çalıştırılması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Rectangle 273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274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275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276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277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78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79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80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81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282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283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84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85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86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87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88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126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Box 55"/>
          <p:cNvSpPr/>
          <p:nvPr/>
        </p:nvSpPr>
        <p:spPr>
          <a:xfrm>
            <a:off x="1771920" y="1107360"/>
            <a:ext cx="857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Çekirdek Özellikleri – Genel Bakış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56"/>
          <p:cNvSpPr/>
          <p:nvPr/>
        </p:nvSpPr>
        <p:spPr>
          <a:xfrm>
            <a:off x="3605040" y="2266200"/>
            <a:ext cx="5529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şekillendiren temel özelliklere ilk bakış.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ounded Rectangle 127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128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geliştiricilerin programları anlaşılır, yapılı ve öngörülebilir bir şekilde yazmasına yardımcı olan bir dizi çekirdek özellikle tasarlanmıştır.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özellikler, yaygın programlama hatalarını azaltır, kodun okunabilirliğini artırır ve uygulamaların zaman içinde daha kolay bakımını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Düşük seviyeli sistem detaylarına odaklanmak yerine, Java geliştiricilerin program mantığına ve problem çözmeye yoğunlaşmasına olanak tanır..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Rounded Rectangle 129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130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131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 sayı");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Rounded Rectangle 132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yapmak istiyorum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izin verdikleri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yazmam gerekir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çalıştırılır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elde ederim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Rectangle 289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290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291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292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293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294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295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296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297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298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99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300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301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302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303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304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ounded Rectangle 133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Box 58"/>
          <p:cNvSpPr/>
          <p:nvPr/>
        </p:nvSpPr>
        <p:spPr>
          <a:xfrm>
            <a:off x="4195440" y="1107360"/>
            <a:ext cx="3723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Nesne Yönelimli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Box 59"/>
          <p:cNvSpPr/>
          <p:nvPr/>
        </p:nvSpPr>
        <p:spPr>
          <a:xfrm>
            <a:off x="1016640" y="2266200"/>
            <a:ext cx="1070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nesne yönelimli bir programlama dilidir.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Bu, Java programlarının gerçek dünyadaki varlıkları temsil eden nesneler kullanılarak oluşturulduğu anlamına gelir.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Rounded Rectangle 134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135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her şey sınıflar ve nesneler üzerine kuruludur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sınıf bir şablondur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nesne, bir sınıfın gerçek (somut) örneğidir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OOP, programların daha kolay anlaşılmasını ve yönetilmesini sağlar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Araba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Öğrenci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Rounded Rectangle 136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ounded Rectangle 137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ounded Rectangle 138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1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Rounded Rectangle 139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Dünya Nesnesi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Nesene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Mantığı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Açıklama: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Önce bir sınıf tanımlarız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Sonra o sınıftan nesneler oluştururuz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program içinde kullanılır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 305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306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307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308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309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310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311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312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313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314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315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316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317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318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319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320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ounded Rectangle 140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61"/>
          <p:cNvSpPr/>
          <p:nvPr/>
        </p:nvSpPr>
        <p:spPr>
          <a:xfrm>
            <a:off x="4156560" y="1107360"/>
            <a:ext cx="380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Güvenli (Secure)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TextBox 62"/>
          <p:cNvSpPr/>
          <p:nvPr/>
        </p:nvSpPr>
        <p:spPr>
          <a:xfrm>
            <a:off x="945720" y="2266200"/>
            <a:ext cx="108482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güvenli bir programlama dili olacak şekilde tasarlanmıştır.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Geliştiricilerin virüssüz ve kurcalamaya karşı dayanıklı uygulamalar geliştirmesine olanak tanır.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güvenliği; açık anahtar şifreleme, bytecode doğrulama ve kontrollü bellek erişimi gibi güçlü kavramlara dayanır.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Rounded Rectangle 141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ounded Rectangle 142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doğrudan bellek erişimine izin vermez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C/C++’taki gibi pointer (işaretçi) kullanımı yoktur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Programlar Java Virtual Machine (JVM) içinde çalışır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çalıştırılmadan önce doğrulanır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 büyük ölçüde engellenir: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- Bellek sızıntıları (memory leaks)</a:t>
            </a:r>
            <a:br>
              <a:rPr sz="1300"/>
            </a:b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Ek Güvenlik Avantajları: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exception (istisna)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çöp toplama (Garbage Collection)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sınıf yükleme mekanizması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Rounded Rectangle 143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ounded Rectangle 144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ounded Rectangle 145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 güvenli şekilde yakalandı");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Rounded Rectangle 146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Güvenlik Kontrolü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Çalıştırma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Rectangle 321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322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323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324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325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326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327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328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329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330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331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332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333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334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335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336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ounded Rectangle 147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TextBox 64"/>
          <p:cNvSpPr/>
          <p:nvPr/>
        </p:nvSpPr>
        <p:spPr>
          <a:xfrm>
            <a:off x="3147120" y="1107360"/>
            <a:ext cx="5821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 (Yorumlanan)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TextBox 65"/>
          <p:cNvSpPr/>
          <p:nvPr/>
        </p:nvSpPr>
        <p:spPr>
          <a:xfrm>
            <a:off x="2014560" y="2266200"/>
            <a:ext cx="871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kodu, doğrudan donanım üzerinde çalıştırılmak yerine ara bir adım üzerinden yürütülür.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Rounded Rectangle 148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ounded Rectangle 149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önce makine koduna değil, Bytecode’a derlenir.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Bytecode, program çalışırken anlık olarak (on the fly) yerel makine talimatlarına çevrilir.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Çevrilen bu talimatlar kalıcı olarak saklanmaz.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model sayesinde: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Geliştirme süreci daha hızlıdır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Derleme ve bağlama (linking) işlemleri hafiftir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Kod analizi ve hata ayıklama daha kolay hale gelir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Rounded Rectangle 150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ounded Rectangle 151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ounded Rectangle 152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JVM üzerinden çalışır");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3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Rounded Rectangle 153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Nasıl Çalışır?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Talimatları (çalışma zamanı)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Rectangle 337"/>
          <p:cNvSpPr/>
          <p:nvPr/>
        </p:nvSpPr>
        <p:spPr>
          <a:xfrm>
            <a:off x="17280" y="1800"/>
            <a:ext cx="13425120" cy="7556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338"/>
          <p:cNvSpPr/>
          <p:nvPr/>
        </p:nvSpPr>
        <p:spPr>
          <a:xfrm>
            <a:off x="180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339"/>
          <p:cNvSpPr/>
          <p:nvPr/>
        </p:nvSpPr>
        <p:spPr>
          <a:xfrm>
            <a:off x="100512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340"/>
          <p:cNvSpPr/>
          <p:nvPr/>
        </p:nvSpPr>
        <p:spPr>
          <a:xfrm>
            <a:off x="201276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341"/>
          <p:cNvSpPr/>
          <p:nvPr/>
        </p:nvSpPr>
        <p:spPr>
          <a:xfrm>
            <a:off x="302040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ectangle 342"/>
          <p:cNvSpPr/>
          <p:nvPr/>
        </p:nvSpPr>
        <p:spPr>
          <a:xfrm>
            <a:off x="402804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ectangle 343"/>
          <p:cNvSpPr/>
          <p:nvPr/>
        </p:nvSpPr>
        <p:spPr>
          <a:xfrm>
            <a:off x="503568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ectangle 344"/>
          <p:cNvSpPr/>
          <p:nvPr/>
        </p:nvSpPr>
        <p:spPr>
          <a:xfrm>
            <a:off x="604332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3" name="Rectangle 345"/>
          <p:cNvSpPr/>
          <p:nvPr/>
        </p:nvSpPr>
        <p:spPr>
          <a:xfrm>
            <a:off x="705096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346"/>
          <p:cNvSpPr/>
          <p:nvPr/>
        </p:nvSpPr>
        <p:spPr>
          <a:xfrm>
            <a:off x="805860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347"/>
          <p:cNvSpPr/>
          <p:nvPr/>
        </p:nvSpPr>
        <p:spPr>
          <a:xfrm>
            <a:off x="906624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348"/>
          <p:cNvSpPr/>
          <p:nvPr/>
        </p:nvSpPr>
        <p:spPr>
          <a:xfrm>
            <a:off x="1007424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349"/>
          <p:cNvSpPr/>
          <p:nvPr/>
        </p:nvSpPr>
        <p:spPr>
          <a:xfrm>
            <a:off x="1108188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350"/>
          <p:cNvSpPr/>
          <p:nvPr/>
        </p:nvSpPr>
        <p:spPr>
          <a:xfrm>
            <a:off x="1208952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351"/>
          <p:cNvSpPr/>
          <p:nvPr/>
        </p:nvSpPr>
        <p:spPr>
          <a:xfrm>
            <a:off x="13097160" y="1800"/>
            <a:ext cx="13680" cy="7556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352"/>
          <p:cNvSpPr/>
          <p:nvPr/>
        </p:nvSpPr>
        <p:spPr>
          <a:xfrm>
            <a:off x="1800" y="1800"/>
            <a:ext cx="345600" cy="7556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ounded Rectangle 154"/>
          <p:cNvSpPr/>
          <p:nvPr/>
        </p:nvSpPr>
        <p:spPr>
          <a:xfrm>
            <a:off x="10881360" y="401400"/>
            <a:ext cx="220932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TextBox 67"/>
          <p:cNvSpPr/>
          <p:nvPr/>
        </p:nvSpPr>
        <p:spPr>
          <a:xfrm>
            <a:off x="2183400" y="1107720"/>
            <a:ext cx="7744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Yüksek Performans ve Dağıtık Yapı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TextBox 68"/>
          <p:cNvSpPr/>
          <p:nvPr/>
        </p:nvSpPr>
        <p:spPr>
          <a:xfrm>
            <a:off x="2557440" y="2266920"/>
            <a:ext cx="7621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çekirdek tasarımında performans ve ağ (network) desteğini bir arada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Rounded Rectangle 155"/>
          <p:cNvSpPr/>
          <p:nvPr/>
        </p:nvSpPr>
        <p:spPr>
          <a:xfrm>
            <a:off x="1086480" y="350748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ounded Rectangle 156"/>
          <p:cNvSpPr/>
          <p:nvPr/>
        </p:nvSpPr>
        <p:spPr>
          <a:xfrm>
            <a:off x="1020600" y="2972880"/>
            <a:ext cx="3620880" cy="347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(High Performance)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Just-In-Time (JIT) derleme kullanarak yüksek performans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JVM, program çalışırken sık kullanılan Bytecode’u optimize edilmiş yerel makine koduna dönüştürür.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JIT optimizasyonları şunlardır: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içe alma (Method inlining)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Ölü kodların kaldırılması (Dead code elimination)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katlama (Constant folding)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Optimize edilmiş metot çağrıları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Zamanla daha hızlı çalışma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(native) performansa yakın hız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Rounded Rectangle 157"/>
          <p:cNvSpPr/>
          <p:nvPr/>
        </p:nvSpPr>
        <p:spPr>
          <a:xfrm>
            <a:off x="4966560" y="350748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ounded Rectangle 158"/>
          <p:cNvSpPr/>
          <p:nvPr/>
        </p:nvSpPr>
        <p:spPr>
          <a:xfrm>
            <a:off x="8846280" y="350748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ounded Rectangle 159"/>
          <p:cNvSpPr/>
          <p:nvPr/>
        </p:nvSpPr>
        <p:spPr>
          <a:xfrm>
            <a:off x="8764560" y="342648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System.out.println("Hızlı ve dağıtık Java uygulamaları");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TextBox 69"/>
          <p:cNvSpPr/>
          <p:nvPr/>
        </p:nvSpPr>
        <p:spPr>
          <a:xfrm>
            <a:off x="5222160" y="710748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ounded Rectangle 160"/>
          <p:cNvSpPr/>
          <p:nvPr/>
        </p:nvSpPr>
        <p:spPr>
          <a:xfrm>
            <a:off x="4939200" y="3452400"/>
            <a:ext cx="3620880" cy="301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(Distributed);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Java, özellikle İnternet için tasarlanmış dağıtık ortamları destekler.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Yerleşik olarak şu özellikleri sunar: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Ağ iletişimi (Networking)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Uzak metot çağrıları (Remote method calls)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sistemler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uygulamaları, ağ üzerinden kolayca iletişim kurabilir ve birden fazla makinede çalışabilir.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Rectangle 353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354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355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356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357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ectangle 358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ectangle 359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ectangle 360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9" name="Rectangle 361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362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363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364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365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366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367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368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ounded Rectangle 161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TextBox 70"/>
          <p:cNvSpPr/>
          <p:nvPr/>
        </p:nvSpPr>
        <p:spPr>
          <a:xfrm>
            <a:off x="2409480" y="1107360"/>
            <a:ext cx="729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Diğer Önemli Özellikleri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TextBox 71"/>
          <p:cNvSpPr/>
          <p:nvPr/>
        </p:nvSpPr>
        <p:spPr>
          <a:xfrm>
            <a:off x="923400" y="2266200"/>
            <a:ext cx="10893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geliştiricilerin temiz, kararlı ve sürdürülebilir programlar yazmasına yardımcı olan birçok benzersiz özellik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Rounded Rectangle 162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ounded Rectangle 163"/>
          <p:cNvSpPr/>
          <p:nvPr/>
        </p:nvSpPr>
        <p:spPr>
          <a:xfrm>
            <a:off x="1020960" y="2743200"/>
            <a:ext cx="3621240" cy="422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Basit ve Öğrenmesi Kolay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açık ve okunabilir bir sözdizimine sahiptir.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Pointer (işaretçi) gibi karmaşık yapılar kaldırıldığı için, özellikle yeni başlayanlar için öğrenmesi daha kolaydır..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Denetimi (Strongly Typed)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değişkenin tanımlı bir veri tipi vardır.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hatalar çalışma zamanında değil, derleme zamanında tespit edilir.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bellek yönetimini Garbage Collection kullanarak otomatik olarak yapar.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Geliştiricilerin belleği manuel olarak serbest bırakmasına gerek yoktur.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Çoklu İş Parçacığı Desteği (Multithreading)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çoklu iş parçacığı desteği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programlar aynı anda birden fazla görevi yerine getirebilir.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Zengin Standart Kütüphane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Java; koleksiyonlar, dosya işlemleri, ağ programlama ve daha fazlası için geniş bir yerleşik kütüphane seti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Rounded Rectangle 164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ounded Rectangle 165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ounded Rectangle 166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kolay ve güçlüdür");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Rounded Rectangle 167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Basit Sözdizimi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Öğrenmesi Kolay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Otomatik Bellek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Çoklu İş Parçacığı Desteği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Zengin Standart Kütüphane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Temiz ve Sürdürülebilir Java Programları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Rectangle 369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370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371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372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373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ectangle 374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ectangle 375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ectangle 376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5" name="Rectangle 377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378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379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380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381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382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383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384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ounded Rectangle 168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4" name="TextBox 73"/>
          <p:cNvSpPr/>
          <p:nvPr/>
        </p:nvSpPr>
        <p:spPr>
          <a:xfrm>
            <a:off x="2998440" y="1107360"/>
            <a:ext cx="61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Üst Düzey Bir Karşılaştırma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Box 74"/>
          <p:cNvSpPr/>
          <p:nvPr/>
        </p:nvSpPr>
        <p:spPr>
          <a:xfrm>
            <a:off x="1414440" y="2266200"/>
            <a:ext cx="991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farkları,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modelleri ve geliştirici deneyimleri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Rounded Rectangle 169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ounded Rectangle 170"/>
          <p:cNvSpPr/>
          <p:nvPr/>
        </p:nvSpPr>
        <p:spPr>
          <a:xfrm>
            <a:off x="1018440" y="3053160"/>
            <a:ext cx="3621240" cy="3804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 üzerinde çalışır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bağımsızdır (Bir kez yaz, her yerde çalıştır)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sağlar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taşınabilirlik ve sürdürülebilirliğe odaklanır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Kurumsal uygulamalar, web ve bulut sistemlerinde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yerel (native) makine koduna derlenir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bağımlıdır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Manuel bellek yönetimi gerektirir (pointer’lar, bellek ayırma)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ve düşük seviye kontrol sunar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Sistem yazılımları, oyun motorları ve gömülü sistemlerde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Rounded Rectangle 171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ounded Rectangle 172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ounded Rectangle 173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karmaşıklığı gizler"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1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Rounded Rectangle 174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→ Bytecode → JVM → Herhangi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Kaynak Kodu → Yerel (Native) Kod → Belirli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2026-01-13T15:02:12Z</dcterms:modified>
  <cp:revision>114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