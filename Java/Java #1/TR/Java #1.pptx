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84.xml.rels" ContentType="application/vnd.openxmlformats-package.relationships+xml"/>
  <Override PartName="/ppt/slideLayouts/_rels/slideLayout85.xml.rels" ContentType="application/vnd.openxmlformats-package.relationships+xml"/>
  <Override PartName="/ppt/slideLayouts/_rels/slideLayout86.xml.rels" ContentType="application/vnd.openxmlformats-package.relationships+xml"/>
  <Override PartName="/ppt/slideLayouts/_rels/slideLayout87.xml.rels" ContentType="application/vnd.openxmlformats-package.relationships+xml"/>
  <Override PartName="/ppt/slideLayouts/_rels/slideLayout88.xml.rels" ContentType="application/vnd.openxmlformats-package.relationships+xml"/>
  <Override PartName="/ppt/slideLayouts/_rels/slideLayout89.xml.rels" ContentType="application/vnd.openxmlformats-package.relationships+xml"/>
  <Override PartName="/ppt/slideLayouts/_rels/slideLayout90.xml.rels" ContentType="application/vnd.openxmlformats-package.relationships+xml"/>
  <Override PartName="/ppt/slideLayouts/_rels/slideLayout91.xml.rels" ContentType="application/vnd.openxmlformats-package.relationships+xml"/>
  <Override PartName="/ppt/slideLayouts/_rels/slideLayout92.xml.rels" ContentType="application/vnd.openxmlformats-package.relationships+xml"/>
  <Override PartName="/ppt/slideLayouts/_rels/slideLayout93.xml.rels" ContentType="application/vnd.openxmlformats-package.relationships+xml"/>
  <Override PartName="/ppt/slideLayouts/_rels/slideLayout94.xml.rels" ContentType="application/vnd.openxmlformats-package.relationships+xml"/>
  <Override PartName="/ppt/slideLayouts/_rels/slideLayout95.xml.rels" ContentType="application/vnd.openxmlformats-package.relationships+xml"/>
  <Override PartName="/ppt/slideLayouts/_rels/slideLayout96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  <p:sldMasterId id="2147483739" r:id="rId9"/>
  </p:sld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</p:sldIdLst>
  <p:sldSz cx="10077450" cy="756285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6269E82-1222-43B1-A311-D27A6489D71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1639C11-76DC-4FAF-976B-40BD2D1EF1C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69A89E1-6868-4258-A145-54BB7D69209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9BC9E47-CFEF-4922-80B4-3B2EC106DC3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BB316CE-9360-4290-B210-6197561D20B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CA0B3CA-5C82-4062-98CE-5FD67A17F58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6B0D5BF-E271-40A0-BEE7-8AE6974E721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7950E1B-B53D-4E87-851D-1B9DD97C20B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C7DCA81-D585-47C1-9670-F35D612E9A0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11BCA4A-9AB5-4BD0-8DAD-1EE7B5D041D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4814461-CF5A-442A-9EB6-AA6738B4D2F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B0E0C71-6426-4856-AE9A-90E506FF9DE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6367202-B414-4AB6-9211-C500DD8711C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F243269-BFF9-4147-A3DF-89917263564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7C69E51-5B76-42F9-AAF0-9D0524DA106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1D076FF-1B21-4C08-9687-9A91680A24E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EE310F1-CE41-4AD9-83F0-F3B790234D8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9F87030-AAB3-4003-AD22-5B3A949570F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31DAA84-0947-4476-A70D-90F21FF9FE8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ED2FF3F-BBDA-44FE-B5E6-A0F38FF5A98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B344238-BA52-43EB-9D15-E5A0E9E5419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B08C63B-EEE4-40C5-B0E2-74F5DFEEC40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21DC19A-37D4-4CFA-9D1D-BF6CA23DF08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7E83E51-AAE1-4C99-B70A-094590EAA3E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E0B9B8F-EB18-48F6-B126-1758D9F7507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5DD029C-0923-48DB-829E-F9D5F661A80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5CFEAC4-9156-4562-BC6B-FF1E203CECE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336DA6C-91A5-46DD-8993-6AB91E83F30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47E0FD2-3863-4A29-8011-CB50E305020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F43C526-CB54-4874-8364-3B5799D4E76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6DF4C44-4FCE-48DB-BF2C-8AF1BD28C84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3606977-50CE-4791-B023-9723F4C99DC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988BD6F-93D8-4D7F-AFC1-995E9E34637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1ED6EEB-EBB6-4088-8404-1C9126A2F5D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096DBCA-0B0C-45F1-A4A5-1BA7F3CDAF3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1B0BD9D-54F4-40A3-9C09-3D8083E324A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6B5E704-3102-490C-976D-357690F45C1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5F1C4B7-CF3C-4712-BA62-96FE1CA98E9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C503915-F32A-4EC4-B59A-1DE9AB38DE1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2E906F0-7C26-4628-B897-F3A446D4CD3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00A17F2-38B0-4D27-93E2-831335B4FD9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ED850C2-FED4-4F2C-A872-6F146B85404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EF8B108-1BE5-4C3C-8A36-0AFCA10016D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52CF03F-7BB7-46D4-9EAD-725A558B8D5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742B901-5922-4DFB-9466-33C44473616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3E68F38-AFE3-4C31-9C0D-26A1A16FA9D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84E71ED-BB26-499D-B1B6-F1B8CEE6335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190CB02-687C-4D15-A4C1-33C85D8229C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C006ACB-13EC-4397-BAC3-8F3BEBAFFCB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B0F7C24-2E74-4145-B8DA-214C69EA336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8A957A5-8366-4E12-97F8-3857AE07436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20FCF758-15FC-4D82-B063-9C2EA784058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0A88D00-C05A-4943-8388-0A469E60EA2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1E9CCA9A-4A4E-42A5-8CB5-C8F91F5522D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E05D1AB-4D72-4991-98B6-FB9D4F6958A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2707B0D1-5FE7-423C-9522-CDE5E0BEA9C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50B842D-9250-4C53-8EF2-8C86CAD9A6A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A03DFB4-0F40-4D67-96BB-29F0C064906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E3E344F-45F3-41DA-ABA3-7BE051C3164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B0E29FA-0FC1-48F6-B2B8-3187D1B8B97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8AA08B51-1A35-428D-9BA2-4B2F9AFB8D5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1D546EB0-5CF8-4931-988F-0913145615B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56292C7A-DA6D-434F-A64A-4C658D26DA5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12F89F9E-AF51-4EC9-B100-DE1893BAD9D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8EBE4777-F8F1-41A0-B867-DDD4F2FE25C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F7431D80-9A11-43A4-B410-2A1790B1A26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88D4FC5-5CFA-4308-8C60-27C70419C79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F283F79C-DA6A-4703-ACD8-4F19A43459C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133412E7-89F6-46AD-B03E-2DE943BA2F4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F75A43F-4246-412D-8550-0628AF8012D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1EF3841C-B771-4E1C-97FF-5C6A88C7620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8DE08D5-C071-4391-BD4A-255720B4D47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3E6BD266-B72B-44B9-A481-CDEFA049272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3F2E9856-C2F4-4C2D-A099-4DC42E2639F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9B4E14B9-D745-43B5-AD93-DCDB2289B31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1AD2A584-2CB1-42AC-947F-788DFE98101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3483BA69-8695-447A-B691-3360E5361FC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FB0A5E16-AE7F-40A1-9EBB-DB89E40628F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694FFBB5-13CC-4226-A85F-9F85833533E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81643CD8-BB2D-406B-A7B5-46CB0FD1D2E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AFC100B6-C354-4C4C-978E-0AF5A38825B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9BD11A87-B035-49D8-837A-4ED78B94F48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50A4A923-F517-4ECD-A7D0-BC7BCD80457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3B245CF9-E288-42E7-B80A-B0C8D18A25A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21AD3DFA-71B5-49DB-9A49-C658B2B1322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3E816767-AD85-4665-9D1C-A33931A6B08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E358A724-7F50-47F8-B3A3-F3B420A6888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33EA6995-CC0B-4A1B-8CBC-1640FC47071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44872D3E-769B-412D-8CBB-EB3E4ED163D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6B96417D-F09F-4458-9423-D6B21B8B184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FBE66C75-3FF5-4F57-9F1A-034E06DA642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D13D3D01-2CE8-4991-8EF2-C9FDAF1FFD4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A92693E4-448D-4CFC-B5AC-45F2CAB165D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C8D6F8F6-0087-4B70-A527-D6C658746D2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94FDD577-8DC2-4150-BAE3-F950C6E6D75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BED90029-76EC-46B5-8372-ABB79BF9204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5.xml"/><Relationship Id="rId3" Type="http://schemas.openxmlformats.org/officeDocument/2006/relationships/slideLayout" Target="../slideLayouts/slideLayout86.xml"/><Relationship Id="rId4" Type="http://schemas.openxmlformats.org/officeDocument/2006/relationships/slideLayout" Target="../slideLayouts/slideLayout87.xml"/><Relationship Id="rId5" Type="http://schemas.openxmlformats.org/officeDocument/2006/relationships/slideLayout" Target="../slideLayouts/slideLayout88.xml"/><Relationship Id="rId6" Type="http://schemas.openxmlformats.org/officeDocument/2006/relationships/slideLayout" Target="../slideLayouts/slideLayout89.xml"/><Relationship Id="rId7" Type="http://schemas.openxmlformats.org/officeDocument/2006/relationships/slideLayout" Target="../slideLayouts/slideLayout90.xml"/><Relationship Id="rId8" Type="http://schemas.openxmlformats.org/officeDocument/2006/relationships/slideLayout" Target="../slideLayouts/slideLayout91.xml"/><Relationship Id="rId9" Type="http://schemas.openxmlformats.org/officeDocument/2006/relationships/slideLayout" Target="../slideLayouts/slideLayout92.xml"/><Relationship Id="rId10" Type="http://schemas.openxmlformats.org/officeDocument/2006/relationships/slideLayout" Target="../slideLayouts/slideLayout93.xml"/><Relationship Id="rId11" Type="http://schemas.openxmlformats.org/officeDocument/2006/relationships/slideLayout" Target="../slideLayouts/slideLayout94.xml"/><Relationship Id="rId12" Type="http://schemas.openxmlformats.org/officeDocument/2006/relationships/slideLayout" Target="../slideLayouts/slideLayout95.xml"/><Relationship Id="rId13" Type="http://schemas.openxmlformats.org/officeDocument/2006/relationships/slideLayout" Target="../slideLayouts/slideLayout9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440880" y="7007400"/>
            <a:ext cx="31809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7220160" y="7007400"/>
            <a:ext cx="234144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4019F13-5C1C-4338-A1AA-FCF2F397ABC1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502560" y="7007400"/>
            <a:ext cx="234144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442320" y="7005240"/>
            <a:ext cx="3183120" cy="393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7223040" y="7005240"/>
            <a:ext cx="2343600" cy="393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083F2D4-54D4-47B3-9D80-5E1F7C88B050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502920" y="7005240"/>
            <a:ext cx="2343600" cy="393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442320" y="7005240"/>
            <a:ext cx="3183840" cy="394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7223040" y="7005240"/>
            <a:ext cx="2344320" cy="394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58F2B66-EE9C-40D6-845C-E49EFB7EA63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502920" y="7005240"/>
            <a:ext cx="2344320" cy="394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ftr" idx="10"/>
          </p:nvPr>
        </p:nvSpPr>
        <p:spPr>
          <a:xfrm>
            <a:off x="3442320" y="7005240"/>
            <a:ext cx="3184200" cy="394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11"/>
          </p:nvPr>
        </p:nvSpPr>
        <p:spPr>
          <a:xfrm>
            <a:off x="7223040" y="7005240"/>
            <a:ext cx="2344680" cy="394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76FCF17-2630-49AD-8BEA-70BAFAACA210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12"/>
          </p:nvPr>
        </p:nvSpPr>
        <p:spPr>
          <a:xfrm>
            <a:off x="502920" y="7005240"/>
            <a:ext cx="2344680" cy="394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ftr" idx="13"/>
          </p:nvPr>
        </p:nvSpPr>
        <p:spPr>
          <a:xfrm>
            <a:off x="3442320" y="7005240"/>
            <a:ext cx="3184200" cy="394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sldNum" idx="14"/>
          </p:nvPr>
        </p:nvSpPr>
        <p:spPr>
          <a:xfrm>
            <a:off x="7223040" y="7005240"/>
            <a:ext cx="2344680" cy="394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FB1984F-AAA5-4C5C-880B-48A407E5AC9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dt" idx="15"/>
          </p:nvPr>
        </p:nvSpPr>
        <p:spPr>
          <a:xfrm>
            <a:off x="502920" y="7005240"/>
            <a:ext cx="2344680" cy="394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ftr" idx="16"/>
          </p:nvPr>
        </p:nvSpPr>
        <p:spPr>
          <a:xfrm>
            <a:off x="3442320" y="7005240"/>
            <a:ext cx="3184560" cy="394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sldNum" idx="17"/>
          </p:nvPr>
        </p:nvSpPr>
        <p:spPr>
          <a:xfrm>
            <a:off x="7223040" y="7005240"/>
            <a:ext cx="2345040" cy="394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58AD062-28BE-4097-9C58-A7CB5BC057B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dt" idx="18"/>
          </p:nvPr>
        </p:nvSpPr>
        <p:spPr>
          <a:xfrm>
            <a:off x="502920" y="7005240"/>
            <a:ext cx="2345040" cy="394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ftr" idx="19"/>
          </p:nvPr>
        </p:nvSpPr>
        <p:spPr>
          <a:xfrm>
            <a:off x="3442320" y="7005240"/>
            <a:ext cx="3184560" cy="394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 type="sldNum" idx="20"/>
          </p:nvPr>
        </p:nvSpPr>
        <p:spPr>
          <a:xfrm>
            <a:off x="7223040" y="7005240"/>
            <a:ext cx="2345040" cy="394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657DC65-746A-42FC-BB1E-1B6FABCDBCED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dt" idx="21"/>
          </p:nvPr>
        </p:nvSpPr>
        <p:spPr>
          <a:xfrm>
            <a:off x="502920" y="7005240"/>
            <a:ext cx="2345040" cy="394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ftr" idx="22"/>
          </p:nvPr>
        </p:nvSpPr>
        <p:spPr>
          <a:xfrm>
            <a:off x="3442320" y="7005240"/>
            <a:ext cx="3184920" cy="395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 type="sldNum" idx="23"/>
          </p:nvPr>
        </p:nvSpPr>
        <p:spPr>
          <a:xfrm>
            <a:off x="7223040" y="7005240"/>
            <a:ext cx="2345400" cy="395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7C003C4-A8D2-43E8-A5FB-94CEB8C2AAB1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" name="PlaceHolder 3"/>
          <p:cNvSpPr>
            <a:spLocks noGrp="1"/>
          </p:cNvSpPr>
          <p:nvPr>
            <p:ph type="dt" idx="24"/>
          </p:nvPr>
        </p:nvSpPr>
        <p:spPr>
          <a:xfrm>
            <a:off x="502920" y="7005240"/>
            <a:ext cx="2345400" cy="395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" name="PlaceHolder 4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PlaceHolder 5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5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Rectangle 1"/>
          <p:cNvSpPr/>
          <p:nvPr/>
        </p:nvSpPr>
        <p:spPr>
          <a:xfrm>
            <a:off x="1800" y="1800"/>
            <a:ext cx="13421520" cy="7552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2"/>
          <p:cNvSpPr/>
          <p:nvPr/>
        </p:nvSpPr>
        <p:spPr>
          <a:xfrm>
            <a:off x="180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3"/>
          <p:cNvSpPr/>
          <p:nvPr/>
        </p:nvSpPr>
        <p:spPr>
          <a:xfrm>
            <a:off x="100476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4"/>
          <p:cNvSpPr/>
          <p:nvPr/>
        </p:nvSpPr>
        <p:spPr>
          <a:xfrm>
            <a:off x="201240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5"/>
          <p:cNvSpPr/>
          <p:nvPr/>
        </p:nvSpPr>
        <p:spPr>
          <a:xfrm>
            <a:off x="302004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6"/>
          <p:cNvSpPr/>
          <p:nvPr/>
        </p:nvSpPr>
        <p:spPr>
          <a:xfrm>
            <a:off x="402768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7"/>
          <p:cNvSpPr/>
          <p:nvPr/>
        </p:nvSpPr>
        <p:spPr>
          <a:xfrm>
            <a:off x="503532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8"/>
          <p:cNvSpPr/>
          <p:nvPr/>
        </p:nvSpPr>
        <p:spPr>
          <a:xfrm>
            <a:off x="604296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9"/>
          <p:cNvSpPr/>
          <p:nvPr/>
        </p:nvSpPr>
        <p:spPr>
          <a:xfrm>
            <a:off x="705060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10"/>
          <p:cNvSpPr/>
          <p:nvPr/>
        </p:nvSpPr>
        <p:spPr>
          <a:xfrm>
            <a:off x="805824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11"/>
          <p:cNvSpPr/>
          <p:nvPr/>
        </p:nvSpPr>
        <p:spPr>
          <a:xfrm>
            <a:off x="906588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12"/>
          <p:cNvSpPr/>
          <p:nvPr/>
        </p:nvSpPr>
        <p:spPr>
          <a:xfrm>
            <a:off x="1007352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3"/>
          <p:cNvSpPr/>
          <p:nvPr/>
        </p:nvSpPr>
        <p:spPr>
          <a:xfrm>
            <a:off x="1108080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4"/>
          <p:cNvSpPr/>
          <p:nvPr/>
        </p:nvSpPr>
        <p:spPr>
          <a:xfrm>
            <a:off x="1208844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5"/>
          <p:cNvSpPr/>
          <p:nvPr/>
        </p:nvSpPr>
        <p:spPr>
          <a:xfrm>
            <a:off x="1309608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ectangle 16"/>
          <p:cNvSpPr/>
          <p:nvPr/>
        </p:nvSpPr>
        <p:spPr>
          <a:xfrm>
            <a:off x="1800" y="1800"/>
            <a:ext cx="343080" cy="7552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ounded Rectangle 17"/>
          <p:cNvSpPr/>
          <p:nvPr/>
        </p:nvSpPr>
        <p:spPr>
          <a:xfrm>
            <a:off x="10880640" y="401400"/>
            <a:ext cx="2206800" cy="543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5" name="TextBox 18"/>
          <p:cNvSpPr/>
          <p:nvPr/>
        </p:nvSpPr>
        <p:spPr>
          <a:xfrm>
            <a:off x="5377320" y="1107360"/>
            <a:ext cx="1327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Giriş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TextBox 19"/>
          <p:cNvSpPr/>
          <p:nvPr/>
        </p:nvSpPr>
        <p:spPr>
          <a:xfrm>
            <a:off x="2608920" y="2266920"/>
            <a:ext cx="75193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sunumda Java programlama dili ve ele alınacak konuların genel bir özeti.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Rounded Rectangle 20"/>
          <p:cNvSpPr/>
          <p:nvPr/>
        </p:nvSpPr>
        <p:spPr>
          <a:xfrm>
            <a:off x="1086120" y="3507120"/>
            <a:ext cx="361764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ounded Rectangle 21"/>
          <p:cNvSpPr/>
          <p:nvPr/>
        </p:nvSpPr>
        <p:spPr>
          <a:xfrm>
            <a:off x="1019520" y="3426840"/>
            <a:ext cx="361800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programlama dilini tanıtmak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Temel kavramları ve temel prensipleri açıklamak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geliştirme için sağlam bir temel oluşturmak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9" name="Rounded Rectangle 22"/>
          <p:cNvSpPr/>
          <p:nvPr/>
        </p:nvSpPr>
        <p:spPr>
          <a:xfrm>
            <a:off x="4966200" y="3507120"/>
            <a:ext cx="361764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ounded Rectangle 23"/>
          <p:cNvSpPr/>
          <p:nvPr/>
        </p:nvSpPr>
        <p:spPr>
          <a:xfrm>
            <a:off x="4884480" y="3426840"/>
            <a:ext cx="361800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Giriş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nedir?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 öğreneceksiniz?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Java’nın Tarihi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1" name="Rounded Rectangle 24"/>
          <p:cNvSpPr/>
          <p:nvPr/>
        </p:nvSpPr>
        <p:spPr>
          <a:xfrm>
            <a:off x="8845560" y="3507120"/>
            <a:ext cx="361764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2" name="Rounded Rectangle 25"/>
          <p:cNvSpPr/>
          <p:nvPr/>
        </p:nvSpPr>
        <p:spPr>
          <a:xfrm>
            <a:off x="8763840" y="3426840"/>
            <a:ext cx="361800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600" spc="-1" strike="noStrike">
                <a:solidFill>
                  <a:srgbClr val="78ffc8"/>
                </a:solidFill>
                <a:latin typeface="Consolas"/>
                <a:ea typeface="DejaVu Sans"/>
              </a:rPr>
              <a:t>Java’ya Giriş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3" name="TextBox 26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Rectangle 32"/>
          <p:cNvSpPr/>
          <p:nvPr/>
        </p:nvSpPr>
        <p:spPr>
          <a:xfrm>
            <a:off x="1800" y="1800"/>
            <a:ext cx="13421520" cy="7552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33"/>
          <p:cNvSpPr/>
          <p:nvPr/>
        </p:nvSpPr>
        <p:spPr>
          <a:xfrm>
            <a:off x="180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34"/>
          <p:cNvSpPr/>
          <p:nvPr/>
        </p:nvSpPr>
        <p:spPr>
          <a:xfrm>
            <a:off x="100476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35"/>
          <p:cNvSpPr/>
          <p:nvPr/>
        </p:nvSpPr>
        <p:spPr>
          <a:xfrm>
            <a:off x="201240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ectangle 36"/>
          <p:cNvSpPr/>
          <p:nvPr/>
        </p:nvSpPr>
        <p:spPr>
          <a:xfrm>
            <a:off x="302004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ectangle 37"/>
          <p:cNvSpPr/>
          <p:nvPr/>
        </p:nvSpPr>
        <p:spPr>
          <a:xfrm>
            <a:off x="402768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0" name="Rectangle 38"/>
          <p:cNvSpPr/>
          <p:nvPr/>
        </p:nvSpPr>
        <p:spPr>
          <a:xfrm>
            <a:off x="503532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ectangle 39"/>
          <p:cNvSpPr/>
          <p:nvPr/>
        </p:nvSpPr>
        <p:spPr>
          <a:xfrm>
            <a:off x="604296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40"/>
          <p:cNvSpPr/>
          <p:nvPr/>
        </p:nvSpPr>
        <p:spPr>
          <a:xfrm>
            <a:off x="705060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41"/>
          <p:cNvSpPr/>
          <p:nvPr/>
        </p:nvSpPr>
        <p:spPr>
          <a:xfrm>
            <a:off x="805824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42"/>
          <p:cNvSpPr/>
          <p:nvPr/>
        </p:nvSpPr>
        <p:spPr>
          <a:xfrm>
            <a:off x="906588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43"/>
          <p:cNvSpPr/>
          <p:nvPr/>
        </p:nvSpPr>
        <p:spPr>
          <a:xfrm>
            <a:off x="1007352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44"/>
          <p:cNvSpPr/>
          <p:nvPr/>
        </p:nvSpPr>
        <p:spPr>
          <a:xfrm>
            <a:off x="1108080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45"/>
          <p:cNvSpPr/>
          <p:nvPr/>
        </p:nvSpPr>
        <p:spPr>
          <a:xfrm>
            <a:off x="1208844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46"/>
          <p:cNvSpPr/>
          <p:nvPr/>
        </p:nvSpPr>
        <p:spPr>
          <a:xfrm>
            <a:off x="1309608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ectangle 47"/>
          <p:cNvSpPr/>
          <p:nvPr/>
        </p:nvSpPr>
        <p:spPr>
          <a:xfrm>
            <a:off x="1800" y="1800"/>
            <a:ext cx="343080" cy="7552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ounded Rectangle 8"/>
          <p:cNvSpPr/>
          <p:nvPr/>
        </p:nvSpPr>
        <p:spPr>
          <a:xfrm>
            <a:off x="10880640" y="401400"/>
            <a:ext cx="2206800" cy="543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1" name="TextBox 4"/>
          <p:cNvSpPr/>
          <p:nvPr/>
        </p:nvSpPr>
        <p:spPr>
          <a:xfrm>
            <a:off x="4506120" y="1107360"/>
            <a:ext cx="30722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Nedir?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TextBox 5"/>
          <p:cNvSpPr/>
          <p:nvPr/>
        </p:nvSpPr>
        <p:spPr>
          <a:xfrm>
            <a:off x="3046320" y="2266920"/>
            <a:ext cx="66412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Java, platformdan bağımsız ve güvenilir olacak şekilde tasarlanmış,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yüksek seviyeli, nesne yönelimli bir programlama dilidir.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Rounded Rectangle 9"/>
          <p:cNvSpPr/>
          <p:nvPr/>
        </p:nvSpPr>
        <p:spPr>
          <a:xfrm>
            <a:off x="1086120" y="3507120"/>
            <a:ext cx="361764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ounded Rectangle 10"/>
          <p:cNvSpPr/>
          <p:nvPr/>
        </p:nvSpPr>
        <p:spPr>
          <a:xfrm>
            <a:off x="1005840" y="3426120"/>
            <a:ext cx="361800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Yüksek seviyeli programlama dili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yönelimli (OOP) yaklaşım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JVM sayesinde platformdan bağımsız çalışma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Tasarım gereği güvenli ve sağlam yapı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Kurumsal ve web uygulamalarında yaygın kullanım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5" name="Rounded Rectangle 11"/>
          <p:cNvSpPr/>
          <p:nvPr/>
        </p:nvSpPr>
        <p:spPr>
          <a:xfrm>
            <a:off x="4966200" y="3507120"/>
            <a:ext cx="361764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ounded Rectangle 12"/>
          <p:cNvSpPr/>
          <p:nvPr/>
        </p:nvSpPr>
        <p:spPr>
          <a:xfrm>
            <a:off x="4884480" y="3426120"/>
            <a:ext cx="361800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Nasıl Çalışır?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Kaynak Kodu (.java)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Derleyicisi (Compiler)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Bytecode (.class)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Sanal Makinesi (JVM)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İşletim Sistemi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Bir kez yaz, her yerde çalıştır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(Write Once, Run Anywhere)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7" name="Rounded Rectangle 13"/>
          <p:cNvSpPr/>
          <p:nvPr/>
        </p:nvSpPr>
        <p:spPr>
          <a:xfrm>
            <a:off x="8845560" y="3507120"/>
            <a:ext cx="361764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8" name="Rounded Rectangle 14"/>
          <p:cNvSpPr/>
          <p:nvPr/>
        </p:nvSpPr>
        <p:spPr>
          <a:xfrm>
            <a:off x="8763840" y="3426840"/>
            <a:ext cx="361800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System.out.println("Merhaba, Java!");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9" name="TextBox 6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Rectangle 17"/>
          <p:cNvSpPr/>
          <p:nvPr/>
        </p:nvSpPr>
        <p:spPr>
          <a:xfrm>
            <a:off x="1800" y="1800"/>
            <a:ext cx="13421520" cy="7552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18"/>
          <p:cNvSpPr/>
          <p:nvPr/>
        </p:nvSpPr>
        <p:spPr>
          <a:xfrm>
            <a:off x="180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19"/>
          <p:cNvSpPr/>
          <p:nvPr/>
        </p:nvSpPr>
        <p:spPr>
          <a:xfrm>
            <a:off x="100476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20"/>
          <p:cNvSpPr/>
          <p:nvPr/>
        </p:nvSpPr>
        <p:spPr>
          <a:xfrm>
            <a:off x="201240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ectangle 21"/>
          <p:cNvSpPr/>
          <p:nvPr/>
        </p:nvSpPr>
        <p:spPr>
          <a:xfrm>
            <a:off x="302004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ectangle 22"/>
          <p:cNvSpPr/>
          <p:nvPr/>
        </p:nvSpPr>
        <p:spPr>
          <a:xfrm>
            <a:off x="402768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Rectangle 23"/>
          <p:cNvSpPr/>
          <p:nvPr/>
        </p:nvSpPr>
        <p:spPr>
          <a:xfrm>
            <a:off x="503532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ectangle 24"/>
          <p:cNvSpPr/>
          <p:nvPr/>
        </p:nvSpPr>
        <p:spPr>
          <a:xfrm>
            <a:off x="604296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25"/>
          <p:cNvSpPr/>
          <p:nvPr/>
        </p:nvSpPr>
        <p:spPr>
          <a:xfrm>
            <a:off x="705060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26"/>
          <p:cNvSpPr/>
          <p:nvPr/>
        </p:nvSpPr>
        <p:spPr>
          <a:xfrm>
            <a:off x="805824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27"/>
          <p:cNvSpPr/>
          <p:nvPr/>
        </p:nvSpPr>
        <p:spPr>
          <a:xfrm>
            <a:off x="906588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28"/>
          <p:cNvSpPr/>
          <p:nvPr/>
        </p:nvSpPr>
        <p:spPr>
          <a:xfrm>
            <a:off x="1007352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29"/>
          <p:cNvSpPr/>
          <p:nvPr/>
        </p:nvSpPr>
        <p:spPr>
          <a:xfrm>
            <a:off x="1108080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30"/>
          <p:cNvSpPr/>
          <p:nvPr/>
        </p:nvSpPr>
        <p:spPr>
          <a:xfrm>
            <a:off x="1208844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31"/>
          <p:cNvSpPr/>
          <p:nvPr/>
        </p:nvSpPr>
        <p:spPr>
          <a:xfrm>
            <a:off x="1309608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ectangle 48"/>
          <p:cNvSpPr/>
          <p:nvPr/>
        </p:nvSpPr>
        <p:spPr>
          <a:xfrm>
            <a:off x="1800" y="1800"/>
            <a:ext cx="343080" cy="7552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ounded Rectangle 15"/>
          <p:cNvSpPr/>
          <p:nvPr/>
        </p:nvSpPr>
        <p:spPr>
          <a:xfrm>
            <a:off x="10880640" y="401400"/>
            <a:ext cx="2206800" cy="543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7" name="TextBox 7"/>
          <p:cNvSpPr/>
          <p:nvPr/>
        </p:nvSpPr>
        <p:spPr>
          <a:xfrm>
            <a:off x="3482280" y="1107360"/>
            <a:ext cx="51202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Ne Öğreneceksiniz?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TextBox 8"/>
          <p:cNvSpPr/>
          <p:nvPr/>
        </p:nvSpPr>
        <p:spPr>
          <a:xfrm>
            <a:off x="2704320" y="2266920"/>
            <a:ext cx="73256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Java kursunda ele alınan temel konuların ve becerilerin genel bir özeti.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Rounded Rectangle 16"/>
          <p:cNvSpPr/>
          <p:nvPr/>
        </p:nvSpPr>
        <p:spPr>
          <a:xfrm>
            <a:off x="1086120" y="3507120"/>
            <a:ext cx="361764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ounded Rectangle 18"/>
          <p:cNvSpPr/>
          <p:nvPr/>
        </p:nvSpPr>
        <p:spPr>
          <a:xfrm>
            <a:off x="1005840" y="3426840"/>
            <a:ext cx="361800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Java’nın temel kavramlarını anlama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yönelimli programlama (OOP) kavramlarını öğrenme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programları yazma ve çalıştırma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Sağlam bir programlama temeli oluşturma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1" name="Rounded Rectangle 19"/>
          <p:cNvSpPr/>
          <p:nvPr/>
        </p:nvSpPr>
        <p:spPr>
          <a:xfrm>
            <a:off x="4966200" y="3507120"/>
            <a:ext cx="361764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ounded Rectangle 26"/>
          <p:cNvSpPr/>
          <p:nvPr/>
        </p:nvSpPr>
        <p:spPr>
          <a:xfrm>
            <a:off x="4884480" y="3425400"/>
            <a:ext cx="361800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Sözdizimi ve Temelleri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Değişkenler ve Veri Tipleri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Kontrol Yapıları (if / döngüler)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Metotlar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Nesne Yönelimli Programlama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3" name="Rounded Rectangle 27"/>
          <p:cNvSpPr/>
          <p:nvPr/>
        </p:nvSpPr>
        <p:spPr>
          <a:xfrm>
            <a:off x="8845560" y="3507120"/>
            <a:ext cx="361764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4" name="Rounded Rectangle 28"/>
          <p:cNvSpPr/>
          <p:nvPr/>
        </p:nvSpPr>
        <p:spPr>
          <a:xfrm>
            <a:off x="8763840" y="3426120"/>
            <a:ext cx="361800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(number &gt; 0)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System.out.println("Pozitif");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for (int i = 0; i &lt; 3; i++)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5" name="TextBox 9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Rectangle 49"/>
          <p:cNvSpPr/>
          <p:nvPr/>
        </p:nvSpPr>
        <p:spPr>
          <a:xfrm>
            <a:off x="1800" y="1800"/>
            <a:ext cx="13421520" cy="7552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50"/>
          <p:cNvSpPr/>
          <p:nvPr/>
        </p:nvSpPr>
        <p:spPr>
          <a:xfrm>
            <a:off x="180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51"/>
          <p:cNvSpPr/>
          <p:nvPr/>
        </p:nvSpPr>
        <p:spPr>
          <a:xfrm>
            <a:off x="100476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52"/>
          <p:cNvSpPr/>
          <p:nvPr/>
        </p:nvSpPr>
        <p:spPr>
          <a:xfrm>
            <a:off x="201240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ectangle 53"/>
          <p:cNvSpPr/>
          <p:nvPr/>
        </p:nvSpPr>
        <p:spPr>
          <a:xfrm>
            <a:off x="302004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ectangle 54"/>
          <p:cNvSpPr/>
          <p:nvPr/>
        </p:nvSpPr>
        <p:spPr>
          <a:xfrm>
            <a:off x="402768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2" name="Rectangle 55"/>
          <p:cNvSpPr/>
          <p:nvPr/>
        </p:nvSpPr>
        <p:spPr>
          <a:xfrm>
            <a:off x="503532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ectangle 56"/>
          <p:cNvSpPr/>
          <p:nvPr/>
        </p:nvSpPr>
        <p:spPr>
          <a:xfrm>
            <a:off x="604296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57"/>
          <p:cNvSpPr/>
          <p:nvPr/>
        </p:nvSpPr>
        <p:spPr>
          <a:xfrm>
            <a:off x="705060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58"/>
          <p:cNvSpPr/>
          <p:nvPr/>
        </p:nvSpPr>
        <p:spPr>
          <a:xfrm>
            <a:off x="805824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59"/>
          <p:cNvSpPr/>
          <p:nvPr/>
        </p:nvSpPr>
        <p:spPr>
          <a:xfrm>
            <a:off x="906588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60"/>
          <p:cNvSpPr/>
          <p:nvPr/>
        </p:nvSpPr>
        <p:spPr>
          <a:xfrm>
            <a:off x="1007352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61"/>
          <p:cNvSpPr/>
          <p:nvPr/>
        </p:nvSpPr>
        <p:spPr>
          <a:xfrm>
            <a:off x="1108080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62"/>
          <p:cNvSpPr/>
          <p:nvPr/>
        </p:nvSpPr>
        <p:spPr>
          <a:xfrm>
            <a:off x="1208844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63"/>
          <p:cNvSpPr/>
          <p:nvPr/>
        </p:nvSpPr>
        <p:spPr>
          <a:xfrm>
            <a:off x="1309608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ectangle 64"/>
          <p:cNvSpPr/>
          <p:nvPr/>
        </p:nvSpPr>
        <p:spPr>
          <a:xfrm>
            <a:off x="1800" y="1800"/>
            <a:ext cx="343080" cy="7552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ounded Rectangle 29"/>
          <p:cNvSpPr/>
          <p:nvPr/>
        </p:nvSpPr>
        <p:spPr>
          <a:xfrm>
            <a:off x="10880640" y="401400"/>
            <a:ext cx="2206800" cy="543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3" name="TextBox 10"/>
          <p:cNvSpPr/>
          <p:nvPr/>
        </p:nvSpPr>
        <p:spPr>
          <a:xfrm>
            <a:off x="4171320" y="1107360"/>
            <a:ext cx="37396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Java’nın Tarihi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TextBox 11"/>
          <p:cNvSpPr/>
          <p:nvPr/>
        </p:nvSpPr>
        <p:spPr>
          <a:xfrm>
            <a:off x="1949760" y="2266920"/>
            <a:ext cx="88376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nasıl ortaya çıktığı ve neden en güçlü programlama dillerinden biri haline geldiği.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Rounded Rectangle 30"/>
          <p:cNvSpPr/>
          <p:nvPr/>
        </p:nvSpPr>
        <p:spPr>
          <a:xfrm>
            <a:off x="1086120" y="3507120"/>
            <a:ext cx="361764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ounded Rectangle 31"/>
          <p:cNvSpPr/>
          <p:nvPr/>
        </p:nvSpPr>
        <p:spPr>
          <a:xfrm>
            <a:off x="1005840" y="3426120"/>
            <a:ext cx="361800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 (1990)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Java, Sun Microsystems’te geliştirildi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James Gosling ve ekibi tarafından oluşturuldu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 adı Oak idi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Başlangıçtaki amaç: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Tüketici elektroniği için yazılım geliştirmek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Televizyonlar, set-top box’lar, gömülü sistemler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Temel sorun: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Farklı donanımlar, farklı yazılımlar ❌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Her yerde çalışabilecek tek bir dile ihtiyacımız vardı.”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7" name="Rounded Rectangle 32"/>
          <p:cNvSpPr/>
          <p:nvPr/>
        </p:nvSpPr>
        <p:spPr>
          <a:xfrm>
            <a:off x="4966200" y="3507120"/>
            <a:ext cx="361764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ounded Rectangle 33"/>
          <p:cNvSpPr/>
          <p:nvPr/>
        </p:nvSpPr>
        <p:spPr>
          <a:xfrm>
            <a:off x="4884480" y="3426120"/>
            <a:ext cx="361800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Bir Kez Yaz, Her Yerde Çalıştır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(Write Once, Run Anywhere)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Java kaynak kodu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Bytecode’a derlenir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JVM üzerinde çalışır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Her işletim sisteminde çalışır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1995’te yayımlandı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İnternet çağı için geliştirildi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9" name="Rounded Rectangle 34"/>
          <p:cNvSpPr/>
          <p:nvPr/>
        </p:nvSpPr>
        <p:spPr>
          <a:xfrm>
            <a:off x="8845560" y="3507120"/>
            <a:ext cx="361764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0" name="Rounded Rectangle 35"/>
          <p:cNvSpPr/>
          <p:nvPr/>
        </p:nvSpPr>
        <p:spPr>
          <a:xfrm>
            <a:off x="8763840" y="3426120"/>
            <a:ext cx="361800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Tarihi Başlıyor!");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 = 1995;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(year &gt;= 1995)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doğdu");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1" name="TextBox 12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Rectangle 65"/>
          <p:cNvSpPr/>
          <p:nvPr/>
        </p:nvSpPr>
        <p:spPr>
          <a:xfrm>
            <a:off x="1800" y="1800"/>
            <a:ext cx="13421880" cy="7553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66"/>
          <p:cNvSpPr/>
          <p:nvPr/>
        </p:nvSpPr>
        <p:spPr>
          <a:xfrm>
            <a:off x="180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67"/>
          <p:cNvSpPr/>
          <p:nvPr/>
        </p:nvSpPr>
        <p:spPr>
          <a:xfrm>
            <a:off x="100476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68"/>
          <p:cNvSpPr/>
          <p:nvPr/>
        </p:nvSpPr>
        <p:spPr>
          <a:xfrm>
            <a:off x="201240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ectangle 69"/>
          <p:cNvSpPr/>
          <p:nvPr/>
        </p:nvSpPr>
        <p:spPr>
          <a:xfrm>
            <a:off x="302004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ectangle 70"/>
          <p:cNvSpPr/>
          <p:nvPr/>
        </p:nvSpPr>
        <p:spPr>
          <a:xfrm>
            <a:off x="402768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8" name="Rectangle 71"/>
          <p:cNvSpPr/>
          <p:nvPr/>
        </p:nvSpPr>
        <p:spPr>
          <a:xfrm>
            <a:off x="503532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ectangle 72"/>
          <p:cNvSpPr/>
          <p:nvPr/>
        </p:nvSpPr>
        <p:spPr>
          <a:xfrm>
            <a:off x="604296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ectangle 73"/>
          <p:cNvSpPr/>
          <p:nvPr/>
        </p:nvSpPr>
        <p:spPr>
          <a:xfrm>
            <a:off x="705060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ectangle 74"/>
          <p:cNvSpPr/>
          <p:nvPr/>
        </p:nvSpPr>
        <p:spPr>
          <a:xfrm>
            <a:off x="805824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ectangle 75"/>
          <p:cNvSpPr/>
          <p:nvPr/>
        </p:nvSpPr>
        <p:spPr>
          <a:xfrm>
            <a:off x="906588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ectangle 76"/>
          <p:cNvSpPr/>
          <p:nvPr/>
        </p:nvSpPr>
        <p:spPr>
          <a:xfrm>
            <a:off x="1007352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77"/>
          <p:cNvSpPr/>
          <p:nvPr/>
        </p:nvSpPr>
        <p:spPr>
          <a:xfrm>
            <a:off x="1108080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78"/>
          <p:cNvSpPr/>
          <p:nvPr/>
        </p:nvSpPr>
        <p:spPr>
          <a:xfrm>
            <a:off x="1208844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79"/>
          <p:cNvSpPr/>
          <p:nvPr/>
        </p:nvSpPr>
        <p:spPr>
          <a:xfrm>
            <a:off x="1309608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ectangle 80"/>
          <p:cNvSpPr/>
          <p:nvPr/>
        </p:nvSpPr>
        <p:spPr>
          <a:xfrm>
            <a:off x="1800" y="1800"/>
            <a:ext cx="343440" cy="7553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ounded Rectangle 36"/>
          <p:cNvSpPr/>
          <p:nvPr/>
        </p:nvSpPr>
        <p:spPr>
          <a:xfrm>
            <a:off x="10880640" y="401400"/>
            <a:ext cx="2207160" cy="544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9" name="TextBox 13"/>
          <p:cNvSpPr/>
          <p:nvPr/>
        </p:nvSpPr>
        <p:spPr>
          <a:xfrm>
            <a:off x="2801160" y="1107360"/>
            <a:ext cx="64828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Java’dan Önceki Problem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TextBox 14"/>
          <p:cNvSpPr/>
          <p:nvPr/>
        </p:nvSpPr>
        <p:spPr>
          <a:xfrm>
            <a:off x="2820600" y="2266920"/>
            <a:ext cx="70941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Dünyanın neden yeni bir programlama diline ihtiyaç duyduğunu anlatır.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Rounded Rectangle 37"/>
          <p:cNvSpPr/>
          <p:nvPr/>
        </p:nvSpPr>
        <p:spPr>
          <a:xfrm>
            <a:off x="1086120" y="3507120"/>
            <a:ext cx="361800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ounded Rectangle 38"/>
          <p:cNvSpPr/>
          <p:nvPr/>
        </p:nvSpPr>
        <p:spPr>
          <a:xfrm>
            <a:off x="679320" y="3274920"/>
            <a:ext cx="4025520" cy="3166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Yazılım Kaosu (1990’ların başı)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Durum: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Farklı bilgisayarlar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Farklı işlemciler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Farklı işletim sistemleri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Sonuç: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Programs worked on one machine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Başka bir makinede çalışmıyordu ❌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Büyük sorun: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Geliştiriciler aynı yazılımı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tekrar tekrar baştan yazmak zorundaydı.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kez yaz, her yerde çalıştır” henüz yoktu.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3" name="Rounded Rectangle 39"/>
          <p:cNvSpPr/>
          <p:nvPr/>
        </p:nvSpPr>
        <p:spPr>
          <a:xfrm>
            <a:off x="4966200" y="3507120"/>
            <a:ext cx="361800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ounded Rectangle 40"/>
          <p:cNvSpPr/>
          <p:nvPr/>
        </p:nvSpPr>
        <p:spPr>
          <a:xfrm>
            <a:off x="4884480" y="3426840"/>
            <a:ext cx="361836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Mevcut Diller Neden Başarısız Oldu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 / C++ → Donanıma bağımlı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Platforma özel derlenmiş dosyalar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Bellek yönetimi problemleri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Güvenlik sorunları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Ana sıkıntı: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Bir sistem = bir derleme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i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Evrensel bir çözüm yoktu.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5" name="Rounded Rectangle 41"/>
          <p:cNvSpPr/>
          <p:nvPr/>
        </p:nvSpPr>
        <p:spPr>
          <a:xfrm>
            <a:off x="8845560" y="3507120"/>
            <a:ext cx="361800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ounded Rectangle 42"/>
          <p:cNvSpPr/>
          <p:nvPr/>
        </p:nvSpPr>
        <p:spPr>
          <a:xfrm>
            <a:off x="8763840" y="3426120"/>
            <a:ext cx="361836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Kod donanıma bağımlıydı</a:t>
            </a: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Java’dan Önceki Felsefe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device = 1991;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(device != 1995)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System.out.println("Yazılımı yeniden yaz!");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7" name="TextBox 15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Rectangle 81"/>
          <p:cNvSpPr/>
          <p:nvPr/>
        </p:nvSpPr>
        <p:spPr>
          <a:xfrm>
            <a:off x="1800" y="1800"/>
            <a:ext cx="13421880" cy="7553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82"/>
          <p:cNvSpPr/>
          <p:nvPr/>
        </p:nvSpPr>
        <p:spPr>
          <a:xfrm>
            <a:off x="180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83"/>
          <p:cNvSpPr/>
          <p:nvPr/>
        </p:nvSpPr>
        <p:spPr>
          <a:xfrm>
            <a:off x="100476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84"/>
          <p:cNvSpPr/>
          <p:nvPr/>
        </p:nvSpPr>
        <p:spPr>
          <a:xfrm>
            <a:off x="201240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ectangle 85"/>
          <p:cNvSpPr/>
          <p:nvPr/>
        </p:nvSpPr>
        <p:spPr>
          <a:xfrm>
            <a:off x="302004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ectangle 86"/>
          <p:cNvSpPr/>
          <p:nvPr/>
        </p:nvSpPr>
        <p:spPr>
          <a:xfrm>
            <a:off x="402768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4" name="Rectangle 87"/>
          <p:cNvSpPr/>
          <p:nvPr/>
        </p:nvSpPr>
        <p:spPr>
          <a:xfrm>
            <a:off x="503532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ectangle 88"/>
          <p:cNvSpPr/>
          <p:nvPr/>
        </p:nvSpPr>
        <p:spPr>
          <a:xfrm>
            <a:off x="604296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ectangle 89"/>
          <p:cNvSpPr/>
          <p:nvPr/>
        </p:nvSpPr>
        <p:spPr>
          <a:xfrm>
            <a:off x="705060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ectangle 90"/>
          <p:cNvSpPr/>
          <p:nvPr/>
        </p:nvSpPr>
        <p:spPr>
          <a:xfrm>
            <a:off x="805824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ectangle 91"/>
          <p:cNvSpPr/>
          <p:nvPr/>
        </p:nvSpPr>
        <p:spPr>
          <a:xfrm>
            <a:off x="906588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ectangle 92"/>
          <p:cNvSpPr/>
          <p:nvPr/>
        </p:nvSpPr>
        <p:spPr>
          <a:xfrm>
            <a:off x="1007352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93"/>
          <p:cNvSpPr/>
          <p:nvPr/>
        </p:nvSpPr>
        <p:spPr>
          <a:xfrm>
            <a:off x="1108080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94"/>
          <p:cNvSpPr/>
          <p:nvPr/>
        </p:nvSpPr>
        <p:spPr>
          <a:xfrm>
            <a:off x="1208844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95"/>
          <p:cNvSpPr/>
          <p:nvPr/>
        </p:nvSpPr>
        <p:spPr>
          <a:xfrm>
            <a:off x="1309608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ectangle 96"/>
          <p:cNvSpPr/>
          <p:nvPr/>
        </p:nvSpPr>
        <p:spPr>
          <a:xfrm>
            <a:off x="1800" y="1800"/>
            <a:ext cx="343440" cy="7553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ounded Rectangle 1"/>
          <p:cNvSpPr/>
          <p:nvPr/>
        </p:nvSpPr>
        <p:spPr>
          <a:xfrm>
            <a:off x="10880640" y="401400"/>
            <a:ext cx="2207160" cy="544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5" name="TextBox 16"/>
          <p:cNvSpPr/>
          <p:nvPr/>
        </p:nvSpPr>
        <p:spPr>
          <a:xfrm>
            <a:off x="2592360" y="1107360"/>
            <a:ext cx="69112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Tarihi – Oak Projesi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TextBox 17"/>
          <p:cNvSpPr/>
          <p:nvPr/>
        </p:nvSpPr>
        <p:spPr>
          <a:xfrm>
            <a:off x="4428720" y="2266920"/>
            <a:ext cx="3876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Daha sonra Java’ya dönüşecek olan fikir.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Rounded Rectangle 43"/>
          <p:cNvSpPr/>
          <p:nvPr/>
        </p:nvSpPr>
        <p:spPr>
          <a:xfrm>
            <a:off x="1086120" y="3507120"/>
            <a:ext cx="361800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ounded Rectangle 44"/>
          <p:cNvSpPr/>
          <p:nvPr/>
        </p:nvSpPr>
        <p:spPr>
          <a:xfrm>
            <a:off x="1005840" y="3425400"/>
            <a:ext cx="361836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Oak Projesi (1991)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Microsystems’in dahili projesi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James Gosling liderliğinde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 odaklanmış bir ekip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İlk adı: Oak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Amaç: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Akıllı cihazlar için yazılım geliştirmek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Televizyonlar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Set-top box’lar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Gömülü sistemler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9" name="Rounded Rectangle 45"/>
          <p:cNvSpPr/>
          <p:nvPr/>
        </p:nvSpPr>
        <p:spPr>
          <a:xfrm>
            <a:off x="4966200" y="3507120"/>
            <a:ext cx="361800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ounded Rectangle 46"/>
          <p:cNvSpPr/>
          <p:nvPr/>
        </p:nvSpPr>
        <p:spPr>
          <a:xfrm>
            <a:off x="8845560" y="3507120"/>
            <a:ext cx="361800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ounded Rectangle 47"/>
          <p:cNvSpPr/>
          <p:nvPr/>
        </p:nvSpPr>
        <p:spPr>
          <a:xfrm>
            <a:off x="8763840" y="3426840"/>
            <a:ext cx="361836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OakIdea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runEverywhere = true;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(runEverywhere)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System.out.println("Bu fikir yazılımı değiştirecek");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2" name="TextBox 20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Rounded Rectangle 48"/>
          <p:cNvSpPr/>
          <p:nvPr/>
        </p:nvSpPr>
        <p:spPr>
          <a:xfrm>
            <a:off x="4938840" y="3450960"/>
            <a:ext cx="361836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Oak’ın Arkasındaki Temel Fikir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Basit sözdizimi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Güçlü güvenlik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Donanıma doğrudan bağımlılık yok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Otomatik bellek yönetimi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Devrimsel düşünce: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Birçok cihaz için tek bir dil.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Aynı kod her yerde çalışmalı.”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Rectangle 97"/>
          <p:cNvSpPr/>
          <p:nvPr/>
        </p:nvSpPr>
        <p:spPr>
          <a:xfrm>
            <a:off x="1800" y="1800"/>
            <a:ext cx="13422240" cy="7553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98"/>
          <p:cNvSpPr/>
          <p:nvPr/>
        </p:nvSpPr>
        <p:spPr>
          <a:xfrm>
            <a:off x="180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99"/>
          <p:cNvSpPr/>
          <p:nvPr/>
        </p:nvSpPr>
        <p:spPr>
          <a:xfrm>
            <a:off x="100476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100"/>
          <p:cNvSpPr/>
          <p:nvPr/>
        </p:nvSpPr>
        <p:spPr>
          <a:xfrm>
            <a:off x="201240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ectangle 101"/>
          <p:cNvSpPr/>
          <p:nvPr/>
        </p:nvSpPr>
        <p:spPr>
          <a:xfrm>
            <a:off x="302004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ectangle 102"/>
          <p:cNvSpPr/>
          <p:nvPr/>
        </p:nvSpPr>
        <p:spPr>
          <a:xfrm>
            <a:off x="402768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0" name="Rectangle 103"/>
          <p:cNvSpPr/>
          <p:nvPr/>
        </p:nvSpPr>
        <p:spPr>
          <a:xfrm>
            <a:off x="503532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ectangle 104"/>
          <p:cNvSpPr/>
          <p:nvPr/>
        </p:nvSpPr>
        <p:spPr>
          <a:xfrm>
            <a:off x="604296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ectangle 105"/>
          <p:cNvSpPr/>
          <p:nvPr/>
        </p:nvSpPr>
        <p:spPr>
          <a:xfrm>
            <a:off x="705060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ectangle 106"/>
          <p:cNvSpPr/>
          <p:nvPr/>
        </p:nvSpPr>
        <p:spPr>
          <a:xfrm>
            <a:off x="805824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ectangle 107"/>
          <p:cNvSpPr/>
          <p:nvPr/>
        </p:nvSpPr>
        <p:spPr>
          <a:xfrm>
            <a:off x="906588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Rectangle 108"/>
          <p:cNvSpPr/>
          <p:nvPr/>
        </p:nvSpPr>
        <p:spPr>
          <a:xfrm>
            <a:off x="1007352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109"/>
          <p:cNvSpPr/>
          <p:nvPr/>
        </p:nvSpPr>
        <p:spPr>
          <a:xfrm>
            <a:off x="1108080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110"/>
          <p:cNvSpPr/>
          <p:nvPr/>
        </p:nvSpPr>
        <p:spPr>
          <a:xfrm>
            <a:off x="1208844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111"/>
          <p:cNvSpPr/>
          <p:nvPr/>
        </p:nvSpPr>
        <p:spPr>
          <a:xfrm>
            <a:off x="1309608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ectangle 112"/>
          <p:cNvSpPr/>
          <p:nvPr/>
        </p:nvSpPr>
        <p:spPr>
          <a:xfrm>
            <a:off x="1800" y="1800"/>
            <a:ext cx="343800" cy="7553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ounded Rectangle 49"/>
          <p:cNvSpPr/>
          <p:nvPr/>
        </p:nvSpPr>
        <p:spPr>
          <a:xfrm>
            <a:off x="10880640" y="401400"/>
            <a:ext cx="2207520" cy="544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1" name="TextBox 21"/>
          <p:cNvSpPr/>
          <p:nvPr/>
        </p:nvSpPr>
        <p:spPr>
          <a:xfrm>
            <a:off x="2608920" y="1107720"/>
            <a:ext cx="68821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Tarihi – Oak'tan Java'ya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TextBox 22"/>
          <p:cNvSpPr/>
          <p:nvPr/>
        </p:nvSpPr>
        <p:spPr>
          <a:xfrm>
            <a:off x="3687120" y="2266920"/>
            <a:ext cx="5359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Oak nasıl Java’ya dönüştü ve gerçek amacını nasıl buldu.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" name="Rounded Rectangle 50"/>
          <p:cNvSpPr/>
          <p:nvPr/>
        </p:nvSpPr>
        <p:spPr>
          <a:xfrm>
            <a:off x="1086120" y="3507120"/>
            <a:ext cx="361836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ounded Rectangle 51"/>
          <p:cNvSpPr/>
          <p:nvPr/>
        </p:nvSpPr>
        <p:spPr>
          <a:xfrm>
            <a:off x="1005840" y="3426120"/>
            <a:ext cx="361872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Dönüm Noktası (1994)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 ters gitti?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Akıllı TV pazarı başarısız oldu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Oak’ın ticari bir geleceği yoktu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Proje neredeyse iptal ediliyordu ❌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Ama bir şey değişti…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İnternet büyümeye başladı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Web tarayıcıları popülerleşti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Taşınabilir ve güvenli koda ihtiyaç doğdu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Kritik farkındalık: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Gelecek televizyonlar değil — Web’tir.”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5" name="Rounded Rectangle 52"/>
          <p:cNvSpPr/>
          <p:nvPr/>
        </p:nvSpPr>
        <p:spPr>
          <a:xfrm>
            <a:off x="4966200" y="3507120"/>
            <a:ext cx="361836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ounded Rectangle 53"/>
          <p:cNvSpPr/>
          <p:nvPr/>
        </p:nvSpPr>
        <p:spPr>
          <a:xfrm>
            <a:off x="8845560" y="3507120"/>
            <a:ext cx="361836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ounded Rectangle 54"/>
          <p:cNvSpPr/>
          <p:nvPr/>
        </p:nvSpPr>
        <p:spPr>
          <a:xfrm>
            <a:off x="8763840" y="3426120"/>
            <a:ext cx="361872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WebFuture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internetEra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if (internetEra)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"Java Web için hazır!"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8" name="TextBox 23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Rounded Rectangle 55"/>
          <p:cNvSpPr/>
          <p:nvPr/>
        </p:nvSpPr>
        <p:spPr>
          <a:xfrm>
            <a:off x="4938840" y="3450600"/>
            <a:ext cx="361872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Web Fırsatı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Oak neden İnternet için mükemmeldi?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Platformdan bağımsız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Tasarım gereği güvenli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 verimli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Doğrudan donanım bağımlılığı yok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Yeni yön: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Cihazlardan → tarayıcılara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Oak’tan → Java’ya ☕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1995: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Java, dünyaya resmen tanıtıldı.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Rectangle 113"/>
          <p:cNvSpPr/>
          <p:nvPr/>
        </p:nvSpPr>
        <p:spPr>
          <a:xfrm>
            <a:off x="1800" y="1800"/>
            <a:ext cx="13422240" cy="7553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114"/>
          <p:cNvSpPr/>
          <p:nvPr/>
        </p:nvSpPr>
        <p:spPr>
          <a:xfrm>
            <a:off x="180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115"/>
          <p:cNvSpPr/>
          <p:nvPr/>
        </p:nvSpPr>
        <p:spPr>
          <a:xfrm>
            <a:off x="100476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116"/>
          <p:cNvSpPr/>
          <p:nvPr/>
        </p:nvSpPr>
        <p:spPr>
          <a:xfrm>
            <a:off x="201240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ectangle 117"/>
          <p:cNvSpPr/>
          <p:nvPr/>
        </p:nvSpPr>
        <p:spPr>
          <a:xfrm>
            <a:off x="302004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ectangle 118"/>
          <p:cNvSpPr/>
          <p:nvPr/>
        </p:nvSpPr>
        <p:spPr>
          <a:xfrm>
            <a:off x="402768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6" name="Rectangle 119"/>
          <p:cNvSpPr/>
          <p:nvPr/>
        </p:nvSpPr>
        <p:spPr>
          <a:xfrm>
            <a:off x="503532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ectangle 120"/>
          <p:cNvSpPr/>
          <p:nvPr/>
        </p:nvSpPr>
        <p:spPr>
          <a:xfrm>
            <a:off x="604296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ectangle 121"/>
          <p:cNvSpPr/>
          <p:nvPr/>
        </p:nvSpPr>
        <p:spPr>
          <a:xfrm>
            <a:off x="705060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ectangle 122"/>
          <p:cNvSpPr/>
          <p:nvPr/>
        </p:nvSpPr>
        <p:spPr>
          <a:xfrm>
            <a:off x="805824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ectangle 123"/>
          <p:cNvSpPr/>
          <p:nvPr/>
        </p:nvSpPr>
        <p:spPr>
          <a:xfrm>
            <a:off x="906588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1" name="Rectangle 124"/>
          <p:cNvSpPr/>
          <p:nvPr/>
        </p:nvSpPr>
        <p:spPr>
          <a:xfrm>
            <a:off x="1007352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125"/>
          <p:cNvSpPr/>
          <p:nvPr/>
        </p:nvSpPr>
        <p:spPr>
          <a:xfrm>
            <a:off x="1108080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ectangle 126"/>
          <p:cNvSpPr/>
          <p:nvPr/>
        </p:nvSpPr>
        <p:spPr>
          <a:xfrm>
            <a:off x="1208844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ectangle 127"/>
          <p:cNvSpPr/>
          <p:nvPr/>
        </p:nvSpPr>
        <p:spPr>
          <a:xfrm>
            <a:off x="1309608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ectangle 128"/>
          <p:cNvSpPr/>
          <p:nvPr/>
        </p:nvSpPr>
        <p:spPr>
          <a:xfrm>
            <a:off x="1800" y="1800"/>
            <a:ext cx="343800" cy="7553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ounded Rectangle 56"/>
          <p:cNvSpPr/>
          <p:nvPr/>
        </p:nvSpPr>
        <p:spPr>
          <a:xfrm>
            <a:off x="10880640" y="401400"/>
            <a:ext cx="2207520" cy="544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7" name="TextBox 24"/>
          <p:cNvSpPr/>
          <p:nvPr/>
        </p:nvSpPr>
        <p:spPr>
          <a:xfrm>
            <a:off x="562680" y="1107720"/>
            <a:ext cx="109800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Felsefesi – Bir Kez Yaz, Her Yerde Çalıştır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TextBox 25"/>
          <p:cNvSpPr/>
          <p:nvPr/>
        </p:nvSpPr>
        <p:spPr>
          <a:xfrm>
            <a:off x="4013640" y="2266920"/>
            <a:ext cx="4708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Yazılım geliştirmeyi sonsuza kadar değiştiren fikir.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Rounded Rectangle 57"/>
          <p:cNvSpPr/>
          <p:nvPr/>
        </p:nvSpPr>
        <p:spPr>
          <a:xfrm>
            <a:off x="1086120" y="3507120"/>
            <a:ext cx="361836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ounded Rectangle 58"/>
          <p:cNvSpPr/>
          <p:nvPr/>
        </p:nvSpPr>
        <p:spPr>
          <a:xfrm>
            <a:off x="1005840" y="3426120"/>
            <a:ext cx="361872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Büyük Vaat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Java’dan önce: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 işletim sistemi = 1 derleme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sistem için yeniden derleme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Yüksek bakım maliyeti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ile: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Tek kaynak kod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Tek kez derlenen bytecode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yerde çalışır 🌍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Ünlü slogan: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Kez Yaz, Her Yerde Çalıştır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1" name="Rounded Rectangle 59"/>
          <p:cNvSpPr/>
          <p:nvPr/>
        </p:nvSpPr>
        <p:spPr>
          <a:xfrm>
            <a:off x="4966200" y="3507120"/>
            <a:ext cx="361836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ounded Rectangle 60"/>
          <p:cNvSpPr/>
          <p:nvPr/>
        </p:nvSpPr>
        <p:spPr>
          <a:xfrm>
            <a:off x="8845560" y="3507120"/>
            <a:ext cx="361836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ounded Rectangle 61"/>
          <p:cNvSpPr/>
          <p:nvPr/>
        </p:nvSpPr>
        <p:spPr>
          <a:xfrm>
            <a:off x="8763840" y="3426120"/>
            <a:ext cx="361872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Anywhere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os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System.getProperty("os.name");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"Çalıştığı sistem: " + os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"Aynı kod. Aynı sonuç."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4" name="TextBox 27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Rounded Rectangle 62"/>
          <p:cNvSpPr/>
          <p:nvPr/>
        </p:nvSpPr>
        <p:spPr>
          <a:xfrm>
            <a:off x="4938840" y="3452040"/>
            <a:ext cx="361872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Nasıl Çalışır? (Basit Anlatım)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çalışma modeli: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Derleyicisi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JVM (her işletim sistemi için)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platformda çalışır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Rectangle 129"/>
          <p:cNvSpPr/>
          <p:nvPr/>
        </p:nvSpPr>
        <p:spPr>
          <a:xfrm>
            <a:off x="16920" y="1800"/>
            <a:ext cx="13428000" cy="7551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130"/>
          <p:cNvSpPr/>
          <p:nvPr/>
        </p:nvSpPr>
        <p:spPr>
          <a:xfrm>
            <a:off x="144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131"/>
          <p:cNvSpPr/>
          <p:nvPr/>
        </p:nvSpPr>
        <p:spPr>
          <a:xfrm>
            <a:off x="100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132"/>
          <p:cNvSpPr/>
          <p:nvPr/>
        </p:nvSpPr>
        <p:spPr>
          <a:xfrm>
            <a:off x="201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ectangle 133"/>
          <p:cNvSpPr/>
          <p:nvPr/>
        </p:nvSpPr>
        <p:spPr>
          <a:xfrm>
            <a:off x="302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ectangle 134"/>
          <p:cNvSpPr/>
          <p:nvPr/>
        </p:nvSpPr>
        <p:spPr>
          <a:xfrm>
            <a:off x="402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2" name="Rectangle 135"/>
          <p:cNvSpPr/>
          <p:nvPr/>
        </p:nvSpPr>
        <p:spPr>
          <a:xfrm>
            <a:off x="503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ectangle 136"/>
          <p:cNvSpPr/>
          <p:nvPr/>
        </p:nvSpPr>
        <p:spPr>
          <a:xfrm>
            <a:off x="604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ectangle 137"/>
          <p:cNvSpPr/>
          <p:nvPr/>
        </p:nvSpPr>
        <p:spPr>
          <a:xfrm>
            <a:off x="705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ectangle 138"/>
          <p:cNvSpPr/>
          <p:nvPr/>
        </p:nvSpPr>
        <p:spPr>
          <a:xfrm>
            <a:off x="806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ectangle 139"/>
          <p:cNvSpPr/>
          <p:nvPr/>
        </p:nvSpPr>
        <p:spPr>
          <a:xfrm>
            <a:off x="906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7" name="Rectangle 140"/>
          <p:cNvSpPr/>
          <p:nvPr/>
        </p:nvSpPr>
        <p:spPr>
          <a:xfrm>
            <a:off x="1007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ectangle 141"/>
          <p:cNvSpPr/>
          <p:nvPr/>
        </p:nvSpPr>
        <p:spPr>
          <a:xfrm>
            <a:off x="1108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ectangle 142"/>
          <p:cNvSpPr/>
          <p:nvPr/>
        </p:nvSpPr>
        <p:spPr>
          <a:xfrm>
            <a:off x="1209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ectangle 143"/>
          <p:cNvSpPr/>
          <p:nvPr/>
        </p:nvSpPr>
        <p:spPr>
          <a:xfrm>
            <a:off x="1310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ectangle 144"/>
          <p:cNvSpPr/>
          <p:nvPr/>
        </p:nvSpPr>
        <p:spPr>
          <a:xfrm>
            <a:off x="1440" y="1800"/>
            <a:ext cx="344160" cy="7551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ounded Rectangle 63"/>
          <p:cNvSpPr/>
          <p:nvPr/>
        </p:nvSpPr>
        <p:spPr>
          <a:xfrm>
            <a:off x="10884960" y="401400"/>
            <a:ext cx="2208600" cy="544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3" name="TextBox 28"/>
          <p:cNvSpPr/>
          <p:nvPr/>
        </p:nvSpPr>
        <p:spPr>
          <a:xfrm>
            <a:off x="2558160" y="1107360"/>
            <a:ext cx="69890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Kurumsal Dünyaya Giriyor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TextBox 29"/>
          <p:cNvSpPr/>
          <p:nvPr/>
        </p:nvSpPr>
        <p:spPr>
          <a:xfrm>
            <a:off x="4201920" y="2266200"/>
            <a:ext cx="4337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büyük ölçekli sistemlere nasıl girdiği.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Rounded Rectangle 64"/>
          <p:cNvSpPr/>
          <p:nvPr/>
        </p:nvSpPr>
        <p:spPr>
          <a:xfrm>
            <a:off x="108684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ounded Rectangle 65"/>
          <p:cNvSpPr/>
          <p:nvPr/>
        </p:nvSpPr>
        <p:spPr>
          <a:xfrm>
            <a:off x="1006560" y="3425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1990’ların sonlarında internet hızla büyüdü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Şirketlerin ölçeklenebilir yazılımlara ihtiyacı vardı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Güvenlik, kritik bir gereklilik hâline geldi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Sistemlerin farklı işletim sistemlerinde çalışması gerekiyordu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bu sorunları şu özelliklerle çözdü: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Platformdan bağımsızlık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Güçlü nesne yönelimli tasarım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Yerleşik güvenlik özellikleri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Sonuç: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Java, kurumsal sistemler için tercih edilen dil hâline geldi.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7" name="Rounded Rectangle 66"/>
          <p:cNvSpPr/>
          <p:nvPr/>
        </p:nvSpPr>
        <p:spPr>
          <a:xfrm>
            <a:off x="49683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ounded Rectangle 67"/>
          <p:cNvSpPr/>
          <p:nvPr/>
        </p:nvSpPr>
        <p:spPr>
          <a:xfrm>
            <a:off x="88491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ounded Rectangle 68"/>
          <p:cNvSpPr/>
          <p:nvPr/>
        </p:nvSpPr>
        <p:spPr>
          <a:xfrm>
            <a:off x="8767440" y="3425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Enterprise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kurumsal dünyaya giriyor!");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0" name="TextBox 3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Rounded Rectangle 69"/>
          <p:cNvSpPr/>
          <p:nvPr/>
        </p:nvSpPr>
        <p:spPr>
          <a:xfrm>
            <a:off x="4941000" y="345096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Java’nın benimsenme yolu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Web uygulamaları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Veritabanları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Kurumsal sistemler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Rectangle 145"/>
          <p:cNvSpPr/>
          <p:nvPr/>
        </p:nvSpPr>
        <p:spPr>
          <a:xfrm>
            <a:off x="16920" y="1800"/>
            <a:ext cx="13428000" cy="7551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ectangle 146"/>
          <p:cNvSpPr/>
          <p:nvPr/>
        </p:nvSpPr>
        <p:spPr>
          <a:xfrm>
            <a:off x="144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ectangle 147"/>
          <p:cNvSpPr/>
          <p:nvPr/>
        </p:nvSpPr>
        <p:spPr>
          <a:xfrm>
            <a:off x="100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ectangle 148"/>
          <p:cNvSpPr/>
          <p:nvPr/>
        </p:nvSpPr>
        <p:spPr>
          <a:xfrm>
            <a:off x="201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ectangle 149"/>
          <p:cNvSpPr/>
          <p:nvPr/>
        </p:nvSpPr>
        <p:spPr>
          <a:xfrm>
            <a:off x="302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ectangle 150"/>
          <p:cNvSpPr/>
          <p:nvPr/>
        </p:nvSpPr>
        <p:spPr>
          <a:xfrm>
            <a:off x="402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8" name="Rectangle 151"/>
          <p:cNvSpPr/>
          <p:nvPr/>
        </p:nvSpPr>
        <p:spPr>
          <a:xfrm>
            <a:off x="503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ectangle 152"/>
          <p:cNvSpPr/>
          <p:nvPr/>
        </p:nvSpPr>
        <p:spPr>
          <a:xfrm>
            <a:off x="604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ectangle 153"/>
          <p:cNvSpPr/>
          <p:nvPr/>
        </p:nvSpPr>
        <p:spPr>
          <a:xfrm>
            <a:off x="705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ectangle 154"/>
          <p:cNvSpPr/>
          <p:nvPr/>
        </p:nvSpPr>
        <p:spPr>
          <a:xfrm>
            <a:off x="806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2" name="Rectangle 155"/>
          <p:cNvSpPr/>
          <p:nvPr/>
        </p:nvSpPr>
        <p:spPr>
          <a:xfrm>
            <a:off x="906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3" name="Rectangle 156"/>
          <p:cNvSpPr/>
          <p:nvPr/>
        </p:nvSpPr>
        <p:spPr>
          <a:xfrm>
            <a:off x="1007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ectangle 157"/>
          <p:cNvSpPr/>
          <p:nvPr/>
        </p:nvSpPr>
        <p:spPr>
          <a:xfrm>
            <a:off x="1108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ectangle 158"/>
          <p:cNvSpPr/>
          <p:nvPr/>
        </p:nvSpPr>
        <p:spPr>
          <a:xfrm>
            <a:off x="1209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6" name="Rectangle 159"/>
          <p:cNvSpPr/>
          <p:nvPr/>
        </p:nvSpPr>
        <p:spPr>
          <a:xfrm>
            <a:off x="1310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ectangle 160"/>
          <p:cNvSpPr/>
          <p:nvPr/>
        </p:nvSpPr>
        <p:spPr>
          <a:xfrm>
            <a:off x="1440" y="1800"/>
            <a:ext cx="344160" cy="7551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ounded Rectangle 70"/>
          <p:cNvSpPr/>
          <p:nvPr/>
        </p:nvSpPr>
        <p:spPr>
          <a:xfrm>
            <a:off x="10884960" y="401400"/>
            <a:ext cx="2208600" cy="544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9" name="TextBox 31"/>
          <p:cNvSpPr/>
          <p:nvPr/>
        </p:nvSpPr>
        <p:spPr>
          <a:xfrm>
            <a:off x="2953800" y="1107360"/>
            <a:ext cx="61995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Tarihi – Java Sürümleri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TextBox 32"/>
          <p:cNvSpPr/>
          <p:nvPr/>
        </p:nvSpPr>
        <p:spPr>
          <a:xfrm>
            <a:off x="4707360" y="2266200"/>
            <a:ext cx="3326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adım adım nasıl ilerlediği.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Rounded Rectangle 71"/>
          <p:cNvSpPr/>
          <p:nvPr/>
        </p:nvSpPr>
        <p:spPr>
          <a:xfrm>
            <a:off x="108684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ounded Rectangle 72"/>
          <p:cNvSpPr/>
          <p:nvPr/>
        </p:nvSpPr>
        <p:spPr>
          <a:xfrm>
            <a:off x="1006560" y="342432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1994’ten sonra Java yön değiştirdi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Dilin adı Oak’tan Java’ya değiştirildi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Java, Web için geliştirilmeye başlandı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Microsystems, Java’yı herkese açık olarak yayımlamaya karar verdi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 noktadan sonra Java sürümleri ortaya çıkmaya başladı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en-US" sz="1500" spc="-1" strike="noStrike" u="sng">
                <a:solidFill>
                  <a:schemeClr val="lt1"/>
                </a:solidFill>
                <a:uFillTx/>
                <a:latin typeface="Calibri"/>
                <a:ea typeface="DejaVu Sans"/>
              </a:rPr>
              <a:t>Temel fikir: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Her sürüm, eskilerini bozmadan Java’yı geliştirdi.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3" name="Rounded Rectangle 73"/>
          <p:cNvSpPr/>
          <p:nvPr/>
        </p:nvSpPr>
        <p:spPr>
          <a:xfrm>
            <a:off x="49683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ounded Rectangle 74"/>
          <p:cNvSpPr/>
          <p:nvPr/>
        </p:nvSpPr>
        <p:spPr>
          <a:xfrm>
            <a:off x="88491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ounded Rectangle 75"/>
          <p:cNvSpPr/>
          <p:nvPr/>
        </p:nvSpPr>
        <p:spPr>
          <a:xfrm>
            <a:off x="8767440" y="3425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9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JavaVersionIntro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sürüm sürüm gelişmeye devam ediyor.");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9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6" name="TextBox 33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Rounded Rectangle 76"/>
          <p:cNvSpPr/>
          <p:nvPr/>
        </p:nvSpPr>
        <p:spPr>
          <a:xfrm>
            <a:off x="4941000" y="345096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sürümleri baştan yazım değildir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Kademeli iyileştirmelerdir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Yeni özellikler + aynı temel fikir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Felsefe: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kez yaz, sonsuza kadar geliştir.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Rectangle 161"/>
          <p:cNvSpPr/>
          <p:nvPr/>
        </p:nvSpPr>
        <p:spPr>
          <a:xfrm>
            <a:off x="16920" y="1800"/>
            <a:ext cx="13428720" cy="7552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ectangle 162"/>
          <p:cNvSpPr/>
          <p:nvPr/>
        </p:nvSpPr>
        <p:spPr>
          <a:xfrm>
            <a:off x="144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0" name="Rectangle 163"/>
          <p:cNvSpPr/>
          <p:nvPr/>
        </p:nvSpPr>
        <p:spPr>
          <a:xfrm>
            <a:off x="100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1" name="Rectangle 164"/>
          <p:cNvSpPr/>
          <p:nvPr/>
        </p:nvSpPr>
        <p:spPr>
          <a:xfrm>
            <a:off x="201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ectangle 165"/>
          <p:cNvSpPr/>
          <p:nvPr/>
        </p:nvSpPr>
        <p:spPr>
          <a:xfrm>
            <a:off x="302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ectangle 166"/>
          <p:cNvSpPr/>
          <p:nvPr/>
        </p:nvSpPr>
        <p:spPr>
          <a:xfrm>
            <a:off x="402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4" name="Rectangle 167"/>
          <p:cNvSpPr/>
          <p:nvPr/>
        </p:nvSpPr>
        <p:spPr>
          <a:xfrm>
            <a:off x="503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5" name="Rectangle 168"/>
          <p:cNvSpPr/>
          <p:nvPr/>
        </p:nvSpPr>
        <p:spPr>
          <a:xfrm>
            <a:off x="604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6" name="Rectangle 169"/>
          <p:cNvSpPr/>
          <p:nvPr/>
        </p:nvSpPr>
        <p:spPr>
          <a:xfrm>
            <a:off x="705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ectangle 170"/>
          <p:cNvSpPr/>
          <p:nvPr/>
        </p:nvSpPr>
        <p:spPr>
          <a:xfrm>
            <a:off x="806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8" name="Rectangle 171"/>
          <p:cNvSpPr/>
          <p:nvPr/>
        </p:nvSpPr>
        <p:spPr>
          <a:xfrm>
            <a:off x="906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9" name="Rectangle 172"/>
          <p:cNvSpPr/>
          <p:nvPr/>
        </p:nvSpPr>
        <p:spPr>
          <a:xfrm>
            <a:off x="1007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ectangle 173"/>
          <p:cNvSpPr/>
          <p:nvPr/>
        </p:nvSpPr>
        <p:spPr>
          <a:xfrm>
            <a:off x="1108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ectangle 174"/>
          <p:cNvSpPr/>
          <p:nvPr/>
        </p:nvSpPr>
        <p:spPr>
          <a:xfrm>
            <a:off x="1209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2" name="Rectangle 175"/>
          <p:cNvSpPr/>
          <p:nvPr/>
        </p:nvSpPr>
        <p:spPr>
          <a:xfrm>
            <a:off x="1310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ectangle 176"/>
          <p:cNvSpPr/>
          <p:nvPr/>
        </p:nvSpPr>
        <p:spPr>
          <a:xfrm>
            <a:off x="1440" y="1800"/>
            <a:ext cx="344880" cy="7552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ounded Rectangle 77"/>
          <p:cNvSpPr/>
          <p:nvPr/>
        </p:nvSpPr>
        <p:spPr>
          <a:xfrm>
            <a:off x="10884960" y="401400"/>
            <a:ext cx="2209320" cy="545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5" name="TextBox 34"/>
          <p:cNvSpPr/>
          <p:nvPr/>
        </p:nvSpPr>
        <p:spPr>
          <a:xfrm>
            <a:off x="1916280" y="1107360"/>
            <a:ext cx="82796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Kurumsal Patlama (2000–2005)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TextBox 35"/>
          <p:cNvSpPr/>
          <p:nvPr/>
        </p:nvSpPr>
        <p:spPr>
          <a:xfrm>
            <a:off x="3533400" y="2266200"/>
            <a:ext cx="5675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kurumsal yazılımların belkemiği hâline nasıl geldiği.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Rounded Rectangle 78"/>
          <p:cNvSpPr/>
          <p:nvPr/>
        </p:nvSpPr>
        <p:spPr>
          <a:xfrm>
            <a:off x="108684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ounded Rectangle 79"/>
          <p:cNvSpPr/>
          <p:nvPr/>
        </p:nvSpPr>
        <p:spPr>
          <a:xfrm>
            <a:off x="1006560" y="342432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2000’lerin başı: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İnternet kullanımı patlama yaşadı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E-ticaret büyümeye başladı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Şirketler büyük ölçekli sistemlere ihtiyaç duydu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Sistemlerin şu özelliklere sahip olması gerekiyordu: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- Güvenilir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- Güvenli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- Ölçeklenebilir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9" name="Rounded Rectangle 80"/>
          <p:cNvSpPr/>
          <p:nvPr/>
        </p:nvSpPr>
        <p:spPr>
          <a:xfrm>
            <a:off x="49683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ounded Rectangle 81"/>
          <p:cNvSpPr/>
          <p:nvPr/>
        </p:nvSpPr>
        <p:spPr>
          <a:xfrm>
            <a:off x="88491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ounded Rectangle 82"/>
          <p:cNvSpPr/>
          <p:nvPr/>
        </p:nvSpPr>
        <p:spPr>
          <a:xfrm>
            <a:off x="8767440" y="3425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EnterpriseEra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sistemOnline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if (sistemOnline)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"Kurumsal sistemler 7/24 çalışıyor."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2" name="TextBox 3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Rounded Rectangle 83"/>
          <p:cNvSpPr/>
          <p:nvPr/>
        </p:nvSpPr>
        <p:spPr>
          <a:xfrm>
            <a:off x="4941000" y="345096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neden bu döneme damga vurdu: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2 Platformu (J2SE, J2EE, J2ME)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Güçlü sunucu tarafı programlama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Çok katmanlı mimari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Yerleşik güvenlik modeli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Veritabanı odaklı uygulamalar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Rectangle 177"/>
          <p:cNvSpPr/>
          <p:nvPr/>
        </p:nvSpPr>
        <p:spPr>
          <a:xfrm>
            <a:off x="16920" y="1800"/>
            <a:ext cx="13428720" cy="7552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ectangle 178"/>
          <p:cNvSpPr/>
          <p:nvPr/>
        </p:nvSpPr>
        <p:spPr>
          <a:xfrm>
            <a:off x="144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6" name="Rectangle 179"/>
          <p:cNvSpPr/>
          <p:nvPr/>
        </p:nvSpPr>
        <p:spPr>
          <a:xfrm>
            <a:off x="100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7" name="Rectangle 180"/>
          <p:cNvSpPr/>
          <p:nvPr/>
        </p:nvSpPr>
        <p:spPr>
          <a:xfrm>
            <a:off x="201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Rectangle 181"/>
          <p:cNvSpPr/>
          <p:nvPr/>
        </p:nvSpPr>
        <p:spPr>
          <a:xfrm>
            <a:off x="302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ectangle 182"/>
          <p:cNvSpPr/>
          <p:nvPr/>
        </p:nvSpPr>
        <p:spPr>
          <a:xfrm>
            <a:off x="402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0" name="Rectangle 183"/>
          <p:cNvSpPr/>
          <p:nvPr/>
        </p:nvSpPr>
        <p:spPr>
          <a:xfrm>
            <a:off x="503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1" name="Rectangle 184"/>
          <p:cNvSpPr/>
          <p:nvPr/>
        </p:nvSpPr>
        <p:spPr>
          <a:xfrm>
            <a:off x="604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2" name="Rectangle 185"/>
          <p:cNvSpPr/>
          <p:nvPr/>
        </p:nvSpPr>
        <p:spPr>
          <a:xfrm>
            <a:off x="705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3" name="Rectangle 186"/>
          <p:cNvSpPr/>
          <p:nvPr/>
        </p:nvSpPr>
        <p:spPr>
          <a:xfrm>
            <a:off x="806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4" name="Rectangle 187"/>
          <p:cNvSpPr/>
          <p:nvPr/>
        </p:nvSpPr>
        <p:spPr>
          <a:xfrm>
            <a:off x="906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5" name="Rectangle 188"/>
          <p:cNvSpPr/>
          <p:nvPr/>
        </p:nvSpPr>
        <p:spPr>
          <a:xfrm>
            <a:off x="1007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ectangle 189"/>
          <p:cNvSpPr/>
          <p:nvPr/>
        </p:nvSpPr>
        <p:spPr>
          <a:xfrm>
            <a:off x="1108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ectangle 190"/>
          <p:cNvSpPr/>
          <p:nvPr/>
        </p:nvSpPr>
        <p:spPr>
          <a:xfrm>
            <a:off x="1209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8" name="Rectangle 191"/>
          <p:cNvSpPr/>
          <p:nvPr/>
        </p:nvSpPr>
        <p:spPr>
          <a:xfrm>
            <a:off x="1310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ectangle 192"/>
          <p:cNvSpPr/>
          <p:nvPr/>
        </p:nvSpPr>
        <p:spPr>
          <a:xfrm>
            <a:off x="1440" y="1800"/>
            <a:ext cx="344880" cy="7552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ounded Rectangle 84"/>
          <p:cNvSpPr/>
          <p:nvPr/>
        </p:nvSpPr>
        <p:spPr>
          <a:xfrm>
            <a:off x="10884960" y="401400"/>
            <a:ext cx="2209320" cy="545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1" name="TextBox 37"/>
          <p:cNvSpPr/>
          <p:nvPr/>
        </p:nvSpPr>
        <p:spPr>
          <a:xfrm>
            <a:off x="1708920" y="1107360"/>
            <a:ext cx="8695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2000–2005 Arası Java Teknolojileri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TextBox 38"/>
          <p:cNvSpPr/>
          <p:nvPr/>
        </p:nvSpPr>
        <p:spPr>
          <a:xfrm>
            <a:off x="4586400" y="2266200"/>
            <a:ext cx="3565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Modern kurumsal Java’nın temelleri.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Rounded Rectangle 85"/>
          <p:cNvSpPr/>
          <p:nvPr/>
        </p:nvSpPr>
        <p:spPr>
          <a:xfrm>
            <a:off x="108684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ounded Rectangle 86"/>
          <p:cNvSpPr/>
          <p:nvPr/>
        </p:nvSpPr>
        <p:spPr>
          <a:xfrm>
            <a:off x="1006560" y="342432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Temel teknolojiler: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Servlets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JSP (JavaServer Pages)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JDBC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JNDI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EJB (Enterprise JavaBeans)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5" name="Rounded Rectangle 87"/>
          <p:cNvSpPr/>
          <p:nvPr/>
        </p:nvSpPr>
        <p:spPr>
          <a:xfrm>
            <a:off x="49683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ounded Rectangle 88"/>
          <p:cNvSpPr/>
          <p:nvPr/>
        </p:nvSpPr>
        <p:spPr>
          <a:xfrm>
            <a:off x="88491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ounded Rectangle 89"/>
          <p:cNvSpPr/>
          <p:nvPr/>
        </p:nvSpPr>
        <p:spPr>
          <a:xfrm>
            <a:off x="8767440" y="3425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user = "Client";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"Welcome to the enterprise system, " + user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8" name="TextBox 39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" name="Rounded Rectangle 90"/>
          <p:cNvSpPr/>
          <p:nvPr/>
        </p:nvSpPr>
        <p:spPr>
          <a:xfrm>
            <a:off x="4941000" y="345096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Bu teknolojiler sayesinde: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Dinamik web uygulamaları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Veritabanı tabanlı sistemler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(transaction) yönetimi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Dağıtık uygulamalar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Kurumsal ölçekte ölçeklenebilirlik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Rectangle 193"/>
          <p:cNvSpPr/>
          <p:nvPr/>
        </p:nvSpPr>
        <p:spPr>
          <a:xfrm>
            <a:off x="16920" y="1800"/>
            <a:ext cx="13429080" cy="7552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ectangle 194"/>
          <p:cNvSpPr/>
          <p:nvPr/>
        </p:nvSpPr>
        <p:spPr>
          <a:xfrm>
            <a:off x="144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2" name="Rectangle 195"/>
          <p:cNvSpPr/>
          <p:nvPr/>
        </p:nvSpPr>
        <p:spPr>
          <a:xfrm>
            <a:off x="100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3" name="Rectangle 196"/>
          <p:cNvSpPr/>
          <p:nvPr/>
        </p:nvSpPr>
        <p:spPr>
          <a:xfrm>
            <a:off x="201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4" name="Rectangle 197"/>
          <p:cNvSpPr/>
          <p:nvPr/>
        </p:nvSpPr>
        <p:spPr>
          <a:xfrm>
            <a:off x="302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5" name="Rectangle 198"/>
          <p:cNvSpPr/>
          <p:nvPr/>
        </p:nvSpPr>
        <p:spPr>
          <a:xfrm>
            <a:off x="402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6" name="Rectangle 199"/>
          <p:cNvSpPr/>
          <p:nvPr/>
        </p:nvSpPr>
        <p:spPr>
          <a:xfrm>
            <a:off x="503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7" name="Rectangle 200"/>
          <p:cNvSpPr/>
          <p:nvPr/>
        </p:nvSpPr>
        <p:spPr>
          <a:xfrm>
            <a:off x="604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8" name="Rectangle 201"/>
          <p:cNvSpPr/>
          <p:nvPr/>
        </p:nvSpPr>
        <p:spPr>
          <a:xfrm>
            <a:off x="705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9" name="Rectangle 202"/>
          <p:cNvSpPr/>
          <p:nvPr/>
        </p:nvSpPr>
        <p:spPr>
          <a:xfrm>
            <a:off x="806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0" name="Rectangle 203"/>
          <p:cNvSpPr/>
          <p:nvPr/>
        </p:nvSpPr>
        <p:spPr>
          <a:xfrm>
            <a:off x="906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1" name="Rectangle 204"/>
          <p:cNvSpPr/>
          <p:nvPr/>
        </p:nvSpPr>
        <p:spPr>
          <a:xfrm>
            <a:off x="1007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ectangle 205"/>
          <p:cNvSpPr/>
          <p:nvPr/>
        </p:nvSpPr>
        <p:spPr>
          <a:xfrm>
            <a:off x="1108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3" name="Rectangle 206"/>
          <p:cNvSpPr/>
          <p:nvPr/>
        </p:nvSpPr>
        <p:spPr>
          <a:xfrm>
            <a:off x="1209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4" name="Rectangle 207"/>
          <p:cNvSpPr/>
          <p:nvPr/>
        </p:nvSpPr>
        <p:spPr>
          <a:xfrm>
            <a:off x="1310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ectangle 208"/>
          <p:cNvSpPr/>
          <p:nvPr/>
        </p:nvSpPr>
        <p:spPr>
          <a:xfrm>
            <a:off x="1440" y="1800"/>
            <a:ext cx="345240" cy="7552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ounded Rectangle 91"/>
          <p:cNvSpPr/>
          <p:nvPr/>
        </p:nvSpPr>
        <p:spPr>
          <a:xfrm>
            <a:off x="10884960" y="401400"/>
            <a:ext cx="2209680" cy="545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7" name="TextBox 40"/>
          <p:cNvSpPr/>
          <p:nvPr/>
        </p:nvSpPr>
        <p:spPr>
          <a:xfrm>
            <a:off x="2097720" y="1107360"/>
            <a:ext cx="79185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Teknolojileri (2005–2010)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TextBox 41"/>
          <p:cNvSpPr/>
          <p:nvPr/>
        </p:nvSpPr>
        <p:spPr>
          <a:xfrm>
            <a:off x="5367240" y="2266200"/>
            <a:ext cx="2003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Framework Devrimi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Rounded Rectangle 92"/>
          <p:cNvSpPr/>
          <p:nvPr/>
        </p:nvSpPr>
        <p:spPr>
          <a:xfrm>
            <a:off x="108684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ounded Rectangle 93"/>
          <p:cNvSpPr/>
          <p:nvPr/>
        </p:nvSpPr>
        <p:spPr>
          <a:xfrm>
            <a:off x="1006560" y="342432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Temel Teknolojiler (Ortaya çıkanlar):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Spring Framework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(Kontrolün Tersine Çevrilmesi – IoC, Bağımlılık Enjeksiyonu – DI)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Hibernate / JPA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(Nesne-İlişkisel Eşleme – ORM)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EE 5 &amp; 6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(XML ağırlıklı yapılandırmaların yerini anotasyonlar aldı)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JSF (JavaServer Faces)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(Bileşen tabanlı kullanıcı arayüzü)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Maven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(Standart derleme ve bağımlılık yönetimi)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1" name="Rounded Rectangle 94"/>
          <p:cNvSpPr/>
          <p:nvPr/>
        </p:nvSpPr>
        <p:spPr>
          <a:xfrm>
            <a:off x="49683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ounded Rectangle 95"/>
          <p:cNvSpPr/>
          <p:nvPr/>
        </p:nvSpPr>
        <p:spPr>
          <a:xfrm>
            <a:off x="88491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ounded Rectangle 96"/>
          <p:cNvSpPr/>
          <p:nvPr/>
        </p:nvSpPr>
        <p:spPr>
          <a:xfrm>
            <a:off x="8767440" y="3425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@Service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OrderService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@Autowired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private OrderRepository repository;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Order findOrder(Long id)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repository.findById(id);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4" name="TextBox 42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Rounded Rectangle 97"/>
          <p:cNvSpPr/>
          <p:nvPr/>
        </p:nvSpPr>
        <p:spPr>
          <a:xfrm>
            <a:off x="4941000" y="345096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 dönem neden önemliydi: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XML ağırlıklı kurumsal Java yapıları sadeleştirildi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Gereksiz tekrar kod ciddi şekilde azaldı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Gevşek bağlılık  standart hâline geldi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MVC ve katmanlı mimari yaygınlaştı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Geliştiriciler üretkenlik ve esneklik kazandı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2005 öncesi: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Kurumsal Java = karmaşık, uzun, bakımı zor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2005 sonrası: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Kurumsal Java = daha temiz, modüler, framework odaklı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Rectangle 209"/>
          <p:cNvSpPr/>
          <p:nvPr/>
        </p:nvSpPr>
        <p:spPr>
          <a:xfrm>
            <a:off x="16920" y="1800"/>
            <a:ext cx="13429080" cy="7552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ectangle 210"/>
          <p:cNvSpPr/>
          <p:nvPr/>
        </p:nvSpPr>
        <p:spPr>
          <a:xfrm>
            <a:off x="144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8" name="Rectangle 211"/>
          <p:cNvSpPr/>
          <p:nvPr/>
        </p:nvSpPr>
        <p:spPr>
          <a:xfrm>
            <a:off x="100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9" name="Rectangle 212"/>
          <p:cNvSpPr/>
          <p:nvPr/>
        </p:nvSpPr>
        <p:spPr>
          <a:xfrm>
            <a:off x="201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0" name="Rectangle 213"/>
          <p:cNvSpPr/>
          <p:nvPr/>
        </p:nvSpPr>
        <p:spPr>
          <a:xfrm>
            <a:off x="302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1" name="Rectangle 214"/>
          <p:cNvSpPr/>
          <p:nvPr/>
        </p:nvSpPr>
        <p:spPr>
          <a:xfrm>
            <a:off x="402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2" name="Rectangle 215"/>
          <p:cNvSpPr/>
          <p:nvPr/>
        </p:nvSpPr>
        <p:spPr>
          <a:xfrm>
            <a:off x="503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3" name="Rectangle 216"/>
          <p:cNvSpPr/>
          <p:nvPr/>
        </p:nvSpPr>
        <p:spPr>
          <a:xfrm>
            <a:off x="604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4" name="Rectangle 217"/>
          <p:cNvSpPr/>
          <p:nvPr/>
        </p:nvSpPr>
        <p:spPr>
          <a:xfrm>
            <a:off x="705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5" name="Rectangle 218"/>
          <p:cNvSpPr/>
          <p:nvPr/>
        </p:nvSpPr>
        <p:spPr>
          <a:xfrm>
            <a:off x="806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6" name="Rectangle 219"/>
          <p:cNvSpPr/>
          <p:nvPr/>
        </p:nvSpPr>
        <p:spPr>
          <a:xfrm>
            <a:off x="906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7" name="Rectangle 220"/>
          <p:cNvSpPr/>
          <p:nvPr/>
        </p:nvSpPr>
        <p:spPr>
          <a:xfrm>
            <a:off x="1007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8" name="Rectangle 221"/>
          <p:cNvSpPr/>
          <p:nvPr/>
        </p:nvSpPr>
        <p:spPr>
          <a:xfrm>
            <a:off x="1108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9" name="Rectangle 222"/>
          <p:cNvSpPr/>
          <p:nvPr/>
        </p:nvSpPr>
        <p:spPr>
          <a:xfrm>
            <a:off x="1209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0" name="Rectangle 223"/>
          <p:cNvSpPr/>
          <p:nvPr/>
        </p:nvSpPr>
        <p:spPr>
          <a:xfrm>
            <a:off x="1310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ectangle 224"/>
          <p:cNvSpPr/>
          <p:nvPr/>
        </p:nvSpPr>
        <p:spPr>
          <a:xfrm>
            <a:off x="1440" y="1800"/>
            <a:ext cx="345240" cy="7552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2" name="Rounded Rectangle 98"/>
          <p:cNvSpPr/>
          <p:nvPr/>
        </p:nvSpPr>
        <p:spPr>
          <a:xfrm>
            <a:off x="10884960" y="401400"/>
            <a:ext cx="2209680" cy="545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3" name="TextBox 43"/>
          <p:cNvSpPr/>
          <p:nvPr/>
        </p:nvSpPr>
        <p:spPr>
          <a:xfrm>
            <a:off x="2808000" y="1107360"/>
            <a:ext cx="64983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Modern Java ve Bulut Çağı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TextBox 44"/>
          <p:cNvSpPr/>
          <p:nvPr/>
        </p:nvSpPr>
        <p:spPr>
          <a:xfrm>
            <a:off x="5367240" y="2266200"/>
            <a:ext cx="2003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Framework Devrimi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5" name="Rounded Rectangle 99"/>
          <p:cNvSpPr/>
          <p:nvPr/>
        </p:nvSpPr>
        <p:spPr>
          <a:xfrm>
            <a:off x="108684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6" name="Rounded Rectangle 100"/>
          <p:cNvSpPr/>
          <p:nvPr/>
        </p:nvSpPr>
        <p:spPr>
          <a:xfrm>
            <a:off x="1020960" y="342432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(Temel teknolojiler):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Spring Boot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REST API’ler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Mikroservisler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Docker &amp; Kubernetes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Java 8+ (Lambda ifadeleri, Stream API)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7" name="Rounded Rectangle 101"/>
          <p:cNvSpPr/>
          <p:nvPr/>
        </p:nvSpPr>
        <p:spPr>
          <a:xfrm>
            <a:off x="49683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ounded Rectangle 102"/>
          <p:cNvSpPr/>
          <p:nvPr/>
        </p:nvSpPr>
        <p:spPr>
          <a:xfrm>
            <a:off x="88491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9" name="Rounded Rectangle 103"/>
          <p:cNvSpPr/>
          <p:nvPr/>
        </p:nvSpPr>
        <p:spPr>
          <a:xfrm>
            <a:off x="8767440" y="3425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@GetMapping("/users/{id}")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User getUser(@PathVariable Long id)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userService.getUser(id);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0" name="TextBox 45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Rounded Rectangle 104"/>
          <p:cNvSpPr/>
          <p:nvPr/>
        </p:nvSpPr>
        <p:spPr>
          <a:xfrm>
            <a:off x="4941000" y="345096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Bulut uyumlu (cloud-native) uygulamalar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Mikroservis mimarisi ile ölçeklenebilirlik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Hızlı dağıtım (deployment)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Fonksiyonel programlama yaklaşımı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Uzun süreli destek (LTS – Long Term Support)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Rectangle 225"/>
          <p:cNvSpPr/>
          <p:nvPr/>
        </p:nvSpPr>
        <p:spPr>
          <a:xfrm>
            <a:off x="16920" y="1800"/>
            <a:ext cx="13429080" cy="7552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ectangle 226"/>
          <p:cNvSpPr/>
          <p:nvPr/>
        </p:nvSpPr>
        <p:spPr>
          <a:xfrm>
            <a:off x="144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4" name="Rectangle 227"/>
          <p:cNvSpPr/>
          <p:nvPr/>
        </p:nvSpPr>
        <p:spPr>
          <a:xfrm>
            <a:off x="100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5" name="Rectangle 228"/>
          <p:cNvSpPr/>
          <p:nvPr/>
        </p:nvSpPr>
        <p:spPr>
          <a:xfrm>
            <a:off x="201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6" name="Rectangle 229"/>
          <p:cNvSpPr/>
          <p:nvPr/>
        </p:nvSpPr>
        <p:spPr>
          <a:xfrm>
            <a:off x="302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7" name="Rectangle 230"/>
          <p:cNvSpPr/>
          <p:nvPr/>
        </p:nvSpPr>
        <p:spPr>
          <a:xfrm>
            <a:off x="402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8" name="Rectangle 231"/>
          <p:cNvSpPr/>
          <p:nvPr/>
        </p:nvSpPr>
        <p:spPr>
          <a:xfrm>
            <a:off x="503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9" name="Rectangle 232"/>
          <p:cNvSpPr/>
          <p:nvPr/>
        </p:nvSpPr>
        <p:spPr>
          <a:xfrm>
            <a:off x="604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0" name="Rectangle 233"/>
          <p:cNvSpPr/>
          <p:nvPr/>
        </p:nvSpPr>
        <p:spPr>
          <a:xfrm>
            <a:off x="705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1" name="Rectangle 234"/>
          <p:cNvSpPr/>
          <p:nvPr/>
        </p:nvSpPr>
        <p:spPr>
          <a:xfrm>
            <a:off x="806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2" name="Rectangle 235"/>
          <p:cNvSpPr/>
          <p:nvPr/>
        </p:nvSpPr>
        <p:spPr>
          <a:xfrm>
            <a:off x="906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3" name="Rectangle 236"/>
          <p:cNvSpPr/>
          <p:nvPr/>
        </p:nvSpPr>
        <p:spPr>
          <a:xfrm>
            <a:off x="1007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4" name="Rectangle 237"/>
          <p:cNvSpPr/>
          <p:nvPr/>
        </p:nvSpPr>
        <p:spPr>
          <a:xfrm>
            <a:off x="1108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5" name="Rectangle 238"/>
          <p:cNvSpPr/>
          <p:nvPr/>
        </p:nvSpPr>
        <p:spPr>
          <a:xfrm>
            <a:off x="1209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6" name="Rectangle 239"/>
          <p:cNvSpPr/>
          <p:nvPr/>
        </p:nvSpPr>
        <p:spPr>
          <a:xfrm>
            <a:off x="1310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7" name="Rectangle 240"/>
          <p:cNvSpPr/>
          <p:nvPr/>
        </p:nvSpPr>
        <p:spPr>
          <a:xfrm>
            <a:off x="1440" y="1800"/>
            <a:ext cx="345240" cy="7552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8" name="Rounded Rectangle 105"/>
          <p:cNvSpPr/>
          <p:nvPr/>
        </p:nvSpPr>
        <p:spPr>
          <a:xfrm>
            <a:off x="10884960" y="401400"/>
            <a:ext cx="2209680" cy="545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9" name="TextBox 46"/>
          <p:cNvSpPr/>
          <p:nvPr/>
        </p:nvSpPr>
        <p:spPr>
          <a:xfrm>
            <a:off x="3957120" y="1107360"/>
            <a:ext cx="41986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2015 Sonrası Java: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TextBox 47"/>
          <p:cNvSpPr/>
          <p:nvPr/>
        </p:nvSpPr>
        <p:spPr>
          <a:xfrm>
            <a:off x="4066200" y="2266200"/>
            <a:ext cx="4608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büyüyor: daha hızlı, daha temiz, daha akıllı.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1" name="Rounded Rectangle 106"/>
          <p:cNvSpPr/>
          <p:nvPr/>
        </p:nvSpPr>
        <p:spPr>
          <a:xfrm>
            <a:off x="108684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2" name="Rounded Rectangle 107"/>
          <p:cNvSpPr/>
          <p:nvPr/>
        </p:nvSpPr>
        <p:spPr>
          <a:xfrm>
            <a:off x="1020960" y="342432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8+ Lambda İfadeleri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Streams API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Optional &amp; Fonksiyonel Arayüzler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CompletableFuture (Asenkron programlama)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Records (değiştirilemez veri taşıyıcıları)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Pattern Matching (instanceof, switch)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3" name="Rounded Rectangle 108"/>
          <p:cNvSpPr/>
          <p:nvPr/>
        </p:nvSpPr>
        <p:spPr>
          <a:xfrm>
            <a:off x="49683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ounded Rectangle 109"/>
          <p:cNvSpPr/>
          <p:nvPr/>
        </p:nvSpPr>
        <p:spPr>
          <a:xfrm>
            <a:off x="88491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5" name="Rounded Rectangle 110"/>
          <p:cNvSpPr/>
          <p:nvPr/>
        </p:nvSpPr>
        <p:spPr>
          <a:xfrm>
            <a:off x="8767440" y="3425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List&lt;String&gt; activeUsers =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users.stream()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.filter(User::isActive)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.map(User::getName)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.toList();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6" name="TextBox 48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Rounded Rectangle 111"/>
          <p:cNvSpPr/>
          <p:nvPr/>
        </p:nvSpPr>
        <p:spPr>
          <a:xfrm>
            <a:off x="4941000" y="345096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Daha ifade gücü yüksek kode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Daha az tekrar (boilerplate)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Daha iyi performans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Paralel ve asenkron işlem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Modern programlama paradigmaları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Okunabilirlik + sürdürülebilirlik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8 Öncesi: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Emredici (imperative), uzun, döngü ağırlıklı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8 Sonrası: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Bildirime dayalı, fonksiyonel, akıcı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Rectangle 241"/>
          <p:cNvSpPr/>
          <p:nvPr/>
        </p:nvSpPr>
        <p:spPr>
          <a:xfrm>
            <a:off x="16920" y="1800"/>
            <a:ext cx="13429080" cy="7552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ectangle 242"/>
          <p:cNvSpPr/>
          <p:nvPr/>
        </p:nvSpPr>
        <p:spPr>
          <a:xfrm>
            <a:off x="144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0" name="Rectangle 243"/>
          <p:cNvSpPr/>
          <p:nvPr/>
        </p:nvSpPr>
        <p:spPr>
          <a:xfrm>
            <a:off x="100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1" name="Rectangle 244"/>
          <p:cNvSpPr/>
          <p:nvPr/>
        </p:nvSpPr>
        <p:spPr>
          <a:xfrm>
            <a:off x="201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2" name="Rectangle 245"/>
          <p:cNvSpPr/>
          <p:nvPr/>
        </p:nvSpPr>
        <p:spPr>
          <a:xfrm>
            <a:off x="302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3" name="Rectangle 246"/>
          <p:cNvSpPr/>
          <p:nvPr/>
        </p:nvSpPr>
        <p:spPr>
          <a:xfrm>
            <a:off x="402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4" name="Rectangle 247"/>
          <p:cNvSpPr/>
          <p:nvPr/>
        </p:nvSpPr>
        <p:spPr>
          <a:xfrm>
            <a:off x="503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5" name="Rectangle 248"/>
          <p:cNvSpPr/>
          <p:nvPr/>
        </p:nvSpPr>
        <p:spPr>
          <a:xfrm>
            <a:off x="604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6" name="Rectangle 249"/>
          <p:cNvSpPr/>
          <p:nvPr/>
        </p:nvSpPr>
        <p:spPr>
          <a:xfrm>
            <a:off x="705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7" name="Rectangle 250"/>
          <p:cNvSpPr/>
          <p:nvPr/>
        </p:nvSpPr>
        <p:spPr>
          <a:xfrm>
            <a:off x="806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8" name="Rectangle 251"/>
          <p:cNvSpPr/>
          <p:nvPr/>
        </p:nvSpPr>
        <p:spPr>
          <a:xfrm>
            <a:off x="906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9" name="Rectangle 252"/>
          <p:cNvSpPr/>
          <p:nvPr/>
        </p:nvSpPr>
        <p:spPr>
          <a:xfrm>
            <a:off x="1007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0" name="Rectangle 253"/>
          <p:cNvSpPr/>
          <p:nvPr/>
        </p:nvSpPr>
        <p:spPr>
          <a:xfrm>
            <a:off x="1108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1" name="Rectangle 254"/>
          <p:cNvSpPr/>
          <p:nvPr/>
        </p:nvSpPr>
        <p:spPr>
          <a:xfrm>
            <a:off x="1209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2" name="Rectangle 255"/>
          <p:cNvSpPr/>
          <p:nvPr/>
        </p:nvSpPr>
        <p:spPr>
          <a:xfrm>
            <a:off x="1310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3" name="Rectangle 256"/>
          <p:cNvSpPr/>
          <p:nvPr/>
        </p:nvSpPr>
        <p:spPr>
          <a:xfrm>
            <a:off x="1440" y="1800"/>
            <a:ext cx="345240" cy="7552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4" name="Rounded Rectangle 112"/>
          <p:cNvSpPr/>
          <p:nvPr/>
        </p:nvSpPr>
        <p:spPr>
          <a:xfrm>
            <a:off x="10884960" y="401400"/>
            <a:ext cx="2209680" cy="545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5" name="TextBox 49"/>
          <p:cNvSpPr/>
          <p:nvPr/>
        </p:nvSpPr>
        <p:spPr>
          <a:xfrm>
            <a:off x="1362960" y="1107360"/>
            <a:ext cx="93895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Bugünün Java’sı: Kurumsal, Bulut ve Ötesi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6" name="TextBox 50"/>
          <p:cNvSpPr/>
          <p:nvPr/>
        </p:nvSpPr>
        <p:spPr>
          <a:xfrm>
            <a:off x="4168080" y="2266200"/>
            <a:ext cx="4403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artık sadece kurumsal değil — her yerde.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7" name="Rounded Rectangle 113"/>
          <p:cNvSpPr/>
          <p:nvPr/>
        </p:nvSpPr>
        <p:spPr>
          <a:xfrm>
            <a:off x="108684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8" name="Rounded Rectangle 114"/>
          <p:cNvSpPr/>
          <p:nvPr/>
        </p:nvSpPr>
        <p:spPr>
          <a:xfrm>
            <a:off x="1020960" y="342432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Bulut-yerel (cloud-native) backend’ler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Yüksek performanslı API’ler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Finansal sistemler ve bankacılık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Büyük veri ve akış (streaming) platformları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Android (çekirdek dil temelleri)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Oyun sunucuları ve gerçek zamanlı sistemler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9" name="Rounded Rectangle 115"/>
          <p:cNvSpPr/>
          <p:nvPr/>
        </p:nvSpPr>
        <p:spPr>
          <a:xfrm>
            <a:off x="49683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0" name="Rounded Rectangle 116"/>
          <p:cNvSpPr/>
          <p:nvPr/>
        </p:nvSpPr>
        <p:spPr>
          <a:xfrm>
            <a:off x="88491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1" name="Rounded Rectangle 117"/>
          <p:cNvSpPr/>
          <p:nvPr/>
        </p:nvSpPr>
        <p:spPr>
          <a:xfrm>
            <a:off x="8767440" y="3425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@GetMapping("/health")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ResponseEntity&lt;String&gt; status() {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ResponseEntity.ok("Servis çalışıyor");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2" name="TextBox 51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3" name="Rounded Rectangle 118"/>
          <p:cNvSpPr/>
          <p:nvPr/>
        </p:nvSpPr>
        <p:spPr>
          <a:xfrm>
            <a:off x="4941000" y="345096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Modern Java Ekosistemi;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Spring Boot &amp; Spring Cloud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Reaktif programlama (WebFlux)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Kubernetes-yerel dağıtımlar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GraalVM &amp; Native Image’lar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Gözlemlenebilirlik (metrikler, izleme/tracing)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Uzun dönem destek (LTS) kararlılığı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Rectangle 257"/>
          <p:cNvSpPr/>
          <p:nvPr/>
        </p:nvSpPr>
        <p:spPr>
          <a:xfrm>
            <a:off x="16920" y="1800"/>
            <a:ext cx="13429440" cy="7552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5" name="Rectangle 258"/>
          <p:cNvSpPr/>
          <p:nvPr/>
        </p:nvSpPr>
        <p:spPr>
          <a:xfrm>
            <a:off x="144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6" name="Rectangle 259"/>
          <p:cNvSpPr/>
          <p:nvPr/>
        </p:nvSpPr>
        <p:spPr>
          <a:xfrm>
            <a:off x="100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7" name="Rectangle 260"/>
          <p:cNvSpPr/>
          <p:nvPr/>
        </p:nvSpPr>
        <p:spPr>
          <a:xfrm>
            <a:off x="201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8" name="Rectangle 261"/>
          <p:cNvSpPr/>
          <p:nvPr/>
        </p:nvSpPr>
        <p:spPr>
          <a:xfrm>
            <a:off x="302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9" name="Rectangle 262"/>
          <p:cNvSpPr/>
          <p:nvPr/>
        </p:nvSpPr>
        <p:spPr>
          <a:xfrm>
            <a:off x="402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0" name="Rectangle 263"/>
          <p:cNvSpPr/>
          <p:nvPr/>
        </p:nvSpPr>
        <p:spPr>
          <a:xfrm>
            <a:off x="503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1" name="Rectangle 264"/>
          <p:cNvSpPr/>
          <p:nvPr/>
        </p:nvSpPr>
        <p:spPr>
          <a:xfrm>
            <a:off x="604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2" name="Rectangle 265"/>
          <p:cNvSpPr/>
          <p:nvPr/>
        </p:nvSpPr>
        <p:spPr>
          <a:xfrm>
            <a:off x="705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3" name="Rectangle 266"/>
          <p:cNvSpPr/>
          <p:nvPr/>
        </p:nvSpPr>
        <p:spPr>
          <a:xfrm>
            <a:off x="806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4" name="Rectangle 267"/>
          <p:cNvSpPr/>
          <p:nvPr/>
        </p:nvSpPr>
        <p:spPr>
          <a:xfrm>
            <a:off x="906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5" name="Rectangle 268"/>
          <p:cNvSpPr/>
          <p:nvPr/>
        </p:nvSpPr>
        <p:spPr>
          <a:xfrm>
            <a:off x="1007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6" name="Rectangle 269"/>
          <p:cNvSpPr/>
          <p:nvPr/>
        </p:nvSpPr>
        <p:spPr>
          <a:xfrm>
            <a:off x="1108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7" name="Rectangle 270"/>
          <p:cNvSpPr/>
          <p:nvPr/>
        </p:nvSpPr>
        <p:spPr>
          <a:xfrm>
            <a:off x="1209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8" name="Rectangle 271"/>
          <p:cNvSpPr/>
          <p:nvPr/>
        </p:nvSpPr>
        <p:spPr>
          <a:xfrm>
            <a:off x="1310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9" name="Rectangle 272"/>
          <p:cNvSpPr/>
          <p:nvPr/>
        </p:nvSpPr>
        <p:spPr>
          <a:xfrm>
            <a:off x="1440" y="1800"/>
            <a:ext cx="345600" cy="7552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0" name="Rounded Rectangle 119"/>
          <p:cNvSpPr/>
          <p:nvPr/>
        </p:nvSpPr>
        <p:spPr>
          <a:xfrm>
            <a:off x="10884960" y="401400"/>
            <a:ext cx="2210040" cy="546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1" name="TextBox 52"/>
          <p:cNvSpPr/>
          <p:nvPr/>
        </p:nvSpPr>
        <p:spPr>
          <a:xfrm>
            <a:off x="2818440" y="1107360"/>
            <a:ext cx="64789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Pratik: Fikirden Koda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TextBox 53"/>
          <p:cNvSpPr/>
          <p:nvPr/>
        </p:nvSpPr>
        <p:spPr>
          <a:xfrm>
            <a:off x="2823120" y="2266200"/>
            <a:ext cx="70930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Java, fikirleri temiz, düzenli ve sürdürülebilir koda dönüştürmeye odaklanır.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3" name="Rounded Rectangle 120"/>
          <p:cNvSpPr/>
          <p:nvPr/>
        </p:nvSpPr>
        <p:spPr>
          <a:xfrm>
            <a:off x="108684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4" name="Rounded Rectangle 121"/>
          <p:cNvSpPr/>
          <p:nvPr/>
        </p:nvSpPr>
        <p:spPr>
          <a:xfrm>
            <a:off x="1020960" y="342432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Java, okunabilirliği ve yapısal düzeni ön planda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Güçlü tip sistemi, birçok çalışma zamanı hatasını önler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Kod okunabilirliği, uzun vadeli bakımı kolaylaştırır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Büyük ve uzun ömürlü sistemler için uygundur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5" name="Rounded Rectangle 122"/>
          <p:cNvSpPr/>
          <p:nvPr/>
        </p:nvSpPr>
        <p:spPr>
          <a:xfrm>
            <a:off x="49683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6" name="Rounded Rectangle 123"/>
          <p:cNvSpPr/>
          <p:nvPr/>
        </p:nvSpPr>
        <p:spPr>
          <a:xfrm>
            <a:off x="88491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7" name="Rounded Rectangle 124"/>
          <p:cNvSpPr/>
          <p:nvPr/>
        </p:nvSpPr>
        <p:spPr>
          <a:xfrm>
            <a:off x="8767440" y="3425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Calculator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add(int a, int b)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a + b;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add(10, 20);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8" name="TextBox 54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9" name="Rounded Rectangle 125"/>
          <p:cNvSpPr/>
          <p:nvPr/>
        </p:nvSpPr>
        <p:spPr>
          <a:xfrm>
            <a:off x="4941000" y="345096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Problem Tanımı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Çözüm Planlaması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Sınıf ve Metot Tasarımı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Uygulama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Derleme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Programın Çalıştırılması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Rectangle 273"/>
          <p:cNvSpPr/>
          <p:nvPr/>
        </p:nvSpPr>
        <p:spPr>
          <a:xfrm>
            <a:off x="16920" y="1800"/>
            <a:ext cx="13429440" cy="7552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1" name="Rectangle 274"/>
          <p:cNvSpPr/>
          <p:nvPr/>
        </p:nvSpPr>
        <p:spPr>
          <a:xfrm>
            <a:off x="144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2" name="Rectangle 275"/>
          <p:cNvSpPr/>
          <p:nvPr/>
        </p:nvSpPr>
        <p:spPr>
          <a:xfrm>
            <a:off x="100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3" name="Rectangle 276"/>
          <p:cNvSpPr/>
          <p:nvPr/>
        </p:nvSpPr>
        <p:spPr>
          <a:xfrm>
            <a:off x="201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4" name="Rectangle 277"/>
          <p:cNvSpPr/>
          <p:nvPr/>
        </p:nvSpPr>
        <p:spPr>
          <a:xfrm>
            <a:off x="302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5" name="Rectangle 278"/>
          <p:cNvSpPr/>
          <p:nvPr/>
        </p:nvSpPr>
        <p:spPr>
          <a:xfrm>
            <a:off x="402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6" name="Rectangle 279"/>
          <p:cNvSpPr/>
          <p:nvPr/>
        </p:nvSpPr>
        <p:spPr>
          <a:xfrm>
            <a:off x="503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7" name="Rectangle 280"/>
          <p:cNvSpPr/>
          <p:nvPr/>
        </p:nvSpPr>
        <p:spPr>
          <a:xfrm>
            <a:off x="604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8" name="Rectangle 281"/>
          <p:cNvSpPr/>
          <p:nvPr/>
        </p:nvSpPr>
        <p:spPr>
          <a:xfrm>
            <a:off x="705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9" name="Rectangle 282"/>
          <p:cNvSpPr/>
          <p:nvPr/>
        </p:nvSpPr>
        <p:spPr>
          <a:xfrm>
            <a:off x="806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0" name="Rectangle 283"/>
          <p:cNvSpPr/>
          <p:nvPr/>
        </p:nvSpPr>
        <p:spPr>
          <a:xfrm>
            <a:off x="906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1" name="Rectangle 284"/>
          <p:cNvSpPr/>
          <p:nvPr/>
        </p:nvSpPr>
        <p:spPr>
          <a:xfrm>
            <a:off x="1007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2" name="Rectangle 285"/>
          <p:cNvSpPr/>
          <p:nvPr/>
        </p:nvSpPr>
        <p:spPr>
          <a:xfrm>
            <a:off x="1108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3" name="Rectangle 286"/>
          <p:cNvSpPr/>
          <p:nvPr/>
        </p:nvSpPr>
        <p:spPr>
          <a:xfrm>
            <a:off x="1209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4" name="Rectangle 287"/>
          <p:cNvSpPr/>
          <p:nvPr/>
        </p:nvSpPr>
        <p:spPr>
          <a:xfrm>
            <a:off x="1310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5" name="Rectangle 288"/>
          <p:cNvSpPr/>
          <p:nvPr/>
        </p:nvSpPr>
        <p:spPr>
          <a:xfrm>
            <a:off x="1440" y="1800"/>
            <a:ext cx="345600" cy="7552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6" name="Rounded Rectangle 126"/>
          <p:cNvSpPr/>
          <p:nvPr/>
        </p:nvSpPr>
        <p:spPr>
          <a:xfrm>
            <a:off x="10884960" y="401400"/>
            <a:ext cx="2210040" cy="546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7" name="TextBox 55"/>
          <p:cNvSpPr/>
          <p:nvPr/>
        </p:nvSpPr>
        <p:spPr>
          <a:xfrm>
            <a:off x="1771920" y="1107360"/>
            <a:ext cx="85723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Çekirdek Özellikleri – Genel Bakış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8" name="TextBox 56"/>
          <p:cNvSpPr/>
          <p:nvPr/>
        </p:nvSpPr>
        <p:spPr>
          <a:xfrm>
            <a:off x="3605040" y="2266200"/>
            <a:ext cx="5529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programlarını şekillendiren temel özelliklere ilk bakış.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9" name="Rounded Rectangle 127"/>
          <p:cNvSpPr/>
          <p:nvPr/>
        </p:nvSpPr>
        <p:spPr>
          <a:xfrm>
            <a:off x="108684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0" name="Rounded Rectangle 128"/>
          <p:cNvSpPr/>
          <p:nvPr/>
        </p:nvSpPr>
        <p:spPr>
          <a:xfrm>
            <a:off x="1020960" y="342432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Java, geliştiricilerin programları anlaşılır, yapılı ve öngörülebilir bir şekilde yazmasına yardımcı olan bir dizi çekirdek özellikle tasarlanmıştır.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 özellikler, yaygın programlama hatalarını azaltır, kodun okunabilirliğini artırır ve uygulamaların zaman içinde daha kolay bakımını sağlar.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Düşük seviyeli sistem detaylarına odaklanmak yerine, Java geliştiricilerin program mantığına ve problem çözmeye yoğunlaşmasına olanak tanır..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1" name="Rounded Rectangle 129"/>
          <p:cNvSpPr/>
          <p:nvPr/>
        </p:nvSpPr>
        <p:spPr>
          <a:xfrm>
            <a:off x="49683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2" name="Rounded Rectangle 130"/>
          <p:cNvSpPr/>
          <p:nvPr/>
        </p:nvSpPr>
        <p:spPr>
          <a:xfrm>
            <a:off x="88491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3" name="Rounded Rectangle 131"/>
          <p:cNvSpPr/>
          <p:nvPr/>
        </p:nvSpPr>
        <p:spPr>
          <a:xfrm>
            <a:off x="8767440" y="3425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5;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if (number &gt; 0) {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System.out.println("Pozitif sayı");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4" name="TextBox 57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5" name="Rounded Rectangle 132"/>
          <p:cNvSpPr/>
          <p:nvPr/>
        </p:nvSpPr>
        <p:spPr>
          <a:xfrm>
            <a:off x="4941000" y="345096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Ne yapmak istiyorum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Java’nın izin verdikleri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Nasıl yazmam gerekir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Nasıl çalıştırılır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Ne elde ederim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6" name="Rectangle 289"/>
          <p:cNvSpPr/>
          <p:nvPr/>
        </p:nvSpPr>
        <p:spPr>
          <a:xfrm>
            <a:off x="16920" y="1800"/>
            <a:ext cx="13429440" cy="7552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7" name="Rectangle 290"/>
          <p:cNvSpPr/>
          <p:nvPr/>
        </p:nvSpPr>
        <p:spPr>
          <a:xfrm>
            <a:off x="144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8" name="Rectangle 291"/>
          <p:cNvSpPr/>
          <p:nvPr/>
        </p:nvSpPr>
        <p:spPr>
          <a:xfrm>
            <a:off x="100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9" name="Rectangle 292"/>
          <p:cNvSpPr/>
          <p:nvPr/>
        </p:nvSpPr>
        <p:spPr>
          <a:xfrm>
            <a:off x="201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0" name="Rectangle 293"/>
          <p:cNvSpPr/>
          <p:nvPr/>
        </p:nvSpPr>
        <p:spPr>
          <a:xfrm>
            <a:off x="302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1" name="Rectangle 294"/>
          <p:cNvSpPr/>
          <p:nvPr/>
        </p:nvSpPr>
        <p:spPr>
          <a:xfrm>
            <a:off x="402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2" name="Rectangle 295"/>
          <p:cNvSpPr/>
          <p:nvPr/>
        </p:nvSpPr>
        <p:spPr>
          <a:xfrm>
            <a:off x="503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3" name="Rectangle 296"/>
          <p:cNvSpPr/>
          <p:nvPr/>
        </p:nvSpPr>
        <p:spPr>
          <a:xfrm>
            <a:off x="604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4" name="Rectangle 297"/>
          <p:cNvSpPr/>
          <p:nvPr/>
        </p:nvSpPr>
        <p:spPr>
          <a:xfrm>
            <a:off x="705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5" name="Rectangle 298"/>
          <p:cNvSpPr/>
          <p:nvPr/>
        </p:nvSpPr>
        <p:spPr>
          <a:xfrm>
            <a:off x="806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6" name="Rectangle 299"/>
          <p:cNvSpPr/>
          <p:nvPr/>
        </p:nvSpPr>
        <p:spPr>
          <a:xfrm>
            <a:off x="906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7" name="Rectangle 300"/>
          <p:cNvSpPr/>
          <p:nvPr/>
        </p:nvSpPr>
        <p:spPr>
          <a:xfrm>
            <a:off x="1007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8" name="Rectangle 301"/>
          <p:cNvSpPr/>
          <p:nvPr/>
        </p:nvSpPr>
        <p:spPr>
          <a:xfrm>
            <a:off x="1108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9" name="Rectangle 302"/>
          <p:cNvSpPr/>
          <p:nvPr/>
        </p:nvSpPr>
        <p:spPr>
          <a:xfrm>
            <a:off x="1209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0" name="Rectangle 303"/>
          <p:cNvSpPr/>
          <p:nvPr/>
        </p:nvSpPr>
        <p:spPr>
          <a:xfrm>
            <a:off x="1310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1" name="Rectangle 304"/>
          <p:cNvSpPr/>
          <p:nvPr/>
        </p:nvSpPr>
        <p:spPr>
          <a:xfrm>
            <a:off x="1440" y="1800"/>
            <a:ext cx="345600" cy="7552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2" name="Rounded Rectangle 133"/>
          <p:cNvSpPr/>
          <p:nvPr/>
        </p:nvSpPr>
        <p:spPr>
          <a:xfrm>
            <a:off x="10884960" y="401400"/>
            <a:ext cx="2210040" cy="546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3" name="TextBox 58"/>
          <p:cNvSpPr/>
          <p:nvPr/>
        </p:nvSpPr>
        <p:spPr>
          <a:xfrm>
            <a:off x="4195440" y="1107360"/>
            <a:ext cx="37242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Nesne Yönelimli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4" name="TextBox 59"/>
          <p:cNvSpPr/>
          <p:nvPr/>
        </p:nvSpPr>
        <p:spPr>
          <a:xfrm>
            <a:off x="1016640" y="2266200"/>
            <a:ext cx="107074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Java, nesne yönelimli bir programlama dilidir.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Bu, Java programlarının gerçek dünyadaki varlıkları temsil eden nesneler kullanılarak oluşturulduğu anlamına gelir.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5" name="Rounded Rectangle 134"/>
          <p:cNvSpPr/>
          <p:nvPr/>
        </p:nvSpPr>
        <p:spPr>
          <a:xfrm>
            <a:off x="108684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6" name="Rounded Rectangle 135"/>
          <p:cNvSpPr/>
          <p:nvPr/>
        </p:nvSpPr>
        <p:spPr>
          <a:xfrm>
            <a:off x="1020960" y="342432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 Yönelimli Programlama (OOP):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 her şey sınıflar ve nesneler üzerine kuruludur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sınıf bir şablondur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nesne, bir sınıfın gerçek (somut) örneğidir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OOP, programların daha kolay anlaşılmasını ve yönetilmesini sağlar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Examples of real-world objects: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Araba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Öğrenci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7" name="Rounded Rectangle 136"/>
          <p:cNvSpPr/>
          <p:nvPr/>
        </p:nvSpPr>
        <p:spPr>
          <a:xfrm>
            <a:off x="49683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8" name="Rounded Rectangle 137"/>
          <p:cNvSpPr/>
          <p:nvPr/>
        </p:nvSpPr>
        <p:spPr>
          <a:xfrm>
            <a:off x="88491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9" name="Rounded Rectangle 138"/>
          <p:cNvSpPr/>
          <p:nvPr/>
        </p:nvSpPr>
        <p:spPr>
          <a:xfrm>
            <a:off x="8767440" y="3425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class Car {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model;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color;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0" name="TextBox 6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1" name="Rounded Rectangle 139"/>
          <p:cNvSpPr/>
          <p:nvPr/>
        </p:nvSpPr>
        <p:spPr>
          <a:xfrm>
            <a:off x="4941000" y="345096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Gerçek Dünya Nesnesi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Sınıf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Nesene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Mantığı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Açıklama: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Önce bir sınıf tanımlarız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Sonra o sınıftan nesneler oluştururuz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Nesneler program içinde kullanılır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Rectangle 305"/>
          <p:cNvSpPr/>
          <p:nvPr/>
        </p:nvSpPr>
        <p:spPr>
          <a:xfrm>
            <a:off x="16920" y="1800"/>
            <a:ext cx="13429440" cy="7552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3" name="Rectangle 306"/>
          <p:cNvSpPr/>
          <p:nvPr/>
        </p:nvSpPr>
        <p:spPr>
          <a:xfrm>
            <a:off x="144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4" name="Rectangle 307"/>
          <p:cNvSpPr/>
          <p:nvPr/>
        </p:nvSpPr>
        <p:spPr>
          <a:xfrm>
            <a:off x="100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5" name="Rectangle 308"/>
          <p:cNvSpPr/>
          <p:nvPr/>
        </p:nvSpPr>
        <p:spPr>
          <a:xfrm>
            <a:off x="201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6" name="Rectangle 309"/>
          <p:cNvSpPr/>
          <p:nvPr/>
        </p:nvSpPr>
        <p:spPr>
          <a:xfrm>
            <a:off x="302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7" name="Rectangle 310"/>
          <p:cNvSpPr/>
          <p:nvPr/>
        </p:nvSpPr>
        <p:spPr>
          <a:xfrm>
            <a:off x="402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8" name="Rectangle 311"/>
          <p:cNvSpPr/>
          <p:nvPr/>
        </p:nvSpPr>
        <p:spPr>
          <a:xfrm>
            <a:off x="503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9" name="Rectangle 312"/>
          <p:cNvSpPr/>
          <p:nvPr/>
        </p:nvSpPr>
        <p:spPr>
          <a:xfrm>
            <a:off x="604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0" name="Rectangle 313"/>
          <p:cNvSpPr/>
          <p:nvPr/>
        </p:nvSpPr>
        <p:spPr>
          <a:xfrm>
            <a:off x="705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1" name="Rectangle 314"/>
          <p:cNvSpPr/>
          <p:nvPr/>
        </p:nvSpPr>
        <p:spPr>
          <a:xfrm>
            <a:off x="806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2" name="Rectangle 315"/>
          <p:cNvSpPr/>
          <p:nvPr/>
        </p:nvSpPr>
        <p:spPr>
          <a:xfrm>
            <a:off x="906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3" name="Rectangle 316"/>
          <p:cNvSpPr/>
          <p:nvPr/>
        </p:nvSpPr>
        <p:spPr>
          <a:xfrm>
            <a:off x="1007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4" name="Rectangle 317"/>
          <p:cNvSpPr/>
          <p:nvPr/>
        </p:nvSpPr>
        <p:spPr>
          <a:xfrm>
            <a:off x="1108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5" name="Rectangle 318"/>
          <p:cNvSpPr/>
          <p:nvPr/>
        </p:nvSpPr>
        <p:spPr>
          <a:xfrm>
            <a:off x="1209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6" name="Rectangle 319"/>
          <p:cNvSpPr/>
          <p:nvPr/>
        </p:nvSpPr>
        <p:spPr>
          <a:xfrm>
            <a:off x="1310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7" name="Rectangle 320"/>
          <p:cNvSpPr/>
          <p:nvPr/>
        </p:nvSpPr>
        <p:spPr>
          <a:xfrm>
            <a:off x="1440" y="1800"/>
            <a:ext cx="345600" cy="7552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8" name="Rounded Rectangle 140"/>
          <p:cNvSpPr/>
          <p:nvPr/>
        </p:nvSpPr>
        <p:spPr>
          <a:xfrm>
            <a:off x="10884960" y="401400"/>
            <a:ext cx="2210040" cy="546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9" name="TextBox 61"/>
          <p:cNvSpPr/>
          <p:nvPr/>
        </p:nvSpPr>
        <p:spPr>
          <a:xfrm>
            <a:off x="4156560" y="1107360"/>
            <a:ext cx="38023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Güvenli (Secure)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0" name="TextBox 62"/>
          <p:cNvSpPr/>
          <p:nvPr/>
        </p:nvSpPr>
        <p:spPr>
          <a:xfrm>
            <a:off x="945720" y="2266200"/>
            <a:ext cx="1084860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Java, güvenli bir programlama dili olacak şekilde tasarlanmıştır.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Geliştiricilerin virüssüz ve kurcalamaya karşı dayanıklı uygulamalar geliştirmesine olanak tanır.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güvenliği; açık anahtar şifreleme, bytecode doğrulama ve kontrollü bellek erişimi gibi güçlü kavramlara dayanır.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1" name="Rounded Rectangle 141"/>
          <p:cNvSpPr/>
          <p:nvPr/>
        </p:nvSpPr>
        <p:spPr>
          <a:xfrm>
            <a:off x="108684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2" name="Rounded Rectangle 142"/>
          <p:cNvSpPr/>
          <p:nvPr/>
        </p:nvSpPr>
        <p:spPr>
          <a:xfrm>
            <a:off x="1020960" y="342432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Java, doğrudan bellek erişimine izin vermez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C/C++’taki gibi pointer (işaretçi) kullanımı yoktur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Programlar Java Virtual Machine (JVM) içinde çalışır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Bytecode, çalıştırılmadan önce doğrulanır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Yaygın sorunlar büyük ölçüde engellenir: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- Bellek sızıntıları (memory leaks)</a:t>
            </a:r>
            <a:br>
              <a:rPr sz="1300"/>
            </a:b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   - Buffer overflow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Ek Güvenlik Avantajları: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Yerleşik exception (istisna) yönetimi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Otomatik çöp toplama (Garbage Collection)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Güvenli sınıf yükleme mekanizması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3" name="Rounded Rectangle 143"/>
          <p:cNvSpPr/>
          <p:nvPr/>
        </p:nvSpPr>
        <p:spPr>
          <a:xfrm>
            <a:off x="49683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4" name="Rounded Rectangle 144"/>
          <p:cNvSpPr/>
          <p:nvPr/>
        </p:nvSpPr>
        <p:spPr>
          <a:xfrm>
            <a:off x="88491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5" name="Rounded Rectangle 145"/>
          <p:cNvSpPr/>
          <p:nvPr/>
        </p:nvSpPr>
        <p:spPr>
          <a:xfrm>
            <a:off x="8767440" y="3425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SecureExample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try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 / 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 catch (Exception e)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System.out.println("Hata güvenli şekilde yakalandı");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6" name="TextBox 63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7" name="Rounded Rectangle 146"/>
          <p:cNvSpPr/>
          <p:nvPr/>
        </p:nvSpPr>
        <p:spPr>
          <a:xfrm>
            <a:off x="4941000" y="345096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Derleyici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Bytecode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JVM Güvenlik Kontrolü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Güvenli Çalıştırma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Rectangle 321"/>
          <p:cNvSpPr/>
          <p:nvPr/>
        </p:nvSpPr>
        <p:spPr>
          <a:xfrm>
            <a:off x="16920" y="1800"/>
            <a:ext cx="13429800" cy="7553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9" name="Rectangle 322"/>
          <p:cNvSpPr/>
          <p:nvPr/>
        </p:nvSpPr>
        <p:spPr>
          <a:xfrm>
            <a:off x="144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0" name="Rectangle 323"/>
          <p:cNvSpPr/>
          <p:nvPr/>
        </p:nvSpPr>
        <p:spPr>
          <a:xfrm>
            <a:off x="100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1" name="Rectangle 324"/>
          <p:cNvSpPr/>
          <p:nvPr/>
        </p:nvSpPr>
        <p:spPr>
          <a:xfrm>
            <a:off x="201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2" name="Rectangle 325"/>
          <p:cNvSpPr/>
          <p:nvPr/>
        </p:nvSpPr>
        <p:spPr>
          <a:xfrm>
            <a:off x="302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3" name="Rectangle 326"/>
          <p:cNvSpPr/>
          <p:nvPr/>
        </p:nvSpPr>
        <p:spPr>
          <a:xfrm>
            <a:off x="402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4" name="Rectangle 327"/>
          <p:cNvSpPr/>
          <p:nvPr/>
        </p:nvSpPr>
        <p:spPr>
          <a:xfrm>
            <a:off x="503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5" name="Rectangle 328"/>
          <p:cNvSpPr/>
          <p:nvPr/>
        </p:nvSpPr>
        <p:spPr>
          <a:xfrm>
            <a:off x="604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6" name="Rectangle 329"/>
          <p:cNvSpPr/>
          <p:nvPr/>
        </p:nvSpPr>
        <p:spPr>
          <a:xfrm>
            <a:off x="705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7" name="Rectangle 330"/>
          <p:cNvSpPr/>
          <p:nvPr/>
        </p:nvSpPr>
        <p:spPr>
          <a:xfrm>
            <a:off x="806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8" name="Rectangle 331"/>
          <p:cNvSpPr/>
          <p:nvPr/>
        </p:nvSpPr>
        <p:spPr>
          <a:xfrm>
            <a:off x="906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9" name="Rectangle 332"/>
          <p:cNvSpPr/>
          <p:nvPr/>
        </p:nvSpPr>
        <p:spPr>
          <a:xfrm>
            <a:off x="1007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0" name="Rectangle 333"/>
          <p:cNvSpPr/>
          <p:nvPr/>
        </p:nvSpPr>
        <p:spPr>
          <a:xfrm>
            <a:off x="1108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1" name="Rectangle 334"/>
          <p:cNvSpPr/>
          <p:nvPr/>
        </p:nvSpPr>
        <p:spPr>
          <a:xfrm>
            <a:off x="1209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2" name="Rectangle 335"/>
          <p:cNvSpPr/>
          <p:nvPr/>
        </p:nvSpPr>
        <p:spPr>
          <a:xfrm>
            <a:off x="1310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3" name="Rectangle 336"/>
          <p:cNvSpPr/>
          <p:nvPr/>
        </p:nvSpPr>
        <p:spPr>
          <a:xfrm>
            <a:off x="1440" y="1800"/>
            <a:ext cx="345960" cy="7553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4" name="Rounded Rectangle 147"/>
          <p:cNvSpPr/>
          <p:nvPr/>
        </p:nvSpPr>
        <p:spPr>
          <a:xfrm>
            <a:off x="10884960" y="401400"/>
            <a:ext cx="2210400" cy="546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5" name="TextBox 64"/>
          <p:cNvSpPr/>
          <p:nvPr/>
        </p:nvSpPr>
        <p:spPr>
          <a:xfrm>
            <a:off x="3147120" y="1107360"/>
            <a:ext cx="58215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Interpreted (Yorumlanan)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6" name="TextBox 65"/>
          <p:cNvSpPr/>
          <p:nvPr/>
        </p:nvSpPr>
        <p:spPr>
          <a:xfrm>
            <a:off x="2014560" y="2266200"/>
            <a:ext cx="87109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kodu, doğrudan donanım üzerinde çalıştırılmak yerine ara bir adım üzerinden yürütülür.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7" name="Rounded Rectangle 148"/>
          <p:cNvSpPr/>
          <p:nvPr/>
        </p:nvSpPr>
        <p:spPr>
          <a:xfrm>
            <a:off x="108684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8" name="Rounded Rectangle 149"/>
          <p:cNvSpPr/>
          <p:nvPr/>
        </p:nvSpPr>
        <p:spPr>
          <a:xfrm>
            <a:off x="1020960" y="342432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önce makine koduna değil, Bytecode’a derlenir.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 Bytecode, program çalışırken anlık olarak (on the fly) yerel makine talimatlarına çevrilir.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Çevrilen bu talimatlar kalıcı olarak saklanmaz.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 model sayesinde: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Geliştirme süreci daha hızlıdır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Derleme ve bağlama (linking) işlemleri hafiftir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Kod analizi ve hata ayıklama daha kolay hale gelir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9" name="Rounded Rectangle 150"/>
          <p:cNvSpPr/>
          <p:nvPr/>
        </p:nvSpPr>
        <p:spPr>
          <a:xfrm>
            <a:off x="49683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0" name="Rounded Rectangle 151"/>
          <p:cNvSpPr/>
          <p:nvPr/>
        </p:nvSpPr>
        <p:spPr>
          <a:xfrm>
            <a:off x="88491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1" name="Rounded Rectangle 152"/>
          <p:cNvSpPr/>
          <p:nvPr/>
        </p:nvSpPr>
        <p:spPr>
          <a:xfrm>
            <a:off x="8767440" y="3425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InterpretedExample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JVM üzerinden çalışır");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2" name="TextBox 6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3" name="Rounded Rectangle 153"/>
          <p:cNvSpPr/>
          <p:nvPr/>
        </p:nvSpPr>
        <p:spPr>
          <a:xfrm>
            <a:off x="4941000" y="345096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Nasıl Çalışır?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Derleyicisi (javac)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Sanal Makinesi (JVM)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Yerel Makine Talimatları (çalışma zamanı)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Rectangle 337"/>
          <p:cNvSpPr/>
          <p:nvPr/>
        </p:nvSpPr>
        <p:spPr>
          <a:xfrm>
            <a:off x="17280" y="1800"/>
            <a:ext cx="13425480" cy="7556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5" name="Rectangle 338"/>
          <p:cNvSpPr/>
          <p:nvPr/>
        </p:nvSpPr>
        <p:spPr>
          <a:xfrm>
            <a:off x="1800" y="1800"/>
            <a:ext cx="14040" cy="7556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6" name="Rectangle 339"/>
          <p:cNvSpPr/>
          <p:nvPr/>
        </p:nvSpPr>
        <p:spPr>
          <a:xfrm>
            <a:off x="1005120" y="1800"/>
            <a:ext cx="14040" cy="7556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7" name="Rectangle 340"/>
          <p:cNvSpPr/>
          <p:nvPr/>
        </p:nvSpPr>
        <p:spPr>
          <a:xfrm>
            <a:off x="2012760" y="1800"/>
            <a:ext cx="14040" cy="7556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8" name="Rectangle 341"/>
          <p:cNvSpPr/>
          <p:nvPr/>
        </p:nvSpPr>
        <p:spPr>
          <a:xfrm>
            <a:off x="3020400" y="1800"/>
            <a:ext cx="14040" cy="7556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9" name="Rectangle 342"/>
          <p:cNvSpPr/>
          <p:nvPr/>
        </p:nvSpPr>
        <p:spPr>
          <a:xfrm>
            <a:off x="4028040" y="1800"/>
            <a:ext cx="14040" cy="7556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0" name="Rectangle 343"/>
          <p:cNvSpPr/>
          <p:nvPr/>
        </p:nvSpPr>
        <p:spPr>
          <a:xfrm>
            <a:off x="5035680" y="1800"/>
            <a:ext cx="14040" cy="7556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1" name="Rectangle 344"/>
          <p:cNvSpPr/>
          <p:nvPr/>
        </p:nvSpPr>
        <p:spPr>
          <a:xfrm>
            <a:off x="6043320" y="1800"/>
            <a:ext cx="14040" cy="7556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2" name="Rectangle 345"/>
          <p:cNvSpPr/>
          <p:nvPr/>
        </p:nvSpPr>
        <p:spPr>
          <a:xfrm>
            <a:off x="7050960" y="1800"/>
            <a:ext cx="14040" cy="7556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3" name="Rectangle 346"/>
          <p:cNvSpPr/>
          <p:nvPr/>
        </p:nvSpPr>
        <p:spPr>
          <a:xfrm>
            <a:off x="8058600" y="1800"/>
            <a:ext cx="14040" cy="7556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4" name="Rectangle 347"/>
          <p:cNvSpPr/>
          <p:nvPr/>
        </p:nvSpPr>
        <p:spPr>
          <a:xfrm>
            <a:off x="9066240" y="1800"/>
            <a:ext cx="14040" cy="7556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5" name="Rectangle 348"/>
          <p:cNvSpPr/>
          <p:nvPr/>
        </p:nvSpPr>
        <p:spPr>
          <a:xfrm>
            <a:off x="10074240" y="1800"/>
            <a:ext cx="14040" cy="7556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6" name="Rectangle 349"/>
          <p:cNvSpPr/>
          <p:nvPr/>
        </p:nvSpPr>
        <p:spPr>
          <a:xfrm>
            <a:off x="11081880" y="1800"/>
            <a:ext cx="14040" cy="7556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7" name="Rectangle 350"/>
          <p:cNvSpPr/>
          <p:nvPr/>
        </p:nvSpPr>
        <p:spPr>
          <a:xfrm>
            <a:off x="12089520" y="1800"/>
            <a:ext cx="14040" cy="7556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8" name="Rectangle 351"/>
          <p:cNvSpPr/>
          <p:nvPr/>
        </p:nvSpPr>
        <p:spPr>
          <a:xfrm>
            <a:off x="13097160" y="1800"/>
            <a:ext cx="14040" cy="7556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9" name="Rectangle 352"/>
          <p:cNvSpPr/>
          <p:nvPr/>
        </p:nvSpPr>
        <p:spPr>
          <a:xfrm>
            <a:off x="1800" y="1800"/>
            <a:ext cx="345960" cy="7556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0" name="Rounded Rectangle 154"/>
          <p:cNvSpPr/>
          <p:nvPr/>
        </p:nvSpPr>
        <p:spPr>
          <a:xfrm>
            <a:off x="10881360" y="401400"/>
            <a:ext cx="2209680" cy="546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1" name="TextBox 67"/>
          <p:cNvSpPr/>
          <p:nvPr/>
        </p:nvSpPr>
        <p:spPr>
          <a:xfrm>
            <a:off x="2183400" y="1107720"/>
            <a:ext cx="77446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Yüksek Performans ve Dağıtık Yapı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2" name="TextBox 68"/>
          <p:cNvSpPr/>
          <p:nvPr/>
        </p:nvSpPr>
        <p:spPr>
          <a:xfrm>
            <a:off x="2557440" y="2266920"/>
            <a:ext cx="76212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Java, çekirdek tasarımında performans ve ağ (network) desteğini bir arada sunar.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3" name="Rounded Rectangle 155"/>
          <p:cNvSpPr/>
          <p:nvPr/>
        </p:nvSpPr>
        <p:spPr>
          <a:xfrm>
            <a:off x="1086480" y="3507480"/>
            <a:ext cx="3620880" cy="3018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4" name="Rounded Rectangle 156"/>
          <p:cNvSpPr/>
          <p:nvPr/>
        </p:nvSpPr>
        <p:spPr>
          <a:xfrm>
            <a:off x="1020600" y="2972880"/>
            <a:ext cx="3621240" cy="347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Yüksek Performans (High Performance)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Java, Just-In-Time (JIT) derleme kullanarak yüksek performans sağlar.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JVM, program çalışırken sık kullanılan Bytecode’u optimize edilmiş yerel makine koduna dönüştürür.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Yaygın JIT optimizasyonları şunlardır: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Metot içe alma (Method inlining)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Ölü kodların kaldırılması (Dead code elimination)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Sabit katlama (Constant folding)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Optimize edilmiş metot çağrıları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Sonuç: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Zamanla daha hızlı çalışma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Yerel (native) performansa yakın hız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5" name="Rounded Rectangle 157"/>
          <p:cNvSpPr/>
          <p:nvPr/>
        </p:nvSpPr>
        <p:spPr>
          <a:xfrm>
            <a:off x="4966560" y="3507480"/>
            <a:ext cx="3620880" cy="3018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6" name="Rounded Rectangle 158"/>
          <p:cNvSpPr/>
          <p:nvPr/>
        </p:nvSpPr>
        <p:spPr>
          <a:xfrm>
            <a:off x="8846280" y="3507480"/>
            <a:ext cx="3620880" cy="3018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7" name="Rounded Rectangle 159"/>
          <p:cNvSpPr/>
          <p:nvPr/>
        </p:nvSpPr>
        <p:spPr>
          <a:xfrm>
            <a:off x="8764560" y="3426480"/>
            <a:ext cx="3621240" cy="301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PerformanceDemo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System.out.println("Hızlı ve dağıtık Java uygulamaları");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8" name="TextBox 69"/>
          <p:cNvSpPr/>
          <p:nvPr/>
        </p:nvSpPr>
        <p:spPr>
          <a:xfrm>
            <a:off x="5222160" y="710748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9" name="Rounded Rectangle 160"/>
          <p:cNvSpPr/>
          <p:nvPr/>
        </p:nvSpPr>
        <p:spPr>
          <a:xfrm>
            <a:off x="4939200" y="3452400"/>
            <a:ext cx="3621240" cy="301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Dağıtık (Distributed);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Java, özellikle İnternet için tasarlanmış dağıtık ortamları destekler.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Yerleşik olarak şu özellikleri sunar: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• 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Ağ iletişimi (Networking)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• 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Uzak metot çağrıları (Remote method calls)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• 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Dağıtık sistemler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Java uygulamaları, ağ üzerinden kolayca iletişim kurabilir ve birden fazla makinede çalışabilir.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906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2026-01-10T14:58:22Z</dcterms:modified>
  <cp:revision>110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