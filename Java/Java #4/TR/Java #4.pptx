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723BB3-5284-4E93-9FEF-BEB36D74DC1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A1B0B9D-EFED-4C8B-881F-FA5479B1E09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165E167-259D-4B4A-ACC7-D2894B54558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25C5A1E-419F-4DE7-A491-05B08318DA3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C814515-8E9E-4536-8481-15F72EA33C9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4A8E03A-042D-4D6B-B647-15A6147B682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7BA0A66-D992-45FE-8DF5-74C522AF5C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BAD96E-F2A8-4423-AE38-BEAEB16C845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B93241-7F54-4B6A-915A-37F50488178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DC9639-E83D-4581-B56C-AF397DD55BF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C7C9A0-5CC6-438D-AD5E-416B394355D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7CAA0A-1CE1-44C8-867D-4D1ADFE140A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3BC7DB4-6E74-419A-AD53-78D41E9BEDD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364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5400" cy="3055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2840" cy="3055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5400" cy="3055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2840" cy="3055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6954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0040" cy="4107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284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6788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0040" cy="4107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284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6788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008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28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1480" cy="4108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2840" cy="328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2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54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2840" cy="328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2971800"/>
            <a:ext cx="3282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108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14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2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3880" y="2743200"/>
            <a:ext cx="342108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14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2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971800"/>
            <a:ext cx="331020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14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2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364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68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2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43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68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2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43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807280" y="732600"/>
            <a:ext cx="535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2300040" y="1451520"/>
            <a:ext cx="6966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68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28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43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452240" y="732600"/>
            <a:ext cx="8060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1226160" y="1451520"/>
            <a:ext cx="9113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68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28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43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20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1573200" y="732600"/>
            <a:ext cx="7817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1683720" y="1451520"/>
            <a:ext cx="8197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1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2"/>
          <p:cNvSpPr/>
          <p:nvPr/>
        </p:nvSpPr>
        <p:spPr>
          <a:xfrm>
            <a:off x="685800" y="2514600"/>
            <a:ext cx="319680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3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4"/>
          <p:cNvSpPr/>
          <p:nvPr/>
        </p:nvSpPr>
        <p:spPr>
          <a:xfrm>
            <a:off x="4257360" y="2743200"/>
            <a:ext cx="32828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125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126"/>
          <p:cNvSpPr/>
          <p:nvPr/>
        </p:nvSpPr>
        <p:spPr>
          <a:xfrm>
            <a:off x="8001000" y="2514600"/>
            <a:ext cx="34243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7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1919520" y="732600"/>
            <a:ext cx="712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8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9"/>
          <p:cNvSpPr/>
          <p:nvPr/>
        </p:nvSpPr>
        <p:spPr>
          <a:xfrm>
            <a:off x="685800" y="2514600"/>
            <a:ext cx="319680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30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1"/>
          <p:cNvSpPr/>
          <p:nvPr/>
        </p:nvSpPr>
        <p:spPr>
          <a:xfrm>
            <a:off x="4257360" y="2743200"/>
            <a:ext cx="32828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ounded Rectangle 132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133"/>
          <p:cNvSpPr/>
          <p:nvPr/>
        </p:nvSpPr>
        <p:spPr>
          <a:xfrm>
            <a:off x="8001000" y="2514600"/>
            <a:ext cx="34243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4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1839240" y="732600"/>
            <a:ext cx="7286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Referans Yönetimi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5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6"/>
          <p:cNvSpPr/>
          <p:nvPr/>
        </p:nvSpPr>
        <p:spPr>
          <a:xfrm>
            <a:off x="685800" y="2743200"/>
            <a:ext cx="31968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 (Kısa Özet)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tiplerde (int, double) = operatörü değeri kopyalar. Ancak nesnelerde (Object, Array) = operatörü sadece bellekteki "adresi" (referansı) kopyalar. Bir nesneyi bellekte yönetmek için = operatörünün davranışını bilmek şarttır.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 (Kritik Kavramlar)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Değer Kopyalama (İlkel Tip): Tamamen bağımsız kopyalar oluşur. Birinin değişmesi diğerini etkilemez.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Paylaşımı (Nesne/Dizi): İki değişken aynı hafıza kutusuna bağlanır. Birindeki değişiklik anında diğerini de vurur!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Bağı Koparma (null): Değişkenin bellek adresiyle bağını keser. Hiçbir değişkenin tutmadığı nesneyi Çöp Toplayıcı (GC) anında siler.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Adresi Kilitleme (final): Değişkenin başka bir bellek adresine atanmasını yasaklar. Ama dikkat: Nesnenin içindeki veriler hâlâ değiştirilebilir.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7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8"/>
          <p:cNvSpPr/>
          <p:nvPr/>
        </p:nvSpPr>
        <p:spPr>
          <a:xfrm>
            <a:off x="4257360" y="2743200"/>
            <a:ext cx="32828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Referansların Paylaşılması ve Değişimi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(İkisi de aynı yere bakar)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(Hafıza Kutusu artık { 9 } oldu)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b[0] yazdırılırsa ekrana 9 çıkar!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Rounded Rectangle 139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ounded Rectangle 140"/>
          <p:cNvSpPr/>
          <p:nvPr/>
        </p:nvSpPr>
        <p:spPr>
          <a:xfrm>
            <a:off x="8001000" y="2286000"/>
            <a:ext cx="365616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BellekYonetimi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TİP (Bağımsız Kopya)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etkilenmez, x hala 10'dur!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TİP (Ortak Hafıza Adresi)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99; // diziA'nın da içi 99 oldu!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BAĞ KOPARMA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diziB hala veriyi tuttuğu için silinmez.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KİLİTLİ ADRES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1 }; // HATA VERİR!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7; // BAŞARILI! İçerik değişti.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1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2144880" y="732600"/>
            <a:ext cx="66736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Ortak Banka Hesapları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2081520" y="1371600"/>
            <a:ext cx="74008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Bellek referanslarını anlamak için günlük bankacılık işlemlerini düşünün.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(primitives) ayrı cüzdanlardaki nakit para gibidir.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tipler ise tam olarak aynı ortak banka kasasına bağlı iki farklı banka kartı gibidir.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2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3"/>
          <p:cNvSpPr/>
          <p:nvPr/>
        </p:nvSpPr>
        <p:spPr>
          <a:xfrm>
            <a:off x="685800" y="2743200"/>
            <a:ext cx="319932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BANKACILIK ANALOJİSİ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Nakit Para (İlkel Tip): Sizin ve arkadaşınızın cebinde 100 TL var. Arkadaşınız kahve alırsa sizin paranız azalmaz. (Bağımsız kopyalar).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Ortak Hesap (Referans Tip): Eşlerin tek bir hesaba bağlı iki farklı kartı vardır. Biri 50 TL çekerse, diğerinin bakiyesi de anında düşer!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Kartı Kaybetmek (null): Eşlerden biri kartını kırıp atarsa (null), bankadaki kasa silinmez. Diğer eş paraya hâlâ ulaşabilir.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Hesap (final): Sadece belirli bir kasaya kilitlenmiş karttır. Kartı başka bankaya bağlayamazsınız ama kasanın içine hâlâ para ekleyip çıkarabilirsiniz.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4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5"/>
          <p:cNvSpPr/>
          <p:nvPr/>
        </p:nvSpPr>
        <p:spPr>
          <a:xfrm>
            <a:off x="4267800" y="2971800"/>
            <a:ext cx="3056760" cy="297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Ortak Hesap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esKart1 = { 500 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[1. Kart] -----&gt; (Kasa: 500 TL)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esKart2 = esKart1;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[2. Kart] -----/ (Aynı Kasa)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esKart2[0] -= 100;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(Kasa 400 TL'ye düşer)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Birinci eş bakiyesine baktığında 400 TL görür. Harcama ikisini de etkilemiştir!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Rounded Rectangle 146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ounded Rectangle 147"/>
          <p:cNvSpPr/>
          <p:nvPr/>
        </p:nvSpPr>
        <p:spPr>
          <a:xfrm>
            <a:off x="7772400" y="2286000"/>
            <a:ext cx="38851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BankaUygulamasi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NAKİT PARA (İlkel - Bağımsız)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cuzdanim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arkadasCuzdani = cuzdanim;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arkadasCuzdani -= 20; // Benimki hala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ORTAK HESAP (Referans - Paylaşımlı)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ortakKasa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kartA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kartB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kartB[0] -= 200; // B harcama yaptı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KAYIP KART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 = null; // Kart iptal edildi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Kasa güvende! A kartı hala 800.0 görür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System.out.println("Kart A: " + kartA[0] + " TL");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SABİT KART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sirketKasasi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sirketKasasi = new double[]{ 0 };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sirketKasasi[0] += 500; // BAŞARILI! (Para yattı)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321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22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23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24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25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326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327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328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329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330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331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32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33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34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35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36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148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64"/>
          <p:cNvSpPr/>
          <p:nvPr/>
        </p:nvSpPr>
        <p:spPr>
          <a:xfrm>
            <a:off x="2431080" y="732600"/>
            <a:ext cx="61012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ve Referans Yönetimi: Genel Özet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65"/>
          <p:cNvSpPr/>
          <p:nvPr/>
        </p:nvSpPr>
        <p:spPr>
          <a:xfrm>
            <a:off x="1833840" y="1371600"/>
            <a:ext cx="7896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 (=), verileri değişkenlere kaydetmenin ve belleği yönetmenin temelidir.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tiplerdeki değer kopyalama ile nesnelerdeki adres paylaşımı arasındaki kritik farkı bilmek,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hatasız kod yazmanın altın kuralıdır.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ounded Rectangle 149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150"/>
          <p:cNvSpPr/>
          <p:nvPr/>
        </p:nvSpPr>
        <p:spPr>
          <a:xfrm>
            <a:off x="685800" y="2743200"/>
            <a:ext cx="319932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GELİŞTİRİCİ KONTROL LİSTESİ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Sağdan Sola Akar: Atama işlemi her zaman önce sağ tarafı hesaplar, sonra sola yazar (a = 5 + 2;).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Ölümcül Hata: if bloğu içinde == (kıyaslama) yerine yanlışlıkla = (atama) kullanmak, kodu çökertmez ama mantığı tamamen bozar.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Bileşik Güç: +=, -= operatörleri kodu kısaltır ve arka planda hayat kurtaran otomatik tip dönüşümleri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 İlkel tipler (int) tamamen bağımsızdır. Nesneler (dizi, sınıf) ise hafıza adresini (kumandayı) paylaşır.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151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152"/>
          <p:cNvSpPr/>
          <p:nvPr/>
        </p:nvSpPr>
        <p:spPr>
          <a:xfrm>
            <a:off x="4267800" y="2971800"/>
            <a:ext cx="3056760" cy="297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Hata Ayıklama (Debugging) Haritası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diziyi diğerine kopyaladın, birini değiştirince diğeri de mi bozuldu?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Sebep: = sadece adresi kopyalar. Ortak kasaya bağlandılar!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tipine sayı eklerken derleme hatası mı alıyorsun?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x = x + 5 yerine x += 5 kullan, Java tip dönüşümünü halletsin!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Belleği şişiren bir nesneden kurtulmak mı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Değişkene null ata. Çöp Toplayıcı (GC) onu RAM'den silsin.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Rounded Rectangle 153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ounded Rectangle 154"/>
          <p:cNvSpPr/>
          <p:nvPr/>
        </p:nvSpPr>
        <p:spPr>
          <a:xfrm>
            <a:off x="7772400" y="2286000"/>
            <a:ext cx="319968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AtamaOzet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 (Tip Dönüşümü)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yazsak HATA verirdi!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TUZAĞI (= vs ==)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aktif = false;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if(aktif = true) -&gt; YANLIŞ KULLANIM!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(aktif == true) { /* Doğrusu */ 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REFERANS PAYLAŞIMI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 // Adres paylaşıldı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9; // diziA[0] da 9 oldu!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4. TEMİZLİK VE SABİTLEME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sabit = { 5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sabit = new int[]{1}; // HATA! (Adres kilitli)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sabit[0] = 8; // BAŞARILI! (İçerik değişebilir)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 337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38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39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40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41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342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343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344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345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346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347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348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349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50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51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52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155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Box 67"/>
          <p:cNvSpPr/>
          <p:nvPr/>
        </p:nvSpPr>
        <p:spPr>
          <a:xfrm>
            <a:off x="2220840" y="732600"/>
            <a:ext cx="6522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İlişkisel (Karşılaştırma) Operatörleri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68"/>
          <p:cNvSpPr/>
          <p:nvPr/>
        </p:nvSpPr>
        <p:spPr>
          <a:xfrm>
            <a:off x="1467360" y="1371600"/>
            <a:ext cx="8630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iki değeri birbiriyle kıyaslamak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Operandlar arasındaki ilişkiyi değerlendirir ve her zaman mantıksal bir sonuç (true veya false) dönerler.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Bu yapı, programlamadaki karar mekanizmalarının (if-else blokları ve döngüler) temelini oluşturur.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156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157"/>
          <p:cNvSpPr/>
          <p:nvPr/>
        </p:nvSpPr>
        <p:spPr>
          <a:xfrm>
            <a:off x="685800" y="2743200"/>
            <a:ext cx="319932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KARŞILAŞTIRMA KURALLARI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İlkel (Primitive) Değer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sayısal tiplerde (int, double, char) doğal olarak çalışır.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(eşittir) ve != (eşit değildir).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(sınır kontrolleri).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 tamamen matematiksel değere göre yapılır.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Referans / Nesne (Object)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Nesnelerde (String gibi), == sadece aynı bellek adresini paylaşıp paylaşmadıklarını kontrol eder (kimlik kontrolü).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nesnenin içeriklerinin aynı olup olmadığını kontrol etmek için == yerine kesinlikle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Rounded Rectangle 158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ounded Rectangle 159"/>
          <p:cNvSpPr/>
          <p:nvPr/>
        </p:nvSpPr>
        <p:spPr>
          <a:xfrm>
            <a:off x="4267800" y="2971800"/>
            <a:ext cx="3056760" cy="297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KOD ÇALIŞMA İZİ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Koşul: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İZLEME: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Değerler gerçekten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İZLEME: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10, 20'den büyük değil.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İZLEME: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AdresA == AdresB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TUZAK! İçerikler aynı, adresler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Rounded Rectangle 160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ounded Rectangle 161"/>
          <p:cNvSpPr/>
          <p:nvPr/>
        </p:nvSpPr>
        <p:spPr>
          <a:xfrm>
            <a:off x="7772400" y="2286000"/>
            <a:ext cx="319968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KARŞILAŞTIRMALAR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 // false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(a != b);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kucukMu = (a &lt;= b); 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BLOKLARI (IF-ELSE)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System.out.println("A, 10 veya daha buyuk");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STRING (METİN) TUZAĞI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Farklı bellek adresleri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 = (s1 == 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Doğru karşılaştırma yöntemi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s1.equals(s2);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Match: " + dogru);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Rectangle 353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54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55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56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57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358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359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360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361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362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363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364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365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66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67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68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162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TextBox 70"/>
          <p:cNvSpPr/>
          <p:nvPr/>
        </p:nvSpPr>
        <p:spPr>
          <a:xfrm>
            <a:off x="1652400" y="626040"/>
            <a:ext cx="765936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2: İleri Seviye Tuzaklar)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71"/>
          <p:cNvSpPr/>
          <p:nvPr/>
        </p:nvSpPr>
        <p:spPr>
          <a:xfrm>
            <a:off x="2426760" y="1222920"/>
            <a:ext cx="67266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sadece sayılarla sınırlı değildir.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arka plandaki sayısal değerlerini kıyaslayabilirler.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Ancak nesne tabanlı sayılarda (Integer) ve çoklu koşullarda (zincirleme işlemler)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tehlikeli derleme ve mantık hatalarına yol açabilirler.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ounded Rectangle 163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ounded Rectangle 164"/>
          <p:cNvSpPr/>
          <p:nvPr/>
        </p:nvSpPr>
        <p:spPr>
          <a:xfrm>
            <a:off x="685800" y="2514600"/>
            <a:ext cx="3199320" cy="4114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(Kritik Tuzaklar)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(Char) Kıyaslaması: Karakterler ('a', 'b') karşılaştırılırken arka plandaki ASCII sayısal değerleri kıyaslanır. (Örn: 'a' &lt; 'b' ifadesi arka planda 97 &lt; 98 olarak değerlendirilir ve true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 Hatası: Java'da matematiksel olarak 10 &lt; x &lt; 20 yazamazsınız (derleme hatası verir). Doğrusu mantıksal operatörle bağlamaktır: 10 &lt; x &amp;&amp; x &lt;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Önbellek (Caching) Tuzağı: Integer nesnelerini == ile kıyaslarken, sayılar sadece -128 ile 127 arasındaysa doğru çalışır. Bu sınırın dışındaki sayılarda nesne referansları farklı olduğu için == yanlış sonuç verir.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Rounded Rectangle 165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ounded Rectangle 166"/>
          <p:cNvSpPr/>
          <p:nvPr/>
        </p:nvSpPr>
        <p:spPr>
          <a:xfrm>
            <a:off x="4267800" y="2971800"/>
            <a:ext cx="3056760" cy="297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(Karar Matrisi)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Doğru Karşılaştırma Yöntemi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int, double (İlkel Sayılar)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== veya != (Tamamen güvenli)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char (Karakter)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&lt; veya &gt; (ASCII değerlerini kıyaslar)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String veya Integer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(Nesneler)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Kesinlikle .equals() kullan! (Tuzaklardan kaçar)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Rounded Rectangle 167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ounded Rectangle 168"/>
          <p:cNvSpPr/>
          <p:nvPr/>
        </p:nvSpPr>
        <p:spPr>
          <a:xfrm>
            <a:off x="7772400" y="2286000"/>
            <a:ext cx="319968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IleriKarsilastirma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1. KARAKTER (CHAR) KIYASLAMASI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charKiyas = (c1 &lt; c2);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2. ZİNCİRLEME KARŞILAŞTIRMA TUZAĞI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hata = 10 &lt; x &lt; 20; // DERLEME HATASI!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(10 &lt; x) &amp;&amp; (x &lt; 20);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ÖNBELLEK TUZAĞI (Integer Caching)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esitSınır = (n1 == n2); // true (Önbellekte)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esitTuzak = (n3 == n4); // false! (Bellek referansı)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dogruEsit = n3.equals(n4); // true (İçerik kıyası)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esitTuzak);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Eşitlik: " + dogruEsit);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2026-05-28T17:08:02Z</dcterms:modified>
  <cp:revision>38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