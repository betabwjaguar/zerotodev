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</p:sldIdLst>
  <p:sldSz cx="10077450" cy="75628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625AAD-D875-408C-9109-02AF8477446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7642AF-83EE-4F4C-AEEF-F0131794FB3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50C6C1-6AA5-45ED-BDE9-577D5702671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0DD82B-7D66-451F-9A4F-9AB1AA97A6A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0BD5F55-AAA1-49D1-884A-8579BDE76BD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84BB6B-9C9E-40D0-BA30-1B5F37E8142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21A85AA-5E6C-4D00-9CE0-D37A6850FC8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5277D04-02C8-4636-8709-FABCC18B024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4D856A-9442-47BB-97D0-D10D8C287F7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7A8290A-E3BF-4CDE-983B-6B06AB31816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F25E153-1DBD-4652-8569-DC633993F07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FDFEB6-1E66-4268-8CF0-4F5AEC6313A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A510951-E325-4836-B876-69114BA8B26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9CC9E4B-5F8C-4B8A-A3D3-8840A1B761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C042605-93B8-4986-8999-21A3C39850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E627417-77A6-48F0-AD04-16C55C1EF84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CC4E9AC-48BE-4758-899D-AA4F0AD896C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13DCE0C-72CB-41F1-9BDB-96A74046AD0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6DF2885-DCBF-4F0E-AAB7-165E5247776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443E267-FAEE-408C-946C-F801BAC8C0B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3DEE18A-3BF1-41B6-8BD5-D3DAFB4AF65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7C1DB14-54D5-4DC8-853D-F606FD6FD7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4778661-FA30-47F5-ABA6-B1BA03ED847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6EBAB74-4449-42C2-815C-0A3AC2AEEA7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D3064B0-55EA-4DAB-A102-D5E174083F4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D66D9DC-E08C-400F-AF60-165743DA5C0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04F1F5C-B423-4596-BF6F-51C5B87608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3ED0D09-0125-42FC-8570-804B6A26CB5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9D9A7FB-A819-4AB8-8FF3-6969919263C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FBB92A0-55C1-4FC0-A37F-9491AFF8D24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0224879-8C2F-437B-9B06-E70E2E8189B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E5E7F97-C5AD-43D7-A935-CDBABB74906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BF59D2B-F089-49A5-8EBA-E7E3F4C006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6AC66BC-DFE6-4C43-9303-019A81339EC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8066754-7D41-4E3C-A5A1-40D0B70B3D9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BA9647B-ED48-45B3-BC93-EEAE13CCC21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FD197EF-D0B6-4E8C-9764-F68AF6D5203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FDC7D38-796B-4C26-AA5F-0129DC9C329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CCFDA20-E309-44E8-8191-91543D9F160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CFFAFEC-8655-4A74-A3BE-0FE380C9C1A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2576F87-4525-4637-B10C-4C618129BEF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D236955-7480-4EEC-9BC7-1EB7D718DBD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2C74E6C-85FB-4FC0-BE7F-82EA33F790B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9708FC7-78A8-4806-A3C5-00F5B0425B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F93390C-3F9E-4522-88BA-25093DA0D52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D08E720-D62A-490E-AB4C-FC135BC5137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5C04769-4259-42E8-A9AD-CD66E11BD1E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F990F64-5252-45E4-8672-E4EDEA1BAB1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537481C-8AB2-4896-BD0F-8729E2F8E24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26973BC-C008-4A4F-8CFD-B0F3F0E52B2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788EF80-A0FA-4B92-9B9F-91A814D16C9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B0043F8-3370-4C5C-BE46-E36EF332F39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15F11B2-B7DC-4DD9-AFE0-87BF1D5D51A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C50F106-C6A9-406A-8880-5853214599C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20793A8-D867-448B-A881-78771CE0086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C0AE18B-50A5-40EF-8D13-4AF071CF1C0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787952D-9632-4623-ACF3-3C65E3B3087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C336D1C-31D9-4857-BB12-77323C3985E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0C4522A-65F3-4F05-987F-B2C40A3B335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47348A5-5827-405D-97DE-202BBD56BFE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3A17874-E7E5-46CA-9EFE-BC15F9F7DB9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9FDC53A-0527-40C6-B362-533FF04CA53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3B021C8-2BD5-418A-86D2-FAB857F936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C8338D6-6896-413D-8537-BDCD965795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1D648AD-278D-44C5-9174-946773B0D90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BFB6FE7-9124-47F3-B191-08DEFE8BF0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D6917C0-0E0B-42CF-9DCA-6C5A10F7458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1071814-EF7D-4EFB-AD78-A4891DAE05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63A7912-DB14-44CD-B5A8-7F9F37988C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E7C42E4-78F6-40BE-87E7-8213C5ACEC9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C42553B-CEEC-4751-894D-E3CD653701C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78244AE-5441-49D6-B046-885181594AA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1ED31CC-C97B-4FAB-B93B-444B4815B1A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58A1A7B-6420-4B50-AE65-D4D39CA6C33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A61E979-07CF-477F-9F71-4FC5B908D7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5D44C2C-0160-422B-A4C9-05D9DAFB58E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E3CEAB7-1F67-4090-913C-1F83E875D06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A0CCB4E-A4DC-4740-AB1A-9C2E44E7514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8360A8D-807E-4261-8F45-F3F9887930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9059E50-1900-4DFF-93AC-F7B93BF96D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7623C85-D6A8-4AD6-9751-C4E16338BC0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E3928B1-E8F6-4880-9E33-6D11EEA8123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68120E3-7583-4C08-B2CF-2268F00A6BA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DA85834-0159-4A6C-B594-CEF4E84963C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B55B15C-ED3F-48B9-84DD-2D142189B17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5EFCF86-9D97-4CA2-9B80-EEE4E9E1C1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270FABF-041F-4CFC-B615-15CE917025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3DAD7AD-505C-4CAD-B3FF-6BEAC38A151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668EDBE-C600-43B9-9FE9-68240B1F974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AFF42D0-55F7-4C6F-A0C7-1814951C33C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064AC36-60F1-4F44-A6DE-3AD14F04D97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E700ACE-7BC8-4F81-A107-5E84B2AC4A3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4C7AC2E-4595-4E90-A4C7-96F9033D4FF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8AFC8F4-C306-4D9D-8EE2-6312DD78DE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91DA1D0-225F-4F6C-B899-6F69EA4B8B9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9937DFC-AD7D-4ACC-BEEF-1C0D7A2E0AD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10BBEA0-58CD-4107-8087-6D4C4F66F10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C1E3103-326A-4BB1-B5D6-7483C56735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BC9435B-64E0-4C53-AE85-48B4405D93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575684A-3757-423D-9DE4-89056AFAE17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A7ED3CE-F56F-4B7B-87F8-41678A9983D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655723A-34E6-44E4-9897-B59D0EFD580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112B02C-2DB1-4479-9701-C7990C4F146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EEF03DF-B859-4784-9FA5-D22A6CBAEF5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BCDDAB8-1F61-497C-939B-D06DC4FE9B2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939E6C0-31A5-4B94-B4A0-20F198B709A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F957FBA-C969-41B3-8648-768984E1CBD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44CA86B-6E84-4BE5-930D-61E18A27568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5C248BC-7B4B-4E47-A1F5-FA4B8D9B36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BA26DF2-A345-4296-B0B1-302B5EA034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32663BA-D40C-44B2-AACE-CE809D34165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274DCBD-CA81-4F7B-8343-7E15DA0EC13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B925B6D-2333-4307-93CD-99CA7204E87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21654A3-02EA-4AC2-AD37-AFC4959956B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1DFC9E6-FC8F-4E86-AD8F-45BCA2B747D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59BC000-8645-4D1E-A08F-C00EB1B518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D11C0A9-9165-4167-A505-29E4A9BF9A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F52F959-291F-4079-9D60-E30CC676863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25A3E9E-C3B5-4462-A5DD-BF67AEC5B04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56E4848-E9AE-4FFF-96C3-08B51B95763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A2EF4FD-2283-487A-9810-4124EF74F56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F78FAA5-EBA5-42C2-8DB6-C453A1C95A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1D6B10C-4291-4C4A-9772-84B2E6B24D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888E354-89B6-44B6-AE61-092C8086055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CB7402A-A206-41D6-BD02-BBC2638855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26B79D3-F294-4678-8C72-A7FDA65DB10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01DEECD-9BE1-43E4-B987-2CDD2C2AA7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19D1A6D-87B5-4430-8603-9D3AC89E6D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7114889-50D6-4A98-85F1-F66B3ED7242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80FEC32-B3CE-4EFB-AC12-E4AB0FB02CD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1DA6F3B-7053-4E4B-9C53-DA777EB1B5F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AD9EEAC-01A1-4CDC-B9A4-54B33CD65C0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0880" y="7007400"/>
            <a:ext cx="31795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0160" y="7007400"/>
            <a:ext cx="234000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FE0B67-FA1E-489D-AEF8-BFF63843DF0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560" y="7007400"/>
            <a:ext cx="234000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168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216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002E0B-8C80-4DBA-8844-0B2CD5259DA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216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442320" y="7005240"/>
            <a:ext cx="318240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722304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40AC6B-E781-4263-AA33-EE65136FFCC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50292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442320" y="7005240"/>
            <a:ext cx="318276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722304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1E68B3-0391-4B8C-B4AA-68007AA8658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50292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442320" y="7005240"/>
            <a:ext cx="318276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722304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6434AC-4220-4293-8423-0620D6639AF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50292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442320" y="7005240"/>
            <a:ext cx="318312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722304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9CC4FC-A7E6-47BF-856B-E47CAF70569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50292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442320" y="7005240"/>
            <a:ext cx="318312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722304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AC06D1-63EC-4739-922C-C986F686285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50292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442320" y="7005240"/>
            <a:ext cx="318348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722304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72BAE3-3BF5-4A2C-B09D-44EE13A1A3D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50292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442320" y="7005240"/>
            <a:ext cx="318276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722304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9131CCD-1768-417D-AAE0-833361EC81B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50292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ftr" idx="28"/>
          </p:nvPr>
        </p:nvSpPr>
        <p:spPr>
          <a:xfrm>
            <a:off x="3442320" y="7005240"/>
            <a:ext cx="318276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ldNum" idx="29"/>
          </p:nvPr>
        </p:nvSpPr>
        <p:spPr>
          <a:xfrm>
            <a:off x="722304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1D4526-3C3A-4FBD-A348-80243F4686A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dt" idx="30"/>
          </p:nvPr>
        </p:nvSpPr>
        <p:spPr>
          <a:xfrm>
            <a:off x="50292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ftr" idx="31"/>
          </p:nvPr>
        </p:nvSpPr>
        <p:spPr>
          <a:xfrm>
            <a:off x="3442320" y="7005240"/>
            <a:ext cx="318240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sldNum" idx="32"/>
          </p:nvPr>
        </p:nvSpPr>
        <p:spPr>
          <a:xfrm>
            <a:off x="722304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3744C3-851B-44B4-9B19-831169834CF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dt" idx="33"/>
          </p:nvPr>
        </p:nvSpPr>
        <p:spPr>
          <a:xfrm>
            <a:off x="50292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1800" y="1800"/>
            <a:ext cx="1342008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"/>
          <p:cNvSpPr/>
          <p:nvPr/>
        </p:nvSpPr>
        <p:spPr>
          <a:xfrm>
            <a:off x="18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3"/>
          <p:cNvSpPr/>
          <p:nvPr/>
        </p:nvSpPr>
        <p:spPr>
          <a:xfrm>
            <a:off x="100476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4"/>
          <p:cNvSpPr/>
          <p:nvPr/>
        </p:nvSpPr>
        <p:spPr>
          <a:xfrm>
            <a:off x="20124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5"/>
          <p:cNvSpPr/>
          <p:nvPr/>
        </p:nvSpPr>
        <p:spPr>
          <a:xfrm>
            <a:off x="30200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6"/>
          <p:cNvSpPr/>
          <p:nvPr/>
        </p:nvSpPr>
        <p:spPr>
          <a:xfrm>
            <a:off x="40276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7"/>
          <p:cNvSpPr/>
          <p:nvPr/>
        </p:nvSpPr>
        <p:spPr>
          <a:xfrm>
            <a:off x="503532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8"/>
          <p:cNvSpPr/>
          <p:nvPr/>
        </p:nvSpPr>
        <p:spPr>
          <a:xfrm>
            <a:off x="604296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9"/>
          <p:cNvSpPr/>
          <p:nvPr/>
        </p:nvSpPr>
        <p:spPr>
          <a:xfrm>
            <a:off x="70506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0"/>
          <p:cNvSpPr/>
          <p:nvPr/>
        </p:nvSpPr>
        <p:spPr>
          <a:xfrm>
            <a:off x="80582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1"/>
          <p:cNvSpPr/>
          <p:nvPr/>
        </p:nvSpPr>
        <p:spPr>
          <a:xfrm>
            <a:off x="90658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2"/>
          <p:cNvSpPr/>
          <p:nvPr/>
        </p:nvSpPr>
        <p:spPr>
          <a:xfrm>
            <a:off x="1007352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3"/>
          <p:cNvSpPr/>
          <p:nvPr/>
        </p:nvSpPr>
        <p:spPr>
          <a:xfrm>
            <a:off x="110808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4"/>
          <p:cNvSpPr/>
          <p:nvPr/>
        </p:nvSpPr>
        <p:spPr>
          <a:xfrm>
            <a:off x="120884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15"/>
          <p:cNvSpPr/>
          <p:nvPr/>
        </p:nvSpPr>
        <p:spPr>
          <a:xfrm>
            <a:off x="130960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6"/>
          <p:cNvSpPr/>
          <p:nvPr/>
        </p:nvSpPr>
        <p:spPr>
          <a:xfrm>
            <a:off x="1800" y="1800"/>
            <a:ext cx="34164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7"/>
          <p:cNvSpPr/>
          <p:nvPr/>
        </p:nvSpPr>
        <p:spPr>
          <a:xfrm>
            <a:off x="10880640" y="401400"/>
            <a:ext cx="2205360" cy="542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18"/>
          <p:cNvSpPr/>
          <p:nvPr/>
        </p:nvSpPr>
        <p:spPr>
          <a:xfrm>
            <a:off x="5377320" y="1107360"/>
            <a:ext cx="1327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19"/>
          <p:cNvSpPr/>
          <p:nvPr/>
        </p:nvSpPr>
        <p:spPr>
          <a:xfrm>
            <a:off x="2608920" y="2266920"/>
            <a:ext cx="7519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Rounded Rectangle 20"/>
          <p:cNvSpPr/>
          <p:nvPr/>
        </p:nvSpPr>
        <p:spPr>
          <a:xfrm>
            <a:off x="108612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ounded Rectangle 21"/>
          <p:cNvSpPr/>
          <p:nvPr/>
        </p:nvSpPr>
        <p:spPr>
          <a:xfrm>
            <a:off x="1019520" y="342684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Rounded Rectangle 22"/>
          <p:cNvSpPr/>
          <p:nvPr/>
        </p:nvSpPr>
        <p:spPr>
          <a:xfrm>
            <a:off x="496620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23"/>
          <p:cNvSpPr/>
          <p:nvPr/>
        </p:nvSpPr>
        <p:spPr>
          <a:xfrm>
            <a:off x="4884480" y="342684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Rounded Rectangle 24"/>
          <p:cNvSpPr/>
          <p:nvPr/>
        </p:nvSpPr>
        <p:spPr>
          <a:xfrm>
            <a:off x="884556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ounded Rectangle 25"/>
          <p:cNvSpPr/>
          <p:nvPr/>
        </p:nvSpPr>
        <p:spPr>
          <a:xfrm>
            <a:off x="8763840" y="342684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TextBox 2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Rectangle 32"/>
          <p:cNvSpPr/>
          <p:nvPr/>
        </p:nvSpPr>
        <p:spPr>
          <a:xfrm>
            <a:off x="1800" y="1800"/>
            <a:ext cx="1342008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33"/>
          <p:cNvSpPr/>
          <p:nvPr/>
        </p:nvSpPr>
        <p:spPr>
          <a:xfrm>
            <a:off x="18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34"/>
          <p:cNvSpPr/>
          <p:nvPr/>
        </p:nvSpPr>
        <p:spPr>
          <a:xfrm>
            <a:off x="100476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35"/>
          <p:cNvSpPr/>
          <p:nvPr/>
        </p:nvSpPr>
        <p:spPr>
          <a:xfrm>
            <a:off x="20124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36"/>
          <p:cNvSpPr/>
          <p:nvPr/>
        </p:nvSpPr>
        <p:spPr>
          <a:xfrm>
            <a:off x="30200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37"/>
          <p:cNvSpPr/>
          <p:nvPr/>
        </p:nvSpPr>
        <p:spPr>
          <a:xfrm>
            <a:off x="40276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38"/>
          <p:cNvSpPr/>
          <p:nvPr/>
        </p:nvSpPr>
        <p:spPr>
          <a:xfrm>
            <a:off x="503532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39"/>
          <p:cNvSpPr/>
          <p:nvPr/>
        </p:nvSpPr>
        <p:spPr>
          <a:xfrm>
            <a:off x="604296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40"/>
          <p:cNvSpPr/>
          <p:nvPr/>
        </p:nvSpPr>
        <p:spPr>
          <a:xfrm>
            <a:off x="70506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41"/>
          <p:cNvSpPr/>
          <p:nvPr/>
        </p:nvSpPr>
        <p:spPr>
          <a:xfrm>
            <a:off x="80582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42"/>
          <p:cNvSpPr/>
          <p:nvPr/>
        </p:nvSpPr>
        <p:spPr>
          <a:xfrm>
            <a:off x="90658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43"/>
          <p:cNvSpPr/>
          <p:nvPr/>
        </p:nvSpPr>
        <p:spPr>
          <a:xfrm>
            <a:off x="1007352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44"/>
          <p:cNvSpPr/>
          <p:nvPr/>
        </p:nvSpPr>
        <p:spPr>
          <a:xfrm>
            <a:off x="110808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45"/>
          <p:cNvSpPr/>
          <p:nvPr/>
        </p:nvSpPr>
        <p:spPr>
          <a:xfrm>
            <a:off x="120884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46"/>
          <p:cNvSpPr/>
          <p:nvPr/>
        </p:nvSpPr>
        <p:spPr>
          <a:xfrm>
            <a:off x="130960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47"/>
          <p:cNvSpPr/>
          <p:nvPr/>
        </p:nvSpPr>
        <p:spPr>
          <a:xfrm>
            <a:off x="1800" y="1800"/>
            <a:ext cx="34164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8"/>
          <p:cNvSpPr/>
          <p:nvPr/>
        </p:nvSpPr>
        <p:spPr>
          <a:xfrm>
            <a:off x="10880640" y="401400"/>
            <a:ext cx="2205360" cy="542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4"/>
          <p:cNvSpPr/>
          <p:nvPr/>
        </p:nvSpPr>
        <p:spPr>
          <a:xfrm>
            <a:off x="4506120" y="1107360"/>
            <a:ext cx="3072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Box 5"/>
          <p:cNvSpPr/>
          <p:nvPr/>
        </p:nvSpPr>
        <p:spPr>
          <a:xfrm>
            <a:off x="3046320" y="2266920"/>
            <a:ext cx="6641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Rounded Rectangle 9"/>
          <p:cNvSpPr/>
          <p:nvPr/>
        </p:nvSpPr>
        <p:spPr>
          <a:xfrm>
            <a:off x="108612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ounded Rectangle 10"/>
          <p:cNvSpPr/>
          <p:nvPr/>
        </p:nvSpPr>
        <p:spPr>
          <a:xfrm>
            <a:off x="1005840" y="3426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Rounded Rectangle 11"/>
          <p:cNvSpPr/>
          <p:nvPr/>
        </p:nvSpPr>
        <p:spPr>
          <a:xfrm>
            <a:off x="496620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"/>
          <p:cNvSpPr/>
          <p:nvPr/>
        </p:nvSpPr>
        <p:spPr>
          <a:xfrm>
            <a:off x="4884480" y="3426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Rounded Rectangle 13"/>
          <p:cNvSpPr/>
          <p:nvPr/>
        </p:nvSpPr>
        <p:spPr>
          <a:xfrm>
            <a:off x="884556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ounded Rectangle 14"/>
          <p:cNvSpPr/>
          <p:nvPr/>
        </p:nvSpPr>
        <p:spPr>
          <a:xfrm>
            <a:off x="8763840" y="342684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TextBox 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Rectangle 17"/>
          <p:cNvSpPr/>
          <p:nvPr/>
        </p:nvSpPr>
        <p:spPr>
          <a:xfrm>
            <a:off x="1800" y="1800"/>
            <a:ext cx="1342008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8"/>
          <p:cNvSpPr/>
          <p:nvPr/>
        </p:nvSpPr>
        <p:spPr>
          <a:xfrm>
            <a:off x="18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9"/>
          <p:cNvSpPr/>
          <p:nvPr/>
        </p:nvSpPr>
        <p:spPr>
          <a:xfrm>
            <a:off x="100476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0"/>
          <p:cNvSpPr/>
          <p:nvPr/>
        </p:nvSpPr>
        <p:spPr>
          <a:xfrm>
            <a:off x="20124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1"/>
          <p:cNvSpPr/>
          <p:nvPr/>
        </p:nvSpPr>
        <p:spPr>
          <a:xfrm>
            <a:off x="30200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2"/>
          <p:cNvSpPr/>
          <p:nvPr/>
        </p:nvSpPr>
        <p:spPr>
          <a:xfrm>
            <a:off x="40276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3"/>
          <p:cNvSpPr/>
          <p:nvPr/>
        </p:nvSpPr>
        <p:spPr>
          <a:xfrm>
            <a:off x="503532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4"/>
          <p:cNvSpPr/>
          <p:nvPr/>
        </p:nvSpPr>
        <p:spPr>
          <a:xfrm>
            <a:off x="604296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5"/>
          <p:cNvSpPr/>
          <p:nvPr/>
        </p:nvSpPr>
        <p:spPr>
          <a:xfrm>
            <a:off x="70506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6"/>
          <p:cNvSpPr/>
          <p:nvPr/>
        </p:nvSpPr>
        <p:spPr>
          <a:xfrm>
            <a:off x="80582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"/>
          <p:cNvSpPr/>
          <p:nvPr/>
        </p:nvSpPr>
        <p:spPr>
          <a:xfrm>
            <a:off x="90658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8"/>
          <p:cNvSpPr/>
          <p:nvPr/>
        </p:nvSpPr>
        <p:spPr>
          <a:xfrm>
            <a:off x="1007352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"/>
          <p:cNvSpPr/>
          <p:nvPr/>
        </p:nvSpPr>
        <p:spPr>
          <a:xfrm>
            <a:off x="110808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30"/>
          <p:cNvSpPr/>
          <p:nvPr/>
        </p:nvSpPr>
        <p:spPr>
          <a:xfrm>
            <a:off x="120884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31"/>
          <p:cNvSpPr/>
          <p:nvPr/>
        </p:nvSpPr>
        <p:spPr>
          <a:xfrm>
            <a:off x="130960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48"/>
          <p:cNvSpPr/>
          <p:nvPr/>
        </p:nvSpPr>
        <p:spPr>
          <a:xfrm>
            <a:off x="1800" y="1800"/>
            <a:ext cx="34164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15"/>
          <p:cNvSpPr/>
          <p:nvPr/>
        </p:nvSpPr>
        <p:spPr>
          <a:xfrm>
            <a:off x="10880640" y="401400"/>
            <a:ext cx="2205360" cy="542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7"/>
          <p:cNvSpPr/>
          <p:nvPr/>
        </p:nvSpPr>
        <p:spPr>
          <a:xfrm>
            <a:off x="3482280" y="1107360"/>
            <a:ext cx="512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8"/>
          <p:cNvSpPr/>
          <p:nvPr/>
        </p:nvSpPr>
        <p:spPr>
          <a:xfrm>
            <a:off x="2704320" y="2266920"/>
            <a:ext cx="732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Rounded Rectangle 16"/>
          <p:cNvSpPr/>
          <p:nvPr/>
        </p:nvSpPr>
        <p:spPr>
          <a:xfrm>
            <a:off x="108612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ounded Rectangle 18"/>
          <p:cNvSpPr/>
          <p:nvPr/>
        </p:nvSpPr>
        <p:spPr>
          <a:xfrm>
            <a:off x="1005840" y="342684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Rounded Rectangle 19"/>
          <p:cNvSpPr/>
          <p:nvPr/>
        </p:nvSpPr>
        <p:spPr>
          <a:xfrm>
            <a:off x="496620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26"/>
          <p:cNvSpPr/>
          <p:nvPr/>
        </p:nvSpPr>
        <p:spPr>
          <a:xfrm>
            <a:off x="4884480" y="342540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Rounded Rectangle 27"/>
          <p:cNvSpPr/>
          <p:nvPr/>
        </p:nvSpPr>
        <p:spPr>
          <a:xfrm>
            <a:off x="884556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ounded Rectangle 28"/>
          <p:cNvSpPr/>
          <p:nvPr/>
        </p:nvSpPr>
        <p:spPr>
          <a:xfrm>
            <a:off x="8763840" y="3426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TextBox 9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Rectangle 49"/>
          <p:cNvSpPr/>
          <p:nvPr/>
        </p:nvSpPr>
        <p:spPr>
          <a:xfrm>
            <a:off x="1800" y="1800"/>
            <a:ext cx="1342008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50"/>
          <p:cNvSpPr/>
          <p:nvPr/>
        </p:nvSpPr>
        <p:spPr>
          <a:xfrm>
            <a:off x="18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51"/>
          <p:cNvSpPr/>
          <p:nvPr/>
        </p:nvSpPr>
        <p:spPr>
          <a:xfrm>
            <a:off x="100476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52"/>
          <p:cNvSpPr/>
          <p:nvPr/>
        </p:nvSpPr>
        <p:spPr>
          <a:xfrm>
            <a:off x="20124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53"/>
          <p:cNvSpPr/>
          <p:nvPr/>
        </p:nvSpPr>
        <p:spPr>
          <a:xfrm>
            <a:off x="30200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54"/>
          <p:cNvSpPr/>
          <p:nvPr/>
        </p:nvSpPr>
        <p:spPr>
          <a:xfrm>
            <a:off x="40276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55"/>
          <p:cNvSpPr/>
          <p:nvPr/>
        </p:nvSpPr>
        <p:spPr>
          <a:xfrm>
            <a:off x="503532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56"/>
          <p:cNvSpPr/>
          <p:nvPr/>
        </p:nvSpPr>
        <p:spPr>
          <a:xfrm>
            <a:off x="604296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57"/>
          <p:cNvSpPr/>
          <p:nvPr/>
        </p:nvSpPr>
        <p:spPr>
          <a:xfrm>
            <a:off x="70506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58"/>
          <p:cNvSpPr/>
          <p:nvPr/>
        </p:nvSpPr>
        <p:spPr>
          <a:xfrm>
            <a:off x="80582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59"/>
          <p:cNvSpPr/>
          <p:nvPr/>
        </p:nvSpPr>
        <p:spPr>
          <a:xfrm>
            <a:off x="90658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60"/>
          <p:cNvSpPr/>
          <p:nvPr/>
        </p:nvSpPr>
        <p:spPr>
          <a:xfrm>
            <a:off x="1007352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61"/>
          <p:cNvSpPr/>
          <p:nvPr/>
        </p:nvSpPr>
        <p:spPr>
          <a:xfrm>
            <a:off x="110808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62"/>
          <p:cNvSpPr/>
          <p:nvPr/>
        </p:nvSpPr>
        <p:spPr>
          <a:xfrm>
            <a:off x="120884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63"/>
          <p:cNvSpPr/>
          <p:nvPr/>
        </p:nvSpPr>
        <p:spPr>
          <a:xfrm>
            <a:off x="130960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64"/>
          <p:cNvSpPr/>
          <p:nvPr/>
        </p:nvSpPr>
        <p:spPr>
          <a:xfrm>
            <a:off x="1800" y="1800"/>
            <a:ext cx="34164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29"/>
          <p:cNvSpPr/>
          <p:nvPr/>
        </p:nvSpPr>
        <p:spPr>
          <a:xfrm>
            <a:off x="10880640" y="401400"/>
            <a:ext cx="2205360" cy="542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10"/>
          <p:cNvSpPr/>
          <p:nvPr/>
        </p:nvSpPr>
        <p:spPr>
          <a:xfrm>
            <a:off x="4171320" y="1107360"/>
            <a:ext cx="373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11"/>
          <p:cNvSpPr/>
          <p:nvPr/>
        </p:nvSpPr>
        <p:spPr>
          <a:xfrm>
            <a:off x="1949760" y="2266920"/>
            <a:ext cx="8837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Rounded Rectangle 30"/>
          <p:cNvSpPr/>
          <p:nvPr/>
        </p:nvSpPr>
        <p:spPr>
          <a:xfrm>
            <a:off x="108612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ounded Rectangle 31"/>
          <p:cNvSpPr/>
          <p:nvPr/>
        </p:nvSpPr>
        <p:spPr>
          <a:xfrm>
            <a:off x="1005840" y="3426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Rounded Rectangle 32"/>
          <p:cNvSpPr/>
          <p:nvPr/>
        </p:nvSpPr>
        <p:spPr>
          <a:xfrm>
            <a:off x="496620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33"/>
          <p:cNvSpPr/>
          <p:nvPr/>
        </p:nvSpPr>
        <p:spPr>
          <a:xfrm>
            <a:off x="4884480" y="3426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Rounded Rectangle 34"/>
          <p:cNvSpPr/>
          <p:nvPr/>
        </p:nvSpPr>
        <p:spPr>
          <a:xfrm>
            <a:off x="884556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ounded Rectangle 35"/>
          <p:cNvSpPr/>
          <p:nvPr/>
        </p:nvSpPr>
        <p:spPr>
          <a:xfrm>
            <a:off x="8763840" y="3426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TextBox 12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Rectangle 65"/>
          <p:cNvSpPr/>
          <p:nvPr/>
        </p:nvSpPr>
        <p:spPr>
          <a:xfrm>
            <a:off x="1800" y="1800"/>
            <a:ext cx="1342044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66"/>
          <p:cNvSpPr/>
          <p:nvPr/>
        </p:nvSpPr>
        <p:spPr>
          <a:xfrm>
            <a:off x="1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67"/>
          <p:cNvSpPr/>
          <p:nvPr/>
        </p:nvSpPr>
        <p:spPr>
          <a:xfrm>
            <a:off x="10047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68"/>
          <p:cNvSpPr/>
          <p:nvPr/>
        </p:nvSpPr>
        <p:spPr>
          <a:xfrm>
            <a:off x="20124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69"/>
          <p:cNvSpPr/>
          <p:nvPr/>
        </p:nvSpPr>
        <p:spPr>
          <a:xfrm>
            <a:off x="30200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70"/>
          <p:cNvSpPr/>
          <p:nvPr/>
        </p:nvSpPr>
        <p:spPr>
          <a:xfrm>
            <a:off x="40276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71"/>
          <p:cNvSpPr/>
          <p:nvPr/>
        </p:nvSpPr>
        <p:spPr>
          <a:xfrm>
            <a:off x="50353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72"/>
          <p:cNvSpPr/>
          <p:nvPr/>
        </p:nvSpPr>
        <p:spPr>
          <a:xfrm>
            <a:off x="60429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73"/>
          <p:cNvSpPr/>
          <p:nvPr/>
        </p:nvSpPr>
        <p:spPr>
          <a:xfrm>
            <a:off x="70506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74"/>
          <p:cNvSpPr/>
          <p:nvPr/>
        </p:nvSpPr>
        <p:spPr>
          <a:xfrm>
            <a:off x="80582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75"/>
          <p:cNvSpPr/>
          <p:nvPr/>
        </p:nvSpPr>
        <p:spPr>
          <a:xfrm>
            <a:off x="90658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76"/>
          <p:cNvSpPr/>
          <p:nvPr/>
        </p:nvSpPr>
        <p:spPr>
          <a:xfrm>
            <a:off x="100735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77"/>
          <p:cNvSpPr/>
          <p:nvPr/>
        </p:nvSpPr>
        <p:spPr>
          <a:xfrm>
            <a:off x="11080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78"/>
          <p:cNvSpPr/>
          <p:nvPr/>
        </p:nvSpPr>
        <p:spPr>
          <a:xfrm>
            <a:off x="120884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79"/>
          <p:cNvSpPr/>
          <p:nvPr/>
        </p:nvSpPr>
        <p:spPr>
          <a:xfrm>
            <a:off x="130960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80"/>
          <p:cNvSpPr/>
          <p:nvPr/>
        </p:nvSpPr>
        <p:spPr>
          <a:xfrm>
            <a:off x="1800" y="1800"/>
            <a:ext cx="34200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36"/>
          <p:cNvSpPr/>
          <p:nvPr/>
        </p:nvSpPr>
        <p:spPr>
          <a:xfrm>
            <a:off x="10880640" y="401400"/>
            <a:ext cx="2205720" cy="542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13"/>
          <p:cNvSpPr/>
          <p:nvPr/>
        </p:nvSpPr>
        <p:spPr>
          <a:xfrm>
            <a:off x="2801160" y="1107360"/>
            <a:ext cx="64828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Java’dan Önceki Problem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14"/>
          <p:cNvSpPr/>
          <p:nvPr/>
        </p:nvSpPr>
        <p:spPr>
          <a:xfrm>
            <a:off x="2820600" y="2266920"/>
            <a:ext cx="7094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Dünyanın neden yeni bir programlama diline ihtiyaç duyduğunu anlatır.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Rounded Rectangle 37"/>
          <p:cNvSpPr/>
          <p:nvPr/>
        </p:nvSpPr>
        <p:spPr>
          <a:xfrm>
            <a:off x="108612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ounded Rectangle 38"/>
          <p:cNvSpPr/>
          <p:nvPr/>
        </p:nvSpPr>
        <p:spPr>
          <a:xfrm>
            <a:off x="679320" y="3274920"/>
            <a:ext cx="4024080" cy="316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Yazılım Kaosu (1990’ların başı)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Durum: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bilgisayarlar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işlemciler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işletim sistemleri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Başka bir makinede çalışmıyordu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sorun: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aynı yazılımı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tekrar tekrar baştan yazmak zorundaydı.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çalıştır” henüz yoktu.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Rounded Rectangle 39"/>
          <p:cNvSpPr/>
          <p:nvPr/>
        </p:nvSpPr>
        <p:spPr>
          <a:xfrm>
            <a:off x="496620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40"/>
          <p:cNvSpPr/>
          <p:nvPr/>
        </p:nvSpPr>
        <p:spPr>
          <a:xfrm>
            <a:off x="4884480" y="342684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Mevcut Diller Neden Başarısız Oldu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Donanıma bağımlı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özel derlenmiş dosyalar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Bellek yönetimi problemleri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 sorunları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 sıkıntı: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= bir derleme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Evrensel bir çözüm yoktu.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Rounded Rectangle 41"/>
          <p:cNvSpPr/>
          <p:nvPr/>
        </p:nvSpPr>
        <p:spPr>
          <a:xfrm>
            <a:off x="884556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ounded Rectangle 42"/>
          <p:cNvSpPr/>
          <p:nvPr/>
        </p:nvSpPr>
        <p:spPr>
          <a:xfrm>
            <a:off x="8763840" y="3426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Kod donanıma bağımlıydı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Java’dan Önceki Felsefe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System.out.println("Yazılımı yeniden yaz!");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TextBox 15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Rectangle 81"/>
          <p:cNvSpPr/>
          <p:nvPr/>
        </p:nvSpPr>
        <p:spPr>
          <a:xfrm>
            <a:off x="1800" y="1800"/>
            <a:ext cx="1342044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82"/>
          <p:cNvSpPr/>
          <p:nvPr/>
        </p:nvSpPr>
        <p:spPr>
          <a:xfrm>
            <a:off x="1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83"/>
          <p:cNvSpPr/>
          <p:nvPr/>
        </p:nvSpPr>
        <p:spPr>
          <a:xfrm>
            <a:off x="10047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84"/>
          <p:cNvSpPr/>
          <p:nvPr/>
        </p:nvSpPr>
        <p:spPr>
          <a:xfrm>
            <a:off x="20124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85"/>
          <p:cNvSpPr/>
          <p:nvPr/>
        </p:nvSpPr>
        <p:spPr>
          <a:xfrm>
            <a:off x="30200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86"/>
          <p:cNvSpPr/>
          <p:nvPr/>
        </p:nvSpPr>
        <p:spPr>
          <a:xfrm>
            <a:off x="40276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87"/>
          <p:cNvSpPr/>
          <p:nvPr/>
        </p:nvSpPr>
        <p:spPr>
          <a:xfrm>
            <a:off x="50353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88"/>
          <p:cNvSpPr/>
          <p:nvPr/>
        </p:nvSpPr>
        <p:spPr>
          <a:xfrm>
            <a:off x="60429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89"/>
          <p:cNvSpPr/>
          <p:nvPr/>
        </p:nvSpPr>
        <p:spPr>
          <a:xfrm>
            <a:off x="70506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90"/>
          <p:cNvSpPr/>
          <p:nvPr/>
        </p:nvSpPr>
        <p:spPr>
          <a:xfrm>
            <a:off x="80582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91"/>
          <p:cNvSpPr/>
          <p:nvPr/>
        </p:nvSpPr>
        <p:spPr>
          <a:xfrm>
            <a:off x="90658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92"/>
          <p:cNvSpPr/>
          <p:nvPr/>
        </p:nvSpPr>
        <p:spPr>
          <a:xfrm>
            <a:off x="100735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93"/>
          <p:cNvSpPr/>
          <p:nvPr/>
        </p:nvSpPr>
        <p:spPr>
          <a:xfrm>
            <a:off x="11080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94"/>
          <p:cNvSpPr/>
          <p:nvPr/>
        </p:nvSpPr>
        <p:spPr>
          <a:xfrm>
            <a:off x="120884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95"/>
          <p:cNvSpPr/>
          <p:nvPr/>
        </p:nvSpPr>
        <p:spPr>
          <a:xfrm>
            <a:off x="130960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96"/>
          <p:cNvSpPr/>
          <p:nvPr/>
        </p:nvSpPr>
        <p:spPr>
          <a:xfrm>
            <a:off x="1800" y="1800"/>
            <a:ext cx="34200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1"/>
          <p:cNvSpPr/>
          <p:nvPr/>
        </p:nvSpPr>
        <p:spPr>
          <a:xfrm>
            <a:off x="10880640" y="401400"/>
            <a:ext cx="2205720" cy="542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16"/>
          <p:cNvSpPr/>
          <p:nvPr/>
        </p:nvSpPr>
        <p:spPr>
          <a:xfrm>
            <a:off x="2592360" y="1107360"/>
            <a:ext cx="6911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 Projesi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Box 17"/>
          <p:cNvSpPr/>
          <p:nvPr/>
        </p:nvSpPr>
        <p:spPr>
          <a:xfrm>
            <a:off x="4428720" y="2266920"/>
            <a:ext cx="38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Daha sonra Java’ya dönüşecek olan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Rounded Rectangle 43"/>
          <p:cNvSpPr/>
          <p:nvPr/>
        </p:nvSpPr>
        <p:spPr>
          <a:xfrm>
            <a:off x="108612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ounded Rectangle 44"/>
          <p:cNvSpPr/>
          <p:nvPr/>
        </p:nvSpPr>
        <p:spPr>
          <a:xfrm>
            <a:off x="1005840" y="342540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Oak Projesi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Microsystems’in dahili projesi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liderliğinde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odaklanmış bir ekip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cihazlar için yazılım geliştirmek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Set-top box’lar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Gömülü sistemler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Rounded Rectangle 45"/>
          <p:cNvSpPr/>
          <p:nvPr/>
        </p:nvSpPr>
        <p:spPr>
          <a:xfrm>
            <a:off x="496620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46"/>
          <p:cNvSpPr/>
          <p:nvPr/>
        </p:nvSpPr>
        <p:spPr>
          <a:xfrm>
            <a:off x="884556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ounded Rectangle 47"/>
          <p:cNvSpPr/>
          <p:nvPr/>
        </p:nvSpPr>
        <p:spPr>
          <a:xfrm>
            <a:off x="8763840" y="342684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System.out.println("Bu fikir yazılımı değiştirecek");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Box 20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48"/>
          <p:cNvSpPr/>
          <p:nvPr/>
        </p:nvSpPr>
        <p:spPr>
          <a:xfrm>
            <a:off x="4938840" y="345096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Arkasındaki Temel Fikir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sözdizimi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güvenlik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Donanıma doğrudan bağımlılık yok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Devrimsel düşünce: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Birçok cihaz için tek bir dil.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Aynı kod her yerde çalışmalı.”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Rectangle 97"/>
          <p:cNvSpPr/>
          <p:nvPr/>
        </p:nvSpPr>
        <p:spPr>
          <a:xfrm>
            <a:off x="1800" y="1800"/>
            <a:ext cx="1342080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98"/>
          <p:cNvSpPr/>
          <p:nvPr/>
        </p:nvSpPr>
        <p:spPr>
          <a:xfrm>
            <a:off x="1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99"/>
          <p:cNvSpPr/>
          <p:nvPr/>
        </p:nvSpPr>
        <p:spPr>
          <a:xfrm>
            <a:off x="10047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100"/>
          <p:cNvSpPr/>
          <p:nvPr/>
        </p:nvSpPr>
        <p:spPr>
          <a:xfrm>
            <a:off x="20124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101"/>
          <p:cNvSpPr/>
          <p:nvPr/>
        </p:nvSpPr>
        <p:spPr>
          <a:xfrm>
            <a:off x="30200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102"/>
          <p:cNvSpPr/>
          <p:nvPr/>
        </p:nvSpPr>
        <p:spPr>
          <a:xfrm>
            <a:off x="40276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103"/>
          <p:cNvSpPr/>
          <p:nvPr/>
        </p:nvSpPr>
        <p:spPr>
          <a:xfrm>
            <a:off x="50353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104"/>
          <p:cNvSpPr/>
          <p:nvPr/>
        </p:nvSpPr>
        <p:spPr>
          <a:xfrm>
            <a:off x="60429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05"/>
          <p:cNvSpPr/>
          <p:nvPr/>
        </p:nvSpPr>
        <p:spPr>
          <a:xfrm>
            <a:off x="70506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06"/>
          <p:cNvSpPr/>
          <p:nvPr/>
        </p:nvSpPr>
        <p:spPr>
          <a:xfrm>
            <a:off x="80582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07"/>
          <p:cNvSpPr/>
          <p:nvPr/>
        </p:nvSpPr>
        <p:spPr>
          <a:xfrm>
            <a:off x="90658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08"/>
          <p:cNvSpPr/>
          <p:nvPr/>
        </p:nvSpPr>
        <p:spPr>
          <a:xfrm>
            <a:off x="100735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09"/>
          <p:cNvSpPr/>
          <p:nvPr/>
        </p:nvSpPr>
        <p:spPr>
          <a:xfrm>
            <a:off x="11080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10"/>
          <p:cNvSpPr/>
          <p:nvPr/>
        </p:nvSpPr>
        <p:spPr>
          <a:xfrm>
            <a:off x="120884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11"/>
          <p:cNvSpPr/>
          <p:nvPr/>
        </p:nvSpPr>
        <p:spPr>
          <a:xfrm>
            <a:off x="130960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12"/>
          <p:cNvSpPr/>
          <p:nvPr/>
        </p:nvSpPr>
        <p:spPr>
          <a:xfrm>
            <a:off x="1800" y="1800"/>
            <a:ext cx="34236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49"/>
          <p:cNvSpPr/>
          <p:nvPr/>
        </p:nvSpPr>
        <p:spPr>
          <a:xfrm>
            <a:off x="10880640" y="401400"/>
            <a:ext cx="220608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21"/>
          <p:cNvSpPr/>
          <p:nvPr/>
        </p:nvSpPr>
        <p:spPr>
          <a:xfrm>
            <a:off x="2608920" y="1107720"/>
            <a:ext cx="6882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Oak'tan Java'ya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22"/>
          <p:cNvSpPr/>
          <p:nvPr/>
        </p:nvSpPr>
        <p:spPr>
          <a:xfrm>
            <a:off x="3687120" y="2266920"/>
            <a:ext cx="535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Oak nasıl Java’ya dönüştü ve gerçek amacını nasıl buldu.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Rounded Rectangle 50"/>
          <p:cNvSpPr/>
          <p:nvPr/>
        </p:nvSpPr>
        <p:spPr>
          <a:xfrm>
            <a:off x="108612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ounded Rectangle 51"/>
          <p:cNvSpPr/>
          <p:nvPr/>
        </p:nvSpPr>
        <p:spPr>
          <a:xfrm>
            <a:off x="1005840" y="3426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Dönüm Noktası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 ters gitti?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TV pazarı başarısız oldu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ticari bir geleceği yoktu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 neredeyse iptal ediliyordu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Ama bir şey değişti…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büyümeye başladı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tarayıcıları popülerleşti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Taşınabilir ve güvenli koda ihtiyaç doğdu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Kritik farkındalık: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Gelecek televizyonlar değil — Web’tir.”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Rounded Rectangle 52"/>
          <p:cNvSpPr/>
          <p:nvPr/>
        </p:nvSpPr>
        <p:spPr>
          <a:xfrm>
            <a:off x="496620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53"/>
          <p:cNvSpPr/>
          <p:nvPr/>
        </p:nvSpPr>
        <p:spPr>
          <a:xfrm>
            <a:off x="884556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ounded Rectangle 54"/>
          <p:cNvSpPr/>
          <p:nvPr/>
        </p:nvSpPr>
        <p:spPr>
          <a:xfrm>
            <a:off x="8763840" y="3426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Web için hazır!"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23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55"/>
          <p:cNvSpPr/>
          <p:nvPr/>
        </p:nvSpPr>
        <p:spPr>
          <a:xfrm>
            <a:off x="4938840" y="345060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Web Fırsatı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 neden İnternet için mükemmeldi?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verimli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donanım bağımlılığı yok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Yeni yön: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Cihazlardan → tarayıcılara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Oak’tan → Java’ya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dünyaya resmen tanıtıldı.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Rectangle 113"/>
          <p:cNvSpPr/>
          <p:nvPr/>
        </p:nvSpPr>
        <p:spPr>
          <a:xfrm>
            <a:off x="1800" y="1800"/>
            <a:ext cx="1342080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114"/>
          <p:cNvSpPr/>
          <p:nvPr/>
        </p:nvSpPr>
        <p:spPr>
          <a:xfrm>
            <a:off x="1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15"/>
          <p:cNvSpPr/>
          <p:nvPr/>
        </p:nvSpPr>
        <p:spPr>
          <a:xfrm>
            <a:off x="10047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16"/>
          <p:cNvSpPr/>
          <p:nvPr/>
        </p:nvSpPr>
        <p:spPr>
          <a:xfrm>
            <a:off x="20124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17"/>
          <p:cNvSpPr/>
          <p:nvPr/>
        </p:nvSpPr>
        <p:spPr>
          <a:xfrm>
            <a:off x="30200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18"/>
          <p:cNvSpPr/>
          <p:nvPr/>
        </p:nvSpPr>
        <p:spPr>
          <a:xfrm>
            <a:off x="40276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19"/>
          <p:cNvSpPr/>
          <p:nvPr/>
        </p:nvSpPr>
        <p:spPr>
          <a:xfrm>
            <a:off x="50353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20"/>
          <p:cNvSpPr/>
          <p:nvPr/>
        </p:nvSpPr>
        <p:spPr>
          <a:xfrm>
            <a:off x="60429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21"/>
          <p:cNvSpPr/>
          <p:nvPr/>
        </p:nvSpPr>
        <p:spPr>
          <a:xfrm>
            <a:off x="70506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22"/>
          <p:cNvSpPr/>
          <p:nvPr/>
        </p:nvSpPr>
        <p:spPr>
          <a:xfrm>
            <a:off x="80582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23"/>
          <p:cNvSpPr/>
          <p:nvPr/>
        </p:nvSpPr>
        <p:spPr>
          <a:xfrm>
            <a:off x="90658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24"/>
          <p:cNvSpPr/>
          <p:nvPr/>
        </p:nvSpPr>
        <p:spPr>
          <a:xfrm>
            <a:off x="100735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125"/>
          <p:cNvSpPr/>
          <p:nvPr/>
        </p:nvSpPr>
        <p:spPr>
          <a:xfrm>
            <a:off x="11080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126"/>
          <p:cNvSpPr/>
          <p:nvPr/>
        </p:nvSpPr>
        <p:spPr>
          <a:xfrm>
            <a:off x="120884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127"/>
          <p:cNvSpPr/>
          <p:nvPr/>
        </p:nvSpPr>
        <p:spPr>
          <a:xfrm>
            <a:off x="130960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128"/>
          <p:cNvSpPr/>
          <p:nvPr/>
        </p:nvSpPr>
        <p:spPr>
          <a:xfrm>
            <a:off x="1800" y="1800"/>
            <a:ext cx="34236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56"/>
          <p:cNvSpPr/>
          <p:nvPr/>
        </p:nvSpPr>
        <p:spPr>
          <a:xfrm>
            <a:off x="10880640" y="401400"/>
            <a:ext cx="220608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24"/>
          <p:cNvSpPr/>
          <p:nvPr/>
        </p:nvSpPr>
        <p:spPr>
          <a:xfrm>
            <a:off x="562680" y="1107720"/>
            <a:ext cx="1098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Felsefesi – Bir Kez Yaz, Her Yerde Çalıştır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Box 25"/>
          <p:cNvSpPr/>
          <p:nvPr/>
        </p:nvSpPr>
        <p:spPr>
          <a:xfrm>
            <a:off x="4013640" y="2266920"/>
            <a:ext cx="470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Yazılım geliştirmeyi sonsuza kadar değiştiren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Rounded Rectangle 57"/>
          <p:cNvSpPr/>
          <p:nvPr/>
        </p:nvSpPr>
        <p:spPr>
          <a:xfrm>
            <a:off x="108612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ounded Rectangle 58"/>
          <p:cNvSpPr/>
          <p:nvPr/>
        </p:nvSpPr>
        <p:spPr>
          <a:xfrm>
            <a:off x="1005840" y="3426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Vaat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Java’dan önce: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 işletim sistemi = 1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sistem için yeniden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Yüksek bakım maliyeti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kaynak kod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kez derlenen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çalışır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Ünlü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Rounded Rectangle 59"/>
          <p:cNvSpPr/>
          <p:nvPr/>
        </p:nvSpPr>
        <p:spPr>
          <a:xfrm>
            <a:off x="496620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60"/>
          <p:cNvSpPr/>
          <p:nvPr/>
        </p:nvSpPr>
        <p:spPr>
          <a:xfrm>
            <a:off x="884556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ounded Rectangle 61"/>
          <p:cNvSpPr/>
          <p:nvPr/>
        </p:nvSpPr>
        <p:spPr>
          <a:xfrm>
            <a:off x="8763840" y="3426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"Çalıştığı sistem: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"Aynı kod. Aynı sonuç."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TextBox 27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Rounded Rectangle 62"/>
          <p:cNvSpPr/>
          <p:nvPr/>
        </p:nvSpPr>
        <p:spPr>
          <a:xfrm>
            <a:off x="4938840" y="345204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Çalışır? (Basit Anlatım)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çalışma modeli: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(her işletim sistemi için)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platformda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Rectangle 129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30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131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132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133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134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135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136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137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138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39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140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141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142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143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144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63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28"/>
          <p:cNvSpPr/>
          <p:nvPr/>
        </p:nvSpPr>
        <p:spPr>
          <a:xfrm>
            <a:off x="2558160" y="1107360"/>
            <a:ext cx="6989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Kurumsal Dünyaya Giriyor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TextBox 29"/>
          <p:cNvSpPr/>
          <p:nvPr/>
        </p:nvSpPr>
        <p:spPr>
          <a:xfrm>
            <a:off x="4201920" y="2266200"/>
            <a:ext cx="4337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büyük ölçekli sistemlere nasıl girdiği.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Rounded Rectangle 64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ounded Rectangle 65"/>
          <p:cNvSpPr/>
          <p:nvPr/>
        </p:nvSpPr>
        <p:spPr>
          <a:xfrm>
            <a:off x="100656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1990’ların sonlarında internet hızla büyüdü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Şirketlerin ölçeklenebilir yazılımlara ihtiyacı vardı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kritik bir gereklilik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farklı işletim sistemlerinde çalışması gerekiyordu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sorunları şu özelliklerle çözdü: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bağımsızlık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nesne yönelimli tasarım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özellikleri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kurumsal sistemler için tercih edilen dil hâline geldi.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Rounded Rectangle 66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ounded Rectangle 67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ounded Rectangle 68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kurumsal dünyaya giriyor!");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Rounded Rectangle 69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benimsenme yolu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uygulamaları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Rectangle 145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146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147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148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149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150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151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152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153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154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155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156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157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158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159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160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70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31"/>
          <p:cNvSpPr/>
          <p:nvPr/>
        </p:nvSpPr>
        <p:spPr>
          <a:xfrm>
            <a:off x="2953800" y="1107360"/>
            <a:ext cx="6199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Java Sürümleri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32"/>
          <p:cNvSpPr/>
          <p:nvPr/>
        </p:nvSpPr>
        <p:spPr>
          <a:xfrm>
            <a:off x="4707360" y="2266200"/>
            <a:ext cx="332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adım adım nasıl ilerlediği.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Rounded Rectangle 71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ounded Rectangle 72"/>
          <p:cNvSpPr/>
          <p:nvPr/>
        </p:nvSpPr>
        <p:spPr>
          <a:xfrm>
            <a:off x="10065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1994’ten sonra Java yön değiştirdi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Dilin adı Oak’tan Java’ya değiştirildi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Web için geliştirilmeye başlandı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Microsystems, Java’yı herkese açık olarak yayımlamaya karar verdi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noktadan sonra Java sürümleri ortaya çıkmaya başladı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Temel fikir: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sürüm, eskilerini bozmadan Java’yı geliştirdi.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Rounded Rectangle 73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ounded Rectangle 74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ounded Rectangle 75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sürüm sürüm gelişmeye devam ediyor.");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Rounded Rectangle 76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sürümleri baştan yazım değildir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Kademeli iyileştirmelerdir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Yeni özellikler + aynı temel fikir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Felsefe: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sonsuza kadar geliştir.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Rectangle 161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162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163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164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165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166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167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168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169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170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171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172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173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174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175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176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77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34"/>
          <p:cNvSpPr/>
          <p:nvPr/>
        </p:nvSpPr>
        <p:spPr>
          <a:xfrm>
            <a:off x="1916280" y="1107360"/>
            <a:ext cx="827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Kurumsal Patlama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Box 35"/>
          <p:cNvSpPr/>
          <p:nvPr/>
        </p:nvSpPr>
        <p:spPr>
          <a:xfrm>
            <a:off x="3533400" y="2266200"/>
            <a:ext cx="5675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kurumsal yazılımların belkemiği hâline nasıl geldiği.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Rounded Rectangle 78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ounded Rectangle 79"/>
          <p:cNvSpPr/>
          <p:nvPr/>
        </p:nvSpPr>
        <p:spPr>
          <a:xfrm>
            <a:off x="10065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2000’lerin başı: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kullanımı patlama yaşadı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E-ticaret büyümeye başladı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 büyük ölçekli sistemlere ihtiyaç duydu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şu özelliklere sahip olması gerekiyordu: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Güvenli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Ölçeklenebilir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2" name="Rounded Rectangle 80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ounded Rectangle 81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ounded Rectangle 82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(sistemOnline)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"Kurumsal sistemler 7/24 çalışıyor."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Rounded Rectangle 83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neden bu döneme damga vurdu: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Platformu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sunucu tarafı programlama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Çok katmanlı mimari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modeli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odaklı uygulamalar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Rectangle 177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178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179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180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181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182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183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184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185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186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187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188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189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190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191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192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84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37"/>
          <p:cNvSpPr/>
          <p:nvPr/>
        </p:nvSpPr>
        <p:spPr>
          <a:xfrm>
            <a:off x="1708920" y="1107360"/>
            <a:ext cx="8695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2000–2005 Arası Java Teknolojileri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TextBox 38"/>
          <p:cNvSpPr/>
          <p:nvPr/>
        </p:nvSpPr>
        <p:spPr>
          <a:xfrm>
            <a:off x="4586400" y="2266200"/>
            <a:ext cx="356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Modern kurumsal Java’nın temelleri.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Rounded Rectangle 85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ounded Rectangle 86"/>
          <p:cNvSpPr/>
          <p:nvPr/>
        </p:nvSpPr>
        <p:spPr>
          <a:xfrm>
            <a:off x="10065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Rounded Rectangle 87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ounded Rectangle 88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ounded Rectangle 89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Rounded Rectangle 90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 teknolojiler sayesinde: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Dinamik web uygulamaları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tabanlı sistemler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(transaction) yönetimi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Dağıtık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ölçekte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Rectangle 193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194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195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196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197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198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199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200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01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02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03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04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205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206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207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208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91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Box 40"/>
          <p:cNvSpPr/>
          <p:nvPr/>
        </p:nvSpPr>
        <p:spPr>
          <a:xfrm>
            <a:off x="2097720" y="1107360"/>
            <a:ext cx="79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Teknolojileri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TextBox 41"/>
          <p:cNvSpPr/>
          <p:nvPr/>
        </p:nvSpPr>
        <p:spPr>
          <a:xfrm>
            <a:off x="5367240" y="2266200"/>
            <a:ext cx="200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Rounded Rectangle 92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ounded Rectangle 93"/>
          <p:cNvSpPr/>
          <p:nvPr/>
        </p:nvSpPr>
        <p:spPr>
          <a:xfrm>
            <a:off x="10065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 (Ortaya çıkanlar):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(Kontrolün Tersine Çevrilmesi – IoC, Bağımlılık Enjeksiyonu – DI)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(Nesne-İlişkisel Eşleme – ORM)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(XML ağırlıklı yapılandırmaların yerini anotasyonlar aldı)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(Bileşen tabanlı kullanıcı arayüzü)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(Standart derleme ve bağımlılık yönetimi)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Rounded Rectangle 94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ounded Rectangle 95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ounded Rectangle 96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Rounded Rectangle 97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 dönem neden önemliydi: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 ağırlıklı kurumsal Java yapıları sadeleştirildi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Gereksiz tekrar kod ciddi şekilde azaldı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Gevşek bağlılık  standart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ve katmanlı mimari yaygınlaştı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üretkenlik ve esneklik kazandı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öncesi: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karmaşık, uzun, bakımı zor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sonrası: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daha temiz, modüler, framework odaklı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Rectangle 209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210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211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212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213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214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215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216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217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218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219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220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221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222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223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224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98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Box 43"/>
          <p:cNvSpPr/>
          <p:nvPr/>
        </p:nvSpPr>
        <p:spPr>
          <a:xfrm>
            <a:off x="2808000" y="1107360"/>
            <a:ext cx="6498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ve Bulut Çağı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Box 44"/>
          <p:cNvSpPr/>
          <p:nvPr/>
        </p:nvSpPr>
        <p:spPr>
          <a:xfrm>
            <a:off x="5367240" y="2266200"/>
            <a:ext cx="200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Rounded Rectangle 99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ounded Rectangle 100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(Temel teknolojiler):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API’ler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 ifadeleri, Stream API)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Rounded Rectangle 101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ounded Rectangle 102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ounded Rectangle 103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Rounded Rectangle 104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Bulut uyumlu (cloud-native)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 mimarisi ile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Hızlı dağıtım (deployment)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Fonksiyonel programlama yaklaşımı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Uzun süreli destek (LTS – Long Term Support)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Rectangle 225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226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227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228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229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230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231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232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233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234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235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236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237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238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239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240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105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Box 46"/>
          <p:cNvSpPr/>
          <p:nvPr/>
        </p:nvSpPr>
        <p:spPr>
          <a:xfrm>
            <a:off x="3957120" y="1107360"/>
            <a:ext cx="4198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2015 Sonrası Java: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TextBox 47"/>
          <p:cNvSpPr/>
          <p:nvPr/>
        </p:nvSpPr>
        <p:spPr>
          <a:xfrm>
            <a:off x="4066200" y="2266200"/>
            <a:ext cx="460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büyüyor: daha hızlı, daha temiz, daha akıllı.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Rounded Rectangle 106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ounded Rectangle 107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İfadeleri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Fonksiyonel Arayüzler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(Asenkron programlama)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(değiştirilemez veri taşıyıcıları)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Rounded Rectangle 108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ounded Rectangle 109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ounded Rectangle 110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Rounded Rectangle 111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ifade gücü yüksek kode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az tekrar (boilerplate)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iyi performans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Paralel ve asenkron işlem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programlama paradigmaları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Okunabilirlik + sürdürülebilirlik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Öncesi: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Emredici (imperative), uzun, döngü ağırlıklı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Sonrası: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Bildirime dayalı, fonksiyonel, akıcı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Rectangle 241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242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243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244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245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246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247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248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249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250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251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252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253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254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255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256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ounded Rectangle 112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TextBox 49"/>
          <p:cNvSpPr/>
          <p:nvPr/>
        </p:nvSpPr>
        <p:spPr>
          <a:xfrm>
            <a:off x="1362960" y="1107360"/>
            <a:ext cx="93891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Bugünün Java’sı: Kurumsal, Bulut ve Ötesi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TextBox 50"/>
          <p:cNvSpPr/>
          <p:nvPr/>
        </p:nvSpPr>
        <p:spPr>
          <a:xfrm>
            <a:off x="4168080" y="2266200"/>
            <a:ext cx="440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artık sadece kurumsal değil — her yerde.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Rounded Rectangle 113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ounded Rectangle 114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Bulut-yerel (cloud-native) backend’ler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performanslı API’ler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Finansal sistemler ve bankacılık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veri ve akış (streaming) platformları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(çekirdek dil temelleri)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Oyun sunucuları ve gerçek zamanlı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" name="Rounded Rectangle 115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ounded Rectangle 116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ounded Rectangle 117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ResponseEntity.ok("Servis çalışıyor");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5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Rounded Rectangle 118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Modern Java Ekosistemi;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Reaktif programlama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Kubernetes-yerel dağıtımlar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Image’lar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Gözlemlenebilirlik (metrikler, izleme/tracing)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Uzun dönem destek (LTS) kararlılığı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Rectangle 257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258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259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260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261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262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263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264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265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266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267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268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269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270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271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272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ounded Rectangle 119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4" name="TextBox 52"/>
          <p:cNvSpPr/>
          <p:nvPr/>
        </p:nvSpPr>
        <p:spPr>
          <a:xfrm>
            <a:off x="2818440" y="1107360"/>
            <a:ext cx="6478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Pratik: Fikirden Koda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TextBox 53"/>
          <p:cNvSpPr/>
          <p:nvPr/>
        </p:nvSpPr>
        <p:spPr>
          <a:xfrm>
            <a:off x="2823120" y="2266200"/>
            <a:ext cx="7092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fikirleri temiz, düzenli ve sürdürülebilir koda dönüştürmeye odaklanır.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Rounded Rectangle 120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ounded Rectangle 121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okunabilirliği ve yapısal düzeni ön planda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tip sistemi, birçok çalışma zamanı hatasını önler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okunabilirliği, uzun vadeli bakımı kolaylaştırır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 uzun ömürlü sistemler için uygundur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Rounded Rectangle 122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ounded Rectangle 123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ounded Rectangle 124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1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Rounded Rectangle 125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Tanımı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Çözüm Planlaması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Sınıf ve Metot Tasarımı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Uygulama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Çalıştırılması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Rectangle 273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274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275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276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277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278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279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280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281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282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283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284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285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286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287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288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ounded Rectangle 126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TextBox 55"/>
          <p:cNvSpPr/>
          <p:nvPr/>
        </p:nvSpPr>
        <p:spPr>
          <a:xfrm>
            <a:off x="1771920" y="1107360"/>
            <a:ext cx="857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Çekirdek Özellikleri – Genel Bakış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TextBox 56"/>
          <p:cNvSpPr/>
          <p:nvPr/>
        </p:nvSpPr>
        <p:spPr>
          <a:xfrm>
            <a:off x="3605040" y="2266200"/>
            <a:ext cx="5528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şekillendiren temel özelliklere ilk bakış.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Rounded Rectangle 127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ounded Rectangle 128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geliştiricilerin programları anlaşılır, yapılı ve öngörülebilir bir şekilde yazmasına yardımcı olan bir dizi çekirdek özellikle tasarlanmıştır.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özellikler, yaygın programlama hatalarını azaltır, kodun okunabilirliğini artırır ve uygulamaların zaman içinde daha kolay bakımını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Düşük seviyeli sistem detaylarına odaklanmak yerine, Java geliştiricilerin program mantığına ve problem çözmeye yoğunlaşmasına olanak tanır..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" name="Rounded Rectangle 129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ounded Rectangle 130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ounded Rectangle 131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 sayı");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7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Rounded Rectangle 132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yapmak istiyorum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izin verdikleri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yazmam gerekir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çalıştırılır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elde ederim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Rectangle 289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ectangle 290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ectangle 291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292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293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294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295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296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297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298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299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300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301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302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303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304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ounded Rectangle 133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" name="TextBox 58"/>
          <p:cNvSpPr/>
          <p:nvPr/>
        </p:nvSpPr>
        <p:spPr>
          <a:xfrm>
            <a:off x="4195440" y="1107360"/>
            <a:ext cx="3723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Nesne Yönelimli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TextBox 59"/>
          <p:cNvSpPr/>
          <p:nvPr/>
        </p:nvSpPr>
        <p:spPr>
          <a:xfrm>
            <a:off x="1016640" y="2266200"/>
            <a:ext cx="1070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nesne yönelimli bir programlama dilidir.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Bu, Java programlarının gerçek dünyadaki varlıkları temsil eden nesneler kullanılarak oluşturulduğu anlamına gelir.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Rounded Rectangle 134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ounded Rectangle 135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her şey sınıflar ve nesneler üzerine kuruludur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sınıf bir şablondur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nesne, bir sınıfın gerçek (somut) örneğidir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OOP, programların daha kolay anlaşılmasını ve yönetilmesini sağlar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Araba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Öğrenci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0" name="Rounded Rectangle 136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ounded Rectangle 137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ounded Rectangle 138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3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Rounded Rectangle 139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Dünya Nesnesi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Nesene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Mantığı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Açıklama: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Önce bir sınıf tanımlarız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Sonra o sınıftan nesneler oluştururuz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program içinde kullanılır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Rectangle 305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ectangle 306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ectangle 307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308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309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310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311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312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313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314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315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316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317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318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319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320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ounded Rectangle 140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2" name="TextBox 61"/>
          <p:cNvSpPr/>
          <p:nvPr/>
        </p:nvSpPr>
        <p:spPr>
          <a:xfrm>
            <a:off x="4156560" y="1107360"/>
            <a:ext cx="380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Güvenli (Secure)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TextBox 62"/>
          <p:cNvSpPr/>
          <p:nvPr/>
        </p:nvSpPr>
        <p:spPr>
          <a:xfrm>
            <a:off x="945720" y="2266200"/>
            <a:ext cx="108475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güvenli bir programlama dili olacak şekilde tasarlanmıştır.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Geliştiricilerin virüssüz ve kurcalamaya karşı dayanıklı uygulamalar geliştirmesine olanak tanır.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güvenliği; açık anahtar şifreleme, bytecode doğrulama ve kontrollü bellek erişimi gibi güçlü kavramlara dayanır.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Rounded Rectangle 141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ounded Rectangle 142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doğrudan bellek erişimine izin vermez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C/C++’taki gibi pointer (işaretçi) kullanımı yoktur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Programlar Java Virtual Machine (JVM) içinde çalışır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çalıştırılmadan önce doğrulanır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 büyük ölçüde engellenir: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- Bellek sızıntıları (memory leaks)</a:t>
            </a:r>
            <a:br>
              <a:rPr sz="1300"/>
            </a:b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Ek Güvenlik Avantajları: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exception (istisna) yönetimi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çöp toplama (Garbage Collection)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sınıf yükleme mekanizması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6" name="Rounded Rectangle 143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ounded Rectangle 144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ounded Rectangle 145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System.out.println("Hata güvenli şekilde yakalandı");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9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Rounded Rectangle 146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Güvenlik Kontrolü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Çalıştırma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Rectangle 321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ectangle 322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ectangle 323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ectangle 324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ectangle 325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ectangle 326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ectangle 327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ectangle 328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ectangle 329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ectangle 330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ectangle 331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ectangle 332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ectangle 333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ectangle 334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ectangle 335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ectangle 336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ounded Rectangle 147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8" name="TextBox 64"/>
          <p:cNvSpPr/>
          <p:nvPr/>
        </p:nvSpPr>
        <p:spPr>
          <a:xfrm>
            <a:off x="3147120" y="1107360"/>
            <a:ext cx="5821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 (Yorumlanan)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TextBox 65"/>
          <p:cNvSpPr/>
          <p:nvPr/>
        </p:nvSpPr>
        <p:spPr>
          <a:xfrm>
            <a:off x="2014560" y="2266200"/>
            <a:ext cx="8709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kodu, doğrudan donanım üzerinde çalıştırılmak yerine ara bir adım üzerinden yürütülür.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Rounded Rectangle 148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ounded Rectangle 149"/>
          <p:cNvSpPr/>
          <p:nvPr/>
        </p:nvSpPr>
        <p:spPr>
          <a:xfrm>
            <a:off x="1020960" y="342432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önce makine koduna değil, Bytecode’a derlenir.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Bytecode, program çalışırken anlık olarak (on the fly) yerel makine talimatlarına çevrilir.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Çevrilen bu talimatlar kalıcı olarak saklanmaz.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model sayesinde: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Geliştirme süreci daha hızlıdır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Derleme ve bağlama (linking) işlemleri hafiftir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Kod analizi ve hata ayıklama daha kolay hale gelir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Rounded Rectangle 150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ounded Rectangle 151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4" name="Rounded Rectangle 152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JVM üzerinden çalışır");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5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Rounded Rectangle 153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Nasıl Çalışır?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Talimatları (çalışma zamanı)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Rectangle 337"/>
          <p:cNvSpPr/>
          <p:nvPr/>
        </p:nvSpPr>
        <p:spPr>
          <a:xfrm>
            <a:off x="17280" y="1800"/>
            <a:ext cx="1342404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ectangle 338"/>
          <p:cNvSpPr/>
          <p:nvPr/>
        </p:nvSpPr>
        <p:spPr>
          <a:xfrm>
            <a:off x="180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9" name="Rectangle 339"/>
          <p:cNvSpPr/>
          <p:nvPr/>
        </p:nvSpPr>
        <p:spPr>
          <a:xfrm>
            <a:off x="100512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ectangle 340"/>
          <p:cNvSpPr/>
          <p:nvPr/>
        </p:nvSpPr>
        <p:spPr>
          <a:xfrm>
            <a:off x="201276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ectangle 341"/>
          <p:cNvSpPr/>
          <p:nvPr/>
        </p:nvSpPr>
        <p:spPr>
          <a:xfrm>
            <a:off x="302040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ectangle 342"/>
          <p:cNvSpPr/>
          <p:nvPr/>
        </p:nvSpPr>
        <p:spPr>
          <a:xfrm>
            <a:off x="402804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3" name="Rectangle 343"/>
          <p:cNvSpPr/>
          <p:nvPr/>
        </p:nvSpPr>
        <p:spPr>
          <a:xfrm>
            <a:off x="503568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ectangle 344"/>
          <p:cNvSpPr/>
          <p:nvPr/>
        </p:nvSpPr>
        <p:spPr>
          <a:xfrm>
            <a:off x="604332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ectangle 345"/>
          <p:cNvSpPr/>
          <p:nvPr/>
        </p:nvSpPr>
        <p:spPr>
          <a:xfrm>
            <a:off x="705096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ectangle 346"/>
          <p:cNvSpPr/>
          <p:nvPr/>
        </p:nvSpPr>
        <p:spPr>
          <a:xfrm>
            <a:off x="805860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ectangle 347"/>
          <p:cNvSpPr/>
          <p:nvPr/>
        </p:nvSpPr>
        <p:spPr>
          <a:xfrm>
            <a:off x="906624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8" name="Rectangle 348"/>
          <p:cNvSpPr/>
          <p:nvPr/>
        </p:nvSpPr>
        <p:spPr>
          <a:xfrm>
            <a:off x="1007424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ectangle 349"/>
          <p:cNvSpPr/>
          <p:nvPr/>
        </p:nvSpPr>
        <p:spPr>
          <a:xfrm>
            <a:off x="1108188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ectangle 350"/>
          <p:cNvSpPr/>
          <p:nvPr/>
        </p:nvSpPr>
        <p:spPr>
          <a:xfrm>
            <a:off x="1208952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ectangle 351"/>
          <p:cNvSpPr/>
          <p:nvPr/>
        </p:nvSpPr>
        <p:spPr>
          <a:xfrm>
            <a:off x="13097160" y="1800"/>
            <a:ext cx="1260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ectangle 352"/>
          <p:cNvSpPr/>
          <p:nvPr/>
        </p:nvSpPr>
        <p:spPr>
          <a:xfrm>
            <a:off x="1800" y="1800"/>
            <a:ext cx="34452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ounded Rectangle 154"/>
          <p:cNvSpPr/>
          <p:nvPr/>
        </p:nvSpPr>
        <p:spPr>
          <a:xfrm>
            <a:off x="10881360" y="401400"/>
            <a:ext cx="220824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TextBox 67"/>
          <p:cNvSpPr/>
          <p:nvPr/>
        </p:nvSpPr>
        <p:spPr>
          <a:xfrm>
            <a:off x="2183400" y="1107720"/>
            <a:ext cx="77446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Yüksek Performans ve Dağıtık Yapı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Box 68"/>
          <p:cNvSpPr/>
          <p:nvPr/>
        </p:nvSpPr>
        <p:spPr>
          <a:xfrm>
            <a:off x="2557440" y="2266920"/>
            <a:ext cx="7621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çekirdek tasarımında performans ve ağ (network) desteğini bir arada sunar.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Rounded Rectangle 155"/>
          <p:cNvSpPr/>
          <p:nvPr/>
        </p:nvSpPr>
        <p:spPr>
          <a:xfrm>
            <a:off x="1086480" y="350748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ounded Rectangle 156"/>
          <p:cNvSpPr/>
          <p:nvPr/>
        </p:nvSpPr>
        <p:spPr>
          <a:xfrm>
            <a:off x="1020600" y="2972880"/>
            <a:ext cx="3619800" cy="347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 (High Performance)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Just-In-Time (JIT) derleme kullanarak yüksek performans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JVM, program çalışırken sık kullanılan Bytecode’u optimize edilmiş yerel makine koduna dönüştürür.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Yaygın JIT optimizasyonları şunlardır: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Metot içe alma (Method inlining)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Ölü kodların kaldırılması (Dead code elimination)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katlama (Constant folding)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Optimize edilmiş metot çağrıları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Zamanla daha hızlı çalışma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Yerel (native) performansa yakın hız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Rounded Rectangle 157"/>
          <p:cNvSpPr/>
          <p:nvPr/>
        </p:nvSpPr>
        <p:spPr>
          <a:xfrm>
            <a:off x="4966560" y="350748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ounded Rectangle 158"/>
          <p:cNvSpPr/>
          <p:nvPr/>
        </p:nvSpPr>
        <p:spPr>
          <a:xfrm>
            <a:off x="8846280" y="350748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0" name="Rounded Rectangle 159"/>
          <p:cNvSpPr/>
          <p:nvPr/>
        </p:nvSpPr>
        <p:spPr>
          <a:xfrm>
            <a:off x="8764560" y="342648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System.out.println("Hızlı ve dağıtık Java uygulamaları");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1" name="TextBox 69"/>
          <p:cNvSpPr/>
          <p:nvPr/>
        </p:nvSpPr>
        <p:spPr>
          <a:xfrm>
            <a:off x="5222160" y="710748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Rounded Rectangle 160"/>
          <p:cNvSpPr/>
          <p:nvPr/>
        </p:nvSpPr>
        <p:spPr>
          <a:xfrm>
            <a:off x="4939200" y="345240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Dağıtık (Distributed);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Java, özellikle İnternet için tasarlanmış dağıtık ortamları destekler.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Yerleşik olarak şu özellikleri sunar: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Ağ iletişimi (Networking)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Uzak metot çağrıları (Remote method calls)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Dağıtık sistemler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uygulamaları, ağ üzerinden kolayca iletişim kurabilir ve birden fazla makinede çalışabilir.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Rectangle 353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ectangle 354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5" name="Rectangle 355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ectangle 356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ectangle 357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ectangle 358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9" name="Rectangle 359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ectangle 360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ectangle 361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ectangle 362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3" name="Rectangle 363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ectangle 364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ectangle 365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ectangle 366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ectangle 367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8" name="Rectangle 368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ounded Rectangle 161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TextBox 70"/>
          <p:cNvSpPr/>
          <p:nvPr/>
        </p:nvSpPr>
        <p:spPr>
          <a:xfrm>
            <a:off x="2409480" y="1107360"/>
            <a:ext cx="7295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Diğer Önemli Özellikleri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TextBox 71"/>
          <p:cNvSpPr/>
          <p:nvPr/>
        </p:nvSpPr>
        <p:spPr>
          <a:xfrm>
            <a:off x="923400" y="2266200"/>
            <a:ext cx="10893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geliştiricilerin temiz, kararlı ve sürdürülebilir programlar yazmasına yardımcı olan birçok benzersiz özellik sunar.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Rounded Rectangle 162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3" name="Rounded Rectangle 163"/>
          <p:cNvSpPr/>
          <p:nvPr/>
        </p:nvSpPr>
        <p:spPr>
          <a:xfrm>
            <a:off x="1020960" y="2743200"/>
            <a:ext cx="3620160" cy="422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Basit ve Öğrenmesi Kolay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açık ve okunabilir bir sözdizimine sahiptir.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Pointer (işaretçi) gibi karmaşık yapılar kaldırıldığı için, özellikle yeni başlayanlar için öğrenmesi daha kolaydır..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Tip Denetimi (Strongly Typed)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değişkenin tanımlı bir veri tipi vardır.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hatalar çalışma zamanında değil, derleme zamanında tespit edilir.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bellek yönetimini Garbage Collection kullanarak otomatik olarak yapar.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Geliştiricilerin belleği manuel olarak serbest bırakmasına gerek yoktur.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Çoklu İş Parçacığı Desteği (Multithreading)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çoklu iş parçacığı desteği sunar.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programlar aynı anda birden fazla görevi yerine getirebilir.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Zengin Standart Kütüphane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Java; koleksiyonlar, dosya işlemleri, ağ programlama ve daha fazlası için geniş bir yerleşik kütüphane seti sunar.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Rounded Rectangle 164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ounded Rectangle 165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6" name="Rounded Rectangle 166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güçlü tip sistemi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kolay ve güçlüdür");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7" name="TextBox 7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Rounded Rectangle 167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Basit Sözdizimi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Öğrenmesi Kolay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Güçlü Tip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Otomatik Bellek Yönetimi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Çoklu İş Parçacığı Desteği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Zengin Standart Kütüphane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Temiz ve Sürdürülebilir Java Programları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Rectangle 369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0" name="Rectangle 370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1" name="Rectangle 371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2" name="Rectangle 372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3" name="Rectangle 373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ectangle 374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5" name="Rectangle 375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ectangle 376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7" name="Rectangle 377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ectangle 378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9" name="Rectangle 379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0" name="Rectangle 380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1" name="Rectangle 381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ectangle 382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ectangle 383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4" name="Rectangle 384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ounded Rectangle 168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6" name="TextBox 73"/>
          <p:cNvSpPr/>
          <p:nvPr/>
        </p:nvSpPr>
        <p:spPr>
          <a:xfrm>
            <a:off x="2998440" y="1107360"/>
            <a:ext cx="61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Üst Düzey Bir Karşılaştırma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TextBox 74"/>
          <p:cNvSpPr/>
          <p:nvPr/>
        </p:nvSpPr>
        <p:spPr>
          <a:xfrm>
            <a:off x="1414440" y="2266200"/>
            <a:ext cx="9910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Java ve C++ arasındaki temel farkları,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tasarım felsefeleri, çalışma (execution) modelleri ve geliştirici deneyimleri üzerinden karşılaştırarak tanıtır.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Rounded Rectangle 169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9" name="Rounded Rectangle 170"/>
          <p:cNvSpPr/>
          <p:nvPr/>
        </p:nvSpPr>
        <p:spPr>
          <a:xfrm>
            <a:off x="1018440" y="3053160"/>
            <a:ext cx="3620160" cy="3803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 üzerinde çalışır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bağımsızdır (Bir kez yaz, her yerde çalıştır)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sağlar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taşınabilirlik ve sürdürülebilirliğe odaklanır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Kurumsal uygulamalar, web ve bulut sistemlerinde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yerel (native) makine koduna derlenir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bağımlıdır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Manuel bellek yönetimi gerektirir (pointer’lar, bellek ayırma)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 ve düşük seviye kontrol sunar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Sistem yazılımları, oyun motorları ve gömülü sistemlerde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Rounded Rectangle 171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1" name="Rounded Rectangle 172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2" name="Rounded Rectangle 173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güçlü tip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karmaşıklığı gizler"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3" name="TextBox 7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Rounded Rectangle 174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→ Bytecode → JVM → Herhangi Bir İşletim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C++ Kaynak Kodu → Yerel (Native) Kod → Belirli Bir İşletim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Rectangle 385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6" name="Rectangle 386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7" name="Rectangle 387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8" name="Rectangle 388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9" name="Rectangle 389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0" name="Rectangle 390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1" name="Rectangle 391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2" name="Rectangle 392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3" name="Rectangle 393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4" name="Rectangle 394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5" name="Rectangle 395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6" name="Rectangle 396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7" name="Rectangle 397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8" name="Rectangle 398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9" name="Rectangle 399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0" name="Rectangle 400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1" name="Rounded Rectangle 175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" name="TextBox 76"/>
          <p:cNvSpPr/>
          <p:nvPr/>
        </p:nvSpPr>
        <p:spPr>
          <a:xfrm>
            <a:off x="1464120" y="1107360"/>
            <a:ext cx="91857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Avantajlar ve Dezavantajlar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TextBox 77"/>
          <p:cNvSpPr/>
          <p:nvPr/>
        </p:nvSpPr>
        <p:spPr>
          <a:xfrm>
            <a:off x="3937320" y="2266200"/>
            <a:ext cx="48636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Java ve C++ arasındaki temel farkları;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tasarım felsefeleri, çalışma (execution) modeli ve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 deneyimi üzerinden karşılaştırarak tanıtır.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Rounded Rectangle 176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5" name="Rounded Rectangle 177"/>
          <p:cNvSpPr/>
          <p:nvPr/>
        </p:nvSpPr>
        <p:spPr>
          <a:xfrm>
            <a:off x="1020960" y="3506040"/>
            <a:ext cx="3620160" cy="289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– Avantajlar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bağımsızdır (Bir kez yaz, her yerde çalıştır)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(Garbage Collection)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çalışma (pointer yok, JVM güvenlik kontrolleri)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Öğrenmesi ve okunması daha kolay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Zengin standart kütüphane ve framework ekosistemi</a:t>
            </a:r>
            <a:br>
              <a:rPr sz="1100"/>
            </a:b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Büyük, uzun ömürlü ve kurumsal sistemler için idealdir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– Dezavantajlar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Bazı durumlarda yerel (native) C++’a göre biraz daha yavaştır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Donanım ve bellek üzerinde daha az kontrol sunar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ek yükü (başlangıç süresi, bellek kullanımı)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" name="Rounded Rectangle 178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7" name="Rounded Rectangle 179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8" name="Rounded Rectangle 180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class JavaApp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güvenlik ve taşınabilirliğe odaklanır");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9" name="TextBox 7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Rounded Rectangle 181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Problem Türü?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Taşınabilirlik gerekli mi?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(Java her yerde çalışır)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Maksimum performans gerekli mi?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(Düşük seviyeli kontrol)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Güvenlik ve sürdürülebilirlik gerekli mi?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Rectangle 401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2" name="Rectangle 402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3" name="Rectangle 403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4" name="Rectangle 404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5" name="Rectangle 405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6" name="Rectangle 406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7" name="Rectangle 407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8" name="Rectangle 408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9" name="Rectangle 409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0" name="Rectangle 410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1" name="Rectangle 411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2" name="Rectangle 412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3" name="Rectangle 413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4" name="Rectangle 414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5" name="Rectangle 415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6" name="Rectangle 416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7" name="Rounded Rectangle 182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8" name="TextBox 79"/>
          <p:cNvSpPr/>
          <p:nvPr/>
        </p:nvSpPr>
        <p:spPr>
          <a:xfrm>
            <a:off x="1464120" y="1107360"/>
            <a:ext cx="91857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Avantajlar ve Dezavantajlar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TextBox 80"/>
          <p:cNvSpPr/>
          <p:nvPr/>
        </p:nvSpPr>
        <p:spPr>
          <a:xfrm>
            <a:off x="3937320" y="2266200"/>
            <a:ext cx="48636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Java ve C++ arasındaki temel farkları;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tasarım felsefeleri, çalışma (execution) modeli ve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 deneyimi üzerinden karşılaştırarak tanıtır.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Rounded Rectangle 183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1" name="Rounded Rectangle 184"/>
          <p:cNvSpPr/>
          <p:nvPr/>
        </p:nvSpPr>
        <p:spPr>
          <a:xfrm>
            <a:off x="1020960" y="3506040"/>
            <a:ext cx="3620160" cy="289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Avantajlar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Çok yüksek performans (yerel / native çalışma)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Bellek ve donanım üzerinde tam kontrol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Sanal makine ek yükü yoktur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Sistem seviyesinde ve performans kritik yazılımlar için idealdir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Oyun motorları ve gömülü sistemlerde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bağımlıdır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Manuel bellek yönetimi (bellek sızıntısı riski)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Daha karmaşık sözdizimi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Öğrenmesi ve bakımı daha zordur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(runtime) hatası ihtimali daha yüksektir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2" name="Rounded Rectangle 185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3" name="Rounded Rectangle 186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4" name="Rounded Rectangle 187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#include &lt;iostream&gt;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using namespace std;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 main()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cout &lt;&lt; "C++ performans ve kontrol odaklıdır";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0;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" name="TextBox 8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Rounded Rectangle 188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Uygulama Gereksinimi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Maksimum performans gerekli mi?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Düşük seviyeli bellek kontrolü gerekli mi?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Sistem / Oyun / Gömülü Sistem mi?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Rectangle 417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8" name="Rectangle 418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9" name="Rectangle 419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0" name="Rectangle 420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1" name="Rectangle 421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2" name="Rectangle 422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3" name="Rectangle 423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4" name="Rectangle 424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5" name="Rectangle 425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6" name="Rectangle 426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7" name="Rectangle 427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8" name="Rectangle 428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9" name="Rectangle 429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0" name="Rectangle 430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1" name="Rectangle 431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2" name="Rectangle 432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3" name="Rounded Rectangle 189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4" name="TextBox 82"/>
          <p:cNvSpPr/>
          <p:nvPr/>
        </p:nvSpPr>
        <p:spPr>
          <a:xfrm>
            <a:off x="2115720" y="1107360"/>
            <a:ext cx="7883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mı C++ mı Ne Zaman Seçilmeli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TextBox 83"/>
          <p:cNvSpPr/>
          <p:nvPr/>
        </p:nvSpPr>
        <p:spPr>
          <a:xfrm>
            <a:off x="975960" y="2266200"/>
            <a:ext cx="10786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Doğru programlama dilini seçmek; performans ihtiyaçlarına, taşınabilirliğe ve uzun vadeli sürdürülebilirliğe bağlıdır.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Rounded Rectangle 190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7" name="Rounded Rectangle 191"/>
          <p:cNvSpPr/>
          <p:nvPr/>
        </p:nvSpPr>
        <p:spPr>
          <a:xfrm>
            <a:off x="1020960" y="3506040"/>
            <a:ext cx="3619800" cy="289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Programlama dilleri farklı amaçlar için tasarlanır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taşınabilirlik, güvenlik ve sürdürülebilirliği önceliklendirir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C++, performans ve düşük seviyeli kontrolü önceliklendirir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 seçim, popülerliğe değil problem alanına bağlıdır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iyi dil” yoktur — iş için doğru araç vardır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8" name="Rounded Rectangle 192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9" name="Rounded Rectangle 193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0" name="Rounded Rectangle 194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Java: Güvenlik ve taşınabilirliğe odaklanır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ChoiceExample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System.out.println("Ölçeklenebilir ve sürdürülebilir sistemler için Java’yı seçin");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1" name="TextBox 8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Rounded Rectangle 195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Ana hedefin nedir?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Taşınabilirlik ve uzun vadeli bakım mı gerekiyor?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EVET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Maksimum performans ve donanım kontrolü mü gerekiyor?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EVET → 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Güvenlik, ölçeklenebilirlik ve kurumsal destek mi gerekiyor?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EVET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Rectangle 433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4" name="Rectangle 434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5" name="Rectangle 435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6" name="Rectangle 436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7" name="Rectangle 437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8" name="Rectangle 438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9" name="Rectangle 439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0" name="Rectangle 440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1" name="Rectangle 441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2" name="Rectangle 442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3" name="Rectangle 443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4" name="Rectangle 444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5" name="Rectangle 445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6" name="Rectangle 446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7" name="Rectangle 447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8" name="Rectangle 448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9" name="Rounded Rectangle 196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0" name="TextBox 85"/>
          <p:cNvSpPr/>
          <p:nvPr/>
        </p:nvSpPr>
        <p:spPr>
          <a:xfrm>
            <a:off x="1622520" y="1107360"/>
            <a:ext cx="88711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Soyutlama Seviyesi: Java ve C++ Ne Saklar, Ne Açığa Çıkarır?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TextBox 86"/>
          <p:cNvSpPr/>
          <p:nvPr/>
        </p:nvSpPr>
        <p:spPr>
          <a:xfrm>
            <a:off x="4900680" y="2266200"/>
            <a:ext cx="2936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Aynı sistem, farklı bakış açıları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Rounded Rectangle 197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3" name="Rounded Rectangle 198"/>
          <p:cNvSpPr/>
          <p:nvPr/>
        </p:nvSpPr>
        <p:spPr>
          <a:xfrm>
            <a:off x="1020960" y="3506040"/>
            <a:ext cx="3619800" cy="289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Soyutlama (Abstraction) Nedir?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Soyutlama, karmaşıklığın gizlenmesidir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 ne yaptığını yazar, nasıl yapıldığını değil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Ama her dil aynı seviyede soyutlama sunmaz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Buradaki kritik fark: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sistemi saklar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C++ sistemi açığa çıkarı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4" name="Rounded Rectangle 199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5" name="Rounded Rectangle 200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6" name="Rounded Rectangle 201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JAVA İÇİN: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new int[5];</a:t>
            </a:r>
            <a:br>
              <a:rPr sz="2100"/>
            </a:b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C++ İÇİN:</a:t>
            </a:r>
            <a:br>
              <a:rPr sz="2100"/>
            </a:b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int* numbers = new int[5];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// bellek sorumluluğu geliştiricide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7" name="TextBox 8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Rounded Rectangle 202"/>
          <p:cNvSpPr/>
          <p:nvPr/>
        </p:nvSpPr>
        <p:spPr>
          <a:xfrm>
            <a:off x="4968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Geliştirici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JVM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Donanım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6668280" y="3657600"/>
            <a:ext cx="1104120" cy="251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Geliştirici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Donanım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Rectangle 449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1" name="Rectangle 450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2" name="Rectangle 451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3" name="Rectangle 452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4" name="Rectangle 453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5" name="Rectangle 454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6" name="Rectangle 455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7" name="Rectangle 456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8" name="Rectangle 457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9" name="Rectangle 458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0" name="Rectangle 459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1" name="Rectangle 460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2" name="Rectangle 461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3" name="Rectangle 462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4" name="Rectangle 463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5" name="Rectangle 464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6" name="Rounded Rectangle 203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7" name="TextBox 88"/>
          <p:cNvSpPr/>
          <p:nvPr/>
        </p:nvSpPr>
        <p:spPr>
          <a:xfrm>
            <a:off x="449280" y="1107360"/>
            <a:ext cx="1121832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Java’yı Anlamak = Doğru Soyutlama ile Düşünmek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TextBox 89"/>
          <p:cNvSpPr/>
          <p:nvPr/>
        </p:nvSpPr>
        <p:spPr>
          <a:xfrm>
            <a:off x="4470120" y="2266200"/>
            <a:ext cx="3797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Dil öğrenmek değil, yaklaşım kazanmak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Rounded Rectangle 204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0" name="Rounded Rectangle 205"/>
          <p:cNvSpPr/>
          <p:nvPr/>
        </p:nvSpPr>
        <p:spPr>
          <a:xfrm>
            <a:off x="1020960" y="3506040"/>
            <a:ext cx="3619800" cy="289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Bu Bölümde Ne Kazandık?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neden var olduğunu gördük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ne çözmeye çalıştığını anladık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Dilin arkasındaki tasarım felsefesini öğrendik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bir “kod dili” değil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düşünme biçimidir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1" name="Rounded Rectangle 206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2" name="Rounded Rectangle 207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3" name="Rounded Rectangle 208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System.out.println("Java, karmaşıklığı azaltmak için vardır.");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4" name="TextBox 9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Rounded Rectangle 209"/>
          <p:cNvSpPr/>
          <p:nvPr/>
        </p:nvSpPr>
        <p:spPr>
          <a:xfrm>
            <a:off x="4968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Problem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Soyutlama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Sınıf &amp; Nesne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Güvenli Çalışma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Sürdürülebilir Sistem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2026-01-22T18:48:38Z</dcterms:modified>
  <cp:revision>127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