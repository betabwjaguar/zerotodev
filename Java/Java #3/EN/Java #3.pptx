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58724F3-BC73-4E0D-9A33-88F2583FE9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2DE894-8EF7-4026-85D3-5AB8C96EB3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E13C5D-9446-4510-A2D9-5C8711EACD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78B7F16-A8EE-47A5-8F59-3C672B4E2D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962075-E643-471B-A148-0E9DAD12839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B2046B7-F0DC-4AF4-A9ED-5E1EA11317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DAD869-99B1-4F50-A6AB-BADBB5628D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E75276-4CA6-40E9-A2D0-86C2B42530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68F1C75-D81C-472C-86FB-A354592283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ECE0781-7897-4051-9D2A-45290AA357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D21FB77-94FB-4CA3-9CAD-80B22018F2D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8E9FA3E-D2BA-4263-821E-4114695DF27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979BC3F-B1E3-41D2-A0FE-E4385D2AA93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7720774-B746-46FB-A8A6-CF2027CCE9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0FAEA69-F701-47C7-9D75-B2F68326E0B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D8F221A-C391-4CC9-AA65-CF029C9E8BC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EFCEDC3-E113-4855-8357-51139F35A5F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586A6FA-0044-48E0-B3C5-70396A59A4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570638-BE86-4082-BC68-3B42E56A471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D485520-3514-4328-A883-7E38894462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AD8A430-7635-4D87-AD46-C0A4E695B0E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1CD776-91A6-4E28-AFEA-BF9F1B90604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4F6A750-A42F-4966-BBA8-8997E7F9FDD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A5C5E21-B6D5-421B-9CC1-29720199E6C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173175-4818-4DDA-9F18-D0385F99829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D551DC0-742B-44DC-9C0E-AEA93B17A8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76FE441-5C2B-4401-8619-953CAF5DCB2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48196B-B30E-45C1-9A0C-383898902C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2B146C3-FDD4-4203-BE05-F6EF4A5B223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6B4E659-7C6A-4EC5-ADF6-B6F0A7F5FE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3472225-79E6-48E6-9281-EAFC70574B7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AA11507-4559-440A-AE81-554ACF69B2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C09C05C-7917-4F1E-9C0F-12D9C68869F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F23C39D-60CC-4B8C-B7CD-150EB4D489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C610AD5-9086-42BA-BCD5-4DB3CABC978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6F4DF7E-3BD1-49B4-BB5B-71837C4E2D9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D0F4C5B-46D1-4EF3-89F3-EB412675A6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36EA5F4-20D4-4E4E-8616-7C79B4F1D9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47F4731-620A-41A1-B095-0BB0A770B9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7512B44-27C6-4171-B147-FD31574597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ED0BB21-6E53-42B7-B45F-88765A9E164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59686A3-2687-487D-A577-326D85F6A92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E9E3F07-4986-41A5-BE4B-7C598FDC1A3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0E659B2-DBFD-4C58-BEF1-2FD1B970EE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0820695-6005-4F72-B26E-39CF8D79942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9726899-8835-431A-BF68-81C5C2662A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647DD80-C0D1-45CB-BB79-3948F7A2CDA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8039926-53D2-4B71-9D81-8C5DBA85DCE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421C9AC-9994-4088-B7A4-7192DDBD0AC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11B30CF-F299-44B9-940C-0D006C358E3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7638499-080B-449E-A6B2-59A5FCD7CE0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8BF234-3FE4-4B49-B24F-5AEC2DDC475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72B46DB-7048-4DAA-BC57-43393AF3EB6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328E03D-B1DC-4CEF-8C02-F9F212E52E9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2226266-02C1-4282-B342-AAC83A8C9A4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65C80FB1-F949-466E-AAD0-9F94F3EEDA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B84B7D3-2B6F-4022-B729-49E5969201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19B5F2-B590-4848-8053-6404BC7401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552F159-D0D6-4981-91E8-70CD4EFC114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155AF56-4CDD-470B-A0AA-8DB4A9A84F1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B6D4A97-A6D9-4BC7-A2A4-32401E4F420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6FAC3AF-30DF-4BE1-ABB1-D1D4C3FFBF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8F4770D8-06AF-48DE-AD23-5DD82C8C8F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734269B-A9BB-40E7-9262-C5B4A5633D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6D2E5F8-FCB0-440A-88CB-20EC9030BC3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7E1836D-A650-47EE-A337-22F0396B94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D6D2604-C0B9-4E72-B141-FE68067BD2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805896E-215A-42B1-811B-59C9E687BC0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F4E8E72-6523-45A3-9A46-659D749AB71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F1A0B6B-10FE-42A0-9EBB-41958A4A3A3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258A3A8-D523-4BEC-B8C7-BCA24E2CBA3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FF60010-9565-4794-B777-B9E030FBFF9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023FC46-C98F-401B-AA89-D1F1E964FE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053D4D0-C2EC-4B6E-95C3-3771E462A2A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0B3FDAB-74A3-4841-A062-E2B12C1FFE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2283137-2BB2-4C74-86C7-44F3E588935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55F9C94-14C2-4886-B8BD-12860DF845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91BB3F1-73DA-4E74-BFA4-A078E926B3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EEA2784-2030-4269-8C02-08A37F2020B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16DA4B5-15D7-40A9-A0E5-BB1F78B117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7EC33C5-8CAA-4126-9701-B400B25F7F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829176E-9DD1-418C-8495-3F3E0A29D0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51F5E5A-7467-453C-BD30-58CA6A7A98B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FD05003-8E4A-450E-A5F1-67C076D7E9D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29B8480-BFEF-4BA2-A6C0-695E45CA405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41EC35B-C440-4F22-8A67-4E7F6A7B8E8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1621A54-735F-4BD5-922E-F5294191C04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A57BC02-C1F8-499F-A636-0811D55E1C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BBDE2F3-977C-4BB3-9B27-599163AD13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11FA297-04CE-447C-9E6D-E666D808D3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630127A-9AED-4485-B94A-18A4A03B35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14B6AAE-0A8D-44CD-96FF-7142730CF8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58B938C-D217-4159-A2F5-F08B5454423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7BA9382-0488-4A22-8B5C-0699D654F1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1AB08D1-2E99-41EE-A1D7-F2767B65DAF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5998765-CB42-4730-A7BC-4617DAD662C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2C3E8AF-2E3D-43C3-B4C2-189F9B4D5D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854B00C-AA7F-4E05-87EF-A0DCF831D70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E9D7A57-EA05-4D84-AD42-9E89AC4EEF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561C726-F39C-418E-9F70-691A5B4F28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B4ED740-B640-49F9-9FAE-ED88D3C2150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2306E16-8B3E-4284-8DDD-2CC21250651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7F42206-5BA1-4506-A556-C1FECB7E636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97672E8-A6C4-48F8-954B-EC4918DD5D8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EF91D00-F7DA-4A78-A9F5-0FFB9F1E743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B8519AB-7511-4436-90D4-4CB4CEF5A4D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059635A-0EC9-4CCE-92C0-A043BB0FD59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8587C21-FF21-4893-9699-B0D9ADAA8E4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10F1985-919E-4B5E-A38E-985BE03A821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784496-043D-4DBB-86CB-DF67C7FBB7E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8088B54-ACFD-421C-ADE9-EDFC7C12C2F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1E62CEE-8A7C-4584-925C-3B634EA1DF7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5B3EBE-4066-4146-A861-960A2D4542A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67F5F9B-7E45-480F-8536-B0397EA80C5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AC65FE-DA3A-4F63-B09D-AD13BF54055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9AF1B8B-5F31-4898-91BD-1BF5BEE0AB3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5472C9C-5C99-4EA5-A163-048D7EF7733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Rectangle 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ounded Rectangle 17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" name="TextBox 18"/>
          <p:cNvSpPr/>
          <p:nvPr/>
        </p:nvSpPr>
        <p:spPr>
          <a:xfrm>
            <a:off x="3340800" y="1005840"/>
            <a:ext cx="4289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TextBox 19"/>
          <p:cNvSpPr/>
          <p:nvPr/>
        </p:nvSpPr>
        <p:spPr>
          <a:xfrm>
            <a:off x="1470960" y="2057400"/>
            <a:ext cx="9501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Variables are named memory locations used to store data 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every variable must have a specific data type that defines what kind of data it can store.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Rounded Rectangle 20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21"/>
          <p:cNvSpPr/>
          <p:nvPr/>
        </p:nvSpPr>
        <p:spPr>
          <a:xfrm>
            <a:off x="914400" y="3108960"/>
            <a:ext cx="328788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Definition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is a named memory location used to store data.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Requirement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every variable must be declared with a specific data type.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type determines the type of value and the memory size.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Example Data Types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example, int stores whole numbers, double stores decimals, and String stores text.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Flexibility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allow programs to store and modify data during execution.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22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23"/>
          <p:cNvSpPr/>
          <p:nvPr/>
        </p:nvSpPr>
        <p:spPr>
          <a:xfrm>
            <a:off x="443484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(data type + name)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(print / calculate)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Rounded Rectangle 24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25"/>
          <p:cNvSpPr/>
          <p:nvPr/>
        </p:nvSpPr>
        <p:spPr>
          <a:xfrm>
            <a:off x="7955280" y="3108960"/>
            <a:ext cx="347184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VariableExample{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br>
              <a:rPr sz="1400"/>
            </a:b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Rectangle 3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3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3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3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3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3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3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3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4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4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4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4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4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4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4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4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ounded Rectangle 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0" name="TextBox 4"/>
          <p:cNvSpPr/>
          <p:nvPr/>
        </p:nvSpPr>
        <p:spPr>
          <a:xfrm>
            <a:off x="2652120" y="1005840"/>
            <a:ext cx="5667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5"/>
          <p:cNvSpPr/>
          <p:nvPr/>
        </p:nvSpPr>
        <p:spPr>
          <a:xfrm>
            <a:off x="712800" y="2057400"/>
            <a:ext cx="11018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classified based on where they are declared and how they are used within a class or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ounded Rectangle 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10"/>
          <p:cNvSpPr/>
          <p:nvPr/>
        </p:nvSpPr>
        <p:spPr>
          <a:xfrm>
            <a:off x="826200" y="2925720"/>
            <a:ext cx="3391560" cy="370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are declared inside a method, constructor, or block. They can only be accessed within that specific method or block where they are created.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variables are declared inside a class but outside methods. Each object of the class has its own copy of these variables.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variables are declared using the static keyword. They belong to the class itself and are shared among all objects of that class.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1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12"/>
          <p:cNvSpPr/>
          <p:nvPr/>
        </p:nvSpPr>
        <p:spPr>
          <a:xfrm>
            <a:off x="4434840" y="3108960"/>
            <a:ext cx="3287880" cy="306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Method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Rounded Rectangle 1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14"/>
          <p:cNvSpPr/>
          <p:nvPr/>
        </p:nvSpPr>
        <p:spPr>
          <a:xfrm>
            <a:off x="7955280" y="3108960"/>
            <a:ext cx="347184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VariableTypes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instanceVar = 10;        // instance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staticVar = 20;   // static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showVariables()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localVar = 30;       // local variable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System.out.println(localVar);        System.out.println(instanceVar);        System.out.println(staticVar);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Rectangle 160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161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162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163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164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165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166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167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168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169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170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171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172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173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174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175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ounded Rectangle 71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2074320" y="685800"/>
            <a:ext cx="6841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 EXAMPLE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Box 32"/>
          <p:cNvSpPr/>
          <p:nvPr/>
        </p:nvSpPr>
        <p:spPr>
          <a:xfrm>
            <a:off x="2312280" y="1679400"/>
            <a:ext cx="63738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programs use different variable types together.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Each type has a different scope and lifetime.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Local variables exist in methods, I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nstance variables belong to objects, and static variables belong to the class.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Rounded Rectangle 72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73"/>
          <p:cNvSpPr/>
          <p:nvPr/>
        </p:nvSpPr>
        <p:spPr>
          <a:xfrm>
            <a:off x="685800" y="2971800"/>
            <a:ext cx="35186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Kapsamı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 (Local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Sadece bir metod içinde bulunur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başladığında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bittiğinde yok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 (Instance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nesneye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nesnenin kendine ait kopyası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(Static Variable)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Tüm nesneler tarafından paylaşılır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kendisine aittir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74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75"/>
          <p:cNvSpPr/>
          <p:nvPr/>
        </p:nvSpPr>
        <p:spPr>
          <a:xfrm>
            <a:off x="4434840" y="3108960"/>
            <a:ext cx="32900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 (shared)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Call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Rounded Rectangle 76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77"/>
          <p:cNvSpPr/>
          <p:nvPr/>
        </p:nvSpPr>
        <p:spPr>
          <a:xfrm>
            <a:off x="7955280" y="2971800"/>
            <a:ext cx="370260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university = "Tech University"; // static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studentName; // instance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showInfo()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year = 2; // local variable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System.out.println(studentName);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System.out.println(university);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System.out.println(year);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VariableDemo s1 = new VariableDemo();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s1.studentName = "Tuna";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s1.showInfo();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Rectangle 144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145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146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147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148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149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150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151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152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153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154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155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156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157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158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159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ounded Rectangle 64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2" name="TextBox 28"/>
          <p:cNvSpPr/>
          <p:nvPr/>
        </p:nvSpPr>
        <p:spPr>
          <a:xfrm>
            <a:off x="3228120" y="1005840"/>
            <a:ext cx="4515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Box 29"/>
          <p:cNvSpPr/>
          <p:nvPr/>
        </p:nvSpPr>
        <p:spPr>
          <a:xfrm>
            <a:off x="2229120" y="2194560"/>
            <a:ext cx="6512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Data types define what kind of value a variable can store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Every variable must have a specific data type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Rounded Rectangle 65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66"/>
          <p:cNvSpPr/>
          <p:nvPr/>
        </p:nvSpPr>
        <p:spPr>
          <a:xfrm>
            <a:off x="685800" y="3108960"/>
            <a:ext cx="35182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specify the type of data stored in a variable.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has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two main data type categories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simple values directly in memory.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Store references to objects.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Examples: String, Arrays, Classes.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67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68"/>
          <p:cNvSpPr/>
          <p:nvPr/>
        </p:nvSpPr>
        <p:spPr>
          <a:xfrm>
            <a:off x="4434840" y="3108960"/>
            <a:ext cx="328968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Non-Primitive Types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Rounded Rectangle 69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70"/>
          <p:cNvSpPr/>
          <p:nvPr/>
        </p:nvSpPr>
        <p:spPr>
          <a:xfrm>
            <a:off x="7955280" y="3108960"/>
            <a:ext cx="3702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DataTypesExample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salary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Rectangle 48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49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50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51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52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53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54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55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56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57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58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59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60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61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62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63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ounded Rectangle 1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TextBox 7"/>
          <p:cNvSpPr/>
          <p:nvPr/>
        </p:nvSpPr>
        <p:spPr>
          <a:xfrm>
            <a:off x="1629000" y="1005840"/>
            <a:ext cx="7714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   </a:t>
            </a: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PRIMITIVE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TextBox 8"/>
          <p:cNvSpPr/>
          <p:nvPr/>
        </p:nvSpPr>
        <p:spPr>
          <a:xfrm>
            <a:off x="1870560" y="1846080"/>
            <a:ext cx="72892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data types are the basic data types in Java used to store simple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values such as numbers, characters, and boolean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Rounded Rectangle 1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8"/>
          <p:cNvSpPr/>
          <p:nvPr/>
        </p:nvSpPr>
        <p:spPr>
          <a:xfrm>
            <a:off x="685800" y="2743200"/>
            <a:ext cx="351648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provides numeric data types such as byte, short, int, long, float, and double to store different kinds of numbers.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char data type is used to store a single character based on the Unicode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boolean data type represents logical values and can only store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Memory Efficiency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stored directly in memory and are faster and more memory-efficient than reference types.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9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26"/>
          <p:cNvSpPr/>
          <p:nvPr/>
        </p:nvSpPr>
        <p:spPr>
          <a:xfrm>
            <a:off x="4343400" y="2743200"/>
            <a:ext cx="337932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Numeric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Character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 Type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ounded Rectangle 27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28"/>
          <p:cNvSpPr/>
          <p:nvPr/>
        </p:nvSpPr>
        <p:spPr>
          <a:xfrm>
            <a:off x="7955280" y="2971800"/>
            <a:ext cx="370044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grade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isStudent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      System.out.println(grade);    System.out.println(isStudent);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Rectangle 80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81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82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83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84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85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86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87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88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89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90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91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92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93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94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95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ounded Rectangle 3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TextBox 13"/>
          <p:cNvSpPr/>
          <p:nvPr/>
        </p:nvSpPr>
        <p:spPr>
          <a:xfrm>
            <a:off x="2400480" y="1005840"/>
            <a:ext cx="6170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REFERENCE DATA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14"/>
          <p:cNvSpPr/>
          <p:nvPr/>
        </p:nvSpPr>
        <p:spPr>
          <a:xfrm>
            <a:off x="2493720" y="2194560"/>
            <a:ext cx="59832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data types store references (memory addresses)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to objects rather than the actual values.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Rounded Rectangle 3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38"/>
          <p:cNvSpPr/>
          <p:nvPr/>
        </p:nvSpPr>
        <p:spPr>
          <a:xfrm>
            <a:off x="685800" y="3108960"/>
            <a:ext cx="351684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Object-Based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represent objects created from classes.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Memory Reference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store the memory address of the object instead of the actual data.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Common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Examples include String, arrays, classes, and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Flexible Structure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allow storing complex data structures and multiple values.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3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40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Classes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Rounded Rectangle 4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42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ReferenceExample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ectangle 64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65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66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67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68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69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70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71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72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73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74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75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76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77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78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79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ounded Rectangle 2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0" name="TextBox 10"/>
          <p:cNvSpPr/>
          <p:nvPr/>
        </p:nvSpPr>
        <p:spPr>
          <a:xfrm>
            <a:off x="1342800" y="1005840"/>
            <a:ext cx="828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PRIMITIVE VS REFERENCE TYPES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TextBox 11"/>
          <p:cNvSpPr/>
          <p:nvPr/>
        </p:nvSpPr>
        <p:spPr>
          <a:xfrm>
            <a:off x="1143000" y="2057400"/>
            <a:ext cx="9273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data types are divided into primitive types and reference types.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Primitive types store actual values, while reference types store memory addresses of objects.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Rounded Rectangle 3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31"/>
          <p:cNvSpPr/>
          <p:nvPr/>
        </p:nvSpPr>
        <p:spPr>
          <a:xfrm>
            <a:off x="457200" y="2971800"/>
            <a:ext cx="37454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store the actual value directly in memory. Examples include int, double, char, and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 store the memory address of an object. Examples include String, arrays, and class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Storage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values are stored directly, while reference types point to objects in memory.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Usage Difference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 are used for simple values, while reference types handle complex data and objects.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3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33"/>
          <p:cNvSpPr/>
          <p:nvPr/>
        </p:nvSpPr>
        <p:spPr>
          <a:xfrm>
            <a:off x="4343400" y="2971800"/>
            <a:ext cx="3426480" cy="328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Data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Arrays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3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35"/>
          <p:cNvSpPr/>
          <p:nvPr/>
        </p:nvSpPr>
        <p:spPr>
          <a:xfrm>
            <a:off x="7955280" y="3108960"/>
            <a:ext cx="3700800" cy="306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      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    // primitive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"Java";    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numbers = {1, 2, 3}; // reference type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System.out.println(numbers[0]);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Rectangle 96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97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98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99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00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01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02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03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04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05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06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07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08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09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10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11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ounded Rectangle 43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6" name="TextBox 16"/>
          <p:cNvSpPr/>
          <p:nvPr/>
        </p:nvSpPr>
        <p:spPr>
          <a:xfrm>
            <a:off x="2108520" y="1005840"/>
            <a:ext cx="6754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NAMING RULES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17"/>
          <p:cNvSpPr/>
          <p:nvPr/>
        </p:nvSpPr>
        <p:spPr>
          <a:xfrm>
            <a:off x="2305080" y="1826640"/>
            <a:ext cx="6504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naming rules specify how variables should be written 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to ensure valid and readable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Rounded Rectangle 44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45"/>
          <p:cNvSpPr/>
          <p:nvPr/>
        </p:nvSpPr>
        <p:spPr>
          <a:xfrm>
            <a:off x="475560" y="2514600"/>
            <a:ext cx="3727440" cy="3884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Letter, _ or $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name must start with a letter, underscore _, or dollar sign $.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 Allowed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cannot contain spaces.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variable names are case sensitive (age and Age are different).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Use Keywords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reserved keywords such as int, class, or public cannot be used as variable names.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Meaningful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names should be meaningful and descriptive to improve code readability.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46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47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Name Rules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Start with letter / _ / $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 spaces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Case sensitive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Not a keyword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meaningful names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Rounded Rectangle 48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49"/>
          <p:cNvSpPr/>
          <p:nvPr/>
        </p:nvSpPr>
        <p:spPr>
          <a:xfrm>
            <a:off x="7955280" y="2514600"/>
            <a:ext cx="3701160" cy="3407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VariableNaming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         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studentCount = 30; // valid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2age = 20;      // invalid (cannot start with number)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student age = 5; // invalid (space not allowed)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// invalid (keyword)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 System.out.println(studentCount);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Rectangle 112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113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114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15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16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17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18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19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20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21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22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23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24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25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26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27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ounded Rectangle 50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2" name="TextBox 21"/>
          <p:cNvSpPr/>
          <p:nvPr/>
        </p:nvSpPr>
        <p:spPr>
          <a:xfrm>
            <a:off x="2159640" y="1005840"/>
            <a:ext cx="6652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VARIABLE INITIALIZATION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Box 22"/>
          <p:cNvSpPr/>
          <p:nvPr/>
        </p:nvSpPr>
        <p:spPr>
          <a:xfrm>
            <a:off x="2057400" y="2074680"/>
            <a:ext cx="68716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initialization is the process of assigning a value to a variable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when it is declared or before it is used.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Rounded Rectangle 51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52"/>
          <p:cNvSpPr/>
          <p:nvPr/>
        </p:nvSpPr>
        <p:spPr>
          <a:xfrm>
            <a:off x="685800" y="2971800"/>
            <a:ext cx="3517200" cy="319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Declaration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 variable must first be declared with a data type and name.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Initialization means assigning an initial value to the variable.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Default Values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Some variables receive default values automatically depending on their type.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Before Usage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variables must be initialized before they are used in a program.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53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54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Initialization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Declare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age;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Assign Value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age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System.out.println(age);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Rounded Rectangle 55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56"/>
          <p:cNvSpPr/>
          <p:nvPr/>
        </p:nvSpPr>
        <p:spPr>
          <a:xfrm>
            <a:off x="7955280" y="2971800"/>
            <a:ext cx="3472560" cy="296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VariableInitialization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age;      // declaration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age = 20;     //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 // declaration + initialization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System.out.println(age);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Rectangle 128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129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130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31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32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133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34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135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136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37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38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39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40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41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42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43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ounded Rectangle 5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8" name="TextBox 24"/>
          <p:cNvSpPr/>
          <p:nvPr/>
        </p:nvSpPr>
        <p:spPr>
          <a:xfrm>
            <a:off x="2999160" y="1005840"/>
            <a:ext cx="4975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CLASSES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TextBox 25"/>
          <p:cNvSpPr/>
          <p:nvPr/>
        </p:nvSpPr>
        <p:spPr>
          <a:xfrm>
            <a:off x="1873440" y="2194560"/>
            <a:ext cx="7225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classes allow primitive data types to be used as objects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Rounded Rectangle 5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59"/>
          <p:cNvSpPr/>
          <p:nvPr/>
        </p:nvSpPr>
        <p:spPr>
          <a:xfrm>
            <a:off x="685800" y="3108960"/>
            <a:ext cx="35179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 convert primitive values into objects.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commonly used in collections and object-based operations.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examples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provide useful methods for conversion and data handling.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6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61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Value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Class Conversion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Representation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Use in Collections /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Rounded Rectangle 6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63"/>
          <p:cNvSpPr/>
          <p:nvPr/>
        </p:nvSpPr>
        <p:spPr>
          <a:xfrm>
            <a:off x="7955280" y="3108960"/>
            <a:ext cx="347328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autoboxing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Rectangle 176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177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178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79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80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81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82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83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84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85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86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87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88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89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0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91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ounded Rectangle 78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4" name="TextBox 34"/>
          <p:cNvSpPr/>
          <p:nvPr/>
        </p:nvSpPr>
        <p:spPr>
          <a:xfrm>
            <a:off x="2912760" y="1005840"/>
            <a:ext cx="5146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TYPE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Box 35"/>
          <p:cNvSpPr/>
          <p:nvPr/>
        </p:nvSpPr>
        <p:spPr>
          <a:xfrm>
            <a:off x="2356200" y="2057400"/>
            <a:ext cx="63298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Type casting converts one data type into another in Java.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There are two types: implicit (automatic) and explicit (manual).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Rounded Rectangle 79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80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(Widening)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automatically by 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(Narrowing)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types to smaller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81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82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(Automatic)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(Manual)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Rounded Rectangle 83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84"/>
          <p:cNvSpPr/>
          <p:nvPr/>
        </p:nvSpPr>
        <p:spPr>
          <a:xfrm>
            <a:off x="7955280" y="2971800"/>
            <a:ext cx="370260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TypeCastingExample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Implicit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Rectangle 19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193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194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95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96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97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98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99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200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201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202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203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204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205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206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207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ounded Rectangle 8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0" name="TextBox 37"/>
          <p:cNvSpPr/>
          <p:nvPr/>
        </p:nvSpPr>
        <p:spPr>
          <a:xfrm>
            <a:off x="1242720" y="900360"/>
            <a:ext cx="8484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(Automatic Conversion)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Box 38"/>
          <p:cNvSpPr/>
          <p:nvPr/>
        </p:nvSpPr>
        <p:spPr>
          <a:xfrm>
            <a:off x="3011040" y="1600200"/>
            <a:ext cx="499572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 occurs when Java automatically converts a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smaller data type into a larger data type.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conversion is safe because the larger data type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can store all values of the smaller data type without data loss.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Rounded Rectangle 8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87"/>
          <p:cNvSpPr/>
          <p:nvPr/>
        </p:nvSpPr>
        <p:spPr>
          <a:xfrm>
            <a:off x="595440" y="2743200"/>
            <a:ext cx="35190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is the automatic conversion of a smaller data type to a larger data type in Java.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performs this conversion automatically when there is no risk of data loss.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Widening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Done automatically by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smaller types to larger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No manual casting needed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88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89"/>
          <p:cNvSpPr/>
          <p:nvPr/>
        </p:nvSpPr>
        <p:spPr>
          <a:xfrm>
            <a:off x="4343400" y="2880360"/>
            <a:ext cx="36572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Flow (Widening Conversion)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represents a data type that can store the previous type safely.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Rounded Rectangle 90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91"/>
          <p:cNvSpPr/>
          <p:nvPr/>
        </p:nvSpPr>
        <p:spPr>
          <a:xfrm>
            <a:off x="8229600" y="2972880"/>
            <a:ext cx="365724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Automatic conversion from int to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number;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System.out.println("Number: " + 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TextBox 3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Rectangle 208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209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210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211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212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213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214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215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216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17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18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19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20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21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22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23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ounded Rectangle 92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Box 40"/>
          <p:cNvSpPr/>
          <p:nvPr/>
        </p:nvSpPr>
        <p:spPr>
          <a:xfrm>
            <a:off x="2514600" y="685800"/>
            <a:ext cx="6071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EXPLICIT CASTING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TextBox 41"/>
          <p:cNvSpPr/>
          <p:nvPr/>
        </p:nvSpPr>
        <p:spPr>
          <a:xfrm>
            <a:off x="2647440" y="1600200"/>
            <a:ext cx="5810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 is the manual conversion of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larger data type to a smaller data type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required when there is a risk of data or precision loss.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Rounded Rectangle 93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94"/>
          <p:cNvSpPr/>
          <p:nvPr/>
        </p:nvSpPr>
        <p:spPr>
          <a:xfrm>
            <a:off x="457200" y="2743200"/>
            <a:ext cx="3747960" cy="3886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is the manual conversion of a larger data type to a smaller data type.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does not perform this conversion automatically because the smaller type may not store all values.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Also called Narrowing Casting.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Key points: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Performed manually by the programmer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Converts larger numeric types to smaller ones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95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96"/>
          <p:cNvSpPr/>
          <p:nvPr/>
        </p:nvSpPr>
        <p:spPr>
          <a:xfrm>
            <a:off x="4434840" y="2971800"/>
            <a:ext cx="32907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Flow (Narrowing)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Each step converts the value to a smaller storage type, which may remove decimal values or overflow.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Rounded Rectangle 97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98"/>
          <p:cNvSpPr/>
          <p:nvPr/>
        </p:nvSpPr>
        <p:spPr>
          <a:xfrm>
            <a:off x="7955280" y="2514600"/>
            <a:ext cx="3931920" cy="4114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// Explicit casting from double to 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System.out.println("Original value: " + 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System.out.println("Converted value: " + newPrice);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Box 42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2026-03-16T17:56:33Z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