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_rels/slideMaster1.xml.rels" ContentType="application/vnd.openxmlformats-package.relationship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FE48CFC-E871-4DBE-9CF9-DE661603F2D1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3A0BE56-8DEF-468A-AF47-24A62642E48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D314621-F359-48B2-AE0D-A2DF72BE037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E157678-6657-4E7D-8DB7-D056FB4A3F50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DB97325-3FE9-499B-AF25-ED4340EFC5F2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E8ED87F-D216-4791-9B66-F81078395851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DA85190-1074-467E-A095-57FE2518C84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470D5AD-A763-4460-9C2B-4E8037A938D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44C1031-C2E2-44C3-83A6-DA463DB93A3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FB61840-15E4-47FA-B54A-5565C941364B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665ECAF-ED30-4CD2-B139-46EA7FB56C86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58E8BB5-452A-4EDE-8F18-D1FB68E7465A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91520" cy="361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29760" cy="361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DCDB33B-033B-4DAA-93D7-EF0FD568FD89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29760" cy="361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Rectangle 1"/>
          <p:cNvSpPr/>
          <p:nvPr/>
        </p:nvSpPr>
        <p:spPr>
          <a:xfrm>
            <a:off x="0" y="0"/>
            <a:ext cx="12184920" cy="68540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" name="Rectangle 2"/>
          <p:cNvSpPr/>
          <p:nvPr/>
        </p:nvSpPr>
        <p:spPr>
          <a:xfrm>
            <a:off x="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" name="Rectangle 3"/>
          <p:cNvSpPr/>
          <p:nvPr/>
        </p:nvSpPr>
        <p:spPr>
          <a:xfrm>
            <a:off x="914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" name="Rectangle 4"/>
          <p:cNvSpPr/>
          <p:nvPr/>
        </p:nvSpPr>
        <p:spPr>
          <a:xfrm>
            <a:off x="1828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" name="Rectangle 5"/>
          <p:cNvSpPr/>
          <p:nvPr/>
        </p:nvSpPr>
        <p:spPr>
          <a:xfrm>
            <a:off x="2743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" name="Rectangle 6"/>
          <p:cNvSpPr/>
          <p:nvPr/>
        </p:nvSpPr>
        <p:spPr>
          <a:xfrm>
            <a:off x="36576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" name="Rectangle 7"/>
          <p:cNvSpPr/>
          <p:nvPr/>
        </p:nvSpPr>
        <p:spPr>
          <a:xfrm>
            <a:off x="45720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" name="Rectangle 8"/>
          <p:cNvSpPr/>
          <p:nvPr/>
        </p:nvSpPr>
        <p:spPr>
          <a:xfrm>
            <a:off x="5486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" name="Rectangle 9"/>
          <p:cNvSpPr/>
          <p:nvPr/>
        </p:nvSpPr>
        <p:spPr>
          <a:xfrm>
            <a:off x="6400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" name="Rectangle 10"/>
          <p:cNvSpPr/>
          <p:nvPr/>
        </p:nvSpPr>
        <p:spPr>
          <a:xfrm>
            <a:off x="7315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" name="Rectangle 11"/>
          <p:cNvSpPr/>
          <p:nvPr/>
        </p:nvSpPr>
        <p:spPr>
          <a:xfrm>
            <a:off x="82296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" name="Rectangle 12"/>
          <p:cNvSpPr/>
          <p:nvPr/>
        </p:nvSpPr>
        <p:spPr>
          <a:xfrm>
            <a:off x="91440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" name="Rectangle 13"/>
          <p:cNvSpPr/>
          <p:nvPr/>
        </p:nvSpPr>
        <p:spPr>
          <a:xfrm>
            <a:off x="10058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" name="Rectangle 14"/>
          <p:cNvSpPr/>
          <p:nvPr/>
        </p:nvSpPr>
        <p:spPr>
          <a:xfrm>
            <a:off x="10972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" name="Rectangle 15"/>
          <p:cNvSpPr/>
          <p:nvPr/>
        </p:nvSpPr>
        <p:spPr>
          <a:xfrm>
            <a:off x="11887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" name="Rectangle 16"/>
          <p:cNvSpPr/>
          <p:nvPr/>
        </p:nvSpPr>
        <p:spPr>
          <a:xfrm>
            <a:off x="0" y="0"/>
            <a:ext cx="316080" cy="68540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" name="Rounded Rectangle 17"/>
          <p:cNvSpPr/>
          <p:nvPr/>
        </p:nvSpPr>
        <p:spPr>
          <a:xfrm>
            <a:off x="9875520" y="365760"/>
            <a:ext cx="2007720" cy="498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" name="TextBox 18"/>
          <p:cNvSpPr/>
          <p:nvPr/>
        </p:nvSpPr>
        <p:spPr>
          <a:xfrm>
            <a:off x="3070440" y="550800"/>
            <a:ext cx="48308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DATE &amp; TIME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TextBox 19"/>
          <p:cNvSpPr/>
          <p:nvPr/>
        </p:nvSpPr>
        <p:spPr>
          <a:xfrm>
            <a:off x="3070440" y="1495080"/>
            <a:ext cx="5937480" cy="124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Java'da tarih ve saat işlemleri, Java 8 ile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birlikte gelen java.time paketi kullanılarak yönetilir.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Eski tarih sınıflarının aksine, bu yeni API çok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daha güvenli (thread-safe), anlaşılır ve esnek bir yapı sunar.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Rounded Rectangle 20"/>
          <p:cNvSpPr/>
          <p:nvPr/>
        </p:nvSpPr>
        <p:spPr>
          <a:xfrm>
            <a:off x="98748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" name="Rounded Rectangle 21"/>
          <p:cNvSpPr/>
          <p:nvPr/>
        </p:nvSpPr>
        <p:spPr>
          <a:xfrm>
            <a:off x="914400" y="310896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8 ile birlikte gelen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java.time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paketi, bölgesel zamanı (Timezone) ve tarihleri hassas bir şekilde yönetmemizi sağlar.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ZonedDateTime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ve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ZoneId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sınıfları kullanılarak, bulunduğunuz konumun (örneğin İstanbul, Türkiye) yerel saat dilimine ve güncel tarih verilerine anlık olarak ulaşılıp istenilen formatta yazdırılabilir.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" name="Rounded Rectangle 22"/>
          <p:cNvSpPr/>
          <p:nvPr/>
        </p:nvSpPr>
        <p:spPr>
          <a:xfrm>
            <a:off x="450792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" name="Rounded Rectangle 23"/>
          <p:cNvSpPr/>
          <p:nvPr/>
        </p:nvSpPr>
        <p:spPr>
          <a:xfrm>
            <a:off x="4434840" y="310896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Başlar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Bölge (ZoneId) Tanımlanır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Güncel Zaman (ZonedDateTime) Alınır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Format Belirlenir (DateTimeFormatter)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Ekrana Yazdırılır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" name="Rounded Rectangle 24"/>
          <p:cNvSpPr/>
          <p:nvPr/>
        </p:nvSpPr>
        <p:spPr>
          <a:xfrm>
            <a:off x="802836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" name="Rounded Rectangle 25"/>
          <p:cNvSpPr/>
          <p:nvPr/>
        </p:nvSpPr>
        <p:spPr>
          <a:xfrm>
            <a:off x="7955280" y="2971800"/>
            <a:ext cx="3929040" cy="3654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DateAndTimeContext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Konum İstanbul olarak ayarlanır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zone = ZoneId.of("Europe/Istanbul");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İstanbul bölgesindeki güncel zaman alınır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now = ZonedDateTime.now(zone);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İstenen formata göre (Örn: Salı, 28 Nisan 2026 saat 22:26 +03:00)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 = DateTimeFormatter.ofPattern("EEEE, dd MMMM yyyy 'saat' HH:mm xxx", new Locale("tr", "TR"));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System.out.println("Şu anki zaman: " + now.format(formatter) + ".");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System.out.println("Mevcut konumun İstanbul, Türkiye olduğunu unutmayın.");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" name="TextBox 2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tangle 32"/>
          <p:cNvSpPr/>
          <p:nvPr/>
        </p:nvSpPr>
        <p:spPr>
          <a:xfrm>
            <a:off x="0" y="0"/>
            <a:ext cx="12185280" cy="68544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" name="Rectangle 33"/>
          <p:cNvSpPr/>
          <p:nvPr/>
        </p:nvSpPr>
        <p:spPr>
          <a:xfrm>
            <a:off x="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" name="Rectangle 34"/>
          <p:cNvSpPr/>
          <p:nvPr/>
        </p:nvSpPr>
        <p:spPr>
          <a:xfrm>
            <a:off x="914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" name="Rectangle 35"/>
          <p:cNvSpPr/>
          <p:nvPr/>
        </p:nvSpPr>
        <p:spPr>
          <a:xfrm>
            <a:off x="1828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" name="Rectangle 36"/>
          <p:cNvSpPr/>
          <p:nvPr/>
        </p:nvSpPr>
        <p:spPr>
          <a:xfrm>
            <a:off x="2743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" name="Rectangle 37"/>
          <p:cNvSpPr/>
          <p:nvPr/>
        </p:nvSpPr>
        <p:spPr>
          <a:xfrm>
            <a:off x="3657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" name="Rectangle 38"/>
          <p:cNvSpPr/>
          <p:nvPr/>
        </p:nvSpPr>
        <p:spPr>
          <a:xfrm>
            <a:off x="4572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" name="Rectangle 39"/>
          <p:cNvSpPr/>
          <p:nvPr/>
        </p:nvSpPr>
        <p:spPr>
          <a:xfrm>
            <a:off x="5486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" name="Rectangle 40"/>
          <p:cNvSpPr/>
          <p:nvPr/>
        </p:nvSpPr>
        <p:spPr>
          <a:xfrm>
            <a:off x="6400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" name="Rectangle 41"/>
          <p:cNvSpPr/>
          <p:nvPr/>
        </p:nvSpPr>
        <p:spPr>
          <a:xfrm>
            <a:off x="7315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" name="Rectangle 42"/>
          <p:cNvSpPr/>
          <p:nvPr/>
        </p:nvSpPr>
        <p:spPr>
          <a:xfrm>
            <a:off x="8229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" name="Rectangle 43"/>
          <p:cNvSpPr/>
          <p:nvPr/>
        </p:nvSpPr>
        <p:spPr>
          <a:xfrm>
            <a:off x="9144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" name="Rectangle 44"/>
          <p:cNvSpPr/>
          <p:nvPr/>
        </p:nvSpPr>
        <p:spPr>
          <a:xfrm>
            <a:off x="10058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" name="Rectangle 45"/>
          <p:cNvSpPr/>
          <p:nvPr/>
        </p:nvSpPr>
        <p:spPr>
          <a:xfrm>
            <a:off x="10972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" name="Rectangle 46"/>
          <p:cNvSpPr/>
          <p:nvPr/>
        </p:nvSpPr>
        <p:spPr>
          <a:xfrm>
            <a:off x="11887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" name="Rectangle 47"/>
          <p:cNvSpPr/>
          <p:nvPr/>
        </p:nvSpPr>
        <p:spPr>
          <a:xfrm>
            <a:off x="0" y="0"/>
            <a:ext cx="316440" cy="68544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" name="Rounded Rectangle 8"/>
          <p:cNvSpPr/>
          <p:nvPr/>
        </p:nvSpPr>
        <p:spPr>
          <a:xfrm>
            <a:off x="9875520" y="365760"/>
            <a:ext cx="2008080" cy="4993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" name="TextBox 4"/>
          <p:cNvSpPr/>
          <p:nvPr/>
        </p:nvSpPr>
        <p:spPr>
          <a:xfrm>
            <a:off x="723240" y="914400"/>
            <a:ext cx="95234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 Saat Dilimi (Timezone) ve Bölgesel Zaman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TextBox 5"/>
          <p:cNvSpPr/>
          <p:nvPr/>
        </p:nvSpPr>
        <p:spPr>
          <a:xfrm>
            <a:off x="1778760" y="1828800"/>
            <a:ext cx="793224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saat dilimi yönetimi, farklı bölgelerin zamanını doğru şekilde hesaplamak için kullanılır.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ZoneId ile bölge seçilir, ZonedDateTime ile o bölgenin güncel tarih ve saati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alınır. Bu yapı sayesinde global uygulamalarda her kullanıcıya doğru zaman gösterilir.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Rounded Rectangle 9"/>
          <p:cNvSpPr/>
          <p:nvPr/>
        </p:nvSpPr>
        <p:spPr>
          <a:xfrm>
            <a:off x="98748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" name="Rounded Rectangle 10"/>
          <p:cNvSpPr/>
          <p:nvPr/>
        </p:nvSpPr>
        <p:spPr>
          <a:xfrm>
            <a:off x="914400" y="310896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ZoneId → Saat dilimini temsil eder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ZonedDateTime → Saat dilimi ile birlikte tarih ve saat bilgisini tutar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Her bölge için farklı UTC offset otomatik hesaplanır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Yaz saati / kış saati değişimleri otomatik yönetilir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" name="Rounded Rectangle 11"/>
          <p:cNvSpPr/>
          <p:nvPr/>
        </p:nvSpPr>
        <p:spPr>
          <a:xfrm>
            <a:off x="450792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" name="Rounded Rectangle 12"/>
          <p:cNvSpPr/>
          <p:nvPr/>
        </p:nvSpPr>
        <p:spPr>
          <a:xfrm>
            <a:off x="4434840" y="310896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Başlar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Saat Dilimi Seçilir (ZoneId)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 Bölgeye Ait Zaman Alınır (ZonedDateTime)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İşlem / Formatlama Yapılır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Sonuç Kullanıcıya Gösterilir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" name="Rounded Rectangle 13"/>
          <p:cNvSpPr/>
          <p:nvPr/>
        </p:nvSpPr>
        <p:spPr>
          <a:xfrm>
            <a:off x="802836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" name="Rounded Rectangle 14"/>
          <p:cNvSpPr/>
          <p:nvPr/>
        </p:nvSpPr>
        <p:spPr>
          <a:xfrm>
            <a:off x="7955280" y="3108960"/>
            <a:ext cx="3700800" cy="3060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TimezoneExample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istanbul = ZoneId.of("Europe/Istanbul");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newYork = ZoneId.of("America/New_York");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timeInIstanbul = ZonedDateTime.now(istanbul);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timeInNewYork = ZonedDateTime.now(newYork);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System.out.println("İstanbul Saati: " + timeInIstanbul);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System.out.println("New York Saati: " + timeInNewYork);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" name="TextBox 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Rectangle 17"/>
          <p:cNvSpPr/>
          <p:nvPr/>
        </p:nvSpPr>
        <p:spPr>
          <a:xfrm>
            <a:off x="0" y="0"/>
            <a:ext cx="12185280" cy="68544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" name="Rectangle 18"/>
          <p:cNvSpPr/>
          <p:nvPr/>
        </p:nvSpPr>
        <p:spPr>
          <a:xfrm>
            <a:off x="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" name="Rectangle 19"/>
          <p:cNvSpPr/>
          <p:nvPr/>
        </p:nvSpPr>
        <p:spPr>
          <a:xfrm>
            <a:off x="914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" name="Rectangle 20"/>
          <p:cNvSpPr/>
          <p:nvPr/>
        </p:nvSpPr>
        <p:spPr>
          <a:xfrm>
            <a:off x="1828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" name="Rectangle 21"/>
          <p:cNvSpPr/>
          <p:nvPr/>
        </p:nvSpPr>
        <p:spPr>
          <a:xfrm>
            <a:off x="2743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" name="Rectangle 22"/>
          <p:cNvSpPr/>
          <p:nvPr/>
        </p:nvSpPr>
        <p:spPr>
          <a:xfrm>
            <a:off x="3657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" name="Rectangle 23"/>
          <p:cNvSpPr/>
          <p:nvPr/>
        </p:nvSpPr>
        <p:spPr>
          <a:xfrm>
            <a:off x="4572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" name="Rectangle 24"/>
          <p:cNvSpPr/>
          <p:nvPr/>
        </p:nvSpPr>
        <p:spPr>
          <a:xfrm>
            <a:off x="5486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" name="Rectangle 25"/>
          <p:cNvSpPr/>
          <p:nvPr/>
        </p:nvSpPr>
        <p:spPr>
          <a:xfrm>
            <a:off x="6400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" name="Rectangle 26"/>
          <p:cNvSpPr/>
          <p:nvPr/>
        </p:nvSpPr>
        <p:spPr>
          <a:xfrm>
            <a:off x="7315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" name="Rectangle 27"/>
          <p:cNvSpPr/>
          <p:nvPr/>
        </p:nvSpPr>
        <p:spPr>
          <a:xfrm>
            <a:off x="8229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" name="Rectangle 28"/>
          <p:cNvSpPr/>
          <p:nvPr/>
        </p:nvSpPr>
        <p:spPr>
          <a:xfrm>
            <a:off x="9144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" name="Rectangle 29"/>
          <p:cNvSpPr/>
          <p:nvPr/>
        </p:nvSpPr>
        <p:spPr>
          <a:xfrm>
            <a:off x="10058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" name="Rectangle 30"/>
          <p:cNvSpPr/>
          <p:nvPr/>
        </p:nvSpPr>
        <p:spPr>
          <a:xfrm>
            <a:off x="10972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7" name="Rectangle 31"/>
          <p:cNvSpPr/>
          <p:nvPr/>
        </p:nvSpPr>
        <p:spPr>
          <a:xfrm>
            <a:off x="11887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" name="Rectangle 48"/>
          <p:cNvSpPr/>
          <p:nvPr/>
        </p:nvSpPr>
        <p:spPr>
          <a:xfrm>
            <a:off x="0" y="0"/>
            <a:ext cx="316440" cy="68544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" name="Rounded Rectangle 15"/>
          <p:cNvSpPr/>
          <p:nvPr/>
        </p:nvSpPr>
        <p:spPr>
          <a:xfrm>
            <a:off x="9875520" y="365760"/>
            <a:ext cx="2008080" cy="4993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" name="TextBox 7"/>
          <p:cNvSpPr/>
          <p:nvPr/>
        </p:nvSpPr>
        <p:spPr>
          <a:xfrm>
            <a:off x="942480" y="914400"/>
            <a:ext cx="90842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 LocalDate, LocalTime ve LocalDateTime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TextBox 8"/>
          <p:cNvSpPr/>
          <p:nvPr/>
        </p:nvSpPr>
        <p:spPr>
          <a:xfrm>
            <a:off x="1149480" y="1828800"/>
            <a:ext cx="918936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tarih ve saat işlemleri sadece saat dilimine bağlı değildir. Bazı durumlarda sadece tarih, sadece saat ya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da ikisinin birleşimi gerekir. Bu ihtiyaçlar için LocalDate, LocalTime ve LocalDateTime sınıfları kullanılır.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Rounded Rectangle 16"/>
          <p:cNvSpPr/>
          <p:nvPr/>
        </p:nvSpPr>
        <p:spPr>
          <a:xfrm>
            <a:off x="98748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" name="Rounded Rectangle 18"/>
          <p:cNvSpPr/>
          <p:nvPr/>
        </p:nvSpPr>
        <p:spPr>
          <a:xfrm>
            <a:off x="914400" y="3108960"/>
            <a:ext cx="3288240" cy="3061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 → Sadece tarih bilgisini tutar (yıl, ay, gün)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LocalTime → Sadece saat bilgisini tutar (saat, dakika, saniye)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LocalDateTime → Tarih ve saat bilgisini birlikte tutar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Saat dilimi (timezone) içermezler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Daha basit ve performanslı kullanım sağlar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" name="Rounded Rectangle 19"/>
          <p:cNvSpPr/>
          <p:nvPr/>
        </p:nvSpPr>
        <p:spPr>
          <a:xfrm>
            <a:off x="450792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5" name="Rounded Rectangle 26"/>
          <p:cNvSpPr/>
          <p:nvPr/>
        </p:nvSpPr>
        <p:spPr>
          <a:xfrm>
            <a:off x="4434840" y="310896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Başlar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Uygun Sınıf Seçilir (LocalDate / LocalTime / LocalDateTime)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Güncel Değer Alınır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İşlem / Formatlama Yapılır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Sonuç Ekrana Yazdırılır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" name="Rounded Rectangle 27"/>
          <p:cNvSpPr/>
          <p:nvPr/>
        </p:nvSpPr>
        <p:spPr>
          <a:xfrm>
            <a:off x="802836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7" name="Rounded Rectangle 28"/>
          <p:cNvSpPr/>
          <p:nvPr/>
        </p:nvSpPr>
        <p:spPr>
          <a:xfrm>
            <a:off x="7955280" y="3108960"/>
            <a:ext cx="3700800" cy="3060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LocalDateTimeExample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date = LocalDate.now();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time = LocalTime.now();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dateTime = LocalDateTime.now();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System.out.println("Tarih: " + date);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System.out.println("Saat: " + time);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System.out.println("Tarih ve Saat: " + dateTime);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" name="TextBox 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Rectangle 49"/>
          <p:cNvSpPr/>
          <p:nvPr/>
        </p:nvSpPr>
        <p:spPr>
          <a:xfrm>
            <a:off x="0" y="0"/>
            <a:ext cx="12185280" cy="68544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0" name="Rectangle 50"/>
          <p:cNvSpPr/>
          <p:nvPr/>
        </p:nvSpPr>
        <p:spPr>
          <a:xfrm>
            <a:off x="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1" name="Rectangle 51"/>
          <p:cNvSpPr/>
          <p:nvPr/>
        </p:nvSpPr>
        <p:spPr>
          <a:xfrm>
            <a:off x="914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2" name="Rectangle 52"/>
          <p:cNvSpPr/>
          <p:nvPr/>
        </p:nvSpPr>
        <p:spPr>
          <a:xfrm>
            <a:off x="1828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3" name="Rectangle 53"/>
          <p:cNvSpPr/>
          <p:nvPr/>
        </p:nvSpPr>
        <p:spPr>
          <a:xfrm>
            <a:off x="2743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4" name="Rectangle 54"/>
          <p:cNvSpPr/>
          <p:nvPr/>
        </p:nvSpPr>
        <p:spPr>
          <a:xfrm>
            <a:off x="3657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5" name="Rectangle 55"/>
          <p:cNvSpPr/>
          <p:nvPr/>
        </p:nvSpPr>
        <p:spPr>
          <a:xfrm>
            <a:off x="4572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6" name="Rectangle 56"/>
          <p:cNvSpPr/>
          <p:nvPr/>
        </p:nvSpPr>
        <p:spPr>
          <a:xfrm>
            <a:off x="5486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7" name="Rectangle 57"/>
          <p:cNvSpPr/>
          <p:nvPr/>
        </p:nvSpPr>
        <p:spPr>
          <a:xfrm>
            <a:off x="6400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8" name="Rectangle 58"/>
          <p:cNvSpPr/>
          <p:nvPr/>
        </p:nvSpPr>
        <p:spPr>
          <a:xfrm>
            <a:off x="7315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9" name="Rectangle 59"/>
          <p:cNvSpPr/>
          <p:nvPr/>
        </p:nvSpPr>
        <p:spPr>
          <a:xfrm>
            <a:off x="8229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0" name="Rectangle 60"/>
          <p:cNvSpPr/>
          <p:nvPr/>
        </p:nvSpPr>
        <p:spPr>
          <a:xfrm>
            <a:off x="9144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1" name="Rectangle 61"/>
          <p:cNvSpPr/>
          <p:nvPr/>
        </p:nvSpPr>
        <p:spPr>
          <a:xfrm>
            <a:off x="10058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2" name="Rectangle 62"/>
          <p:cNvSpPr/>
          <p:nvPr/>
        </p:nvSpPr>
        <p:spPr>
          <a:xfrm>
            <a:off x="10972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3" name="Rectangle 63"/>
          <p:cNvSpPr/>
          <p:nvPr/>
        </p:nvSpPr>
        <p:spPr>
          <a:xfrm>
            <a:off x="11887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4" name="Rectangle 64"/>
          <p:cNvSpPr/>
          <p:nvPr/>
        </p:nvSpPr>
        <p:spPr>
          <a:xfrm>
            <a:off x="0" y="0"/>
            <a:ext cx="316440" cy="68544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5" name="Rounded Rectangle 29"/>
          <p:cNvSpPr/>
          <p:nvPr/>
        </p:nvSpPr>
        <p:spPr>
          <a:xfrm>
            <a:off x="9875520" y="365760"/>
            <a:ext cx="2008080" cy="4993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" name="TextBox 10"/>
          <p:cNvSpPr/>
          <p:nvPr/>
        </p:nvSpPr>
        <p:spPr>
          <a:xfrm>
            <a:off x="2796840" y="914400"/>
            <a:ext cx="53748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 DateTimeFormatter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TextBox 11"/>
          <p:cNvSpPr/>
          <p:nvPr/>
        </p:nvSpPr>
        <p:spPr>
          <a:xfrm>
            <a:off x="1149480" y="1828800"/>
            <a:ext cx="918936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tarih ve saat işlemleri sadece saat dilimine bağlı değildir. Bazı durumlarda sadece tarih, sadece saat ya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da ikisinin birleşimi gerekir. Bu ihtiyaçlar için LocalDate, LocalTime ve LocalDateTime sınıfları kullanılır.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Rounded Rectangle 30"/>
          <p:cNvSpPr/>
          <p:nvPr/>
        </p:nvSpPr>
        <p:spPr>
          <a:xfrm>
            <a:off x="98748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9" name="Rounded Rectangle 31"/>
          <p:cNvSpPr/>
          <p:nvPr/>
        </p:nvSpPr>
        <p:spPr>
          <a:xfrm>
            <a:off x="914400" y="3108960"/>
            <a:ext cx="3288240" cy="3061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DateTimeFormatter → Tarih ve saat verilerini formatlar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Özel format desenlerini destekler (dd/MM/yyyy, HH:mm vb.)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LocalDateTime, ZonedDateTime gibi sınıflarla kullanılabilir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Yerel (locale) tabanlı formatlama sağlar (dil desteği)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Tarih-saat çıktısının okunabilirliğini artırır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0" name="Rounded Rectangle 32"/>
          <p:cNvSpPr/>
          <p:nvPr/>
        </p:nvSpPr>
        <p:spPr>
          <a:xfrm>
            <a:off x="450792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1" name="Rounded Rectangle 33"/>
          <p:cNvSpPr/>
          <p:nvPr/>
        </p:nvSpPr>
        <p:spPr>
          <a:xfrm>
            <a:off x="4434840" y="310896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Uygulama çalışır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Tarih/Saat bilgisine ihtiyaç duyulur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Bir tarih-saat nesnesi oluşturulur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Özel bir format deseni belirlenir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Formatter veriyi işler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Okunabilir bir çıktı üretilir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Sonuç kullanıcıya gösterilir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2" name="Rounded Rectangle 34"/>
          <p:cNvSpPr/>
          <p:nvPr/>
        </p:nvSpPr>
        <p:spPr>
          <a:xfrm>
            <a:off x="802836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3" name="Rounded Rectangle 35"/>
          <p:cNvSpPr/>
          <p:nvPr/>
        </p:nvSpPr>
        <p:spPr>
          <a:xfrm>
            <a:off x="7955280" y="2743200"/>
            <a:ext cx="3700800" cy="3655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java.time.LocalDateTime;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java.time.format.DateTimeFormatter;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java.util.Locale;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LocaleFormatterExample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now = LocalDateTime.now();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formatterTR =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DateTimeFormatter.ofPattern("dd MMMM yyyy HH:mm", new Locale("tr", "TR"));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formatterUS =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DateTimeFormatter.ofPattern("MMMM dd, yyyy hh:mm a", Locale.US);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System.out.println("Türkçe Format: " + now.format(formatterTR));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System.out.println("ABD Formatı: " + now.format(formatterUS));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4" name="TextBox 1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Rectangle 65"/>
          <p:cNvSpPr/>
          <p:nvPr/>
        </p:nvSpPr>
        <p:spPr>
          <a:xfrm>
            <a:off x="0" y="0"/>
            <a:ext cx="12185280" cy="68544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6" name="Rectangle 66"/>
          <p:cNvSpPr/>
          <p:nvPr/>
        </p:nvSpPr>
        <p:spPr>
          <a:xfrm>
            <a:off x="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7" name="Rectangle 67"/>
          <p:cNvSpPr/>
          <p:nvPr/>
        </p:nvSpPr>
        <p:spPr>
          <a:xfrm>
            <a:off x="914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8" name="Rectangle 68"/>
          <p:cNvSpPr/>
          <p:nvPr/>
        </p:nvSpPr>
        <p:spPr>
          <a:xfrm>
            <a:off x="1828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9" name="Rectangle 69"/>
          <p:cNvSpPr/>
          <p:nvPr/>
        </p:nvSpPr>
        <p:spPr>
          <a:xfrm>
            <a:off x="2743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0" name="Rectangle 70"/>
          <p:cNvSpPr/>
          <p:nvPr/>
        </p:nvSpPr>
        <p:spPr>
          <a:xfrm>
            <a:off x="3657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1" name="Rectangle 71"/>
          <p:cNvSpPr/>
          <p:nvPr/>
        </p:nvSpPr>
        <p:spPr>
          <a:xfrm>
            <a:off x="4572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2" name="Rectangle 72"/>
          <p:cNvSpPr/>
          <p:nvPr/>
        </p:nvSpPr>
        <p:spPr>
          <a:xfrm>
            <a:off x="5486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3" name="Rectangle 73"/>
          <p:cNvSpPr/>
          <p:nvPr/>
        </p:nvSpPr>
        <p:spPr>
          <a:xfrm>
            <a:off x="6400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4" name="Rectangle 74"/>
          <p:cNvSpPr/>
          <p:nvPr/>
        </p:nvSpPr>
        <p:spPr>
          <a:xfrm>
            <a:off x="7315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5" name="Rectangle 75"/>
          <p:cNvSpPr/>
          <p:nvPr/>
        </p:nvSpPr>
        <p:spPr>
          <a:xfrm>
            <a:off x="8229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6" name="Rectangle 76"/>
          <p:cNvSpPr/>
          <p:nvPr/>
        </p:nvSpPr>
        <p:spPr>
          <a:xfrm>
            <a:off x="9144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7" name="Rectangle 77"/>
          <p:cNvSpPr/>
          <p:nvPr/>
        </p:nvSpPr>
        <p:spPr>
          <a:xfrm>
            <a:off x="10058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8" name="Rectangle 78"/>
          <p:cNvSpPr/>
          <p:nvPr/>
        </p:nvSpPr>
        <p:spPr>
          <a:xfrm>
            <a:off x="10972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9" name="Rectangle 79"/>
          <p:cNvSpPr/>
          <p:nvPr/>
        </p:nvSpPr>
        <p:spPr>
          <a:xfrm>
            <a:off x="11887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0" name="Rectangle 80"/>
          <p:cNvSpPr/>
          <p:nvPr/>
        </p:nvSpPr>
        <p:spPr>
          <a:xfrm>
            <a:off x="0" y="0"/>
            <a:ext cx="316440" cy="68544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1" name="Rounded Rectangle 36"/>
          <p:cNvSpPr/>
          <p:nvPr/>
        </p:nvSpPr>
        <p:spPr>
          <a:xfrm>
            <a:off x="9875520" y="365760"/>
            <a:ext cx="2008080" cy="4993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2" name="TextBox 13"/>
          <p:cNvSpPr/>
          <p:nvPr/>
        </p:nvSpPr>
        <p:spPr>
          <a:xfrm>
            <a:off x="2099160" y="914400"/>
            <a:ext cx="67723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 Tarih ve Saat Parsing İşlemi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TextBox 14"/>
          <p:cNvSpPr/>
          <p:nvPr/>
        </p:nvSpPr>
        <p:spPr>
          <a:xfrm>
            <a:off x="1196640" y="1828800"/>
            <a:ext cx="909360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parsing, metin (String) formatındaki tarih değerlerini uygulama içinde kullanılabilecek yapılandırılmış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tarih-saat nesnelerine dönüştürme işlemidir.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Rounded Rectangle 37"/>
          <p:cNvSpPr/>
          <p:nvPr/>
        </p:nvSpPr>
        <p:spPr>
          <a:xfrm>
            <a:off x="98748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5" name="Rounded Rectangle 38"/>
          <p:cNvSpPr/>
          <p:nvPr/>
        </p:nvSpPr>
        <p:spPr>
          <a:xfrm>
            <a:off x="457200" y="2514600"/>
            <a:ext cx="3745440" cy="4113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Tarihler genellikle düz metin olarak gelir.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Metinler üzerinde hesaplama veya karşılaştırma yapılamaz.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Bu yüzden gerçek bir tarih nesnesine dönüştürülmelidir.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Bir pattern, metnin nasıl okunacağını belirler.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Formatter bu kurala sıkı sıkıya bağlı kalır.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Format eşleşirse dönüşüm başarılı olur.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Eşleşmezse hata oluşur.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6" name="Rounded Rectangle 39"/>
          <p:cNvSpPr/>
          <p:nvPr/>
        </p:nvSpPr>
        <p:spPr>
          <a:xfrm>
            <a:off x="450792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7" name="Rounded Rectangle 40"/>
          <p:cNvSpPr/>
          <p:nvPr/>
        </p:nvSpPr>
        <p:spPr>
          <a:xfrm>
            <a:off x="4434840" y="2971800"/>
            <a:ext cx="3288240" cy="3426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Ham metin veri sisteme girer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Sistem beklenen tarih yapısını belirler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Bir dönüşüm kuralı (pattern) hazırlanır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Metin bu kurala göre yorumlanır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Geçerli bir tarih-saat nesnesi oluşturulur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Nesne işlemler için kullanılabilir hale gelir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8" name="Rounded Rectangle 41"/>
          <p:cNvSpPr/>
          <p:nvPr/>
        </p:nvSpPr>
        <p:spPr>
          <a:xfrm>
            <a:off x="802836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9" name="Rounded Rectangle 42"/>
          <p:cNvSpPr/>
          <p:nvPr/>
        </p:nvSpPr>
        <p:spPr>
          <a:xfrm>
            <a:off x="8001000" y="3200400"/>
            <a:ext cx="3473280" cy="2741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ParsingExample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dateText = "28/04/2026";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 =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DateTimeFormatter.ofPattern("dd/MM/yyyy");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date = LocalDate.parse(dateText, formatter);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System.out.println("Ayrıştırılmış Tarih: " + date);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0" name="TextBox 1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Rectangle 81"/>
          <p:cNvSpPr/>
          <p:nvPr/>
        </p:nvSpPr>
        <p:spPr>
          <a:xfrm>
            <a:off x="0" y="0"/>
            <a:ext cx="12185280" cy="68544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2" name="Rectangle 82"/>
          <p:cNvSpPr/>
          <p:nvPr/>
        </p:nvSpPr>
        <p:spPr>
          <a:xfrm>
            <a:off x="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3" name="Rectangle 83"/>
          <p:cNvSpPr/>
          <p:nvPr/>
        </p:nvSpPr>
        <p:spPr>
          <a:xfrm>
            <a:off x="914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4" name="Rectangle 84"/>
          <p:cNvSpPr/>
          <p:nvPr/>
        </p:nvSpPr>
        <p:spPr>
          <a:xfrm>
            <a:off x="1828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5" name="Rectangle 85"/>
          <p:cNvSpPr/>
          <p:nvPr/>
        </p:nvSpPr>
        <p:spPr>
          <a:xfrm>
            <a:off x="2743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6" name="Rectangle 86"/>
          <p:cNvSpPr/>
          <p:nvPr/>
        </p:nvSpPr>
        <p:spPr>
          <a:xfrm>
            <a:off x="3657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7" name="Rectangle 87"/>
          <p:cNvSpPr/>
          <p:nvPr/>
        </p:nvSpPr>
        <p:spPr>
          <a:xfrm>
            <a:off x="4572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8" name="Rectangle 88"/>
          <p:cNvSpPr/>
          <p:nvPr/>
        </p:nvSpPr>
        <p:spPr>
          <a:xfrm>
            <a:off x="5486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9" name="Rectangle 89"/>
          <p:cNvSpPr/>
          <p:nvPr/>
        </p:nvSpPr>
        <p:spPr>
          <a:xfrm>
            <a:off x="6400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0" name="Rectangle 90"/>
          <p:cNvSpPr/>
          <p:nvPr/>
        </p:nvSpPr>
        <p:spPr>
          <a:xfrm>
            <a:off x="7315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1" name="Rectangle 91"/>
          <p:cNvSpPr/>
          <p:nvPr/>
        </p:nvSpPr>
        <p:spPr>
          <a:xfrm>
            <a:off x="8229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2" name="Rectangle 92"/>
          <p:cNvSpPr/>
          <p:nvPr/>
        </p:nvSpPr>
        <p:spPr>
          <a:xfrm>
            <a:off x="9144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3" name="Rectangle 93"/>
          <p:cNvSpPr/>
          <p:nvPr/>
        </p:nvSpPr>
        <p:spPr>
          <a:xfrm>
            <a:off x="10058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4" name="Rectangle 94"/>
          <p:cNvSpPr/>
          <p:nvPr/>
        </p:nvSpPr>
        <p:spPr>
          <a:xfrm>
            <a:off x="10972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5" name="Rectangle 95"/>
          <p:cNvSpPr/>
          <p:nvPr/>
        </p:nvSpPr>
        <p:spPr>
          <a:xfrm>
            <a:off x="11887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6" name="Rectangle 96"/>
          <p:cNvSpPr/>
          <p:nvPr/>
        </p:nvSpPr>
        <p:spPr>
          <a:xfrm>
            <a:off x="0" y="0"/>
            <a:ext cx="316440" cy="68544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7" name="Rounded Rectangle 43"/>
          <p:cNvSpPr/>
          <p:nvPr/>
        </p:nvSpPr>
        <p:spPr>
          <a:xfrm>
            <a:off x="9875520" y="365760"/>
            <a:ext cx="2008080" cy="4993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8" name="TextBox 16"/>
          <p:cNvSpPr/>
          <p:nvPr/>
        </p:nvSpPr>
        <p:spPr>
          <a:xfrm>
            <a:off x="1540440" y="914400"/>
            <a:ext cx="788832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 Period ve Duration (Zaman Farkı Hesaplama)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TextBox 17"/>
          <p:cNvSpPr/>
          <p:nvPr/>
        </p:nvSpPr>
        <p:spPr>
          <a:xfrm>
            <a:off x="880200" y="1600200"/>
            <a:ext cx="972648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Java'da iki tarih veya iki saat arasındaki zaman farkını ölçmek, tarihlere belirli süreler ekleyip çıkarmak için tarih bazlı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ölçümlerde Period, saat bazlı ölçümlerde ise Duration sınıfları kullanılır.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" name="Rounded Rectangle 44"/>
          <p:cNvSpPr/>
          <p:nvPr/>
        </p:nvSpPr>
        <p:spPr>
          <a:xfrm>
            <a:off x="98748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1" name="Rounded Rectangle 45"/>
          <p:cNvSpPr/>
          <p:nvPr/>
        </p:nvSpPr>
        <p:spPr>
          <a:xfrm>
            <a:off x="457200" y="2514600"/>
            <a:ext cx="3745440" cy="4113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Period: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Tarihsel farkları (yıl, ay, gün) ifade eder. Genellikle LocalDate nesneleri ile kullanılır.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Duration: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Zamansal farkları (saat, dakika, saniye, nanosaniye) ifade eder. Genellikle LocalTime veya LocalDateTime nesneleri ile kullanılır.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İki tarih/saat noktası arasındaki farkı bulmak için between() metodu kullanılır.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Mevcut bir tarihe süre eklemek veya çıkarmak için plus() ve minus() metotlarıyla birlikte kullanılabilirler.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Yaz saati gibi karmaşık durumları yönetirken manuel matematiksel hesaplamalar yerine bu API'leri kullanmak hataları önler.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2" name="Rounded Rectangle 46"/>
          <p:cNvSpPr/>
          <p:nvPr/>
        </p:nvSpPr>
        <p:spPr>
          <a:xfrm>
            <a:off x="450792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3" name="Rounded Rectangle 47"/>
          <p:cNvSpPr/>
          <p:nvPr/>
        </p:nvSpPr>
        <p:spPr>
          <a:xfrm>
            <a:off x="4434840" y="2514600"/>
            <a:ext cx="3288240" cy="3883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Başlangıç ve bitiş zamanları (Tarih/Saat nesneleri) oluşturulur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İhtiyaca göre uygun sınıf (Period veya Duration) seçilir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between() metodu çağrılarak iki zaman arasındaki fark hesaplanır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İlgili metotlar (örn: getDays(), toHours()) ile farkın detayı alınır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Sonuç ekrana yazdırılır veya farklı bir iş mantığında kullanılır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4" name="Rounded Rectangle 48"/>
          <p:cNvSpPr/>
          <p:nvPr/>
        </p:nvSpPr>
        <p:spPr>
          <a:xfrm>
            <a:off x="802836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5" name="Rounded Rectangle 49"/>
          <p:cNvSpPr/>
          <p:nvPr/>
        </p:nvSpPr>
        <p:spPr>
          <a:xfrm>
            <a:off x="8001000" y="2514600"/>
            <a:ext cx="3473280" cy="3885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DurationPeriodExample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--- PERIOD ÖRNEĞİ (Tarih Farkı) ---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oldDate = LocalDate.of(2022, 5, 10);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currentDate = LocalDate.now(); // Örn: 28 Nisan 2024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Period period = Period.between(oldDate, currentDate);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System.out.println("Tarih Farkı: " + period.getYears() + " yıl, "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+ period.getMonths() + " ay, "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+ period.getDays() + " gün");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--- DURATION ÖRNEĞİ (Saat Farkı) ---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startTime = LocalTime.of(9, 30);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endTime = LocalTime.of(17, 15);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Duration duration = Duration.between(startTime, endTime);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System.out.println("Geçen Süre: " + duration.toHours() + " saat, "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+ (duration.toMinutes() % 60) + " dakika");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6" name="TextBox 2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Rectangle 97"/>
          <p:cNvSpPr/>
          <p:nvPr/>
        </p:nvSpPr>
        <p:spPr>
          <a:xfrm>
            <a:off x="0" y="0"/>
            <a:ext cx="12185280" cy="68544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8" name="Rectangle 98"/>
          <p:cNvSpPr/>
          <p:nvPr/>
        </p:nvSpPr>
        <p:spPr>
          <a:xfrm>
            <a:off x="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9" name="Rectangle 99"/>
          <p:cNvSpPr/>
          <p:nvPr/>
        </p:nvSpPr>
        <p:spPr>
          <a:xfrm>
            <a:off x="914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0" name="Rectangle 100"/>
          <p:cNvSpPr/>
          <p:nvPr/>
        </p:nvSpPr>
        <p:spPr>
          <a:xfrm>
            <a:off x="1828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1" name="Rectangle 101"/>
          <p:cNvSpPr/>
          <p:nvPr/>
        </p:nvSpPr>
        <p:spPr>
          <a:xfrm>
            <a:off x="2743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2" name="Rectangle 102"/>
          <p:cNvSpPr/>
          <p:nvPr/>
        </p:nvSpPr>
        <p:spPr>
          <a:xfrm>
            <a:off x="3657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3" name="Rectangle 103"/>
          <p:cNvSpPr/>
          <p:nvPr/>
        </p:nvSpPr>
        <p:spPr>
          <a:xfrm>
            <a:off x="4572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4" name="Rectangle 104"/>
          <p:cNvSpPr/>
          <p:nvPr/>
        </p:nvSpPr>
        <p:spPr>
          <a:xfrm>
            <a:off x="5486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5" name="Rectangle 105"/>
          <p:cNvSpPr/>
          <p:nvPr/>
        </p:nvSpPr>
        <p:spPr>
          <a:xfrm>
            <a:off x="6400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6" name="Rectangle 106"/>
          <p:cNvSpPr/>
          <p:nvPr/>
        </p:nvSpPr>
        <p:spPr>
          <a:xfrm>
            <a:off x="7315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7" name="Rectangle 107"/>
          <p:cNvSpPr/>
          <p:nvPr/>
        </p:nvSpPr>
        <p:spPr>
          <a:xfrm>
            <a:off x="8229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8" name="Rectangle 108"/>
          <p:cNvSpPr/>
          <p:nvPr/>
        </p:nvSpPr>
        <p:spPr>
          <a:xfrm>
            <a:off x="9144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9" name="Rectangle 109"/>
          <p:cNvSpPr/>
          <p:nvPr/>
        </p:nvSpPr>
        <p:spPr>
          <a:xfrm>
            <a:off x="10058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0" name="Rectangle 110"/>
          <p:cNvSpPr/>
          <p:nvPr/>
        </p:nvSpPr>
        <p:spPr>
          <a:xfrm>
            <a:off x="10972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1" name="Rectangle 111"/>
          <p:cNvSpPr/>
          <p:nvPr/>
        </p:nvSpPr>
        <p:spPr>
          <a:xfrm>
            <a:off x="11887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2" name="Rectangle 112"/>
          <p:cNvSpPr/>
          <p:nvPr/>
        </p:nvSpPr>
        <p:spPr>
          <a:xfrm>
            <a:off x="0" y="0"/>
            <a:ext cx="316440" cy="68544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3" name="Rounded Rectangle 50"/>
          <p:cNvSpPr/>
          <p:nvPr/>
        </p:nvSpPr>
        <p:spPr>
          <a:xfrm>
            <a:off x="9875520" y="365760"/>
            <a:ext cx="2008080" cy="4993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4" name="TextBox 21"/>
          <p:cNvSpPr/>
          <p:nvPr/>
        </p:nvSpPr>
        <p:spPr>
          <a:xfrm>
            <a:off x="2106360" y="914400"/>
            <a:ext cx="6756480" cy="94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Kapsamlı Java Date &amp; Time Ekosistemi (Özet)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TextBox 22"/>
          <p:cNvSpPr/>
          <p:nvPr/>
        </p:nvSpPr>
        <p:spPr>
          <a:xfrm>
            <a:off x="1124280" y="1565280"/>
            <a:ext cx="925272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 8 ile gelen java.time paketi, Java'da bir paradigma değişimidir. İnsan zamanını,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makine zamanını ve bunları birbirine bağlayan karmaşık coğrafi kuralları modellemek için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değiştirilemez (immutable), iş parçacığı güvenli (thread-safe) ve alan odaklı (domain-driven) bir yaklaşım sunar.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Rounded Rectangle 51"/>
          <p:cNvSpPr/>
          <p:nvPr/>
        </p:nvSpPr>
        <p:spPr>
          <a:xfrm>
            <a:off x="98748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7" name="Rounded Rectangle 52"/>
          <p:cNvSpPr/>
          <p:nvPr/>
        </p:nvSpPr>
        <p:spPr>
          <a:xfrm>
            <a:off x="457200" y="2743200"/>
            <a:ext cx="3885480" cy="3884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Boyut 1: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İnsan Zaman Çizelgesi (Coğrafyadan Bağımsız)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LocalDate, LocalTime, LocalDateTime zamanı tam olarak bir duvar saatinde veya kağıt takvimde gördüğünüz gibi temsil eder. Dünyanın neresinde olduklarını bilmezler.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Boyut 2: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Dünya Izgarası (Coğrafi Gerçeklik)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ZoneId ve ZonedDateTime, insan zaman çizelgesini Dünya üzerindeki belirli bir koordinata sabitler. Yaz Saati (DST) ve UTC farklarının yarattığı karmaşayı otomatik olarak yönetirler.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Boyut 3: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Ölçüm (Anlar arasındaki boşluk)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Zaman sadece noktalardan ibaret değildir; mesafelerdir. Period takvimsel mesafeleri (yıl, ay, gün) ölçerken, Duration saat bazlı mesafeleri (saat, dakika, saniye) ölçer.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Boyut 4: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 Çeviri Katmanı (Köprü)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DateTimeFormatter, ham metin (Parsing) ile insan tarafından okunabilen kullanıcı arayüzü çıktıları (Formatting) arasında evrensel bir çevirmen görevi görür.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8" name="Rounded Rectangle 53"/>
          <p:cNvSpPr/>
          <p:nvPr/>
        </p:nvSpPr>
        <p:spPr>
          <a:xfrm>
            <a:off x="450792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9" name="Rounded Rectangle 54"/>
          <p:cNvSpPr/>
          <p:nvPr/>
        </p:nvSpPr>
        <p:spPr>
          <a:xfrm>
            <a:off x="4572000" y="2743200"/>
            <a:ext cx="3428280" cy="3656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[ Ne tür bir zaman modellemeniz gerekiyor? ]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Coğrafya önemli mi? (Küresel Etkinlikler, Uçuşlar)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EVET ─&gt; ZoneId ile bağla ─&gt; ZonedDateTime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Sadece yerel/günlük bir kavram mı? (Doğum Günleri, Alarmlar)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Sadece Tarih mi Lazım? ─&gt; LocalDate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Sadece Saat mi Lazım? ─&gt; LocalTime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İkisi de mi Lazım? ─&gt; LocalDateTime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[ İşlem Evresi: Bununla ne yapmak istiyorsunuz? ]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Geri Sayım/Mesafe mi hesaplanacak?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Takvim bazlı mı? ─&gt; Period Kullan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Saat bazlı mı? ─&gt; Duration Kullan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Arayüze veya Veritabanına mı gönderilecek?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DateTimeFormatter ile dönüştür (Formatla / Ayrıştır)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0" name="Rounded Rectangle 55"/>
          <p:cNvSpPr/>
          <p:nvPr/>
        </p:nvSpPr>
        <p:spPr>
          <a:xfrm>
            <a:off x="802836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1" name="Rounded Rectangle 56"/>
          <p:cNvSpPr/>
          <p:nvPr/>
        </p:nvSpPr>
        <p:spPr>
          <a:xfrm>
            <a:off x="8229600" y="2514600"/>
            <a:ext cx="3656880" cy="4114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ZamanEkoSistemi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1. İnsan Zaman Çizelgesi (Yerel)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yerelToplanti = LocalDateTime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.of(2025, 10, 15, 9, 0);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2. Dünya Izgarası (Bölgesel/Zoned)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nyBolgesi = ZoneId.of("America/New_York");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nyToplantisi = ZonedDateTime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.of(yerelToplanti, nyBolgesi);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3. Çeviri Katmanı (Formatlama)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 = DateTimeFormatter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.ofPattern("dd MMM yyyy - HH:mm z");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System.out.println("Toplantı: "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+ nyToplantisi.format(format));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4. Ölçüm (Süre/Mesafe)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suAn = ZonedDateTime.now(nyBolgesi);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if (nyToplantisi.isAfter(suAn))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Duration fark = Duration.between(suAn, nyToplantisi);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System.out.println(fark.toDays() + " gün kaldı!");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 else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System.out.println("Toplantı tarihi geçmiş.");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2" name="TextBox 2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Rectangle 113"/>
          <p:cNvSpPr/>
          <p:nvPr/>
        </p:nvSpPr>
        <p:spPr>
          <a:xfrm>
            <a:off x="0" y="0"/>
            <a:ext cx="12185280" cy="68544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4" name="Rectangle 114"/>
          <p:cNvSpPr/>
          <p:nvPr/>
        </p:nvSpPr>
        <p:spPr>
          <a:xfrm>
            <a:off x="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5" name="Rectangle 115"/>
          <p:cNvSpPr/>
          <p:nvPr/>
        </p:nvSpPr>
        <p:spPr>
          <a:xfrm>
            <a:off x="914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6" name="Rectangle 116"/>
          <p:cNvSpPr/>
          <p:nvPr/>
        </p:nvSpPr>
        <p:spPr>
          <a:xfrm>
            <a:off x="1828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7" name="Rectangle 117"/>
          <p:cNvSpPr/>
          <p:nvPr/>
        </p:nvSpPr>
        <p:spPr>
          <a:xfrm>
            <a:off x="2743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8" name="Rectangle 118"/>
          <p:cNvSpPr/>
          <p:nvPr/>
        </p:nvSpPr>
        <p:spPr>
          <a:xfrm>
            <a:off x="3657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9" name="Rectangle 119"/>
          <p:cNvSpPr/>
          <p:nvPr/>
        </p:nvSpPr>
        <p:spPr>
          <a:xfrm>
            <a:off x="4572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0" name="Rectangle 120"/>
          <p:cNvSpPr/>
          <p:nvPr/>
        </p:nvSpPr>
        <p:spPr>
          <a:xfrm>
            <a:off x="5486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1" name="Rectangle 121"/>
          <p:cNvSpPr/>
          <p:nvPr/>
        </p:nvSpPr>
        <p:spPr>
          <a:xfrm>
            <a:off x="6400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2" name="Rectangle 122"/>
          <p:cNvSpPr/>
          <p:nvPr/>
        </p:nvSpPr>
        <p:spPr>
          <a:xfrm>
            <a:off x="7315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3" name="Rectangle 123"/>
          <p:cNvSpPr/>
          <p:nvPr/>
        </p:nvSpPr>
        <p:spPr>
          <a:xfrm>
            <a:off x="8229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4" name="Rectangle 124"/>
          <p:cNvSpPr/>
          <p:nvPr/>
        </p:nvSpPr>
        <p:spPr>
          <a:xfrm>
            <a:off x="9144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5" name="Rectangle 125"/>
          <p:cNvSpPr/>
          <p:nvPr/>
        </p:nvSpPr>
        <p:spPr>
          <a:xfrm>
            <a:off x="10058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6" name="Rectangle 126"/>
          <p:cNvSpPr/>
          <p:nvPr/>
        </p:nvSpPr>
        <p:spPr>
          <a:xfrm>
            <a:off x="10972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7" name="Rectangle 127"/>
          <p:cNvSpPr/>
          <p:nvPr/>
        </p:nvSpPr>
        <p:spPr>
          <a:xfrm>
            <a:off x="11887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8" name="Rectangle 128"/>
          <p:cNvSpPr/>
          <p:nvPr/>
        </p:nvSpPr>
        <p:spPr>
          <a:xfrm>
            <a:off x="0" y="0"/>
            <a:ext cx="316440" cy="68544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9" name="Rounded Rectangle 57"/>
          <p:cNvSpPr/>
          <p:nvPr/>
        </p:nvSpPr>
        <p:spPr>
          <a:xfrm>
            <a:off x="9875520" y="365760"/>
            <a:ext cx="2008080" cy="4993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0" name="TextBox 24"/>
          <p:cNvSpPr/>
          <p:nvPr/>
        </p:nvSpPr>
        <p:spPr>
          <a:xfrm>
            <a:off x="2324520" y="914400"/>
            <a:ext cx="63198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Java'da Temel Operatörlere Giriş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TextBox 25"/>
          <p:cNvSpPr/>
          <p:nvPr/>
        </p:nvSpPr>
        <p:spPr>
          <a:xfrm>
            <a:off x="2448360" y="1828800"/>
            <a:ext cx="659052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Java'da operatörler, değişkenler ve değerler üzerinde matematiksel, mantıksal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veya ilişkisel işlemler gerçekleştirmemizi sağlayan özel sembollerdir.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İşlem gören verilere ise "Operand" denir.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Rounded Rectangle 58"/>
          <p:cNvSpPr/>
          <p:nvPr/>
        </p:nvSpPr>
        <p:spPr>
          <a:xfrm>
            <a:off x="98748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3" name="Rounded Rectangle 59"/>
          <p:cNvSpPr/>
          <p:nvPr/>
        </p:nvSpPr>
        <p:spPr>
          <a:xfrm>
            <a:off x="914400" y="3108960"/>
            <a:ext cx="3288240" cy="3291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Temel Terimler: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Operatör: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İşlemi yapan sembol (+, *, =).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Operand: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İşleme giren veri (x, 5).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(Örn: x + 5 ifadesinde + operatör, x ve 5 operanddır.)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Sık Kullanılan Operatör Türleri: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Aritmetik: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Matematiksel hesaplar yapar (+, -, *, /, % mod alma).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İlişkisel: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İki değeri karşılaştırır, geriye true veya false döner (==, !=, &gt;, &lt;).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Mantıksal: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Koşulları birbirine bağlar (&amp;&amp; VE, || VEYA, ! DEĞİL).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Atama: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Sağdaki değeri soldaki değişkene aktarır (=, +=, *=).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4" name="Rounded Rectangle 60"/>
          <p:cNvSpPr/>
          <p:nvPr/>
        </p:nvSpPr>
        <p:spPr>
          <a:xfrm>
            <a:off x="450792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5" name="Rounded Rectangle 61"/>
          <p:cNvSpPr/>
          <p:nvPr/>
        </p:nvSpPr>
        <p:spPr>
          <a:xfrm>
            <a:off x="4434840" y="2971800"/>
            <a:ext cx="3288240" cy="3428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Operatör İşlem Mantığı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1. Veriler (Operandlar) Hafızada Tanımlanır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Örn: int x = 10; int y = 5;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2. İfade (Expression) Değerlendirilir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Aritmetik: x + y (Sonuç: 15)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Mantıksal: x &gt; y (Sonuç: true)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3. Atama Operatörü Çalışır (=)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Hesaplanan sonuç yeni bir değişkene yazılır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4. Sonuç Çıktı Olarak Kullanılır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6" name="Rounded Rectangle 62"/>
          <p:cNvSpPr/>
          <p:nvPr/>
        </p:nvSpPr>
        <p:spPr>
          <a:xfrm>
            <a:off x="802836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7" name="Rounded Rectangle 63"/>
          <p:cNvSpPr/>
          <p:nvPr/>
        </p:nvSpPr>
        <p:spPr>
          <a:xfrm>
            <a:off x="7955280" y="2743200"/>
            <a:ext cx="3700800" cy="3655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OperatorGiris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Atama (Assignment) Operatörü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15;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4;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Aritmetik (Arithmetic) Operatörler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toplam = a + b;   // 19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kalan = a % b;    // 3 (Modülüs - kalanı bulur)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İlişkisel (Relational) Operatörler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buyukMu = (a &gt; b);  // true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esitMi = (a == b);  // false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4. Mantıksal (Logical) Operatörler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"a 10'dan büyük VE b çift sayı mı?"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sonuc = (a &gt; 10) &amp;&amp; (b % 2 == 0); // true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System.out.println("Toplam: " + toplam);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System.out.println("Kalan: " + kalan);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System.out.println("Mantıksal Sonuç: " + sonuc);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8" name="TextBox 27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37</TotalTime>
  <Application>LibreOffice/7.4.2.3$Windows_X86_64 LibreOffice_project/382eef1f22670f7f4118c8c2dd222ec7ad009daf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2026-05-05T21:44:07Z</dcterms:modified>
  <cp:revision>14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