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slides/slide25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</p:sldIdLst>
  <p:sldSz cx="10080625" cy="7559675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465AB51-D595-4F8E-8FCA-A0A10E1E7E2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B35C0E3-04A9-456C-9F03-754081F6F69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8EE119A-81C7-44A9-A751-974A8515624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B6C9A75-F1DE-41CD-AE6A-600EDB117C0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D03366B-5838-4A4E-8608-CABCD095981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9D56138-A0CA-46EC-ADB4-8C649061DAC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0B5FACE-ADE6-4DA1-ABA6-B7CE3B4BCF0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05F906B-4238-4293-A99F-13D82F23A41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EDA1CE5-A7DD-47F1-9A91-A930DC066C4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57BC4A9-C348-4C1F-91D4-D012B39E010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738922E-495C-4657-9115-F4D1422CD20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F72E759-6CE5-4494-B5D1-CF848A0338E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442320" y="7005240"/>
            <a:ext cx="3183840" cy="394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7223040" y="7005240"/>
            <a:ext cx="2344320" cy="394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1DC7E78-123F-4BF5-8CA7-BA25F6ACC07A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502920" y="7005240"/>
            <a:ext cx="2344320" cy="394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1440" y="1800"/>
            <a:ext cx="13428720" cy="7552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2"/>
          <p:cNvSpPr/>
          <p:nvPr/>
        </p:nvSpPr>
        <p:spPr>
          <a:xfrm>
            <a:off x="144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3"/>
          <p:cNvSpPr/>
          <p:nvPr/>
        </p:nvSpPr>
        <p:spPr>
          <a:xfrm>
            <a:off x="100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201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302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402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503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604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705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0"/>
          <p:cNvSpPr/>
          <p:nvPr/>
        </p:nvSpPr>
        <p:spPr>
          <a:xfrm>
            <a:off x="806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1"/>
          <p:cNvSpPr/>
          <p:nvPr/>
        </p:nvSpPr>
        <p:spPr>
          <a:xfrm>
            <a:off x="906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1007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3"/>
          <p:cNvSpPr/>
          <p:nvPr/>
        </p:nvSpPr>
        <p:spPr>
          <a:xfrm>
            <a:off x="1108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4"/>
          <p:cNvSpPr/>
          <p:nvPr/>
        </p:nvSpPr>
        <p:spPr>
          <a:xfrm>
            <a:off x="1209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1310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Rectangle 16"/>
          <p:cNvSpPr/>
          <p:nvPr/>
        </p:nvSpPr>
        <p:spPr>
          <a:xfrm>
            <a:off x="1440" y="1800"/>
            <a:ext cx="344880" cy="7552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Rounded Rectangle 17"/>
          <p:cNvSpPr/>
          <p:nvPr/>
        </p:nvSpPr>
        <p:spPr>
          <a:xfrm>
            <a:off x="10884960" y="401400"/>
            <a:ext cx="2209320" cy="545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4376880" y="1107000"/>
            <a:ext cx="33343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Introduction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9"/>
          <p:cNvSpPr/>
          <p:nvPr/>
        </p:nvSpPr>
        <p:spPr>
          <a:xfrm>
            <a:off x="1824120" y="2266200"/>
            <a:ext cx="90950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An overview of the Java programming language and the topics covered in this presentation.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20"/>
          <p:cNvSpPr/>
          <p:nvPr/>
        </p:nvSpPr>
        <p:spPr>
          <a:xfrm>
            <a:off x="108684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1"/>
          <p:cNvSpPr/>
          <p:nvPr/>
        </p:nvSpPr>
        <p:spPr>
          <a:xfrm>
            <a:off x="1006560" y="342576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Introduce the Java programming language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Explain core concepts and fundamentals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Build a strong foundation for Java development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2"/>
          <p:cNvSpPr/>
          <p:nvPr/>
        </p:nvSpPr>
        <p:spPr>
          <a:xfrm>
            <a:off x="49683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3"/>
          <p:cNvSpPr/>
          <p:nvPr/>
        </p:nvSpPr>
        <p:spPr>
          <a:xfrm>
            <a:off x="4886640" y="342576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Introduction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What is Java?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What Will You Learn?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History</a:t>
            </a:r>
            <a:br>
              <a:rPr sz="1800"/>
            </a:b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	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...more!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24"/>
          <p:cNvSpPr/>
          <p:nvPr/>
        </p:nvSpPr>
        <p:spPr>
          <a:xfrm>
            <a:off x="88491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Rounded Rectangle 25"/>
          <p:cNvSpPr/>
          <p:nvPr/>
        </p:nvSpPr>
        <p:spPr>
          <a:xfrm>
            <a:off x="8767440" y="342576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Introduction for Java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32"/>
          <p:cNvSpPr/>
          <p:nvPr/>
        </p:nvSpPr>
        <p:spPr>
          <a:xfrm>
            <a:off x="1440" y="1800"/>
            <a:ext cx="13428720" cy="7552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33"/>
          <p:cNvSpPr/>
          <p:nvPr/>
        </p:nvSpPr>
        <p:spPr>
          <a:xfrm>
            <a:off x="144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34"/>
          <p:cNvSpPr/>
          <p:nvPr/>
        </p:nvSpPr>
        <p:spPr>
          <a:xfrm>
            <a:off x="100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35"/>
          <p:cNvSpPr/>
          <p:nvPr/>
        </p:nvSpPr>
        <p:spPr>
          <a:xfrm>
            <a:off x="201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36"/>
          <p:cNvSpPr/>
          <p:nvPr/>
        </p:nvSpPr>
        <p:spPr>
          <a:xfrm>
            <a:off x="302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37"/>
          <p:cNvSpPr/>
          <p:nvPr/>
        </p:nvSpPr>
        <p:spPr>
          <a:xfrm>
            <a:off x="402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38"/>
          <p:cNvSpPr/>
          <p:nvPr/>
        </p:nvSpPr>
        <p:spPr>
          <a:xfrm>
            <a:off x="503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39"/>
          <p:cNvSpPr/>
          <p:nvPr/>
        </p:nvSpPr>
        <p:spPr>
          <a:xfrm>
            <a:off x="604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40"/>
          <p:cNvSpPr/>
          <p:nvPr/>
        </p:nvSpPr>
        <p:spPr>
          <a:xfrm>
            <a:off x="705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41"/>
          <p:cNvSpPr/>
          <p:nvPr/>
        </p:nvSpPr>
        <p:spPr>
          <a:xfrm>
            <a:off x="806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42"/>
          <p:cNvSpPr/>
          <p:nvPr/>
        </p:nvSpPr>
        <p:spPr>
          <a:xfrm>
            <a:off x="906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43"/>
          <p:cNvSpPr/>
          <p:nvPr/>
        </p:nvSpPr>
        <p:spPr>
          <a:xfrm>
            <a:off x="1007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44"/>
          <p:cNvSpPr/>
          <p:nvPr/>
        </p:nvSpPr>
        <p:spPr>
          <a:xfrm>
            <a:off x="1108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45"/>
          <p:cNvSpPr/>
          <p:nvPr/>
        </p:nvSpPr>
        <p:spPr>
          <a:xfrm>
            <a:off x="1209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46"/>
          <p:cNvSpPr/>
          <p:nvPr/>
        </p:nvSpPr>
        <p:spPr>
          <a:xfrm>
            <a:off x="1310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47"/>
          <p:cNvSpPr/>
          <p:nvPr/>
        </p:nvSpPr>
        <p:spPr>
          <a:xfrm>
            <a:off x="1440" y="1800"/>
            <a:ext cx="344880" cy="7552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10884960" y="401400"/>
            <a:ext cx="2209320" cy="545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4249800" y="1107000"/>
            <a:ext cx="35902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What is Java?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3414600" y="2266200"/>
            <a:ext cx="590976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is a high-level, object-oriented programming language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designed to be platform-independent and reliable.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9"/>
          <p:cNvSpPr/>
          <p:nvPr/>
        </p:nvSpPr>
        <p:spPr>
          <a:xfrm>
            <a:off x="108684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0"/>
          <p:cNvSpPr/>
          <p:nvPr/>
        </p:nvSpPr>
        <p:spPr>
          <a:xfrm>
            <a:off x="1006560" y="3425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High-level programming language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Object-oriented (OOP) approach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Platform-independent using JVM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Secure and robust by design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Widely used in enterprise and web applications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49683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2"/>
          <p:cNvSpPr/>
          <p:nvPr/>
        </p:nvSpPr>
        <p:spPr>
          <a:xfrm>
            <a:off x="4886640" y="3425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Virtual Machine (JVM)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Operating System</a:t>
            </a:r>
            <a:br>
              <a:rPr sz="1500"/>
            </a:br>
            <a:br>
              <a:rPr sz="1500"/>
            </a:b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Run Anywhere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3"/>
          <p:cNvSpPr/>
          <p:nvPr/>
        </p:nvSpPr>
        <p:spPr>
          <a:xfrm>
            <a:off x="88491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8767440" y="342576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System.out.println("Hello, Java!");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17"/>
          <p:cNvSpPr/>
          <p:nvPr/>
        </p:nvSpPr>
        <p:spPr>
          <a:xfrm>
            <a:off x="1440" y="1800"/>
            <a:ext cx="13428720" cy="7552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8"/>
          <p:cNvSpPr/>
          <p:nvPr/>
        </p:nvSpPr>
        <p:spPr>
          <a:xfrm>
            <a:off x="144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19"/>
          <p:cNvSpPr/>
          <p:nvPr/>
        </p:nvSpPr>
        <p:spPr>
          <a:xfrm>
            <a:off x="100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20"/>
          <p:cNvSpPr/>
          <p:nvPr/>
        </p:nvSpPr>
        <p:spPr>
          <a:xfrm>
            <a:off x="201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21"/>
          <p:cNvSpPr/>
          <p:nvPr/>
        </p:nvSpPr>
        <p:spPr>
          <a:xfrm>
            <a:off x="302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ectangle 22"/>
          <p:cNvSpPr/>
          <p:nvPr/>
        </p:nvSpPr>
        <p:spPr>
          <a:xfrm>
            <a:off x="402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ectangle 23"/>
          <p:cNvSpPr/>
          <p:nvPr/>
        </p:nvSpPr>
        <p:spPr>
          <a:xfrm>
            <a:off x="503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" name="Rectangle 24"/>
          <p:cNvSpPr/>
          <p:nvPr/>
        </p:nvSpPr>
        <p:spPr>
          <a:xfrm>
            <a:off x="604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ectangle 25"/>
          <p:cNvSpPr/>
          <p:nvPr/>
        </p:nvSpPr>
        <p:spPr>
          <a:xfrm>
            <a:off x="705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ectangle 26"/>
          <p:cNvSpPr/>
          <p:nvPr/>
        </p:nvSpPr>
        <p:spPr>
          <a:xfrm>
            <a:off x="806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ectangle 27"/>
          <p:cNvSpPr/>
          <p:nvPr/>
        </p:nvSpPr>
        <p:spPr>
          <a:xfrm>
            <a:off x="906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ectangle 28"/>
          <p:cNvSpPr/>
          <p:nvPr/>
        </p:nvSpPr>
        <p:spPr>
          <a:xfrm>
            <a:off x="1007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" name="Rectangle 29"/>
          <p:cNvSpPr/>
          <p:nvPr/>
        </p:nvSpPr>
        <p:spPr>
          <a:xfrm>
            <a:off x="1108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30"/>
          <p:cNvSpPr/>
          <p:nvPr/>
        </p:nvSpPr>
        <p:spPr>
          <a:xfrm>
            <a:off x="1209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31"/>
          <p:cNvSpPr/>
          <p:nvPr/>
        </p:nvSpPr>
        <p:spPr>
          <a:xfrm>
            <a:off x="1310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48"/>
          <p:cNvSpPr/>
          <p:nvPr/>
        </p:nvSpPr>
        <p:spPr>
          <a:xfrm>
            <a:off x="1440" y="1800"/>
            <a:ext cx="344880" cy="7552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10884960" y="401400"/>
            <a:ext cx="2209320" cy="545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3248280" y="1107000"/>
            <a:ext cx="5594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What Will You Learn?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3017520" y="2266200"/>
            <a:ext cx="67039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An overview of the key topics and skills covered in this Java course.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16"/>
          <p:cNvSpPr/>
          <p:nvPr/>
        </p:nvSpPr>
        <p:spPr>
          <a:xfrm>
            <a:off x="108684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ounded Rectangle 18"/>
          <p:cNvSpPr/>
          <p:nvPr/>
        </p:nvSpPr>
        <p:spPr>
          <a:xfrm>
            <a:off x="1006560" y="342576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Understand Java fundamentals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Learn object-oriented programming concepts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Write and run Java programs  • Build a strong programming foundation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ounded Rectangle 19"/>
          <p:cNvSpPr/>
          <p:nvPr/>
        </p:nvSpPr>
        <p:spPr>
          <a:xfrm>
            <a:off x="49683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ounded Rectangle 26"/>
          <p:cNvSpPr/>
          <p:nvPr/>
        </p:nvSpPr>
        <p:spPr>
          <a:xfrm>
            <a:off x="4886640" y="342432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Syntax &amp; Basics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Variables &amp; Data Types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Control Flow (if / loops)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Methods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Object-Oriented Programming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ounded Rectangle 27"/>
          <p:cNvSpPr/>
          <p:nvPr/>
        </p:nvSpPr>
        <p:spPr>
          <a:xfrm>
            <a:off x="88491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ounded Rectangle 28"/>
          <p:cNvSpPr/>
          <p:nvPr/>
        </p:nvSpPr>
        <p:spPr>
          <a:xfrm>
            <a:off x="8767440" y="3425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if (number &gt; 0)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System.out.println("Positive");}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for (int i = 0; i &lt; 3; i++)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9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49"/>
          <p:cNvSpPr/>
          <p:nvPr/>
        </p:nvSpPr>
        <p:spPr>
          <a:xfrm>
            <a:off x="1440" y="1800"/>
            <a:ext cx="13428720" cy="7552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50"/>
          <p:cNvSpPr/>
          <p:nvPr/>
        </p:nvSpPr>
        <p:spPr>
          <a:xfrm>
            <a:off x="144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51"/>
          <p:cNvSpPr/>
          <p:nvPr/>
        </p:nvSpPr>
        <p:spPr>
          <a:xfrm>
            <a:off x="100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52"/>
          <p:cNvSpPr/>
          <p:nvPr/>
        </p:nvSpPr>
        <p:spPr>
          <a:xfrm>
            <a:off x="201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53"/>
          <p:cNvSpPr/>
          <p:nvPr/>
        </p:nvSpPr>
        <p:spPr>
          <a:xfrm>
            <a:off x="302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54"/>
          <p:cNvSpPr/>
          <p:nvPr/>
        </p:nvSpPr>
        <p:spPr>
          <a:xfrm>
            <a:off x="402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55"/>
          <p:cNvSpPr/>
          <p:nvPr/>
        </p:nvSpPr>
        <p:spPr>
          <a:xfrm>
            <a:off x="503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56"/>
          <p:cNvSpPr/>
          <p:nvPr/>
        </p:nvSpPr>
        <p:spPr>
          <a:xfrm>
            <a:off x="604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57"/>
          <p:cNvSpPr/>
          <p:nvPr/>
        </p:nvSpPr>
        <p:spPr>
          <a:xfrm>
            <a:off x="705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58"/>
          <p:cNvSpPr/>
          <p:nvPr/>
        </p:nvSpPr>
        <p:spPr>
          <a:xfrm>
            <a:off x="806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59"/>
          <p:cNvSpPr/>
          <p:nvPr/>
        </p:nvSpPr>
        <p:spPr>
          <a:xfrm>
            <a:off x="906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60"/>
          <p:cNvSpPr/>
          <p:nvPr/>
        </p:nvSpPr>
        <p:spPr>
          <a:xfrm>
            <a:off x="1007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61"/>
          <p:cNvSpPr/>
          <p:nvPr/>
        </p:nvSpPr>
        <p:spPr>
          <a:xfrm>
            <a:off x="1108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62"/>
          <p:cNvSpPr/>
          <p:nvPr/>
        </p:nvSpPr>
        <p:spPr>
          <a:xfrm>
            <a:off x="1209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63"/>
          <p:cNvSpPr/>
          <p:nvPr/>
        </p:nvSpPr>
        <p:spPr>
          <a:xfrm>
            <a:off x="1310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64"/>
          <p:cNvSpPr/>
          <p:nvPr/>
        </p:nvSpPr>
        <p:spPr>
          <a:xfrm>
            <a:off x="1440" y="1800"/>
            <a:ext cx="344880" cy="7552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ounded Rectangle 29"/>
          <p:cNvSpPr/>
          <p:nvPr/>
        </p:nvSpPr>
        <p:spPr>
          <a:xfrm>
            <a:off x="10884960" y="401400"/>
            <a:ext cx="2209320" cy="545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4443480" y="1107000"/>
            <a:ext cx="32000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11"/>
          <p:cNvSpPr/>
          <p:nvPr/>
        </p:nvSpPr>
        <p:spPr>
          <a:xfrm>
            <a:off x="1890720" y="2266200"/>
            <a:ext cx="89625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How Java was born and why it became one of the most powerful programming languages.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Rounded Rectangle 30"/>
          <p:cNvSpPr/>
          <p:nvPr/>
        </p:nvSpPr>
        <p:spPr>
          <a:xfrm>
            <a:off x="108684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ounded Rectangle 31"/>
          <p:cNvSpPr/>
          <p:nvPr/>
        </p:nvSpPr>
        <p:spPr>
          <a:xfrm>
            <a:off x="1006560" y="3425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Beginning (1990)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was created at Sun Microsystems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Developed by James Gosling and his team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Originally called Oak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Initial goal: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Software for consumer electronics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TVs, set-top boxes, embedded systems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Key problem: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hardware, different software ❌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We needed one language that could run everywhere.”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Rounded Rectangle 32"/>
          <p:cNvSpPr/>
          <p:nvPr/>
        </p:nvSpPr>
        <p:spPr>
          <a:xfrm>
            <a:off x="49683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ounded Rectangle 33"/>
          <p:cNvSpPr/>
          <p:nvPr/>
        </p:nvSpPr>
        <p:spPr>
          <a:xfrm>
            <a:off x="4886640" y="3425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Run Anywhere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Compiled to Bytecode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Runs on JVM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Works on every OS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Released in 1995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Built for the Internet era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ounded Rectangle 34"/>
          <p:cNvSpPr/>
          <p:nvPr/>
        </p:nvSpPr>
        <p:spPr>
          <a:xfrm>
            <a:off x="88491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ounded Rectangle 35"/>
          <p:cNvSpPr/>
          <p:nvPr/>
        </p:nvSpPr>
        <p:spPr>
          <a:xfrm>
            <a:off x="8767440" y="3425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History Begins!");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year = 1995;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(year &gt;= 1995)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is born");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12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65"/>
          <p:cNvSpPr/>
          <p:nvPr/>
        </p:nvSpPr>
        <p:spPr>
          <a:xfrm>
            <a:off x="1440" y="1800"/>
            <a:ext cx="13428720" cy="7552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66"/>
          <p:cNvSpPr/>
          <p:nvPr/>
        </p:nvSpPr>
        <p:spPr>
          <a:xfrm>
            <a:off x="144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67"/>
          <p:cNvSpPr/>
          <p:nvPr/>
        </p:nvSpPr>
        <p:spPr>
          <a:xfrm>
            <a:off x="100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68"/>
          <p:cNvSpPr/>
          <p:nvPr/>
        </p:nvSpPr>
        <p:spPr>
          <a:xfrm>
            <a:off x="201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69"/>
          <p:cNvSpPr/>
          <p:nvPr/>
        </p:nvSpPr>
        <p:spPr>
          <a:xfrm>
            <a:off x="302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ectangle 70"/>
          <p:cNvSpPr/>
          <p:nvPr/>
        </p:nvSpPr>
        <p:spPr>
          <a:xfrm>
            <a:off x="402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ectangle 71"/>
          <p:cNvSpPr/>
          <p:nvPr/>
        </p:nvSpPr>
        <p:spPr>
          <a:xfrm>
            <a:off x="503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" name="Rectangle 72"/>
          <p:cNvSpPr/>
          <p:nvPr/>
        </p:nvSpPr>
        <p:spPr>
          <a:xfrm>
            <a:off x="604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ectangle 73"/>
          <p:cNvSpPr/>
          <p:nvPr/>
        </p:nvSpPr>
        <p:spPr>
          <a:xfrm>
            <a:off x="705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ectangle 74"/>
          <p:cNvSpPr/>
          <p:nvPr/>
        </p:nvSpPr>
        <p:spPr>
          <a:xfrm>
            <a:off x="806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ectangle 75"/>
          <p:cNvSpPr/>
          <p:nvPr/>
        </p:nvSpPr>
        <p:spPr>
          <a:xfrm>
            <a:off x="906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ectangle 76"/>
          <p:cNvSpPr/>
          <p:nvPr/>
        </p:nvSpPr>
        <p:spPr>
          <a:xfrm>
            <a:off x="1007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" name="Rectangle 77"/>
          <p:cNvSpPr/>
          <p:nvPr/>
        </p:nvSpPr>
        <p:spPr>
          <a:xfrm>
            <a:off x="1108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78"/>
          <p:cNvSpPr/>
          <p:nvPr/>
        </p:nvSpPr>
        <p:spPr>
          <a:xfrm>
            <a:off x="1209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79"/>
          <p:cNvSpPr/>
          <p:nvPr/>
        </p:nvSpPr>
        <p:spPr>
          <a:xfrm>
            <a:off x="1310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80"/>
          <p:cNvSpPr/>
          <p:nvPr/>
        </p:nvSpPr>
        <p:spPr>
          <a:xfrm>
            <a:off x="1440" y="1800"/>
            <a:ext cx="344880" cy="7552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ounded Rectangle 36"/>
          <p:cNvSpPr/>
          <p:nvPr/>
        </p:nvSpPr>
        <p:spPr>
          <a:xfrm>
            <a:off x="10884960" y="401400"/>
            <a:ext cx="2209320" cy="545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Box 13"/>
          <p:cNvSpPr/>
          <p:nvPr/>
        </p:nvSpPr>
        <p:spPr>
          <a:xfrm>
            <a:off x="2634120" y="1107000"/>
            <a:ext cx="68227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   </a:t>
            </a: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The Problem Before Java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14"/>
          <p:cNvSpPr/>
          <p:nvPr/>
        </p:nvSpPr>
        <p:spPr>
          <a:xfrm>
            <a:off x="3651840" y="2266200"/>
            <a:ext cx="54374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Why the world needed a new programming language.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Rounded Rectangle 37"/>
          <p:cNvSpPr/>
          <p:nvPr/>
        </p:nvSpPr>
        <p:spPr>
          <a:xfrm>
            <a:off x="108684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ounded Rectangle 38"/>
          <p:cNvSpPr/>
          <p:nvPr/>
        </p:nvSpPr>
        <p:spPr>
          <a:xfrm>
            <a:off x="679680" y="3273840"/>
            <a:ext cx="4028400" cy="3166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Software Chaos (Early 1990s)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situation: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computers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processors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operating systems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Result: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Programs worked on one machine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Failed on another ❌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Big issue: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Developers had to rewrite the same software again and again.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once” did NOT exist yet.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Rounded Rectangle 39"/>
          <p:cNvSpPr/>
          <p:nvPr/>
        </p:nvSpPr>
        <p:spPr>
          <a:xfrm>
            <a:off x="49683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ounded Rectangle 40"/>
          <p:cNvSpPr/>
          <p:nvPr/>
        </p:nvSpPr>
        <p:spPr>
          <a:xfrm>
            <a:off x="4886640" y="342576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Why Existing Languages Failed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 / C++ → Hardware dependent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Platform-specific binaries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Memory management issues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Security problems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Main pain: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One system = one build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i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 universal solution.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Rounded Rectangle 41"/>
          <p:cNvSpPr/>
          <p:nvPr/>
        </p:nvSpPr>
        <p:spPr>
          <a:xfrm>
            <a:off x="88491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ounded Rectangle 42"/>
          <p:cNvSpPr/>
          <p:nvPr/>
        </p:nvSpPr>
        <p:spPr>
          <a:xfrm>
            <a:off x="8767440" y="3425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Before Java philosophy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Code depended on hardware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device = 1991;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if (device != 1995)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System.out.println("Rewrite the software!");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Box 15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81"/>
          <p:cNvSpPr/>
          <p:nvPr/>
        </p:nvSpPr>
        <p:spPr>
          <a:xfrm>
            <a:off x="1440" y="1800"/>
            <a:ext cx="13428720" cy="7552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82"/>
          <p:cNvSpPr/>
          <p:nvPr/>
        </p:nvSpPr>
        <p:spPr>
          <a:xfrm>
            <a:off x="144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83"/>
          <p:cNvSpPr/>
          <p:nvPr/>
        </p:nvSpPr>
        <p:spPr>
          <a:xfrm>
            <a:off x="100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84"/>
          <p:cNvSpPr/>
          <p:nvPr/>
        </p:nvSpPr>
        <p:spPr>
          <a:xfrm>
            <a:off x="201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85"/>
          <p:cNvSpPr/>
          <p:nvPr/>
        </p:nvSpPr>
        <p:spPr>
          <a:xfrm>
            <a:off x="302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86"/>
          <p:cNvSpPr/>
          <p:nvPr/>
        </p:nvSpPr>
        <p:spPr>
          <a:xfrm>
            <a:off x="402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87"/>
          <p:cNvSpPr/>
          <p:nvPr/>
        </p:nvSpPr>
        <p:spPr>
          <a:xfrm>
            <a:off x="503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ectangle 88"/>
          <p:cNvSpPr/>
          <p:nvPr/>
        </p:nvSpPr>
        <p:spPr>
          <a:xfrm>
            <a:off x="604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ectangle 89"/>
          <p:cNvSpPr/>
          <p:nvPr/>
        </p:nvSpPr>
        <p:spPr>
          <a:xfrm>
            <a:off x="705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ectangle 90"/>
          <p:cNvSpPr/>
          <p:nvPr/>
        </p:nvSpPr>
        <p:spPr>
          <a:xfrm>
            <a:off x="806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ectangle 91"/>
          <p:cNvSpPr/>
          <p:nvPr/>
        </p:nvSpPr>
        <p:spPr>
          <a:xfrm>
            <a:off x="906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ectangle 92"/>
          <p:cNvSpPr/>
          <p:nvPr/>
        </p:nvSpPr>
        <p:spPr>
          <a:xfrm>
            <a:off x="1007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3" name="Rectangle 93"/>
          <p:cNvSpPr/>
          <p:nvPr/>
        </p:nvSpPr>
        <p:spPr>
          <a:xfrm>
            <a:off x="1108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94"/>
          <p:cNvSpPr/>
          <p:nvPr/>
        </p:nvSpPr>
        <p:spPr>
          <a:xfrm>
            <a:off x="1209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95"/>
          <p:cNvSpPr/>
          <p:nvPr/>
        </p:nvSpPr>
        <p:spPr>
          <a:xfrm>
            <a:off x="1310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96"/>
          <p:cNvSpPr/>
          <p:nvPr/>
        </p:nvSpPr>
        <p:spPr>
          <a:xfrm>
            <a:off x="1440" y="1800"/>
            <a:ext cx="344880" cy="7552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ounded Rectangle 43"/>
          <p:cNvSpPr/>
          <p:nvPr/>
        </p:nvSpPr>
        <p:spPr>
          <a:xfrm>
            <a:off x="10884960" y="401400"/>
            <a:ext cx="2209320" cy="545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Box 16"/>
          <p:cNvSpPr/>
          <p:nvPr/>
        </p:nvSpPr>
        <p:spPr>
          <a:xfrm>
            <a:off x="1678320" y="1107000"/>
            <a:ext cx="87429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       </a:t>
            </a: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 – The Oak Project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17"/>
          <p:cNvSpPr/>
          <p:nvPr/>
        </p:nvSpPr>
        <p:spPr>
          <a:xfrm>
            <a:off x="4784760" y="2266200"/>
            <a:ext cx="3169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idea that later became Java.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ounded Rectangle 44"/>
          <p:cNvSpPr/>
          <p:nvPr/>
        </p:nvSpPr>
        <p:spPr>
          <a:xfrm>
            <a:off x="108684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ounded Rectangle 45"/>
          <p:cNvSpPr/>
          <p:nvPr/>
        </p:nvSpPr>
        <p:spPr>
          <a:xfrm>
            <a:off x="1006560" y="342432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Project Oak (1991)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Sun Microsystems internal project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Led by James Gosling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Small, focused team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Original name: Oak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Purpose: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Software for smart devices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(TVs, set-top boxes, embedded systems)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Rounded Rectangle 46"/>
          <p:cNvSpPr/>
          <p:nvPr/>
        </p:nvSpPr>
        <p:spPr>
          <a:xfrm>
            <a:off x="49683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ounded Rectangle 48"/>
          <p:cNvSpPr/>
          <p:nvPr/>
        </p:nvSpPr>
        <p:spPr>
          <a:xfrm>
            <a:off x="88491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4" name="Rounded Rectangle 49"/>
          <p:cNvSpPr/>
          <p:nvPr/>
        </p:nvSpPr>
        <p:spPr>
          <a:xfrm>
            <a:off x="8767440" y="342576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OakIdea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runEverywhere = true;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(runEverywhere)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System.out.println("This idea will change software");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" name="TextBox 20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Rounded Rectangle 1"/>
          <p:cNvSpPr/>
          <p:nvPr/>
        </p:nvSpPr>
        <p:spPr>
          <a:xfrm>
            <a:off x="4941000" y="344988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The Core Idea Behind Oak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Simple syntax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Strong security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 direct hardware dependency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Automatic memory management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Revolutionary thought: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One language for many devices.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The same code should run everywhere.”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Rectangle 97"/>
          <p:cNvSpPr/>
          <p:nvPr/>
        </p:nvSpPr>
        <p:spPr>
          <a:xfrm>
            <a:off x="1440" y="1800"/>
            <a:ext cx="13428720" cy="7552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98"/>
          <p:cNvSpPr/>
          <p:nvPr/>
        </p:nvSpPr>
        <p:spPr>
          <a:xfrm>
            <a:off x="144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99"/>
          <p:cNvSpPr/>
          <p:nvPr/>
        </p:nvSpPr>
        <p:spPr>
          <a:xfrm>
            <a:off x="100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100"/>
          <p:cNvSpPr/>
          <p:nvPr/>
        </p:nvSpPr>
        <p:spPr>
          <a:xfrm>
            <a:off x="201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101"/>
          <p:cNvSpPr/>
          <p:nvPr/>
        </p:nvSpPr>
        <p:spPr>
          <a:xfrm>
            <a:off x="302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ectangle 102"/>
          <p:cNvSpPr/>
          <p:nvPr/>
        </p:nvSpPr>
        <p:spPr>
          <a:xfrm>
            <a:off x="402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ectangle 103"/>
          <p:cNvSpPr/>
          <p:nvPr/>
        </p:nvSpPr>
        <p:spPr>
          <a:xfrm>
            <a:off x="503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4" name="Rectangle 104"/>
          <p:cNvSpPr/>
          <p:nvPr/>
        </p:nvSpPr>
        <p:spPr>
          <a:xfrm>
            <a:off x="604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ectangle 105"/>
          <p:cNvSpPr/>
          <p:nvPr/>
        </p:nvSpPr>
        <p:spPr>
          <a:xfrm>
            <a:off x="705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ectangle 106"/>
          <p:cNvSpPr/>
          <p:nvPr/>
        </p:nvSpPr>
        <p:spPr>
          <a:xfrm>
            <a:off x="806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ectangle 107"/>
          <p:cNvSpPr/>
          <p:nvPr/>
        </p:nvSpPr>
        <p:spPr>
          <a:xfrm>
            <a:off x="906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ectangle 108"/>
          <p:cNvSpPr/>
          <p:nvPr/>
        </p:nvSpPr>
        <p:spPr>
          <a:xfrm>
            <a:off x="1007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ectangle 109"/>
          <p:cNvSpPr/>
          <p:nvPr/>
        </p:nvSpPr>
        <p:spPr>
          <a:xfrm>
            <a:off x="1108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110"/>
          <p:cNvSpPr/>
          <p:nvPr/>
        </p:nvSpPr>
        <p:spPr>
          <a:xfrm>
            <a:off x="1209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111"/>
          <p:cNvSpPr/>
          <p:nvPr/>
        </p:nvSpPr>
        <p:spPr>
          <a:xfrm>
            <a:off x="1310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112"/>
          <p:cNvSpPr/>
          <p:nvPr/>
        </p:nvSpPr>
        <p:spPr>
          <a:xfrm>
            <a:off x="1440" y="1800"/>
            <a:ext cx="344880" cy="7552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ounded Rectangle 47"/>
          <p:cNvSpPr/>
          <p:nvPr/>
        </p:nvSpPr>
        <p:spPr>
          <a:xfrm>
            <a:off x="10884960" y="401400"/>
            <a:ext cx="2209320" cy="545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Box 21"/>
          <p:cNvSpPr/>
          <p:nvPr/>
        </p:nvSpPr>
        <p:spPr>
          <a:xfrm>
            <a:off x="1764720" y="1107360"/>
            <a:ext cx="85752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 – From Oak to Java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Box 22"/>
          <p:cNvSpPr/>
          <p:nvPr/>
        </p:nvSpPr>
        <p:spPr>
          <a:xfrm>
            <a:off x="3970080" y="2266200"/>
            <a:ext cx="4798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How Oak became Java and found its real purpose.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Rounded Rectangle 50"/>
          <p:cNvSpPr/>
          <p:nvPr/>
        </p:nvSpPr>
        <p:spPr>
          <a:xfrm>
            <a:off x="108684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ounded Rectangle 51"/>
          <p:cNvSpPr/>
          <p:nvPr/>
        </p:nvSpPr>
        <p:spPr>
          <a:xfrm>
            <a:off x="1006560" y="3425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Turning Point (1994)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What went wrong?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Smart TV market failed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Oak had no commercial future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Project almost canceled ❌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But something changed…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Internet started to grow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Web browsers became popular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Need for portable, secure code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Key realization: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future is not TVs — it’s the Web.”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Rounded Rectangle 52"/>
          <p:cNvSpPr/>
          <p:nvPr/>
        </p:nvSpPr>
        <p:spPr>
          <a:xfrm>
            <a:off x="49683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ounded Rectangle 53"/>
          <p:cNvSpPr/>
          <p:nvPr/>
        </p:nvSpPr>
        <p:spPr>
          <a:xfrm>
            <a:off x="88491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0" name="Rounded Rectangle 54"/>
          <p:cNvSpPr/>
          <p:nvPr/>
        </p:nvSpPr>
        <p:spPr>
          <a:xfrm>
            <a:off x="8767440" y="3425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WebFuture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internetEra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if (internetEra)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"Java is ready for the Web!"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" name="TextBox 23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Rounded Rectangle 55"/>
          <p:cNvSpPr/>
          <p:nvPr/>
        </p:nvSpPr>
        <p:spPr>
          <a:xfrm>
            <a:off x="4941000" y="344952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Web Opportunity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Why Oak was perfect for the Internet?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Platform-independent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Secure by design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Small &amp; efficient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No direct hardware dependency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New direction: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From devices → browsers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From Oak → Java ☕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1995: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officially introduced to the world.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Rectangle 113"/>
          <p:cNvSpPr/>
          <p:nvPr/>
        </p:nvSpPr>
        <p:spPr>
          <a:xfrm>
            <a:off x="1440" y="1800"/>
            <a:ext cx="13428720" cy="7552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114"/>
          <p:cNvSpPr/>
          <p:nvPr/>
        </p:nvSpPr>
        <p:spPr>
          <a:xfrm>
            <a:off x="144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115"/>
          <p:cNvSpPr/>
          <p:nvPr/>
        </p:nvSpPr>
        <p:spPr>
          <a:xfrm>
            <a:off x="100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116"/>
          <p:cNvSpPr/>
          <p:nvPr/>
        </p:nvSpPr>
        <p:spPr>
          <a:xfrm>
            <a:off x="201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117"/>
          <p:cNvSpPr/>
          <p:nvPr/>
        </p:nvSpPr>
        <p:spPr>
          <a:xfrm>
            <a:off x="302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ectangle 118"/>
          <p:cNvSpPr/>
          <p:nvPr/>
        </p:nvSpPr>
        <p:spPr>
          <a:xfrm>
            <a:off x="402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ectangle 119"/>
          <p:cNvSpPr/>
          <p:nvPr/>
        </p:nvSpPr>
        <p:spPr>
          <a:xfrm>
            <a:off x="503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0" name="Rectangle 120"/>
          <p:cNvSpPr/>
          <p:nvPr/>
        </p:nvSpPr>
        <p:spPr>
          <a:xfrm>
            <a:off x="604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ectangle 121"/>
          <p:cNvSpPr/>
          <p:nvPr/>
        </p:nvSpPr>
        <p:spPr>
          <a:xfrm>
            <a:off x="705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ectangle 122"/>
          <p:cNvSpPr/>
          <p:nvPr/>
        </p:nvSpPr>
        <p:spPr>
          <a:xfrm>
            <a:off x="806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ectangle 123"/>
          <p:cNvSpPr/>
          <p:nvPr/>
        </p:nvSpPr>
        <p:spPr>
          <a:xfrm>
            <a:off x="906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ectangle 124"/>
          <p:cNvSpPr/>
          <p:nvPr/>
        </p:nvSpPr>
        <p:spPr>
          <a:xfrm>
            <a:off x="1007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ectangle 125"/>
          <p:cNvSpPr/>
          <p:nvPr/>
        </p:nvSpPr>
        <p:spPr>
          <a:xfrm>
            <a:off x="1108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126"/>
          <p:cNvSpPr/>
          <p:nvPr/>
        </p:nvSpPr>
        <p:spPr>
          <a:xfrm>
            <a:off x="1209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127"/>
          <p:cNvSpPr/>
          <p:nvPr/>
        </p:nvSpPr>
        <p:spPr>
          <a:xfrm>
            <a:off x="1310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128"/>
          <p:cNvSpPr/>
          <p:nvPr/>
        </p:nvSpPr>
        <p:spPr>
          <a:xfrm>
            <a:off x="1440" y="1800"/>
            <a:ext cx="344880" cy="7552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ounded Rectangle 56"/>
          <p:cNvSpPr/>
          <p:nvPr/>
        </p:nvSpPr>
        <p:spPr>
          <a:xfrm>
            <a:off x="10884960" y="401400"/>
            <a:ext cx="2209320" cy="545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Box 24"/>
          <p:cNvSpPr/>
          <p:nvPr/>
        </p:nvSpPr>
        <p:spPr>
          <a:xfrm>
            <a:off x="179640" y="1107360"/>
            <a:ext cx="117500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Philosophy – Write Once, Run Anywhere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Box 25"/>
          <p:cNvSpPr/>
          <p:nvPr/>
        </p:nvSpPr>
        <p:spPr>
          <a:xfrm>
            <a:off x="3797640" y="2266200"/>
            <a:ext cx="5146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idea that changed software development forever.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Rounded Rectangle 57"/>
          <p:cNvSpPr/>
          <p:nvPr/>
        </p:nvSpPr>
        <p:spPr>
          <a:xfrm>
            <a:off x="108684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ounded Rectangle 58"/>
          <p:cNvSpPr/>
          <p:nvPr/>
        </p:nvSpPr>
        <p:spPr>
          <a:xfrm>
            <a:off x="1006560" y="3425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Big Promise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Before Java: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One OS = one build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Recompile for every system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High maintenance cost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With Java: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One source 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One compiled bytecode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Runs everywhere 🌍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Famous slogan: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Run Anywhere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Rounded Rectangle 59"/>
          <p:cNvSpPr/>
          <p:nvPr/>
        </p:nvSpPr>
        <p:spPr>
          <a:xfrm>
            <a:off x="49683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ounded Rectangle 60"/>
          <p:cNvSpPr/>
          <p:nvPr/>
        </p:nvSpPr>
        <p:spPr>
          <a:xfrm>
            <a:off x="88491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6" name="Rounded Rectangle 61"/>
          <p:cNvSpPr/>
          <p:nvPr/>
        </p:nvSpPr>
        <p:spPr>
          <a:xfrm>
            <a:off x="8767440" y="3425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Anywhere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os = System.getProperty("os.name");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"Running on: " + os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"Same code. Same result."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" name="TextBox 27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Rounded Rectangle 62"/>
          <p:cNvSpPr/>
          <p:nvPr/>
        </p:nvSpPr>
        <p:spPr>
          <a:xfrm>
            <a:off x="4941000" y="345096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How It Works (Simple View)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execution model: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JVM (per OS)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Runs on any platform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ectangle 129"/>
          <p:cNvSpPr/>
          <p:nvPr/>
        </p:nvSpPr>
        <p:spPr>
          <a:xfrm>
            <a:off x="16920" y="1800"/>
            <a:ext cx="13428720" cy="7552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30"/>
          <p:cNvSpPr/>
          <p:nvPr/>
        </p:nvSpPr>
        <p:spPr>
          <a:xfrm>
            <a:off x="144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131"/>
          <p:cNvSpPr/>
          <p:nvPr/>
        </p:nvSpPr>
        <p:spPr>
          <a:xfrm>
            <a:off x="100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132"/>
          <p:cNvSpPr/>
          <p:nvPr/>
        </p:nvSpPr>
        <p:spPr>
          <a:xfrm>
            <a:off x="201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133"/>
          <p:cNvSpPr/>
          <p:nvPr/>
        </p:nvSpPr>
        <p:spPr>
          <a:xfrm>
            <a:off x="302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ectangle 134"/>
          <p:cNvSpPr/>
          <p:nvPr/>
        </p:nvSpPr>
        <p:spPr>
          <a:xfrm>
            <a:off x="402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ectangle 135"/>
          <p:cNvSpPr/>
          <p:nvPr/>
        </p:nvSpPr>
        <p:spPr>
          <a:xfrm>
            <a:off x="503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6" name="Rectangle 136"/>
          <p:cNvSpPr/>
          <p:nvPr/>
        </p:nvSpPr>
        <p:spPr>
          <a:xfrm>
            <a:off x="604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ectangle 137"/>
          <p:cNvSpPr/>
          <p:nvPr/>
        </p:nvSpPr>
        <p:spPr>
          <a:xfrm>
            <a:off x="705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ectangle 138"/>
          <p:cNvSpPr/>
          <p:nvPr/>
        </p:nvSpPr>
        <p:spPr>
          <a:xfrm>
            <a:off x="806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ectangle 139"/>
          <p:cNvSpPr/>
          <p:nvPr/>
        </p:nvSpPr>
        <p:spPr>
          <a:xfrm>
            <a:off x="906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ectangle 140"/>
          <p:cNvSpPr/>
          <p:nvPr/>
        </p:nvSpPr>
        <p:spPr>
          <a:xfrm>
            <a:off x="1007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ectangle 141"/>
          <p:cNvSpPr/>
          <p:nvPr/>
        </p:nvSpPr>
        <p:spPr>
          <a:xfrm>
            <a:off x="1108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142"/>
          <p:cNvSpPr/>
          <p:nvPr/>
        </p:nvSpPr>
        <p:spPr>
          <a:xfrm>
            <a:off x="1209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143"/>
          <p:cNvSpPr/>
          <p:nvPr/>
        </p:nvSpPr>
        <p:spPr>
          <a:xfrm>
            <a:off x="1310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144"/>
          <p:cNvSpPr/>
          <p:nvPr/>
        </p:nvSpPr>
        <p:spPr>
          <a:xfrm>
            <a:off x="1440" y="1800"/>
            <a:ext cx="344880" cy="7552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ounded Rectangle 63"/>
          <p:cNvSpPr/>
          <p:nvPr/>
        </p:nvSpPr>
        <p:spPr>
          <a:xfrm>
            <a:off x="10884960" y="401400"/>
            <a:ext cx="2209320" cy="545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TextBox 28"/>
          <p:cNvSpPr/>
          <p:nvPr/>
        </p:nvSpPr>
        <p:spPr>
          <a:xfrm>
            <a:off x="3444480" y="1107360"/>
            <a:ext cx="52164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Goes Enterprise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Box 29"/>
          <p:cNvSpPr/>
          <p:nvPr/>
        </p:nvSpPr>
        <p:spPr>
          <a:xfrm>
            <a:off x="4513680" y="2266200"/>
            <a:ext cx="3713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How Java entered large-scale systems.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Rounded Rectangle 64"/>
          <p:cNvSpPr/>
          <p:nvPr/>
        </p:nvSpPr>
        <p:spPr>
          <a:xfrm>
            <a:off x="108684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ounded Rectangle 65"/>
          <p:cNvSpPr/>
          <p:nvPr/>
        </p:nvSpPr>
        <p:spPr>
          <a:xfrm>
            <a:off x="1006560" y="3425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 the late 1990s, the Internet rapidly expanded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Companies needed software that could scale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Security became a critical requirement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Systems had to run on different operating systems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solved these problems with: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Platform independence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Strong object-oriented design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Built-in security features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Result: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became the preferred language for enterprise systems.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Rounded Rectangle 66"/>
          <p:cNvSpPr/>
          <p:nvPr/>
        </p:nvSpPr>
        <p:spPr>
          <a:xfrm>
            <a:off x="49683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ounded Rectangle 67"/>
          <p:cNvSpPr/>
          <p:nvPr/>
        </p:nvSpPr>
        <p:spPr>
          <a:xfrm>
            <a:off x="88491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2" name="Rounded Rectangle 68"/>
          <p:cNvSpPr/>
          <p:nvPr/>
        </p:nvSpPr>
        <p:spPr>
          <a:xfrm>
            <a:off x="8767440" y="3425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Enterprise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enters the enterprise world!");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3" name="TextBox 30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Rounded Rectangle 69"/>
          <p:cNvSpPr/>
          <p:nvPr/>
        </p:nvSpPr>
        <p:spPr>
          <a:xfrm>
            <a:off x="4941000" y="345096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adoption path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Web applications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Databases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Enterprise systems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Rectangle 145"/>
          <p:cNvSpPr/>
          <p:nvPr/>
        </p:nvSpPr>
        <p:spPr>
          <a:xfrm>
            <a:off x="16920" y="1800"/>
            <a:ext cx="13428720" cy="7552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46"/>
          <p:cNvSpPr/>
          <p:nvPr/>
        </p:nvSpPr>
        <p:spPr>
          <a:xfrm>
            <a:off x="144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147"/>
          <p:cNvSpPr/>
          <p:nvPr/>
        </p:nvSpPr>
        <p:spPr>
          <a:xfrm>
            <a:off x="100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148"/>
          <p:cNvSpPr/>
          <p:nvPr/>
        </p:nvSpPr>
        <p:spPr>
          <a:xfrm>
            <a:off x="201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149"/>
          <p:cNvSpPr/>
          <p:nvPr/>
        </p:nvSpPr>
        <p:spPr>
          <a:xfrm>
            <a:off x="302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ectangle 150"/>
          <p:cNvSpPr/>
          <p:nvPr/>
        </p:nvSpPr>
        <p:spPr>
          <a:xfrm>
            <a:off x="402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ectangle 151"/>
          <p:cNvSpPr/>
          <p:nvPr/>
        </p:nvSpPr>
        <p:spPr>
          <a:xfrm>
            <a:off x="503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2" name="Rectangle 152"/>
          <p:cNvSpPr/>
          <p:nvPr/>
        </p:nvSpPr>
        <p:spPr>
          <a:xfrm>
            <a:off x="604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ectangle 153"/>
          <p:cNvSpPr/>
          <p:nvPr/>
        </p:nvSpPr>
        <p:spPr>
          <a:xfrm>
            <a:off x="705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ectangle 154"/>
          <p:cNvSpPr/>
          <p:nvPr/>
        </p:nvSpPr>
        <p:spPr>
          <a:xfrm>
            <a:off x="806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ectangle 155"/>
          <p:cNvSpPr/>
          <p:nvPr/>
        </p:nvSpPr>
        <p:spPr>
          <a:xfrm>
            <a:off x="906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ectangle 156"/>
          <p:cNvSpPr/>
          <p:nvPr/>
        </p:nvSpPr>
        <p:spPr>
          <a:xfrm>
            <a:off x="1007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ectangle 157"/>
          <p:cNvSpPr/>
          <p:nvPr/>
        </p:nvSpPr>
        <p:spPr>
          <a:xfrm>
            <a:off x="1108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158"/>
          <p:cNvSpPr/>
          <p:nvPr/>
        </p:nvSpPr>
        <p:spPr>
          <a:xfrm>
            <a:off x="1209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159"/>
          <p:cNvSpPr/>
          <p:nvPr/>
        </p:nvSpPr>
        <p:spPr>
          <a:xfrm>
            <a:off x="1310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160"/>
          <p:cNvSpPr/>
          <p:nvPr/>
        </p:nvSpPr>
        <p:spPr>
          <a:xfrm>
            <a:off x="1440" y="1800"/>
            <a:ext cx="344880" cy="7552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ounded Rectangle 70"/>
          <p:cNvSpPr/>
          <p:nvPr/>
        </p:nvSpPr>
        <p:spPr>
          <a:xfrm>
            <a:off x="10884960" y="401400"/>
            <a:ext cx="2209320" cy="545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TextBox 31"/>
          <p:cNvSpPr/>
          <p:nvPr/>
        </p:nvSpPr>
        <p:spPr>
          <a:xfrm>
            <a:off x="2260440" y="1107360"/>
            <a:ext cx="75877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 – Java Versions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Box 32"/>
          <p:cNvSpPr/>
          <p:nvPr/>
        </p:nvSpPr>
        <p:spPr>
          <a:xfrm>
            <a:off x="4847040" y="2266200"/>
            <a:ext cx="30463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How Java evolved step by step.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Rounded Rectangle 71"/>
          <p:cNvSpPr/>
          <p:nvPr/>
        </p:nvSpPr>
        <p:spPr>
          <a:xfrm>
            <a:off x="108684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ounded Rectangle 72"/>
          <p:cNvSpPr/>
          <p:nvPr/>
        </p:nvSpPr>
        <p:spPr>
          <a:xfrm>
            <a:off x="1006560" y="342432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After 1994, Java changed direction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language was renamed from Oak to Java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started to be developed for the Web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Sun Microsystems decided to release Java publicly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From this point on, Java versions began to appear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en-US" sz="1500" spc="-1" strike="noStrike" u="sng">
                <a:solidFill>
                  <a:schemeClr val="lt1"/>
                </a:solidFill>
                <a:uFillTx/>
                <a:latin typeface="Calibri"/>
                <a:ea typeface="DejaVu Sans"/>
              </a:rPr>
              <a:t>Key idea: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Each version improved Java without breaking the old ones.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Rounded Rectangle 73"/>
          <p:cNvSpPr/>
          <p:nvPr/>
        </p:nvSpPr>
        <p:spPr>
          <a:xfrm>
            <a:off x="49683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ounded Rectangle 74"/>
          <p:cNvSpPr/>
          <p:nvPr/>
        </p:nvSpPr>
        <p:spPr>
          <a:xfrm>
            <a:off x="88491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8" name="Rounded Rectangle 75"/>
          <p:cNvSpPr/>
          <p:nvPr/>
        </p:nvSpPr>
        <p:spPr>
          <a:xfrm>
            <a:off x="8767440" y="3425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9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JavaVersionIntro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keeps evolving version by version.");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9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9" name="TextBox 33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Rounded Rectangle 76"/>
          <p:cNvSpPr/>
          <p:nvPr/>
        </p:nvSpPr>
        <p:spPr>
          <a:xfrm>
            <a:off x="4941000" y="345096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versions are not rewrites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They are gradual improvements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New features + same core idea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Philosophy: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improve forever.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Rectangle 161"/>
          <p:cNvSpPr/>
          <p:nvPr/>
        </p:nvSpPr>
        <p:spPr>
          <a:xfrm>
            <a:off x="16920" y="1800"/>
            <a:ext cx="13428720" cy="7552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62"/>
          <p:cNvSpPr/>
          <p:nvPr/>
        </p:nvSpPr>
        <p:spPr>
          <a:xfrm>
            <a:off x="144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ectangle 163"/>
          <p:cNvSpPr/>
          <p:nvPr/>
        </p:nvSpPr>
        <p:spPr>
          <a:xfrm>
            <a:off x="100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ectangle 164"/>
          <p:cNvSpPr/>
          <p:nvPr/>
        </p:nvSpPr>
        <p:spPr>
          <a:xfrm>
            <a:off x="201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ectangle 165"/>
          <p:cNvSpPr/>
          <p:nvPr/>
        </p:nvSpPr>
        <p:spPr>
          <a:xfrm>
            <a:off x="302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ectangle 166"/>
          <p:cNvSpPr/>
          <p:nvPr/>
        </p:nvSpPr>
        <p:spPr>
          <a:xfrm>
            <a:off x="402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ectangle 167"/>
          <p:cNvSpPr/>
          <p:nvPr/>
        </p:nvSpPr>
        <p:spPr>
          <a:xfrm>
            <a:off x="503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8" name="Rectangle 168"/>
          <p:cNvSpPr/>
          <p:nvPr/>
        </p:nvSpPr>
        <p:spPr>
          <a:xfrm>
            <a:off x="604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ectangle 169"/>
          <p:cNvSpPr/>
          <p:nvPr/>
        </p:nvSpPr>
        <p:spPr>
          <a:xfrm>
            <a:off x="705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ectangle 170"/>
          <p:cNvSpPr/>
          <p:nvPr/>
        </p:nvSpPr>
        <p:spPr>
          <a:xfrm>
            <a:off x="806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ectangle 171"/>
          <p:cNvSpPr/>
          <p:nvPr/>
        </p:nvSpPr>
        <p:spPr>
          <a:xfrm>
            <a:off x="906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ectangle 172"/>
          <p:cNvSpPr/>
          <p:nvPr/>
        </p:nvSpPr>
        <p:spPr>
          <a:xfrm>
            <a:off x="1007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3" name="Rectangle 173"/>
          <p:cNvSpPr/>
          <p:nvPr/>
        </p:nvSpPr>
        <p:spPr>
          <a:xfrm>
            <a:off x="1108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174"/>
          <p:cNvSpPr/>
          <p:nvPr/>
        </p:nvSpPr>
        <p:spPr>
          <a:xfrm>
            <a:off x="1209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175"/>
          <p:cNvSpPr/>
          <p:nvPr/>
        </p:nvSpPr>
        <p:spPr>
          <a:xfrm>
            <a:off x="1310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176"/>
          <p:cNvSpPr/>
          <p:nvPr/>
        </p:nvSpPr>
        <p:spPr>
          <a:xfrm>
            <a:off x="1440" y="1800"/>
            <a:ext cx="344880" cy="7552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ounded Rectangle 77"/>
          <p:cNvSpPr/>
          <p:nvPr/>
        </p:nvSpPr>
        <p:spPr>
          <a:xfrm>
            <a:off x="10884960" y="401400"/>
            <a:ext cx="2209320" cy="545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TextBox 34"/>
          <p:cNvSpPr/>
          <p:nvPr/>
        </p:nvSpPr>
        <p:spPr>
          <a:xfrm>
            <a:off x="1610280" y="1107360"/>
            <a:ext cx="88905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The Enterprise Boom (2000–2005)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Box 35"/>
          <p:cNvSpPr/>
          <p:nvPr/>
        </p:nvSpPr>
        <p:spPr>
          <a:xfrm>
            <a:off x="3708360" y="2266200"/>
            <a:ext cx="5324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How Java became the backbone of enterprise software.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Rounded Rectangle 78"/>
          <p:cNvSpPr/>
          <p:nvPr/>
        </p:nvSpPr>
        <p:spPr>
          <a:xfrm>
            <a:off x="108684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ounded Rectangle 79"/>
          <p:cNvSpPr/>
          <p:nvPr/>
        </p:nvSpPr>
        <p:spPr>
          <a:xfrm>
            <a:off x="1006560" y="342432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early 2000s: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Internet usage exploded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E-commerce started to grow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Companies needed large-scale systems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Systems had to be: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- Reliable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- Secure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- Scalable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Rounded Rectangle 80"/>
          <p:cNvSpPr/>
          <p:nvPr/>
        </p:nvSpPr>
        <p:spPr>
          <a:xfrm>
            <a:off x="49683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ounded Rectangle 81"/>
          <p:cNvSpPr/>
          <p:nvPr/>
        </p:nvSpPr>
        <p:spPr>
          <a:xfrm>
            <a:off x="88491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4" name="Rounded Rectangle 82"/>
          <p:cNvSpPr/>
          <p:nvPr/>
        </p:nvSpPr>
        <p:spPr>
          <a:xfrm>
            <a:off x="8767440" y="3425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EnterpriseEra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systemOnline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if (systemOnline)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"Enterprise systems are running 24/7."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5" name="TextBox 36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Rounded Rectangle 83"/>
          <p:cNvSpPr/>
          <p:nvPr/>
        </p:nvSpPr>
        <p:spPr>
          <a:xfrm>
            <a:off x="4941000" y="345096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Why Java dominated this era: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2 Platform (J2SE, J2EE, J2ME)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Strong server-side programming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Multi-tier architecture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Built-in security model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Database-driven applications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Rectangle 177"/>
          <p:cNvSpPr/>
          <p:nvPr/>
        </p:nvSpPr>
        <p:spPr>
          <a:xfrm>
            <a:off x="16920" y="1800"/>
            <a:ext cx="13428720" cy="7552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178"/>
          <p:cNvSpPr/>
          <p:nvPr/>
        </p:nvSpPr>
        <p:spPr>
          <a:xfrm>
            <a:off x="144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179"/>
          <p:cNvSpPr/>
          <p:nvPr/>
        </p:nvSpPr>
        <p:spPr>
          <a:xfrm>
            <a:off x="100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180"/>
          <p:cNvSpPr/>
          <p:nvPr/>
        </p:nvSpPr>
        <p:spPr>
          <a:xfrm>
            <a:off x="201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181"/>
          <p:cNvSpPr/>
          <p:nvPr/>
        </p:nvSpPr>
        <p:spPr>
          <a:xfrm>
            <a:off x="302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ectangle 182"/>
          <p:cNvSpPr/>
          <p:nvPr/>
        </p:nvSpPr>
        <p:spPr>
          <a:xfrm>
            <a:off x="402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ectangle 183"/>
          <p:cNvSpPr/>
          <p:nvPr/>
        </p:nvSpPr>
        <p:spPr>
          <a:xfrm>
            <a:off x="503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4" name="Rectangle 184"/>
          <p:cNvSpPr/>
          <p:nvPr/>
        </p:nvSpPr>
        <p:spPr>
          <a:xfrm>
            <a:off x="604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ectangle 185"/>
          <p:cNvSpPr/>
          <p:nvPr/>
        </p:nvSpPr>
        <p:spPr>
          <a:xfrm>
            <a:off x="705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ectangle 186"/>
          <p:cNvSpPr/>
          <p:nvPr/>
        </p:nvSpPr>
        <p:spPr>
          <a:xfrm>
            <a:off x="806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ectangle 187"/>
          <p:cNvSpPr/>
          <p:nvPr/>
        </p:nvSpPr>
        <p:spPr>
          <a:xfrm>
            <a:off x="906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ectangle 188"/>
          <p:cNvSpPr/>
          <p:nvPr/>
        </p:nvSpPr>
        <p:spPr>
          <a:xfrm>
            <a:off x="1007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ectangle 189"/>
          <p:cNvSpPr/>
          <p:nvPr/>
        </p:nvSpPr>
        <p:spPr>
          <a:xfrm>
            <a:off x="1108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190"/>
          <p:cNvSpPr/>
          <p:nvPr/>
        </p:nvSpPr>
        <p:spPr>
          <a:xfrm>
            <a:off x="1209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191"/>
          <p:cNvSpPr/>
          <p:nvPr/>
        </p:nvSpPr>
        <p:spPr>
          <a:xfrm>
            <a:off x="1310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192"/>
          <p:cNvSpPr/>
          <p:nvPr/>
        </p:nvSpPr>
        <p:spPr>
          <a:xfrm>
            <a:off x="1440" y="1800"/>
            <a:ext cx="344880" cy="7552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ounded Rectangle 84"/>
          <p:cNvSpPr/>
          <p:nvPr/>
        </p:nvSpPr>
        <p:spPr>
          <a:xfrm>
            <a:off x="10884960" y="401400"/>
            <a:ext cx="2209320" cy="545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" name="TextBox 37"/>
          <p:cNvSpPr/>
          <p:nvPr/>
        </p:nvSpPr>
        <p:spPr>
          <a:xfrm>
            <a:off x="1154160" y="1107360"/>
            <a:ext cx="98038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Technologies Between 2000–2005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TextBox 38"/>
          <p:cNvSpPr/>
          <p:nvPr/>
        </p:nvSpPr>
        <p:spPr>
          <a:xfrm>
            <a:off x="4301280" y="2266200"/>
            <a:ext cx="4137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foundation of modern enterprise Java.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Rounded Rectangle 85"/>
          <p:cNvSpPr/>
          <p:nvPr/>
        </p:nvSpPr>
        <p:spPr>
          <a:xfrm>
            <a:off x="108684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ounded Rectangle 86"/>
          <p:cNvSpPr/>
          <p:nvPr/>
        </p:nvSpPr>
        <p:spPr>
          <a:xfrm>
            <a:off x="1006560" y="342432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Key technologies: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Servlets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JSP (JavaServer Pages)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JDBC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JNDI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EJB (Enterprise JavaBeans)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" name="Rounded Rectangle 87"/>
          <p:cNvSpPr/>
          <p:nvPr/>
        </p:nvSpPr>
        <p:spPr>
          <a:xfrm>
            <a:off x="49683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ounded Rectangle 88"/>
          <p:cNvSpPr/>
          <p:nvPr/>
        </p:nvSpPr>
        <p:spPr>
          <a:xfrm>
            <a:off x="88491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0" name="Rounded Rectangle 89"/>
          <p:cNvSpPr/>
          <p:nvPr/>
        </p:nvSpPr>
        <p:spPr>
          <a:xfrm>
            <a:off x="8767440" y="3425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user = "Client";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"Welcome to the enterprise system, " + user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1" name="TextBox 39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Rounded Rectangle 90"/>
          <p:cNvSpPr/>
          <p:nvPr/>
        </p:nvSpPr>
        <p:spPr>
          <a:xfrm>
            <a:off x="4941000" y="345096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With these technologies: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Dynamic web applications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Database-driven systems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Transaction management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Distributed applications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Enterprise scalability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Rectangle 193"/>
          <p:cNvSpPr/>
          <p:nvPr/>
        </p:nvSpPr>
        <p:spPr>
          <a:xfrm>
            <a:off x="16920" y="1800"/>
            <a:ext cx="13428720" cy="7552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194"/>
          <p:cNvSpPr/>
          <p:nvPr/>
        </p:nvSpPr>
        <p:spPr>
          <a:xfrm>
            <a:off x="144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ectangle 195"/>
          <p:cNvSpPr/>
          <p:nvPr/>
        </p:nvSpPr>
        <p:spPr>
          <a:xfrm>
            <a:off x="100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6" name="Rectangle 196"/>
          <p:cNvSpPr/>
          <p:nvPr/>
        </p:nvSpPr>
        <p:spPr>
          <a:xfrm>
            <a:off x="201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ectangle 197"/>
          <p:cNvSpPr/>
          <p:nvPr/>
        </p:nvSpPr>
        <p:spPr>
          <a:xfrm>
            <a:off x="302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ectangle 198"/>
          <p:cNvSpPr/>
          <p:nvPr/>
        </p:nvSpPr>
        <p:spPr>
          <a:xfrm>
            <a:off x="402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ectangle 199"/>
          <p:cNvSpPr/>
          <p:nvPr/>
        </p:nvSpPr>
        <p:spPr>
          <a:xfrm>
            <a:off x="503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0" name="Rectangle 200"/>
          <p:cNvSpPr/>
          <p:nvPr/>
        </p:nvSpPr>
        <p:spPr>
          <a:xfrm>
            <a:off x="604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ectangle 201"/>
          <p:cNvSpPr/>
          <p:nvPr/>
        </p:nvSpPr>
        <p:spPr>
          <a:xfrm>
            <a:off x="705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ectangle 202"/>
          <p:cNvSpPr/>
          <p:nvPr/>
        </p:nvSpPr>
        <p:spPr>
          <a:xfrm>
            <a:off x="806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ectangle 203"/>
          <p:cNvSpPr/>
          <p:nvPr/>
        </p:nvSpPr>
        <p:spPr>
          <a:xfrm>
            <a:off x="906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ectangle 204"/>
          <p:cNvSpPr/>
          <p:nvPr/>
        </p:nvSpPr>
        <p:spPr>
          <a:xfrm>
            <a:off x="1007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5" name="Rectangle 205"/>
          <p:cNvSpPr/>
          <p:nvPr/>
        </p:nvSpPr>
        <p:spPr>
          <a:xfrm>
            <a:off x="1108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206"/>
          <p:cNvSpPr/>
          <p:nvPr/>
        </p:nvSpPr>
        <p:spPr>
          <a:xfrm>
            <a:off x="1209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207"/>
          <p:cNvSpPr/>
          <p:nvPr/>
        </p:nvSpPr>
        <p:spPr>
          <a:xfrm>
            <a:off x="1310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208"/>
          <p:cNvSpPr/>
          <p:nvPr/>
        </p:nvSpPr>
        <p:spPr>
          <a:xfrm>
            <a:off x="1440" y="1800"/>
            <a:ext cx="344880" cy="7552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ounded Rectangle 91"/>
          <p:cNvSpPr/>
          <p:nvPr/>
        </p:nvSpPr>
        <p:spPr>
          <a:xfrm>
            <a:off x="10884960" y="401400"/>
            <a:ext cx="2209320" cy="545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0" name="TextBox 40"/>
          <p:cNvSpPr/>
          <p:nvPr/>
        </p:nvSpPr>
        <p:spPr>
          <a:xfrm>
            <a:off x="2151360" y="1107360"/>
            <a:ext cx="78102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Technologies (2005–2010)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TextBox 41"/>
          <p:cNvSpPr/>
          <p:nvPr/>
        </p:nvSpPr>
        <p:spPr>
          <a:xfrm>
            <a:off x="5032440" y="2266200"/>
            <a:ext cx="2674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Framework Revolution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Rounded Rectangle 92"/>
          <p:cNvSpPr/>
          <p:nvPr/>
        </p:nvSpPr>
        <p:spPr>
          <a:xfrm>
            <a:off x="108684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ounded Rectangle 93"/>
          <p:cNvSpPr/>
          <p:nvPr/>
        </p:nvSpPr>
        <p:spPr>
          <a:xfrm>
            <a:off x="1006560" y="342432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Key Technologies (What emerged):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Spring Framework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(Inversion of Control, Dependency Injection)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Hibernate / JPA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(Object–Relational Mapping)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EE 5 &amp; 6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(Annotations replace XML-heavy configs)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JSF (JavaServer Faces)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(Component-based UI)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Maven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(Standard build &amp; dependency management)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4" name="Rounded Rectangle 94"/>
          <p:cNvSpPr/>
          <p:nvPr/>
        </p:nvSpPr>
        <p:spPr>
          <a:xfrm>
            <a:off x="49683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ounded Rectangle 95"/>
          <p:cNvSpPr/>
          <p:nvPr/>
        </p:nvSpPr>
        <p:spPr>
          <a:xfrm>
            <a:off x="88491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6" name="Rounded Rectangle 96"/>
          <p:cNvSpPr/>
          <p:nvPr/>
        </p:nvSpPr>
        <p:spPr>
          <a:xfrm>
            <a:off x="8767440" y="3425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@Service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OrderService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@Autowired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private OrderRepository repository;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Order findOrder(Long id)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repository.findById(id);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7" name="TextBox 42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Rounded Rectangle 97"/>
          <p:cNvSpPr/>
          <p:nvPr/>
        </p:nvSpPr>
        <p:spPr>
          <a:xfrm>
            <a:off x="4941000" y="345096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Why this era mattered: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XML-heavy enterprise Java was simplified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Boilerplate code dramatically reduced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Loose coupling became standard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MVC and layered architecture spread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Developers gained productivity and flexibility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Before 2005: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Enterprise Java = complex, verbose, hard to maintain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After 2005: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Enterprise Java = cleaner, modular, framework-driven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Rectangle 209"/>
          <p:cNvSpPr/>
          <p:nvPr/>
        </p:nvSpPr>
        <p:spPr>
          <a:xfrm>
            <a:off x="16920" y="1800"/>
            <a:ext cx="13428720" cy="7552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210"/>
          <p:cNvSpPr/>
          <p:nvPr/>
        </p:nvSpPr>
        <p:spPr>
          <a:xfrm>
            <a:off x="144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ectangle 211"/>
          <p:cNvSpPr/>
          <p:nvPr/>
        </p:nvSpPr>
        <p:spPr>
          <a:xfrm>
            <a:off x="100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ectangle 212"/>
          <p:cNvSpPr/>
          <p:nvPr/>
        </p:nvSpPr>
        <p:spPr>
          <a:xfrm>
            <a:off x="201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ectangle 213"/>
          <p:cNvSpPr/>
          <p:nvPr/>
        </p:nvSpPr>
        <p:spPr>
          <a:xfrm>
            <a:off x="302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ectangle 214"/>
          <p:cNvSpPr/>
          <p:nvPr/>
        </p:nvSpPr>
        <p:spPr>
          <a:xfrm>
            <a:off x="402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ectangle 215"/>
          <p:cNvSpPr/>
          <p:nvPr/>
        </p:nvSpPr>
        <p:spPr>
          <a:xfrm>
            <a:off x="503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6" name="Rectangle 216"/>
          <p:cNvSpPr/>
          <p:nvPr/>
        </p:nvSpPr>
        <p:spPr>
          <a:xfrm>
            <a:off x="604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ectangle 217"/>
          <p:cNvSpPr/>
          <p:nvPr/>
        </p:nvSpPr>
        <p:spPr>
          <a:xfrm>
            <a:off x="705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ectangle 218"/>
          <p:cNvSpPr/>
          <p:nvPr/>
        </p:nvSpPr>
        <p:spPr>
          <a:xfrm>
            <a:off x="806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ectangle 219"/>
          <p:cNvSpPr/>
          <p:nvPr/>
        </p:nvSpPr>
        <p:spPr>
          <a:xfrm>
            <a:off x="906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ectangle 220"/>
          <p:cNvSpPr/>
          <p:nvPr/>
        </p:nvSpPr>
        <p:spPr>
          <a:xfrm>
            <a:off x="1007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ectangle 221"/>
          <p:cNvSpPr/>
          <p:nvPr/>
        </p:nvSpPr>
        <p:spPr>
          <a:xfrm>
            <a:off x="1108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222"/>
          <p:cNvSpPr/>
          <p:nvPr/>
        </p:nvSpPr>
        <p:spPr>
          <a:xfrm>
            <a:off x="1209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223"/>
          <p:cNvSpPr/>
          <p:nvPr/>
        </p:nvSpPr>
        <p:spPr>
          <a:xfrm>
            <a:off x="1310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224"/>
          <p:cNvSpPr/>
          <p:nvPr/>
        </p:nvSpPr>
        <p:spPr>
          <a:xfrm>
            <a:off x="1440" y="1800"/>
            <a:ext cx="344880" cy="7552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ounded Rectangle 98"/>
          <p:cNvSpPr/>
          <p:nvPr/>
        </p:nvSpPr>
        <p:spPr>
          <a:xfrm>
            <a:off x="10884960" y="401400"/>
            <a:ext cx="2209320" cy="545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6" name="TextBox 43"/>
          <p:cNvSpPr/>
          <p:nvPr/>
        </p:nvSpPr>
        <p:spPr>
          <a:xfrm>
            <a:off x="2586960" y="1107360"/>
            <a:ext cx="69400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Modern Java &amp; Cloud Era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TextBox 44"/>
          <p:cNvSpPr/>
          <p:nvPr/>
        </p:nvSpPr>
        <p:spPr>
          <a:xfrm>
            <a:off x="5032440" y="2266200"/>
            <a:ext cx="2674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Framework Revolution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Rounded Rectangle 99"/>
          <p:cNvSpPr/>
          <p:nvPr/>
        </p:nvSpPr>
        <p:spPr>
          <a:xfrm>
            <a:off x="108684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ounded Rectangle 100"/>
          <p:cNvSpPr/>
          <p:nvPr/>
        </p:nvSpPr>
        <p:spPr>
          <a:xfrm>
            <a:off x="1020960" y="342432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(Key technologies):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Spring Boot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REST APIs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Microservices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Docker &amp; Kubernetes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Java 8+ (Lambdas, Streams)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0" name="Rounded Rectangle 101"/>
          <p:cNvSpPr/>
          <p:nvPr/>
        </p:nvSpPr>
        <p:spPr>
          <a:xfrm>
            <a:off x="49683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ounded Rectangle 102"/>
          <p:cNvSpPr/>
          <p:nvPr/>
        </p:nvSpPr>
        <p:spPr>
          <a:xfrm>
            <a:off x="88491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2" name="Rounded Rectangle 103"/>
          <p:cNvSpPr/>
          <p:nvPr/>
        </p:nvSpPr>
        <p:spPr>
          <a:xfrm>
            <a:off x="8767440" y="3425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@GetMapping("/users/{id}")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User getUser(@PathVariable Long id)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userService.getUser(id);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3" name="TextBox 45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Rounded Rectangle 104"/>
          <p:cNvSpPr/>
          <p:nvPr/>
        </p:nvSpPr>
        <p:spPr>
          <a:xfrm>
            <a:off x="4941000" y="345096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Cloud-native apps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Microservice scalability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Fast deployment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Functional programming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Long-term support (LTS)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Rectangle 225"/>
          <p:cNvSpPr/>
          <p:nvPr/>
        </p:nvSpPr>
        <p:spPr>
          <a:xfrm>
            <a:off x="16920" y="1800"/>
            <a:ext cx="13428720" cy="7552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226"/>
          <p:cNvSpPr/>
          <p:nvPr/>
        </p:nvSpPr>
        <p:spPr>
          <a:xfrm>
            <a:off x="144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ectangle 227"/>
          <p:cNvSpPr/>
          <p:nvPr/>
        </p:nvSpPr>
        <p:spPr>
          <a:xfrm>
            <a:off x="100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8" name="Rectangle 228"/>
          <p:cNvSpPr/>
          <p:nvPr/>
        </p:nvSpPr>
        <p:spPr>
          <a:xfrm>
            <a:off x="201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ectangle 229"/>
          <p:cNvSpPr/>
          <p:nvPr/>
        </p:nvSpPr>
        <p:spPr>
          <a:xfrm>
            <a:off x="302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ectangle 230"/>
          <p:cNvSpPr/>
          <p:nvPr/>
        </p:nvSpPr>
        <p:spPr>
          <a:xfrm>
            <a:off x="402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ectangle 231"/>
          <p:cNvSpPr/>
          <p:nvPr/>
        </p:nvSpPr>
        <p:spPr>
          <a:xfrm>
            <a:off x="503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2" name="Rectangle 232"/>
          <p:cNvSpPr/>
          <p:nvPr/>
        </p:nvSpPr>
        <p:spPr>
          <a:xfrm>
            <a:off x="604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ectangle 233"/>
          <p:cNvSpPr/>
          <p:nvPr/>
        </p:nvSpPr>
        <p:spPr>
          <a:xfrm>
            <a:off x="705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ectangle 234"/>
          <p:cNvSpPr/>
          <p:nvPr/>
        </p:nvSpPr>
        <p:spPr>
          <a:xfrm>
            <a:off x="806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ectangle 235"/>
          <p:cNvSpPr/>
          <p:nvPr/>
        </p:nvSpPr>
        <p:spPr>
          <a:xfrm>
            <a:off x="906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ectangle 236"/>
          <p:cNvSpPr/>
          <p:nvPr/>
        </p:nvSpPr>
        <p:spPr>
          <a:xfrm>
            <a:off x="1007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7" name="Rectangle 237"/>
          <p:cNvSpPr/>
          <p:nvPr/>
        </p:nvSpPr>
        <p:spPr>
          <a:xfrm>
            <a:off x="1108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238"/>
          <p:cNvSpPr/>
          <p:nvPr/>
        </p:nvSpPr>
        <p:spPr>
          <a:xfrm>
            <a:off x="1209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239"/>
          <p:cNvSpPr/>
          <p:nvPr/>
        </p:nvSpPr>
        <p:spPr>
          <a:xfrm>
            <a:off x="1310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240"/>
          <p:cNvSpPr/>
          <p:nvPr/>
        </p:nvSpPr>
        <p:spPr>
          <a:xfrm>
            <a:off x="1440" y="1800"/>
            <a:ext cx="344880" cy="7552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ounded Rectangle 105"/>
          <p:cNvSpPr/>
          <p:nvPr/>
        </p:nvSpPr>
        <p:spPr>
          <a:xfrm>
            <a:off x="10884960" y="401400"/>
            <a:ext cx="2209320" cy="545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2" name="TextBox 46"/>
          <p:cNvSpPr/>
          <p:nvPr/>
        </p:nvSpPr>
        <p:spPr>
          <a:xfrm>
            <a:off x="3785400" y="1107360"/>
            <a:ext cx="45428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After 2015: 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TextBox 47"/>
          <p:cNvSpPr/>
          <p:nvPr/>
        </p:nvSpPr>
        <p:spPr>
          <a:xfrm>
            <a:off x="4500360" y="2266200"/>
            <a:ext cx="3739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grows up: faster, cleaner, smarter.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Rounded Rectangle 106"/>
          <p:cNvSpPr/>
          <p:nvPr/>
        </p:nvSpPr>
        <p:spPr>
          <a:xfrm>
            <a:off x="108684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ounded Rectangle 107"/>
          <p:cNvSpPr/>
          <p:nvPr/>
        </p:nvSpPr>
        <p:spPr>
          <a:xfrm>
            <a:off x="1020960" y="342432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8+ Lambda Expressions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Streams API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Optional &amp; Functional Interfaces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CompletableFuture (Async programming)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Records (immutable data carriers)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Pattern Matching (instanceof, switch)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" name="Rounded Rectangle 108"/>
          <p:cNvSpPr/>
          <p:nvPr/>
        </p:nvSpPr>
        <p:spPr>
          <a:xfrm>
            <a:off x="49683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ounded Rectangle 109"/>
          <p:cNvSpPr/>
          <p:nvPr/>
        </p:nvSpPr>
        <p:spPr>
          <a:xfrm>
            <a:off x="88491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8" name="Rounded Rectangle 110"/>
          <p:cNvSpPr/>
          <p:nvPr/>
        </p:nvSpPr>
        <p:spPr>
          <a:xfrm>
            <a:off x="8767440" y="3425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List&lt;String&gt; activeUsers =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users.stream()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.filter(User::isActive)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.map(User::getName)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.toList();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9" name="TextBox 48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Rounded Rectangle 111"/>
          <p:cNvSpPr/>
          <p:nvPr/>
        </p:nvSpPr>
        <p:spPr>
          <a:xfrm>
            <a:off x="4941000" y="345096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More expressive code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Less boilerplate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Better performance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Parallel &amp; async processing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Modern programming paradigms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Readability + maintainability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Before Java 8: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Imperative, verbose, loop-heavy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After Java 8+: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Declarative, functional, fluent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Rectangle 241"/>
          <p:cNvSpPr/>
          <p:nvPr/>
        </p:nvSpPr>
        <p:spPr>
          <a:xfrm>
            <a:off x="16920" y="1800"/>
            <a:ext cx="13428720" cy="7552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242"/>
          <p:cNvSpPr/>
          <p:nvPr/>
        </p:nvSpPr>
        <p:spPr>
          <a:xfrm>
            <a:off x="144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ectangle 243"/>
          <p:cNvSpPr/>
          <p:nvPr/>
        </p:nvSpPr>
        <p:spPr>
          <a:xfrm>
            <a:off x="100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4" name="Rectangle 244"/>
          <p:cNvSpPr/>
          <p:nvPr/>
        </p:nvSpPr>
        <p:spPr>
          <a:xfrm>
            <a:off x="201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ectangle 245"/>
          <p:cNvSpPr/>
          <p:nvPr/>
        </p:nvSpPr>
        <p:spPr>
          <a:xfrm>
            <a:off x="302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6" name="Rectangle 246"/>
          <p:cNvSpPr/>
          <p:nvPr/>
        </p:nvSpPr>
        <p:spPr>
          <a:xfrm>
            <a:off x="402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ectangle 247"/>
          <p:cNvSpPr/>
          <p:nvPr/>
        </p:nvSpPr>
        <p:spPr>
          <a:xfrm>
            <a:off x="503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8" name="Rectangle 248"/>
          <p:cNvSpPr/>
          <p:nvPr/>
        </p:nvSpPr>
        <p:spPr>
          <a:xfrm>
            <a:off x="604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9" name="Rectangle 249"/>
          <p:cNvSpPr/>
          <p:nvPr/>
        </p:nvSpPr>
        <p:spPr>
          <a:xfrm>
            <a:off x="705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ectangle 250"/>
          <p:cNvSpPr/>
          <p:nvPr/>
        </p:nvSpPr>
        <p:spPr>
          <a:xfrm>
            <a:off x="806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ectangle 251"/>
          <p:cNvSpPr/>
          <p:nvPr/>
        </p:nvSpPr>
        <p:spPr>
          <a:xfrm>
            <a:off x="906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2" name="Rectangle 252"/>
          <p:cNvSpPr/>
          <p:nvPr/>
        </p:nvSpPr>
        <p:spPr>
          <a:xfrm>
            <a:off x="1007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3" name="Rectangle 253"/>
          <p:cNvSpPr/>
          <p:nvPr/>
        </p:nvSpPr>
        <p:spPr>
          <a:xfrm>
            <a:off x="1108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ectangle 254"/>
          <p:cNvSpPr/>
          <p:nvPr/>
        </p:nvSpPr>
        <p:spPr>
          <a:xfrm>
            <a:off x="1209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ectangle 255"/>
          <p:cNvSpPr/>
          <p:nvPr/>
        </p:nvSpPr>
        <p:spPr>
          <a:xfrm>
            <a:off x="1310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6" name="Rectangle 256"/>
          <p:cNvSpPr/>
          <p:nvPr/>
        </p:nvSpPr>
        <p:spPr>
          <a:xfrm>
            <a:off x="1440" y="1800"/>
            <a:ext cx="344880" cy="7552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ounded Rectangle 112"/>
          <p:cNvSpPr/>
          <p:nvPr/>
        </p:nvSpPr>
        <p:spPr>
          <a:xfrm>
            <a:off x="10884960" y="401400"/>
            <a:ext cx="2209320" cy="545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8" name="TextBox 49"/>
          <p:cNvSpPr/>
          <p:nvPr/>
        </p:nvSpPr>
        <p:spPr>
          <a:xfrm>
            <a:off x="1012680" y="1107360"/>
            <a:ext cx="100915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Today: Enterprise, Cloud &amp; Beyond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TextBox 50"/>
          <p:cNvSpPr/>
          <p:nvPr/>
        </p:nvSpPr>
        <p:spPr>
          <a:xfrm>
            <a:off x="3928320" y="2266200"/>
            <a:ext cx="4884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is no longer just enterprise — it’s everywhere.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Rounded Rectangle 113"/>
          <p:cNvSpPr/>
          <p:nvPr/>
        </p:nvSpPr>
        <p:spPr>
          <a:xfrm>
            <a:off x="108684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ounded Rectangle 114"/>
          <p:cNvSpPr/>
          <p:nvPr/>
        </p:nvSpPr>
        <p:spPr>
          <a:xfrm>
            <a:off x="1020960" y="342432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Cloud-native backends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High-performance APIs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Financial systems &amp; banking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Big data &amp; streaming platforms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Android (core language roots)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Game servers &amp; real-time systems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2" name="Rounded Rectangle 115"/>
          <p:cNvSpPr/>
          <p:nvPr/>
        </p:nvSpPr>
        <p:spPr>
          <a:xfrm>
            <a:off x="49683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ounded Rectangle 116"/>
          <p:cNvSpPr/>
          <p:nvPr/>
        </p:nvSpPr>
        <p:spPr>
          <a:xfrm>
            <a:off x="88491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ounded Rectangle 117"/>
          <p:cNvSpPr/>
          <p:nvPr/>
        </p:nvSpPr>
        <p:spPr>
          <a:xfrm>
            <a:off x="8767440" y="3425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@GetMapping("/health")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ResponseEntity&lt;String&gt; status() {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ResponseEntity.ok("Service is running");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5" name="TextBox 51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Rounded Rectangle 118"/>
          <p:cNvSpPr/>
          <p:nvPr/>
        </p:nvSpPr>
        <p:spPr>
          <a:xfrm>
            <a:off x="4941000" y="345096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Spring Boot &amp; Spring Cloud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Reactive programming (WebFlux)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Kubernetes-native deployments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GraalVM &amp; Native Images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Observability (metrics, tracing)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Long-term support stability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Rectangle 257"/>
          <p:cNvSpPr/>
          <p:nvPr/>
        </p:nvSpPr>
        <p:spPr>
          <a:xfrm>
            <a:off x="16920" y="1800"/>
            <a:ext cx="13428720" cy="7552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258"/>
          <p:cNvSpPr/>
          <p:nvPr/>
        </p:nvSpPr>
        <p:spPr>
          <a:xfrm>
            <a:off x="144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ectangle 259"/>
          <p:cNvSpPr/>
          <p:nvPr/>
        </p:nvSpPr>
        <p:spPr>
          <a:xfrm>
            <a:off x="100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ectangle 260"/>
          <p:cNvSpPr/>
          <p:nvPr/>
        </p:nvSpPr>
        <p:spPr>
          <a:xfrm>
            <a:off x="201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ectangle 261"/>
          <p:cNvSpPr/>
          <p:nvPr/>
        </p:nvSpPr>
        <p:spPr>
          <a:xfrm>
            <a:off x="302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ectangle 262"/>
          <p:cNvSpPr/>
          <p:nvPr/>
        </p:nvSpPr>
        <p:spPr>
          <a:xfrm>
            <a:off x="402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ectangle 263"/>
          <p:cNvSpPr/>
          <p:nvPr/>
        </p:nvSpPr>
        <p:spPr>
          <a:xfrm>
            <a:off x="503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4" name="Rectangle 264"/>
          <p:cNvSpPr/>
          <p:nvPr/>
        </p:nvSpPr>
        <p:spPr>
          <a:xfrm>
            <a:off x="604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ectangle 265"/>
          <p:cNvSpPr/>
          <p:nvPr/>
        </p:nvSpPr>
        <p:spPr>
          <a:xfrm>
            <a:off x="705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ectangle 266"/>
          <p:cNvSpPr/>
          <p:nvPr/>
        </p:nvSpPr>
        <p:spPr>
          <a:xfrm>
            <a:off x="806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ectangle 267"/>
          <p:cNvSpPr/>
          <p:nvPr/>
        </p:nvSpPr>
        <p:spPr>
          <a:xfrm>
            <a:off x="906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8" name="Rectangle 268"/>
          <p:cNvSpPr/>
          <p:nvPr/>
        </p:nvSpPr>
        <p:spPr>
          <a:xfrm>
            <a:off x="1007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9" name="Rectangle 269"/>
          <p:cNvSpPr/>
          <p:nvPr/>
        </p:nvSpPr>
        <p:spPr>
          <a:xfrm>
            <a:off x="1108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ectangle 270"/>
          <p:cNvSpPr/>
          <p:nvPr/>
        </p:nvSpPr>
        <p:spPr>
          <a:xfrm>
            <a:off x="1209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ectangle 271"/>
          <p:cNvSpPr/>
          <p:nvPr/>
        </p:nvSpPr>
        <p:spPr>
          <a:xfrm>
            <a:off x="1310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2" name="Rectangle 272"/>
          <p:cNvSpPr/>
          <p:nvPr/>
        </p:nvSpPr>
        <p:spPr>
          <a:xfrm>
            <a:off x="1440" y="1800"/>
            <a:ext cx="344880" cy="7552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ounded Rectangle 119"/>
          <p:cNvSpPr/>
          <p:nvPr/>
        </p:nvSpPr>
        <p:spPr>
          <a:xfrm>
            <a:off x="10884960" y="401400"/>
            <a:ext cx="2209320" cy="545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4" name="TextBox 52"/>
          <p:cNvSpPr/>
          <p:nvPr/>
        </p:nvSpPr>
        <p:spPr>
          <a:xfrm>
            <a:off x="2129400" y="1107360"/>
            <a:ext cx="78577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in Practice: From Idea to Code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TextBox 53"/>
          <p:cNvSpPr/>
          <p:nvPr/>
        </p:nvSpPr>
        <p:spPr>
          <a:xfrm>
            <a:off x="2773080" y="2266200"/>
            <a:ext cx="7193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focuses on turning ideas into clean, structured, and maintainable code.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Rounded Rectangle 120"/>
          <p:cNvSpPr/>
          <p:nvPr/>
        </p:nvSpPr>
        <p:spPr>
          <a:xfrm>
            <a:off x="108684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ounded Rectangle 121"/>
          <p:cNvSpPr/>
          <p:nvPr/>
        </p:nvSpPr>
        <p:spPr>
          <a:xfrm>
            <a:off x="1020960" y="342432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is designed for clarity and structure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Strong typing prevents many runtime errors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Code readability improves long-term maintenance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Suitable for large and long-lived systems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8" name="Rounded Rectangle 122"/>
          <p:cNvSpPr/>
          <p:nvPr/>
        </p:nvSpPr>
        <p:spPr>
          <a:xfrm>
            <a:off x="49683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ounded Rectangle 123"/>
          <p:cNvSpPr/>
          <p:nvPr/>
        </p:nvSpPr>
        <p:spPr>
          <a:xfrm>
            <a:off x="88491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0" name="Rounded Rectangle 124"/>
          <p:cNvSpPr/>
          <p:nvPr/>
        </p:nvSpPr>
        <p:spPr>
          <a:xfrm>
            <a:off x="8767440" y="3425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Calculator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int add(int a, int b)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a + b;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result = add(10, 20);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1" name="TextBox 54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Rounded Rectangle 125"/>
          <p:cNvSpPr/>
          <p:nvPr/>
        </p:nvSpPr>
        <p:spPr>
          <a:xfrm>
            <a:off x="4941000" y="345096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Problem Definition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Solution Planning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Class &amp; Method Design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Implementation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Compilation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Execution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Rectangle 273"/>
          <p:cNvSpPr/>
          <p:nvPr/>
        </p:nvSpPr>
        <p:spPr>
          <a:xfrm>
            <a:off x="16920" y="1800"/>
            <a:ext cx="13428720" cy="7552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274"/>
          <p:cNvSpPr/>
          <p:nvPr/>
        </p:nvSpPr>
        <p:spPr>
          <a:xfrm>
            <a:off x="144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ectangle 275"/>
          <p:cNvSpPr/>
          <p:nvPr/>
        </p:nvSpPr>
        <p:spPr>
          <a:xfrm>
            <a:off x="100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6" name="Rectangle 276"/>
          <p:cNvSpPr/>
          <p:nvPr/>
        </p:nvSpPr>
        <p:spPr>
          <a:xfrm>
            <a:off x="201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Rectangle 277"/>
          <p:cNvSpPr/>
          <p:nvPr/>
        </p:nvSpPr>
        <p:spPr>
          <a:xfrm>
            <a:off x="302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8" name="Rectangle 278"/>
          <p:cNvSpPr/>
          <p:nvPr/>
        </p:nvSpPr>
        <p:spPr>
          <a:xfrm>
            <a:off x="402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ectangle 279"/>
          <p:cNvSpPr/>
          <p:nvPr/>
        </p:nvSpPr>
        <p:spPr>
          <a:xfrm>
            <a:off x="503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0" name="Rectangle 280"/>
          <p:cNvSpPr/>
          <p:nvPr/>
        </p:nvSpPr>
        <p:spPr>
          <a:xfrm>
            <a:off x="604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1" name="Rectangle 281"/>
          <p:cNvSpPr/>
          <p:nvPr/>
        </p:nvSpPr>
        <p:spPr>
          <a:xfrm>
            <a:off x="705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2" name="Rectangle 282"/>
          <p:cNvSpPr/>
          <p:nvPr/>
        </p:nvSpPr>
        <p:spPr>
          <a:xfrm>
            <a:off x="806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ectangle 283"/>
          <p:cNvSpPr/>
          <p:nvPr/>
        </p:nvSpPr>
        <p:spPr>
          <a:xfrm>
            <a:off x="906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4" name="Rectangle 284"/>
          <p:cNvSpPr/>
          <p:nvPr/>
        </p:nvSpPr>
        <p:spPr>
          <a:xfrm>
            <a:off x="1007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5" name="Rectangle 285"/>
          <p:cNvSpPr/>
          <p:nvPr/>
        </p:nvSpPr>
        <p:spPr>
          <a:xfrm>
            <a:off x="1108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ectangle 286"/>
          <p:cNvSpPr/>
          <p:nvPr/>
        </p:nvSpPr>
        <p:spPr>
          <a:xfrm>
            <a:off x="1209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Rectangle 287"/>
          <p:cNvSpPr/>
          <p:nvPr/>
        </p:nvSpPr>
        <p:spPr>
          <a:xfrm>
            <a:off x="1310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8" name="Rectangle 288"/>
          <p:cNvSpPr/>
          <p:nvPr/>
        </p:nvSpPr>
        <p:spPr>
          <a:xfrm>
            <a:off x="1440" y="1800"/>
            <a:ext cx="344880" cy="7552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ounded Rectangle 126"/>
          <p:cNvSpPr/>
          <p:nvPr/>
        </p:nvSpPr>
        <p:spPr>
          <a:xfrm>
            <a:off x="10884960" y="401400"/>
            <a:ext cx="2209320" cy="545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0" name="TextBox 55"/>
          <p:cNvSpPr/>
          <p:nvPr/>
        </p:nvSpPr>
        <p:spPr>
          <a:xfrm>
            <a:off x="2240640" y="1107360"/>
            <a:ext cx="76334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Core Features – An Overview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TextBox 56"/>
          <p:cNvSpPr/>
          <p:nvPr/>
        </p:nvSpPr>
        <p:spPr>
          <a:xfrm>
            <a:off x="3222000" y="2266200"/>
            <a:ext cx="62953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A first look at the fundamental features that shape Java programs.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Rounded Rectangle 127"/>
          <p:cNvSpPr/>
          <p:nvPr/>
        </p:nvSpPr>
        <p:spPr>
          <a:xfrm>
            <a:off x="108684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ounded Rectangle 128"/>
          <p:cNvSpPr/>
          <p:nvPr/>
        </p:nvSpPr>
        <p:spPr>
          <a:xfrm>
            <a:off x="1020960" y="342432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is designed with a set of core features that help developers write programs in a clear, structured, and predictable way.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These features reduce common programming errors, improve code readability, and make applications easier to maintain over time.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Rather than focusing on low-level system details, Java allows developers to concentrate on program logic and problem-solving.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4" name="Rounded Rectangle 129"/>
          <p:cNvSpPr/>
          <p:nvPr/>
        </p:nvSpPr>
        <p:spPr>
          <a:xfrm>
            <a:off x="49683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ounded Rectangle 130"/>
          <p:cNvSpPr/>
          <p:nvPr/>
        </p:nvSpPr>
        <p:spPr>
          <a:xfrm>
            <a:off x="88491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6" name="Rounded Rectangle 131"/>
          <p:cNvSpPr/>
          <p:nvPr/>
        </p:nvSpPr>
        <p:spPr>
          <a:xfrm>
            <a:off x="8767440" y="3425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5;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if (number &gt; 0) {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System.out.println("Positive number");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7" name="TextBox 57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Rounded Rectangle 132"/>
          <p:cNvSpPr/>
          <p:nvPr/>
        </p:nvSpPr>
        <p:spPr>
          <a:xfrm>
            <a:off x="4941000" y="345096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What I Want to Do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What Java Allows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How I Must Write It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How It Executes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What I Get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Rectangle 289"/>
          <p:cNvSpPr/>
          <p:nvPr/>
        </p:nvSpPr>
        <p:spPr>
          <a:xfrm>
            <a:off x="16920" y="1800"/>
            <a:ext cx="13428720" cy="7552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290"/>
          <p:cNvSpPr/>
          <p:nvPr/>
        </p:nvSpPr>
        <p:spPr>
          <a:xfrm>
            <a:off x="144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ectangle 291"/>
          <p:cNvSpPr/>
          <p:nvPr/>
        </p:nvSpPr>
        <p:spPr>
          <a:xfrm>
            <a:off x="100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2" name="Rectangle 292"/>
          <p:cNvSpPr/>
          <p:nvPr/>
        </p:nvSpPr>
        <p:spPr>
          <a:xfrm>
            <a:off x="201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3" name="Rectangle 293"/>
          <p:cNvSpPr/>
          <p:nvPr/>
        </p:nvSpPr>
        <p:spPr>
          <a:xfrm>
            <a:off x="302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4" name="Rectangle 294"/>
          <p:cNvSpPr/>
          <p:nvPr/>
        </p:nvSpPr>
        <p:spPr>
          <a:xfrm>
            <a:off x="402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5" name="Rectangle 295"/>
          <p:cNvSpPr/>
          <p:nvPr/>
        </p:nvSpPr>
        <p:spPr>
          <a:xfrm>
            <a:off x="503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6" name="Rectangle 296"/>
          <p:cNvSpPr/>
          <p:nvPr/>
        </p:nvSpPr>
        <p:spPr>
          <a:xfrm>
            <a:off x="604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7" name="Rectangle 297"/>
          <p:cNvSpPr/>
          <p:nvPr/>
        </p:nvSpPr>
        <p:spPr>
          <a:xfrm>
            <a:off x="705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8" name="Rectangle 298"/>
          <p:cNvSpPr/>
          <p:nvPr/>
        </p:nvSpPr>
        <p:spPr>
          <a:xfrm>
            <a:off x="806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9" name="Rectangle 299"/>
          <p:cNvSpPr/>
          <p:nvPr/>
        </p:nvSpPr>
        <p:spPr>
          <a:xfrm>
            <a:off x="906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0" name="Rectangle 300"/>
          <p:cNvSpPr/>
          <p:nvPr/>
        </p:nvSpPr>
        <p:spPr>
          <a:xfrm>
            <a:off x="1007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1" name="Rectangle 301"/>
          <p:cNvSpPr/>
          <p:nvPr/>
        </p:nvSpPr>
        <p:spPr>
          <a:xfrm>
            <a:off x="1108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ectangle 302"/>
          <p:cNvSpPr/>
          <p:nvPr/>
        </p:nvSpPr>
        <p:spPr>
          <a:xfrm>
            <a:off x="1209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3" name="Rectangle 303"/>
          <p:cNvSpPr/>
          <p:nvPr/>
        </p:nvSpPr>
        <p:spPr>
          <a:xfrm>
            <a:off x="1310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4" name="Rectangle 304"/>
          <p:cNvSpPr/>
          <p:nvPr/>
        </p:nvSpPr>
        <p:spPr>
          <a:xfrm>
            <a:off x="1440" y="1800"/>
            <a:ext cx="344880" cy="7552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ounded Rectangle 133"/>
          <p:cNvSpPr/>
          <p:nvPr/>
        </p:nvSpPr>
        <p:spPr>
          <a:xfrm>
            <a:off x="10884960" y="401400"/>
            <a:ext cx="2209320" cy="545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6" name="TextBox 58"/>
          <p:cNvSpPr/>
          <p:nvPr/>
        </p:nvSpPr>
        <p:spPr>
          <a:xfrm>
            <a:off x="4180320" y="1107360"/>
            <a:ext cx="37533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Object-Oriented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TextBox 59"/>
          <p:cNvSpPr/>
          <p:nvPr/>
        </p:nvSpPr>
        <p:spPr>
          <a:xfrm>
            <a:off x="2378880" y="2266200"/>
            <a:ext cx="79826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is an object-oriented programming language.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This means Java programs are built using objects, which represent real-world things.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Rounded Rectangle 134"/>
          <p:cNvSpPr/>
          <p:nvPr/>
        </p:nvSpPr>
        <p:spPr>
          <a:xfrm>
            <a:off x="108684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ounded Rectangle 135"/>
          <p:cNvSpPr/>
          <p:nvPr/>
        </p:nvSpPr>
        <p:spPr>
          <a:xfrm>
            <a:off x="1020960" y="342432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Object-Oriented Programming (OOP):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Everything in Java is based on classes and objects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 class is a blueprint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An object is a real instance of a class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OOP makes programs easier to understand and manage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Examples of real-world objects: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Student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Account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0" name="Rounded Rectangle 136"/>
          <p:cNvSpPr/>
          <p:nvPr/>
        </p:nvSpPr>
        <p:spPr>
          <a:xfrm>
            <a:off x="49683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ounded Rectangle 137"/>
          <p:cNvSpPr/>
          <p:nvPr/>
        </p:nvSpPr>
        <p:spPr>
          <a:xfrm>
            <a:off x="88491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2" name="Rounded Rectangle 138"/>
          <p:cNvSpPr/>
          <p:nvPr/>
        </p:nvSpPr>
        <p:spPr>
          <a:xfrm>
            <a:off x="8767440" y="3425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class Car {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model;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color;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int year;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3" name="TextBox 60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Rounded Rectangle 139"/>
          <p:cNvSpPr/>
          <p:nvPr/>
        </p:nvSpPr>
        <p:spPr>
          <a:xfrm>
            <a:off x="4941000" y="345096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Real World Object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Class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Object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Logic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Explanation: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First, we define a class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Then, we create objects from that class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Objects are used inside the program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Rectangle 305"/>
          <p:cNvSpPr/>
          <p:nvPr/>
        </p:nvSpPr>
        <p:spPr>
          <a:xfrm>
            <a:off x="16920" y="1800"/>
            <a:ext cx="13428720" cy="7552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306"/>
          <p:cNvSpPr/>
          <p:nvPr/>
        </p:nvSpPr>
        <p:spPr>
          <a:xfrm>
            <a:off x="144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ectangle 307"/>
          <p:cNvSpPr/>
          <p:nvPr/>
        </p:nvSpPr>
        <p:spPr>
          <a:xfrm>
            <a:off x="100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8" name="Rectangle 308"/>
          <p:cNvSpPr/>
          <p:nvPr/>
        </p:nvSpPr>
        <p:spPr>
          <a:xfrm>
            <a:off x="201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9" name="Rectangle 309"/>
          <p:cNvSpPr/>
          <p:nvPr/>
        </p:nvSpPr>
        <p:spPr>
          <a:xfrm>
            <a:off x="302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0" name="Rectangle 310"/>
          <p:cNvSpPr/>
          <p:nvPr/>
        </p:nvSpPr>
        <p:spPr>
          <a:xfrm>
            <a:off x="402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1" name="Rectangle 311"/>
          <p:cNvSpPr/>
          <p:nvPr/>
        </p:nvSpPr>
        <p:spPr>
          <a:xfrm>
            <a:off x="503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2" name="Rectangle 312"/>
          <p:cNvSpPr/>
          <p:nvPr/>
        </p:nvSpPr>
        <p:spPr>
          <a:xfrm>
            <a:off x="604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3" name="Rectangle 313"/>
          <p:cNvSpPr/>
          <p:nvPr/>
        </p:nvSpPr>
        <p:spPr>
          <a:xfrm>
            <a:off x="705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4" name="Rectangle 314"/>
          <p:cNvSpPr/>
          <p:nvPr/>
        </p:nvSpPr>
        <p:spPr>
          <a:xfrm>
            <a:off x="806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5" name="Rectangle 315"/>
          <p:cNvSpPr/>
          <p:nvPr/>
        </p:nvSpPr>
        <p:spPr>
          <a:xfrm>
            <a:off x="906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6" name="Rectangle 316"/>
          <p:cNvSpPr/>
          <p:nvPr/>
        </p:nvSpPr>
        <p:spPr>
          <a:xfrm>
            <a:off x="1007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7" name="Rectangle 317"/>
          <p:cNvSpPr/>
          <p:nvPr/>
        </p:nvSpPr>
        <p:spPr>
          <a:xfrm>
            <a:off x="1108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ectangle 318"/>
          <p:cNvSpPr/>
          <p:nvPr/>
        </p:nvSpPr>
        <p:spPr>
          <a:xfrm>
            <a:off x="1209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9" name="Rectangle 319"/>
          <p:cNvSpPr/>
          <p:nvPr/>
        </p:nvSpPr>
        <p:spPr>
          <a:xfrm>
            <a:off x="1310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0" name="Rectangle 320"/>
          <p:cNvSpPr/>
          <p:nvPr/>
        </p:nvSpPr>
        <p:spPr>
          <a:xfrm>
            <a:off x="1440" y="1800"/>
            <a:ext cx="344880" cy="7552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ounded Rectangle 140"/>
          <p:cNvSpPr/>
          <p:nvPr/>
        </p:nvSpPr>
        <p:spPr>
          <a:xfrm>
            <a:off x="10884960" y="401400"/>
            <a:ext cx="2209320" cy="545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2" name="TextBox 61"/>
          <p:cNvSpPr/>
          <p:nvPr/>
        </p:nvSpPr>
        <p:spPr>
          <a:xfrm>
            <a:off x="5227200" y="1107360"/>
            <a:ext cx="16596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Secure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TextBox 62"/>
          <p:cNvSpPr/>
          <p:nvPr/>
        </p:nvSpPr>
        <p:spPr>
          <a:xfrm>
            <a:off x="651600" y="2266200"/>
            <a:ext cx="1143756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is designed to be a secure programming language.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It allows developers to build virus-free and tamper-free applications.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security is based on strong concepts like public-key encryption, bytecode verification, and controlled memory access.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Rounded Rectangle 141"/>
          <p:cNvSpPr/>
          <p:nvPr/>
        </p:nvSpPr>
        <p:spPr>
          <a:xfrm>
            <a:off x="108684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ounded Rectangle 142"/>
          <p:cNvSpPr/>
          <p:nvPr/>
        </p:nvSpPr>
        <p:spPr>
          <a:xfrm>
            <a:off x="1020960" y="342432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does not allow direct memory access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No pointers like in C/C++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Programs run inside the Java Virtual Machine (JVM)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is verified before execution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Common problems like: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- Memory leaks</a:t>
            </a:r>
            <a:br>
              <a:rPr sz="1400"/>
            </a:b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- Buffer overflow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Additional security advantages: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Built-in exception handling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Automatic garbage collection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Secure class loading mechanism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6" name="Rounded Rectangle 143"/>
          <p:cNvSpPr/>
          <p:nvPr/>
        </p:nvSpPr>
        <p:spPr>
          <a:xfrm>
            <a:off x="49683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ounded Rectangle 144"/>
          <p:cNvSpPr/>
          <p:nvPr/>
        </p:nvSpPr>
        <p:spPr>
          <a:xfrm>
            <a:off x="88491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8" name="Rounded Rectangle 145"/>
          <p:cNvSpPr/>
          <p:nvPr/>
        </p:nvSpPr>
        <p:spPr>
          <a:xfrm>
            <a:off x="8767440" y="3425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SecureExample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try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 / 0;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 catch (Exception e)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System.out.println("Error handled safely");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9" name="TextBox 63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Rounded Rectangle 146"/>
          <p:cNvSpPr/>
          <p:nvPr/>
        </p:nvSpPr>
        <p:spPr>
          <a:xfrm>
            <a:off x="4941000" y="345096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Compiler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Bytecode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JVM Security Check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Safe Execution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Rectangle 321"/>
          <p:cNvSpPr/>
          <p:nvPr/>
        </p:nvSpPr>
        <p:spPr>
          <a:xfrm>
            <a:off x="16920" y="1800"/>
            <a:ext cx="13428720" cy="7552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ectangle 322"/>
          <p:cNvSpPr/>
          <p:nvPr/>
        </p:nvSpPr>
        <p:spPr>
          <a:xfrm>
            <a:off x="144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ectangle 323"/>
          <p:cNvSpPr/>
          <p:nvPr/>
        </p:nvSpPr>
        <p:spPr>
          <a:xfrm>
            <a:off x="100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4" name="Rectangle 324"/>
          <p:cNvSpPr/>
          <p:nvPr/>
        </p:nvSpPr>
        <p:spPr>
          <a:xfrm>
            <a:off x="201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5" name="Rectangle 325"/>
          <p:cNvSpPr/>
          <p:nvPr/>
        </p:nvSpPr>
        <p:spPr>
          <a:xfrm>
            <a:off x="302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6" name="Rectangle 326"/>
          <p:cNvSpPr/>
          <p:nvPr/>
        </p:nvSpPr>
        <p:spPr>
          <a:xfrm>
            <a:off x="402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7" name="Rectangle 327"/>
          <p:cNvSpPr/>
          <p:nvPr/>
        </p:nvSpPr>
        <p:spPr>
          <a:xfrm>
            <a:off x="503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8" name="Rectangle 328"/>
          <p:cNvSpPr/>
          <p:nvPr/>
        </p:nvSpPr>
        <p:spPr>
          <a:xfrm>
            <a:off x="604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9" name="Rectangle 329"/>
          <p:cNvSpPr/>
          <p:nvPr/>
        </p:nvSpPr>
        <p:spPr>
          <a:xfrm>
            <a:off x="705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0" name="Rectangle 330"/>
          <p:cNvSpPr/>
          <p:nvPr/>
        </p:nvSpPr>
        <p:spPr>
          <a:xfrm>
            <a:off x="806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1" name="Rectangle 331"/>
          <p:cNvSpPr/>
          <p:nvPr/>
        </p:nvSpPr>
        <p:spPr>
          <a:xfrm>
            <a:off x="906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2" name="Rectangle 332"/>
          <p:cNvSpPr/>
          <p:nvPr/>
        </p:nvSpPr>
        <p:spPr>
          <a:xfrm>
            <a:off x="1007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3" name="Rectangle 333"/>
          <p:cNvSpPr/>
          <p:nvPr/>
        </p:nvSpPr>
        <p:spPr>
          <a:xfrm>
            <a:off x="1108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ectangle 334"/>
          <p:cNvSpPr/>
          <p:nvPr/>
        </p:nvSpPr>
        <p:spPr>
          <a:xfrm>
            <a:off x="1209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5" name="Rectangle 335"/>
          <p:cNvSpPr/>
          <p:nvPr/>
        </p:nvSpPr>
        <p:spPr>
          <a:xfrm>
            <a:off x="1310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6" name="Rectangle 336"/>
          <p:cNvSpPr/>
          <p:nvPr/>
        </p:nvSpPr>
        <p:spPr>
          <a:xfrm>
            <a:off x="1440" y="1800"/>
            <a:ext cx="344880" cy="7552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ounded Rectangle 147"/>
          <p:cNvSpPr/>
          <p:nvPr/>
        </p:nvSpPr>
        <p:spPr>
          <a:xfrm>
            <a:off x="10884960" y="401400"/>
            <a:ext cx="2209320" cy="545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8" name="TextBox 64"/>
          <p:cNvSpPr/>
          <p:nvPr/>
        </p:nvSpPr>
        <p:spPr>
          <a:xfrm>
            <a:off x="4704480" y="1107360"/>
            <a:ext cx="27064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Interpreted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TextBox 65"/>
          <p:cNvSpPr/>
          <p:nvPr/>
        </p:nvSpPr>
        <p:spPr>
          <a:xfrm>
            <a:off x="2012400" y="2266200"/>
            <a:ext cx="8714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code is executed through an intermediate step instead of running directly on hardware.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Rounded Rectangle 148"/>
          <p:cNvSpPr/>
          <p:nvPr/>
        </p:nvSpPr>
        <p:spPr>
          <a:xfrm>
            <a:off x="108684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ounded Rectangle 149"/>
          <p:cNvSpPr/>
          <p:nvPr/>
        </p:nvSpPr>
        <p:spPr>
          <a:xfrm>
            <a:off x="1020960" y="342432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is first compiled into Bytecode, not machine code.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This Bytecode is translated on the fly into native machine instructions while the program runs.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translated instructions are not stored permanently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Because of this model: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Development is faster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Compilation and linking are lightweight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Code analysis and debugging become easier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2" name="Rounded Rectangle 150"/>
          <p:cNvSpPr/>
          <p:nvPr/>
        </p:nvSpPr>
        <p:spPr>
          <a:xfrm>
            <a:off x="49683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ounded Rectangle 151"/>
          <p:cNvSpPr/>
          <p:nvPr/>
        </p:nvSpPr>
        <p:spPr>
          <a:xfrm>
            <a:off x="88491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4" name="Rounded Rectangle 152"/>
          <p:cNvSpPr/>
          <p:nvPr/>
        </p:nvSpPr>
        <p:spPr>
          <a:xfrm>
            <a:off x="8767440" y="3425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InterpretedExample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runs through the JVM");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5" name="TextBox 66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6" name="Rounded Rectangle 153"/>
          <p:cNvSpPr/>
          <p:nvPr/>
        </p:nvSpPr>
        <p:spPr>
          <a:xfrm>
            <a:off x="4941000" y="345096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How Java Executes: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 (javac)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Virtual Machine (JVM)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Native Machine Instructions (runtime)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Rectangle 337"/>
          <p:cNvSpPr/>
          <p:nvPr/>
        </p:nvSpPr>
        <p:spPr>
          <a:xfrm>
            <a:off x="16920" y="1800"/>
            <a:ext cx="13428720" cy="7552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8" name="Rectangle 338"/>
          <p:cNvSpPr/>
          <p:nvPr/>
        </p:nvSpPr>
        <p:spPr>
          <a:xfrm>
            <a:off x="144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ectangle 339"/>
          <p:cNvSpPr/>
          <p:nvPr/>
        </p:nvSpPr>
        <p:spPr>
          <a:xfrm>
            <a:off x="100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0" name="Rectangle 340"/>
          <p:cNvSpPr/>
          <p:nvPr/>
        </p:nvSpPr>
        <p:spPr>
          <a:xfrm>
            <a:off x="201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1" name="Rectangle 341"/>
          <p:cNvSpPr/>
          <p:nvPr/>
        </p:nvSpPr>
        <p:spPr>
          <a:xfrm>
            <a:off x="302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2" name="Rectangle 342"/>
          <p:cNvSpPr/>
          <p:nvPr/>
        </p:nvSpPr>
        <p:spPr>
          <a:xfrm>
            <a:off x="402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3" name="Rectangle 343"/>
          <p:cNvSpPr/>
          <p:nvPr/>
        </p:nvSpPr>
        <p:spPr>
          <a:xfrm>
            <a:off x="503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4" name="Rectangle 344"/>
          <p:cNvSpPr/>
          <p:nvPr/>
        </p:nvSpPr>
        <p:spPr>
          <a:xfrm>
            <a:off x="604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5" name="Rectangle 345"/>
          <p:cNvSpPr/>
          <p:nvPr/>
        </p:nvSpPr>
        <p:spPr>
          <a:xfrm>
            <a:off x="705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6" name="Rectangle 346"/>
          <p:cNvSpPr/>
          <p:nvPr/>
        </p:nvSpPr>
        <p:spPr>
          <a:xfrm>
            <a:off x="806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7" name="Rectangle 347"/>
          <p:cNvSpPr/>
          <p:nvPr/>
        </p:nvSpPr>
        <p:spPr>
          <a:xfrm>
            <a:off x="906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8" name="Rectangle 348"/>
          <p:cNvSpPr/>
          <p:nvPr/>
        </p:nvSpPr>
        <p:spPr>
          <a:xfrm>
            <a:off x="1007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9" name="Rectangle 349"/>
          <p:cNvSpPr/>
          <p:nvPr/>
        </p:nvSpPr>
        <p:spPr>
          <a:xfrm>
            <a:off x="1108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0" name="Rectangle 350"/>
          <p:cNvSpPr/>
          <p:nvPr/>
        </p:nvSpPr>
        <p:spPr>
          <a:xfrm>
            <a:off x="1209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1" name="Rectangle 351"/>
          <p:cNvSpPr/>
          <p:nvPr/>
        </p:nvSpPr>
        <p:spPr>
          <a:xfrm>
            <a:off x="1310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2" name="Rectangle 352"/>
          <p:cNvSpPr/>
          <p:nvPr/>
        </p:nvSpPr>
        <p:spPr>
          <a:xfrm>
            <a:off x="1440" y="1800"/>
            <a:ext cx="344880" cy="7552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ounded Rectangle 154"/>
          <p:cNvSpPr/>
          <p:nvPr/>
        </p:nvSpPr>
        <p:spPr>
          <a:xfrm>
            <a:off x="10884960" y="401400"/>
            <a:ext cx="2209320" cy="545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4" name="TextBox 67"/>
          <p:cNvSpPr/>
          <p:nvPr/>
        </p:nvSpPr>
        <p:spPr>
          <a:xfrm>
            <a:off x="2430720" y="1107360"/>
            <a:ext cx="72540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High Performance &amp; Distributed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TextBox 68"/>
          <p:cNvSpPr/>
          <p:nvPr/>
        </p:nvSpPr>
        <p:spPr>
          <a:xfrm>
            <a:off x="3008160" y="2266200"/>
            <a:ext cx="6722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combines performance and networking support in its core design.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Rounded Rectangle 155"/>
          <p:cNvSpPr/>
          <p:nvPr/>
        </p:nvSpPr>
        <p:spPr>
          <a:xfrm>
            <a:off x="108684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7" name="Rounded Rectangle 156"/>
          <p:cNvSpPr/>
          <p:nvPr/>
        </p:nvSpPr>
        <p:spPr>
          <a:xfrm>
            <a:off x="1020960" y="2971800"/>
            <a:ext cx="3621240" cy="346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High Performance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achieves high performance using Just-In-Time (JIT) compilation.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JVM compiles frequently used Bytecode into optimized native code while the program is running.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Common JIT optimizations include: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Method inlining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Dead code elimination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Constant folding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Optimized method calls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Result: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Faster execution over time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Near native performance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8" name="Rounded Rectangle 157"/>
          <p:cNvSpPr/>
          <p:nvPr/>
        </p:nvSpPr>
        <p:spPr>
          <a:xfrm>
            <a:off x="49683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9" name="Rounded Rectangle 158"/>
          <p:cNvSpPr/>
          <p:nvPr/>
        </p:nvSpPr>
        <p:spPr>
          <a:xfrm>
            <a:off x="88491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0" name="Rounded Rectangle 159"/>
          <p:cNvSpPr/>
          <p:nvPr/>
        </p:nvSpPr>
        <p:spPr>
          <a:xfrm>
            <a:off x="8767440" y="3425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PerformanceDemo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System.out.println("Fast and distributed Java applications");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1" name="TextBox 69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2" name="Rounded Rectangle 160"/>
          <p:cNvSpPr/>
          <p:nvPr/>
        </p:nvSpPr>
        <p:spPr>
          <a:xfrm>
            <a:off x="4941000" y="345096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Distributed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Java is designed for distributed environments, especially the Internet.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It provides built-in support for: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• </a:t>
            </a:r>
            <a:r>
              <a:rPr b="0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Networking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• </a:t>
            </a:r>
            <a:r>
              <a:rPr b="0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Remote method calls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• </a:t>
            </a:r>
            <a:r>
              <a:rPr b="0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Distributed systems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Java applications can easily communicate over networks and run on multiple machines.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Rectangle 353"/>
          <p:cNvSpPr/>
          <p:nvPr/>
        </p:nvSpPr>
        <p:spPr>
          <a:xfrm>
            <a:off x="16920" y="1800"/>
            <a:ext cx="13428720" cy="7552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4" name="Rectangle 354"/>
          <p:cNvSpPr/>
          <p:nvPr/>
        </p:nvSpPr>
        <p:spPr>
          <a:xfrm>
            <a:off x="144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ectangle 355"/>
          <p:cNvSpPr/>
          <p:nvPr/>
        </p:nvSpPr>
        <p:spPr>
          <a:xfrm>
            <a:off x="100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6" name="Rectangle 356"/>
          <p:cNvSpPr/>
          <p:nvPr/>
        </p:nvSpPr>
        <p:spPr>
          <a:xfrm>
            <a:off x="201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7" name="Rectangle 357"/>
          <p:cNvSpPr/>
          <p:nvPr/>
        </p:nvSpPr>
        <p:spPr>
          <a:xfrm>
            <a:off x="302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8" name="Rectangle 358"/>
          <p:cNvSpPr/>
          <p:nvPr/>
        </p:nvSpPr>
        <p:spPr>
          <a:xfrm>
            <a:off x="402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9" name="Rectangle 359"/>
          <p:cNvSpPr/>
          <p:nvPr/>
        </p:nvSpPr>
        <p:spPr>
          <a:xfrm>
            <a:off x="503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0" name="Rectangle 360"/>
          <p:cNvSpPr/>
          <p:nvPr/>
        </p:nvSpPr>
        <p:spPr>
          <a:xfrm>
            <a:off x="604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1" name="Rectangle 361"/>
          <p:cNvSpPr/>
          <p:nvPr/>
        </p:nvSpPr>
        <p:spPr>
          <a:xfrm>
            <a:off x="705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2" name="Rectangle 362"/>
          <p:cNvSpPr/>
          <p:nvPr/>
        </p:nvSpPr>
        <p:spPr>
          <a:xfrm>
            <a:off x="806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3" name="Rectangle 363"/>
          <p:cNvSpPr/>
          <p:nvPr/>
        </p:nvSpPr>
        <p:spPr>
          <a:xfrm>
            <a:off x="906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4" name="Rectangle 364"/>
          <p:cNvSpPr/>
          <p:nvPr/>
        </p:nvSpPr>
        <p:spPr>
          <a:xfrm>
            <a:off x="1007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5" name="Rectangle 365"/>
          <p:cNvSpPr/>
          <p:nvPr/>
        </p:nvSpPr>
        <p:spPr>
          <a:xfrm>
            <a:off x="1108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6" name="Rectangle 366"/>
          <p:cNvSpPr/>
          <p:nvPr/>
        </p:nvSpPr>
        <p:spPr>
          <a:xfrm>
            <a:off x="1209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7" name="Rectangle 367"/>
          <p:cNvSpPr/>
          <p:nvPr/>
        </p:nvSpPr>
        <p:spPr>
          <a:xfrm>
            <a:off x="1310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8" name="Rectangle 368"/>
          <p:cNvSpPr/>
          <p:nvPr/>
        </p:nvSpPr>
        <p:spPr>
          <a:xfrm>
            <a:off x="1440" y="1800"/>
            <a:ext cx="344880" cy="7552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ounded Rectangle 161"/>
          <p:cNvSpPr/>
          <p:nvPr/>
        </p:nvSpPr>
        <p:spPr>
          <a:xfrm>
            <a:off x="10884960" y="401400"/>
            <a:ext cx="2209320" cy="545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0" name="TextBox 70"/>
          <p:cNvSpPr/>
          <p:nvPr/>
        </p:nvSpPr>
        <p:spPr>
          <a:xfrm>
            <a:off x="1630080" y="1107360"/>
            <a:ext cx="88556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Some Other Important Features of Java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TextBox 71"/>
          <p:cNvSpPr/>
          <p:nvPr/>
        </p:nvSpPr>
        <p:spPr>
          <a:xfrm>
            <a:off x="1341720" y="2266200"/>
            <a:ext cx="10056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provides several unique features that help developers write clean, stable, and maintainable programs.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Rounded Rectangle 162"/>
          <p:cNvSpPr/>
          <p:nvPr/>
        </p:nvSpPr>
        <p:spPr>
          <a:xfrm>
            <a:off x="108684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3" name="Rounded Rectangle 163"/>
          <p:cNvSpPr/>
          <p:nvPr/>
        </p:nvSpPr>
        <p:spPr>
          <a:xfrm>
            <a:off x="1020960" y="2971800"/>
            <a:ext cx="3621240" cy="346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Simple &amp; Easy to Learn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has a clear and readable syntax. Complex features like pointers are removed, making it easier for beginners.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Strongly Typed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Every variable has a defined type. This helps detect errors at compile time instead of runtime.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Automatic Memory Management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automatically manages memory using Garbage Collection, so developers do not need to free memory manually.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Multithreaded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supports multithreading, allowing programs to perform multiple tasks at the same time.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Rich Standard Library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provides a large set of built-in libraries for collections, file handling, networking, and more.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4" name="Rounded Rectangle 164"/>
          <p:cNvSpPr/>
          <p:nvPr/>
        </p:nvSpPr>
        <p:spPr>
          <a:xfrm>
            <a:off x="49683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5" name="Rounded Rectangle 165"/>
          <p:cNvSpPr/>
          <p:nvPr/>
        </p:nvSpPr>
        <p:spPr>
          <a:xfrm>
            <a:off x="88491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6" name="Rounded Rectangle 166"/>
          <p:cNvSpPr/>
          <p:nvPr/>
        </p:nvSpPr>
        <p:spPr>
          <a:xfrm>
            <a:off x="8767440" y="3425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class FeatureDemo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   // strongly typed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is easy and powerful");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7" name="TextBox 72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8" name="Rounded Rectangle 167"/>
          <p:cNvSpPr/>
          <p:nvPr/>
        </p:nvSpPr>
        <p:spPr>
          <a:xfrm>
            <a:off x="4941000" y="345096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Simple Syntax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Easy to Learn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Strong Typing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Automatic Memory Management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Multithreading Support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Rich Standard Library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Clean &amp; Maintainable Java Programs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Rectangle 369"/>
          <p:cNvSpPr/>
          <p:nvPr/>
        </p:nvSpPr>
        <p:spPr>
          <a:xfrm>
            <a:off x="16920" y="1800"/>
            <a:ext cx="13428720" cy="7552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0" name="Rectangle 370"/>
          <p:cNvSpPr/>
          <p:nvPr/>
        </p:nvSpPr>
        <p:spPr>
          <a:xfrm>
            <a:off x="144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1" name="Rectangle 371"/>
          <p:cNvSpPr/>
          <p:nvPr/>
        </p:nvSpPr>
        <p:spPr>
          <a:xfrm>
            <a:off x="100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2" name="Rectangle 372"/>
          <p:cNvSpPr/>
          <p:nvPr/>
        </p:nvSpPr>
        <p:spPr>
          <a:xfrm>
            <a:off x="201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3" name="Rectangle 373"/>
          <p:cNvSpPr/>
          <p:nvPr/>
        </p:nvSpPr>
        <p:spPr>
          <a:xfrm>
            <a:off x="302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4" name="Rectangle 374"/>
          <p:cNvSpPr/>
          <p:nvPr/>
        </p:nvSpPr>
        <p:spPr>
          <a:xfrm>
            <a:off x="402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5" name="Rectangle 375"/>
          <p:cNvSpPr/>
          <p:nvPr/>
        </p:nvSpPr>
        <p:spPr>
          <a:xfrm>
            <a:off x="503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6" name="Rectangle 376"/>
          <p:cNvSpPr/>
          <p:nvPr/>
        </p:nvSpPr>
        <p:spPr>
          <a:xfrm>
            <a:off x="604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7" name="Rectangle 377"/>
          <p:cNvSpPr/>
          <p:nvPr/>
        </p:nvSpPr>
        <p:spPr>
          <a:xfrm>
            <a:off x="705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8" name="Rectangle 378"/>
          <p:cNvSpPr/>
          <p:nvPr/>
        </p:nvSpPr>
        <p:spPr>
          <a:xfrm>
            <a:off x="806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9" name="Rectangle 379"/>
          <p:cNvSpPr/>
          <p:nvPr/>
        </p:nvSpPr>
        <p:spPr>
          <a:xfrm>
            <a:off x="906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0" name="Rectangle 380"/>
          <p:cNvSpPr/>
          <p:nvPr/>
        </p:nvSpPr>
        <p:spPr>
          <a:xfrm>
            <a:off x="1007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1" name="Rectangle 381"/>
          <p:cNvSpPr/>
          <p:nvPr/>
        </p:nvSpPr>
        <p:spPr>
          <a:xfrm>
            <a:off x="1108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2" name="Rectangle 382"/>
          <p:cNvSpPr/>
          <p:nvPr/>
        </p:nvSpPr>
        <p:spPr>
          <a:xfrm>
            <a:off x="1209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3" name="Rectangle 383"/>
          <p:cNvSpPr/>
          <p:nvPr/>
        </p:nvSpPr>
        <p:spPr>
          <a:xfrm>
            <a:off x="1310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4" name="Rectangle 384"/>
          <p:cNvSpPr/>
          <p:nvPr/>
        </p:nvSpPr>
        <p:spPr>
          <a:xfrm>
            <a:off x="1440" y="1800"/>
            <a:ext cx="344880" cy="7552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5" name="Rounded Rectangle 168"/>
          <p:cNvSpPr/>
          <p:nvPr/>
        </p:nvSpPr>
        <p:spPr>
          <a:xfrm>
            <a:off x="10884960" y="401400"/>
            <a:ext cx="2209320" cy="545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6" name="TextBox 73"/>
          <p:cNvSpPr/>
          <p:nvPr/>
        </p:nvSpPr>
        <p:spPr>
          <a:xfrm>
            <a:off x="3201840" y="1107360"/>
            <a:ext cx="57114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A High-Level Comparison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TextBox 74"/>
          <p:cNvSpPr/>
          <p:nvPr/>
        </p:nvSpPr>
        <p:spPr>
          <a:xfrm>
            <a:off x="2435040" y="2266200"/>
            <a:ext cx="7869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This slide introduces the fundamental differences between Java and C++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by comparing their design philosophy, execution model, and developer experience.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Rounded Rectangle 169"/>
          <p:cNvSpPr/>
          <p:nvPr/>
        </p:nvSpPr>
        <p:spPr>
          <a:xfrm>
            <a:off x="108684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9" name="Rounded Rectangle 170"/>
          <p:cNvSpPr/>
          <p:nvPr/>
        </p:nvSpPr>
        <p:spPr>
          <a:xfrm>
            <a:off x="1020960" y="2971800"/>
            <a:ext cx="3621240" cy="346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Java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Runs on the Java Virtual Machine (JVM)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Platform-independent (Write Once, Run Anywhere)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Automatic memory management (Garbage Collection)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Focuses on safety, portability, and maintainability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Widely used in enterprise, web, and cloud systems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C++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Compiled directly to native machine code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Platform-dependent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Manual memory management (pointers, memory allocation)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Focuses on performance and low-level control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Widely used in system software, game engines, embedded systems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0" name="Rounded Rectangle 171"/>
          <p:cNvSpPr/>
          <p:nvPr/>
        </p:nvSpPr>
        <p:spPr>
          <a:xfrm>
            <a:off x="49683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1" name="Rounded Rectangle 172"/>
          <p:cNvSpPr/>
          <p:nvPr/>
        </p:nvSpPr>
        <p:spPr>
          <a:xfrm>
            <a:off x="88491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2" name="Rounded Rectangle 173"/>
          <p:cNvSpPr/>
          <p:nvPr/>
        </p:nvSpPr>
        <p:spPr>
          <a:xfrm>
            <a:off x="8767440" y="3425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class FeatureDemo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   // strongly typed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"Java hides complexity"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3" name="TextBox 75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" name="Rounded Rectangle 174"/>
          <p:cNvSpPr/>
          <p:nvPr/>
        </p:nvSpPr>
        <p:spPr>
          <a:xfrm>
            <a:off x="4941000" y="345096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Java Source → Bytecode → JVM → Any OS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C++ Source  → Native Code → Specific OS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Rectangle 385"/>
          <p:cNvSpPr/>
          <p:nvPr/>
        </p:nvSpPr>
        <p:spPr>
          <a:xfrm>
            <a:off x="16920" y="1800"/>
            <a:ext cx="13428720" cy="7552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6" name="Rectangle 386"/>
          <p:cNvSpPr/>
          <p:nvPr/>
        </p:nvSpPr>
        <p:spPr>
          <a:xfrm>
            <a:off x="144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7" name="Rectangle 387"/>
          <p:cNvSpPr/>
          <p:nvPr/>
        </p:nvSpPr>
        <p:spPr>
          <a:xfrm>
            <a:off x="100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8" name="Rectangle 388"/>
          <p:cNvSpPr/>
          <p:nvPr/>
        </p:nvSpPr>
        <p:spPr>
          <a:xfrm>
            <a:off x="201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9" name="Rectangle 389"/>
          <p:cNvSpPr/>
          <p:nvPr/>
        </p:nvSpPr>
        <p:spPr>
          <a:xfrm>
            <a:off x="302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0" name="Rectangle 390"/>
          <p:cNvSpPr/>
          <p:nvPr/>
        </p:nvSpPr>
        <p:spPr>
          <a:xfrm>
            <a:off x="402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1" name="Rectangle 391"/>
          <p:cNvSpPr/>
          <p:nvPr/>
        </p:nvSpPr>
        <p:spPr>
          <a:xfrm>
            <a:off x="503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2" name="Rectangle 392"/>
          <p:cNvSpPr/>
          <p:nvPr/>
        </p:nvSpPr>
        <p:spPr>
          <a:xfrm>
            <a:off x="604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3" name="Rectangle 393"/>
          <p:cNvSpPr/>
          <p:nvPr/>
        </p:nvSpPr>
        <p:spPr>
          <a:xfrm>
            <a:off x="705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4" name="Rectangle 394"/>
          <p:cNvSpPr/>
          <p:nvPr/>
        </p:nvSpPr>
        <p:spPr>
          <a:xfrm>
            <a:off x="806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5" name="Rectangle 395"/>
          <p:cNvSpPr/>
          <p:nvPr/>
        </p:nvSpPr>
        <p:spPr>
          <a:xfrm>
            <a:off x="906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6" name="Rectangle 396"/>
          <p:cNvSpPr/>
          <p:nvPr/>
        </p:nvSpPr>
        <p:spPr>
          <a:xfrm>
            <a:off x="1007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7" name="Rectangle 397"/>
          <p:cNvSpPr/>
          <p:nvPr/>
        </p:nvSpPr>
        <p:spPr>
          <a:xfrm>
            <a:off x="1108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8" name="Rectangle 398"/>
          <p:cNvSpPr/>
          <p:nvPr/>
        </p:nvSpPr>
        <p:spPr>
          <a:xfrm>
            <a:off x="1209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9" name="Rectangle 399"/>
          <p:cNvSpPr/>
          <p:nvPr/>
        </p:nvSpPr>
        <p:spPr>
          <a:xfrm>
            <a:off x="1310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0" name="Rectangle 400"/>
          <p:cNvSpPr/>
          <p:nvPr/>
        </p:nvSpPr>
        <p:spPr>
          <a:xfrm>
            <a:off x="1440" y="1800"/>
            <a:ext cx="344880" cy="7552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1" name="Rounded Rectangle 175"/>
          <p:cNvSpPr/>
          <p:nvPr/>
        </p:nvSpPr>
        <p:spPr>
          <a:xfrm>
            <a:off x="10884960" y="401400"/>
            <a:ext cx="2209320" cy="545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2" name="TextBox 76"/>
          <p:cNvSpPr/>
          <p:nvPr/>
        </p:nvSpPr>
        <p:spPr>
          <a:xfrm>
            <a:off x="1291320" y="1107360"/>
            <a:ext cx="95324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vs C++ – Advantages &amp; Disadvantages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3" name="TextBox 77"/>
          <p:cNvSpPr/>
          <p:nvPr/>
        </p:nvSpPr>
        <p:spPr>
          <a:xfrm>
            <a:off x="2435040" y="2266200"/>
            <a:ext cx="7869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This slide introduces the fundamental differences between Java and C++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by comparing their design philosophy, execution model, and developer experience.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4" name="Rounded Rectangle 176"/>
          <p:cNvSpPr/>
          <p:nvPr/>
        </p:nvSpPr>
        <p:spPr>
          <a:xfrm>
            <a:off x="108684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5" name="Rounded Rectangle 177"/>
          <p:cNvSpPr/>
          <p:nvPr/>
        </p:nvSpPr>
        <p:spPr>
          <a:xfrm>
            <a:off x="1020960" y="3506040"/>
            <a:ext cx="3621240" cy="2894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Java – Advantages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Platform independent (Write Once, Run Anywhere)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Automatic memory management (Garbage Collection)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Safer execution (no pointers, JVM security checks)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Easier to learn and read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Rich standard library and frameworks</a:t>
            </a:r>
            <a:br>
              <a:rPr sz="1180"/>
            </a:b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Ideal for large, long-term, enterprise systems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Java – Disadvantages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Slightly slower than native C++ in some cases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Less control over hardware and memory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JVM overhead (startup time, memory usage)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6" name="Rounded Rectangle 178"/>
          <p:cNvSpPr/>
          <p:nvPr/>
        </p:nvSpPr>
        <p:spPr>
          <a:xfrm>
            <a:off x="49683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7" name="Rounded Rectangle 179"/>
          <p:cNvSpPr/>
          <p:nvPr/>
        </p:nvSpPr>
        <p:spPr>
          <a:xfrm>
            <a:off x="88491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8" name="Rounded Rectangle 180"/>
          <p:cNvSpPr/>
          <p:nvPr/>
        </p:nvSpPr>
        <p:spPr>
          <a:xfrm>
            <a:off x="8767440" y="3425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class JavaApp {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focuses on safety and portability");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9" name="TextBox 78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0" name="Rounded Rectangle 181"/>
          <p:cNvSpPr/>
          <p:nvPr/>
        </p:nvSpPr>
        <p:spPr>
          <a:xfrm>
            <a:off x="4941000" y="345096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Problem Type?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Need portability?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(Java runs everywhere)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  ↓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YES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→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JAVA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  ↓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NO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Need maximum performance?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(Low-level control)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  ↓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YES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→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C++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  ↓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NO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Need safety &amp; maintainability?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→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JAVA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542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2026-01-14T19:33:07Z</dcterms:modified>
  <cp:revision>70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