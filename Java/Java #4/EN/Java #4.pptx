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7.xml" ContentType="application/vnd.openxmlformats-officedocument.presentationml.slide+xml"/>
  <Override PartName="/ppt/slides/slide24.xml" ContentType="application/vnd.openxmlformats-officedocument.presentationml.slide+xml"/>
  <Override PartName="/ppt/slides/slide8.xml" ContentType="application/vnd.openxmlformats-officedocument.presentationml.slide+xml"/>
  <Override PartName="/ppt/slides/slide25.xml" ContentType="application/vnd.openxmlformats-officedocument.presentationml.slide+xml"/>
  <Override PartName="/ppt/slides/slide9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_rels/slide1.xml.rels" ContentType="application/vnd.openxmlformats-package.relationships+xml"/>
  <Override PartName="/ppt/slides/_rels/slide22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25.xml.rels" ContentType="application/vnd.openxmlformats-package.relationships+xml"/>
  <Override PartName="/ppt/slides/_rels/slide8.xml.rels" ContentType="application/vnd.openxmlformats-package.relationships+xml"/>
  <Override PartName="/ppt/slides/_rels/slide26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slides/_rels/slide27.xml.rels" ContentType="application/vnd.openxmlformats-package.relationships+xml"/>
  <Override PartName="/ppt/slides/_rels/slide28.xml.rels" ContentType="application/vnd.openxmlformats-package.relationships+xml"/>
  <Override PartName="/ppt/slides/_rels/slide29.xml.rels" ContentType="application/vnd.openxmlformats-package.relationships+xml"/>
  <Override PartName="/ppt/slides/_rels/slide30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D05B5B5-B4C0-4743-BA9D-F286B4251BA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7488919-259C-41A2-B867-C1972A480DB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5DFC478-B6D6-4167-BDC4-E54A78DD0F4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4854B7C-ADF6-4A12-9F88-01D7F9B5DAF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34F1E26-0985-44AA-A896-1AA098F76D0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C1F7B66-3F57-47B8-BF97-B9AB61CAEC9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40221F1-F294-4C9B-B0D0-9E9AD7A390A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485215E-1856-4236-8CB4-78EBD929036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75050DD-E4B7-4EF3-B027-D5BE154D691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AF7C678-73C6-40E6-8DE1-EC07DB2349C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EEAB0E3-7FE3-4DFD-A077-90D6B1883E8E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F4C0274-1A34-4895-A99B-E720630BC45F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82880" cy="352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9E5E08C-8B17-402B-AFC1-F8C91F2831FD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Rectangle 1"/>
          <p:cNvSpPr/>
          <p:nvPr/>
        </p:nvSpPr>
        <p:spPr>
          <a:xfrm>
            <a:off x="0" y="0"/>
            <a:ext cx="12176280" cy="6845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" name="Rectangle 2"/>
          <p:cNvSpPr/>
          <p:nvPr/>
        </p:nvSpPr>
        <p:spPr>
          <a:xfrm>
            <a:off x="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" name="Rectangle 3"/>
          <p:cNvSpPr/>
          <p:nvPr/>
        </p:nvSpPr>
        <p:spPr>
          <a:xfrm>
            <a:off x="9144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" name="Rectangle 4"/>
          <p:cNvSpPr/>
          <p:nvPr/>
        </p:nvSpPr>
        <p:spPr>
          <a:xfrm>
            <a:off x="18288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ectangle 5"/>
          <p:cNvSpPr/>
          <p:nvPr/>
        </p:nvSpPr>
        <p:spPr>
          <a:xfrm>
            <a:off x="27432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" name="Rectangle 6"/>
          <p:cNvSpPr/>
          <p:nvPr/>
        </p:nvSpPr>
        <p:spPr>
          <a:xfrm>
            <a:off x="36576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" name="Rectangle 7"/>
          <p:cNvSpPr/>
          <p:nvPr/>
        </p:nvSpPr>
        <p:spPr>
          <a:xfrm>
            <a:off x="45720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" name="Rectangle 8"/>
          <p:cNvSpPr/>
          <p:nvPr/>
        </p:nvSpPr>
        <p:spPr>
          <a:xfrm>
            <a:off x="54864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ectangle 9"/>
          <p:cNvSpPr/>
          <p:nvPr/>
        </p:nvSpPr>
        <p:spPr>
          <a:xfrm>
            <a:off x="64008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" name="Rectangle 10"/>
          <p:cNvSpPr/>
          <p:nvPr/>
        </p:nvSpPr>
        <p:spPr>
          <a:xfrm>
            <a:off x="73152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ectangle 11"/>
          <p:cNvSpPr/>
          <p:nvPr/>
        </p:nvSpPr>
        <p:spPr>
          <a:xfrm>
            <a:off x="82296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" name="Rectangle 12"/>
          <p:cNvSpPr/>
          <p:nvPr/>
        </p:nvSpPr>
        <p:spPr>
          <a:xfrm>
            <a:off x="91440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ectangle 13"/>
          <p:cNvSpPr/>
          <p:nvPr/>
        </p:nvSpPr>
        <p:spPr>
          <a:xfrm>
            <a:off x="100584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" name="Rectangle 14"/>
          <p:cNvSpPr/>
          <p:nvPr/>
        </p:nvSpPr>
        <p:spPr>
          <a:xfrm>
            <a:off x="109728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" name="Rectangle 15"/>
          <p:cNvSpPr/>
          <p:nvPr/>
        </p:nvSpPr>
        <p:spPr>
          <a:xfrm>
            <a:off x="118872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16"/>
          <p:cNvSpPr/>
          <p:nvPr/>
        </p:nvSpPr>
        <p:spPr>
          <a:xfrm>
            <a:off x="0" y="0"/>
            <a:ext cx="307440" cy="6845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ounded Rectangle 17"/>
          <p:cNvSpPr/>
          <p:nvPr/>
        </p:nvSpPr>
        <p:spPr>
          <a:xfrm>
            <a:off x="9875520" y="365760"/>
            <a:ext cx="1999080" cy="490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" name="TextBox 18"/>
          <p:cNvSpPr/>
          <p:nvPr/>
        </p:nvSpPr>
        <p:spPr>
          <a:xfrm>
            <a:off x="3070440" y="779400"/>
            <a:ext cx="4830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DATE &amp; TIME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TextBox 19"/>
          <p:cNvSpPr/>
          <p:nvPr/>
        </p:nvSpPr>
        <p:spPr>
          <a:xfrm>
            <a:off x="1548720" y="1785240"/>
            <a:ext cx="850824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Date and time operations in Java are managed using the java.time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package introduced in Java 8. Unlike legacy date classes,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this new API provides a much safer (thread-safe), clearer, and more flexible structure.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Rounded Rectangle 20"/>
          <p:cNvSpPr/>
          <p:nvPr/>
        </p:nvSpPr>
        <p:spPr>
          <a:xfrm>
            <a:off x="987480" y="318204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" name="Rounded Rectangle 21"/>
          <p:cNvSpPr/>
          <p:nvPr/>
        </p:nvSpPr>
        <p:spPr>
          <a:xfrm>
            <a:off x="914400" y="310896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java.time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package introduced with Java 8 allows us to manage regional time (Timezone) and dates precisely. Using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and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ZoneId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classes, you can instantly access the local time zone and current date data of your current location (e.g., Istanbul, Turkey) and print it in the desired format.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" name="Rounded Rectangle 22"/>
          <p:cNvSpPr/>
          <p:nvPr/>
        </p:nvSpPr>
        <p:spPr>
          <a:xfrm>
            <a:off x="4507920" y="318204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" name="Rounded Rectangle 23"/>
          <p:cNvSpPr/>
          <p:nvPr/>
        </p:nvSpPr>
        <p:spPr>
          <a:xfrm>
            <a:off x="4434840" y="310896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 (ZoneId) is Defined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Current Time (ZonedDateTime) is Retrieved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Format is Determined (DateTimeFormatter)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Printed to Screen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" name="Rounded Rectangle 24"/>
          <p:cNvSpPr/>
          <p:nvPr/>
        </p:nvSpPr>
        <p:spPr>
          <a:xfrm>
            <a:off x="8028360" y="318204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" name="Rounded Rectangle 25"/>
          <p:cNvSpPr/>
          <p:nvPr/>
        </p:nvSpPr>
        <p:spPr>
          <a:xfrm>
            <a:off x="7955280" y="2971800"/>
            <a:ext cx="3920400" cy="364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DateAndTimeContext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Set location to Istanbul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zone = ZoneId.of("Europe/Istanbul");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Get current time in Istanbul timezone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ZonedDateTime.now(zone);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Set desired format (e.g., Tuesday, April 28, 2026 at 10:28 PM +03)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 DateTimeFormatter.ofPattern("EEEE, MMMM dd, yyyy 'at' hh:mm a xxx", Locale.ENGLISH);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System.out.println("Current time is " + now.format(formatter) + ".");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System.out.println("Remember the current location is Istanbul, İstanbul, Türkiye.");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Rectangle 32"/>
          <p:cNvSpPr/>
          <p:nvPr/>
        </p:nvSpPr>
        <p:spPr>
          <a:xfrm>
            <a:off x="0" y="0"/>
            <a:ext cx="12176640" cy="6845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ectangle 17"/>
          <p:cNvSpPr/>
          <p:nvPr/>
        </p:nvSpPr>
        <p:spPr>
          <a:xfrm>
            <a:off x="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" name="Rectangle 18"/>
          <p:cNvSpPr/>
          <p:nvPr/>
        </p:nvSpPr>
        <p:spPr>
          <a:xfrm>
            <a:off x="914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" name="Rectangle 19"/>
          <p:cNvSpPr/>
          <p:nvPr/>
        </p:nvSpPr>
        <p:spPr>
          <a:xfrm>
            <a:off x="1828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ectangle 20"/>
          <p:cNvSpPr/>
          <p:nvPr/>
        </p:nvSpPr>
        <p:spPr>
          <a:xfrm>
            <a:off x="2743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" name="Rectangle 21"/>
          <p:cNvSpPr/>
          <p:nvPr/>
        </p:nvSpPr>
        <p:spPr>
          <a:xfrm>
            <a:off x="3657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" name="Rectangle 22"/>
          <p:cNvSpPr/>
          <p:nvPr/>
        </p:nvSpPr>
        <p:spPr>
          <a:xfrm>
            <a:off x="4572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" name="Rectangle 23"/>
          <p:cNvSpPr/>
          <p:nvPr/>
        </p:nvSpPr>
        <p:spPr>
          <a:xfrm>
            <a:off x="5486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ectangle 24"/>
          <p:cNvSpPr/>
          <p:nvPr/>
        </p:nvSpPr>
        <p:spPr>
          <a:xfrm>
            <a:off x="6400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" name="Rectangle 25"/>
          <p:cNvSpPr/>
          <p:nvPr/>
        </p:nvSpPr>
        <p:spPr>
          <a:xfrm>
            <a:off x="7315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ectangle 26"/>
          <p:cNvSpPr/>
          <p:nvPr/>
        </p:nvSpPr>
        <p:spPr>
          <a:xfrm>
            <a:off x="8229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" name="Rectangle 27"/>
          <p:cNvSpPr/>
          <p:nvPr/>
        </p:nvSpPr>
        <p:spPr>
          <a:xfrm>
            <a:off x="9144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ectangle 28"/>
          <p:cNvSpPr/>
          <p:nvPr/>
        </p:nvSpPr>
        <p:spPr>
          <a:xfrm>
            <a:off x="10058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" name="Rectangle 29"/>
          <p:cNvSpPr/>
          <p:nvPr/>
        </p:nvSpPr>
        <p:spPr>
          <a:xfrm>
            <a:off x="10972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" name="Rectangle 30"/>
          <p:cNvSpPr/>
          <p:nvPr/>
        </p:nvSpPr>
        <p:spPr>
          <a:xfrm>
            <a:off x="11887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31"/>
          <p:cNvSpPr/>
          <p:nvPr/>
        </p:nvSpPr>
        <p:spPr>
          <a:xfrm>
            <a:off x="0" y="0"/>
            <a:ext cx="307800" cy="6845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ounded Rectangle 8"/>
          <p:cNvSpPr/>
          <p:nvPr/>
        </p:nvSpPr>
        <p:spPr>
          <a:xfrm>
            <a:off x="9875520" y="365760"/>
            <a:ext cx="1999440" cy="490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" name="TextBox 4"/>
          <p:cNvSpPr/>
          <p:nvPr/>
        </p:nvSpPr>
        <p:spPr>
          <a:xfrm>
            <a:off x="2219760" y="914400"/>
            <a:ext cx="65300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Timezone and Regional Time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TextBox 5"/>
          <p:cNvSpPr/>
          <p:nvPr/>
        </p:nvSpPr>
        <p:spPr>
          <a:xfrm>
            <a:off x="612000" y="1828800"/>
            <a:ext cx="102639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Timezone management in Java is used to accurately handle time across different regions.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With ZoneId, a specific region is selected, and with ZonedDateTime, the current date and time of that region are obtained.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This structure ensures that global applications display the correct time for every user.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Rounded Rectangle 9"/>
          <p:cNvSpPr/>
          <p:nvPr/>
        </p:nvSpPr>
        <p:spPr>
          <a:xfrm>
            <a:off x="98748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" name="Rounded Rectangle 10"/>
          <p:cNvSpPr/>
          <p:nvPr/>
        </p:nvSpPr>
        <p:spPr>
          <a:xfrm>
            <a:off x="914400" y="3108960"/>
            <a:ext cx="3279600" cy="3052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ZoneId → Represents the time zone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 → Holds date and time along with the time zone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UTC offsets are calculated automatically for each region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Daylight saving time changes are handled automatically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" name="Rounded Rectangle 11"/>
          <p:cNvSpPr/>
          <p:nvPr/>
        </p:nvSpPr>
        <p:spPr>
          <a:xfrm>
            <a:off x="450792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" name="Rounded Rectangle 12"/>
          <p:cNvSpPr/>
          <p:nvPr/>
        </p:nvSpPr>
        <p:spPr>
          <a:xfrm>
            <a:off x="4434840" y="2971800"/>
            <a:ext cx="3279600" cy="3417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Time Zone is Selected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Current Time of the Region is Retrieved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Processing / Formatting is Applied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 to the User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" name="Rounded Rectangle 13"/>
          <p:cNvSpPr/>
          <p:nvPr/>
        </p:nvSpPr>
        <p:spPr>
          <a:xfrm>
            <a:off x="802836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" name="Rounded Rectangle 14"/>
          <p:cNvSpPr/>
          <p:nvPr/>
        </p:nvSpPr>
        <p:spPr>
          <a:xfrm>
            <a:off x="7955280" y="3108960"/>
            <a:ext cx="3692160" cy="3052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TimezoneExample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istanbul = ZoneId.of("Europe/Istanbul");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newYork = ZoneId.of("America/New_York");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timeInIstanbul = ZonedDateTime.now(istanbul);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timeInNewYork = ZonedDateTime.now(newYork);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System.out.println("Istanbul Time: " + timeInIstanbul);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System.out.println("New York Time: " + timeInNewYork);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Rectangle 33"/>
          <p:cNvSpPr/>
          <p:nvPr/>
        </p:nvSpPr>
        <p:spPr>
          <a:xfrm>
            <a:off x="0" y="0"/>
            <a:ext cx="12176640" cy="6845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ectangle 34"/>
          <p:cNvSpPr/>
          <p:nvPr/>
        </p:nvSpPr>
        <p:spPr>
          <a:xfrm>
            <a:off x="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" name="Rectangle 35"/>
          <p:cNvSpPr/>
          <p:nvPr/>
        </p:nvSpPr>
        <p:spPr>
          <a:xfrm>
            <a:off x="914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" name="Rectangle 36"/>
          <p:cNvSpPr/>
          <p:nvPr/>
        </p:nvSpPr>
        <p:spPr>
          <a:xfrm>
            <a:off x="1828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ectangle 37"/>
          <p:cNvSpPr/>
          <p:nvPr/>
        </p:nvSpPr>
        <p:spPr>
          <a:xfrm>
            <a:off x="2743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6" name="Rectangle 38"/>
          <p:cNvSpPr/>
          <p:nvPr/>
        </p:nvSpPr>
        <p:spPr>
          <a:xfrm>
            <a:off x="3657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7" name="Rectangle 39"/>
          <p:cNvSpPr/>
          <p:nvPr/>
        </p:nvSpPr>
        <p:spPr>
          <a:xfrm>
            <a:off x="4572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8" name="Rectangle 40"/>
          <p:cNvSpPr/>
          <p:nvPr/>
        </p:nvSpPr>
        <p:spPr>
          <a:xfrm>
            <a:off x="5486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ectangle 41"/>
          <p:cNvSpPr/>
          <p:nvPr/>
        </p:nvSpPr>
        <p:spPr>
          <a:xfrm>
            <a:off x="6400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0" name="Rectangle 42"/>
          <p:cNvSpPr/>
          <p:nvPr/>
        </p:nvSpPr>
        <p:spPr>
          <a:xfrm>
            <a:off x="7315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ectangle 43"/>
          <p:cNvSpPr/>
          <p:nvPr/>
        </p:nvSpPr>
        <p:spPr>
          <a:xfrm>
            <a:off x="8229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2" name="Rectangle 44"/>
          <p:cNvSpPr/>
          <p:nvPr/>
        </p:nvSpPr>
        <p:spPr>
          <a:xfrm>
            <a:off x="9144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ectangle 45"/>
          <p:cNvSpPr/>
          <p:nvPr/>
        </p:nvSpPr>
        <p:spPr>
          <a:xfrm>
            <a:off x="10058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4" name="Rectangle 46"/>
          <p:cNvSpPr/>
          <p:nvPr/>
        </p:nvSpPr>
        <p:spPr>
          <a:xfrm>
            <a:off x="10972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5" name="Rectangle 47"/>
          <p:cNvSpPr/>
          <p:nvPr/>
        </p:nvSpPr>
        <p:spPr>
          <a:xfrm>
            <a:off x="11887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48"/>
          <p:cNvSpPr/>
          <p:nvPr/>
        </p:nvSpPr>
        <p:spPr>
          <a:xfrm>
            <a:off x="0" y="0"/>
            <a:ext cx="307800" cy="6845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ounded Rectangle 15"/>
          <p:cNvSpPr/>
          <p:nvPr/>
        </p:nvSpPr>
        <p:spPr>
          <a:xfrm>
            <a:off x="9875520" y="365760"/>
            <a:ext cx="1999440" cy="490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" name="TextBox 7"/>
          <p:cNvSpPr/>
          <p:nvPr/>
        </p:nvSpPr>
        <p:spPr>
          <a:xfrm>
            <a:off x="855000" y="914400"/>
            <a:ext cx="926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LocalDate, LocalTime and LocalDateTime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TextBox 8"/>
          <p:cNvSpPr/>
          <p:nvPr/>
        </p:nvSpPr>
        <p:spPr>
          <a:xfrm>
            <a:off x="1304280" y="1828800"/>
            <a:ext cx="88786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date and time handling is not always dependent on time zones. In some cases, only the date, only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time, or both together are needed.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For these purposes, LocalDate, LocalTime, and LocalDateTime classes are used.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Rounded Rectangle 16"/>
          <p:cNvSpPr/>
          <p:nvPr/>
        </p:nvSpPr>
        <p:spPr>
          <a:xfrm>
            <a:off x="98748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" name="Rounded Rectangle 18"/>
          <p:cNvSpPr/>
          <p:nvPr/>
        </p:nvSpPr>
        <p:spPr>
          <a:xfrm>
            <a:off x="685800" y="2971800"/>
            <a:ext cx="3508200" cy="318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 → Stores only date information (year, month, day)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LocalTime → Stores only time information (hour, minute, second)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 → Stores both date and time together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They do not include time zone information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Provide a simpler and more efficient usage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" name="Rounded Rectangle 19"/>
          <p:cNvSpPr/>
          <p:nvPr/>
        </p:nvSpPr>
        <p:spPr>
          <a:xfrm>
            <a:off x="450792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" name="Rounded Rectangle 26"/>
          <p:cNvSpPr/>
          <p:nvPr/>
        </p:nvSpPr>
        <p:spPr>
          <a:xfrm>
            <a:off x="4434840" y="2971800"/>
            <a:ext cx="3279600" cy="3417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Appropriate Class is Selected (LocalDate / LocalTime / LocalDateTime)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Current Value is Retrieved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Processing / Formatting is Applied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" name="Rounded Rectangle 27"/>
          <p:cNvSpPr/>
          <p:nvPr/>
        </p:nvSpPr>
        <p:spPr>
          <a:xfrm>
            <a:off x="802836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" name="Rounded Rectangle 28"/>
          <p:cNvSpPr/>
          <p:nvPr/>
        </p:nvSpPr>
        <p:spPr>
          <a:xfrm>
            <a:off x="7955280" y="3108960"/>
            <a:ext cx="3692160" cy="3052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LocalDateTimeExample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time = LocalTime.now();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dateTime = LocalDateTime.now();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System.out.println("Date: " + date);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System.out.println("Time: " + 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 and Time: " + dateTime);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Rectangle 49"/>
          <p:cNvSpPr/>
          <p:nvPr/>
        </p:nvSpPr>
        <p:spPr>
          <a:xfrm>
            <a:off x="0" y="0"/>
            <a:ext cx="12176640" cy="6845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ectangle 50"/>
          <p:cNvSpPr/>
          <p:nvPr/>
        </p:nvSpPr>
        <p:spPr>
          <a:xfrm>
            <a:off x="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" name="Rectangle 51"/>
          <p:cNvSpPr/>
          <p:nvPr/>
        </p:nvSpPr>
        <p:spPr>
          <a:xfrm>
            <a:off x="914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" name="Rectangle 52"/>
          <p:cNvSpPr/>
          <p:nvPr/>
        </p:nvSpPr>
        <p:spPr>
          <a:xfrm>
            <a:off x="1828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ectangle 53"/>
          <p:cNvSpPr/>
          <p:nvPr/>
        </p:nvSpPr>
        <p:spPr>
          <a:xfrm>
            <a:off x="2743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2" name="Rectangle 54"/>
          <p:cNvSpPr/>
          <p:nvPr/>
        </p:nvSpPr>
        <p:spPr>
          <a:xfrm>
            <a:off x="3657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3" name="Rectangle 55"/>
          <p:cNvSpPr/>
          <p:nvPr/>
        </p:nvSpPr>
        <p:spPr>
          <a:xfrm>
            <a:off x="4572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4" name="Rectangle 56"/>
          <p:cNvSpPr/>
          <p:nvPr/>
        </p:nvSpPr>
        <p:spPr>
          <a:xfrm>
            <a:off x="5486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ectangle 57"/>
          <p:cNvSpPr/>
          <p:nvPr/>
        </p:nvSpPr>
        <p:spPr>
          <a:xfrm>
            <a:off x="6400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6" name="Rectangle 58"/>
          <p:cNvSpPr/>
          <p:nvPr/>
        </p:nvSpPr>
        <p:spPr>
          <a:xfrm>
            <a:off x="7315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ectangle 59"/>
          <p:cNvSpPr/>
          <p:nvPr/>
        </p:nvSpPr>
        <p:spPr>
          <a:xfrm>
            <a:off x="8229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8" name="Rectangle 60"/>
          <p:cNvSpPr/>
          <p:nvPr/>
        </p:nvSpPr>
        <p:spPr>
          <a:xfrm>
            <a:off x="9144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ectangle 61"/>
          <p:cNvSpPr/>
          <p:nvPr/>
        </p:nvSpPr>
        <p:spPr>
          <a:xfrm>
            <a:off x="10058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0" name="Rectangle 62"/>
          <p:cNvSpPr/>
          <p:nvPr/>
        </p:nvSpPr>
        <p:spPr>
          <a:xfrm>
            <a:off x="10972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1" name="Rectangle 63"/>
          <p:cNvSpPr/>
          <p:nvPr/>
        </p:nvSpPr>
        <p:spPr>
          <a:xfrm>
            <a:off x="11887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64"/>
          <p:cNvSpPr/>
          <p:nvPr/>
        </p:nvSpPr>
        <p:spPr>
          <a:xfrm>
            <a:off x="0" y="0"/>
            <a:ext cx="307800" cy="6845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ounded Rectangle 29"/>
          <p:cNvSpPr/>
          <p:nvPr/>
        </p:nvSpPr>
        <p:spPr>
          <a:xfrm>
            <a:off x="9875520" y="365760"/>
            <a:ext cx="1999440" cy="490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" name="TextBox 10"/>
          <p:cNvSpPr/>
          <p:nvPr/>
        </p:nvSpPr>
        <p:spPr>
          <a:xfrm>
            <a:off x="2845800" y="914400"/>
            <a:ext cx="5277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DateTimeFormatter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TextBox 11"/>
          <p:cNvSpPr/>
          <p:nvPr/>
        </p:nvSpPr>
        <p:spPr>
          <a:xfrm>
            <a:off x="1726200" y="1828800"/>
            <a:ext cx="803448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date and time values are not always displayed in a user-friendly format.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DateTimeFormatter is used to format date and time into a readable and customizable structure.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Rounded Rectangle 30"/>
          <p:cNvSpPr/>
          <p:nvPr/>
        </p:nvSpPr>
        <p:spPr>
          <a:xfrm>
            <a:off x="98748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7" name="Rounded Rectangle 31"/>
          <p:cNvSpPr/>
          <p:nvPr/>
        </p:nvSpPr>
        <p:spPr>
          <a:xfrm>
            <a:off x="685800" y="2971800"/>
            <a:ext cx="3508200" cy="318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→ Formats date and time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Supports custom patterns (dd/MM/yyyy, HH:mm, etc.)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Can be used with LocalDateTime, ZonedDateTime, etc.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Provides locale-based formatting (language support)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Improves readability of date-time output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" name="Rounded Rectangle 32"/>
          <p:cNvSpPr/>
          <p:nvPr/>
        </p:nvSpPr>
        <p:spPr>
          <a:xfrm>
            <a:off x="450792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9" name="Rounded Rectangle 33"/>
          <p:cNvSpPr/>
          <p:nvPr/>
        </p:nvSpPr>
        <p:spPr>
          <a:xfrm>
            <a:off x="4434840" y="2971800"/>
            <a:ext cx="3279600" cy="3417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Application runs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Date/Time is required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date-time object is created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custom format pattern is defined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formatter processes the data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readable formatted output is produced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 to the user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" name="Rounded Rectangle 34"/>
          <p:cNvSpPr/>
          <p:nvPr/>
        </p:nvSpPr>
        <p:spPr>
          <a:xfrm>
            <a:off x="802836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1" name="Rounded Rectangle 35"/>
          <p:cNvSpPr/>
          <p:nvPr/>
        </p:nvSpPr>
        <p:spPr>
          <a:xfrm>
            <a:off x="7955280" y="2743200"/>
            <a:ext cx="3921480" cy="3875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java.time.LocalDateTime;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java.time.format.DateTimeFormatter;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java.util.Locale;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LocaleFormatterExample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now = LocalDateTime.now();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formatterTR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 MMMM yyyy HH:mm", new Locale("tr", "TR"));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formatterUS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DateTimeFormatter.ofPattern("MMMM dd, yyyy hh:mm a", Locale.US);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System.out.println("Turkish Format: " + now.format(formatterTR));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System.out.println("US Format: " + now.format(formatterUS));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Rectangle 65"/>
          <p:cNvSpPr/>
          <p:nvPr/>
        </p:nvSpPr>
        <p:spPr>
          <a:xfrm>
            <a:off x="0" y="0"/>
            <a:ext cx="12176640" cy="6845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ectangle 66"/>
          <p:cNvSpPr/>
          <p:nvPr/>
        </p:nvSpPr>
        <p:spPr>
          <a:xfrm>
            <a:off x="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5" name="Rectangle 67"/>
          <p:cNvSpPr/>
          <p:nvPr/>
        </p:nvSpPr>
        <p:spPr>
          <a:xfrm>
            <a:off x="914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6" name="Rectangle 68"/>
          <p:cNvSpPr/>
          <p:nvPr/>
        </p:nvSpPr>
        <p:spPr>
          <a:xfrm>
            <a:off x="1828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ectangle 69"/>
          <p:cNvSpPr/>
          <p:nvPr/>
        </p:nvSpPr>
        <p:spPr>
          <a:xfrm>
            <a:off x="2743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8" name="Rectangle 70"/>
          <p:cNvSpPr/>
          <p:nvPr/>
        </p:nvSpPr>
        <p:spPr>
          <a:xfrm>
            <a:off x="3657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9" name="Rectangle 71"/>
          <p:cNvSpPr/>
          <p:nvPr/>
        </p:nvSpPr>
        <p:spPr>
          <a:xfrm>
            <a:off x="4572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0" name="Rectangle 72"/>
          <p:cNvSpPr/>
          <p:nvPr/>
        </p:nvSpPr>
        <p:spPr>
          <a:xfrm>
            <a:off x="5486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ectangle 73"/>
          <p:cNvSpPr/>
          <p:nvPr/>
        </p:nvSpPr>
        <p:spPr>
          <a:xfrm>
            <a:off x="6400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2" name="Rectangle 74"/>
          <p:cNvSpPr/>
          <p:nvPr/>
        </p:nvSpPr>
        <p:spPr>
          <a:xfrm>
            <a:off x="7315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ectangle 75"/>
          <p:cNvSpPr/>
          <p:nvPr/>
        </p:nvSpPr>
        <p:spPr>
          <a:xfrm>
            <a:off x="8229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4" name="Rectangle 76"/>
          <p:cNvSpPr/>
          <p:nvPr/>
        </p:nvSpPr>
        <p:spPr>
          <a:xfrm>
            <a:off x="9144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5" name="Rectangle 77"/>
          <p:cNvSpPr/>
          <p:nvPr/>
        </p:nvSpPr>
        <p:spPr>
          <a:xfrm>
            <a:off x="10058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6" name="Rectangle 78"/>
          <p:cNvSpPr/>
          <p:nvPr/>
        </p:nvSpPr>
        <p:spPr>
          <a:xfrm>
            <a:off x="10972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7" name="Rectangle 79"/>
          <p:cNvSpPr/>
          <p:nvPr/>
        </p:nvSpPr>
        <p:spPr>
          <a:xfrm>
            <a:off x="11887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80"/>
          <p:cNvSpPr/>
          <p:nvPr/>
        </p:nvSpPr>
        <p:spPr>
          <a:xfrm>
            <a:off x="0" y="0"/>
            <a:ext cx="307800" cy="6845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ounded Rectangle 36"/>
          <p:cNvSpPr/>
          <p:nvPr/>
        </p:nvSpPr>
        <p:spPr>
          <a:xfrm>
            <a:off x="9875520" y="365760"/>
            <a:ext cx="1999440" cy="490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" name="TextBox 13"/>
          <p:cNvSpPr/>
          <p:nvPr/>
        </p:nvSpPr>
        <p:spPr>
          <a:xfrm>
            <a:off x="2592000" y="914400"/>
            <a:ext cx="57862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Parsing Date and Time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TextBox 14"/>
          <p:cNvSpPr/>
          <p:nvPr/>
        </p:nvSpPr>
        <p:spPr>
          <a:xfrm>
            <a:off x="2278800" y="1828800"/>
            <a:ext cx="692928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parsing is the process of converting text-based date values into structured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date-time objects that can be used within the application.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Rounded Rectangle 37"/>
          <p:cNvSpPr/>
          <p:nvPr/>
        </p:nvSpPr>
        <p:spPr>
          <a:xfrm>
            <a:off x="98748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3" name="Rounded Rectangle 38"/>
          <p:cNvSpPr/>
          <p:nvPr/>
        </p:nvSpPr>
        <p:spPr>
          <a:xfrm>
            <a:off x="457200" y="2743200"/>
            <a:ext cx="3736800" cy="3876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Dates often arrive as plain text.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Text cannot be calculated or compared.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It must be transformed into a real date object.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pattern defines how the text should be read.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formatter follows this pattern strictly.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If the format matches, conversion succeeds.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If not, an error occurs.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4" name="Rounded Rectangle 39"/>
          <p:cNvSpPr/>
          <p:nvPr/>
        </p:nvSpPr>
        <p:spPr>
          <a:xfrm>
            <a:off x="450792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5" name="Rounded Rectangle 40"/>
          <p:cNvSpPr/>
          <p:nvPr/>
        </p:nvSpPr>
        <p:spPr>
          <a:xfrm>
            <a:off x="4434840" y="2971800"/>
            <a:ext cx="3279600" cy="3417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Raw text data enters the system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System identifies expected date structure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conversion rule (pattern) is prepared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Text is interpreted based on the rule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valid date-time object is created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object becomes usable for operations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" name="Rounded Rectangle 41"/>
          <p:cNvSpPr/>
          <p:nvPr/>
        </p:nvSpPr>
        <p:spPr>
          <a:xfrm>
            <a:off x="802836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7" name="Rounded Rectangle 42"/>
          <p:cNvSpPr/>
          <p:nvPr/>
        </p:nvSpPr>
        <p:spPr>
          <a:xfrm>
            <a:off x="8001000" y="3200400"/>
            <a:ext cx="3464640" cy="2733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ParsingExample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dateText = "28/04/2026";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DateTimeFormatter.ofPattern("dd/MM/yyyy");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LocalDate.parse(dateText, formatter);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System.out.println("Parsed Date: " + date);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Rectangle 81"/>
          <p:cNvSpPr/>
          <p:nvPr/>
        </p:nvSpPr>
        <p:spPr>
          <a:xfrm>
            <a:off x="0" y="0"/>
            <a:ext cx="12176280" cy="6845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ectangle 82"/>
          <p:cNvSpPr/>
          <p:nvPr/>
        </p:nvSpPr>
        <p:spPr>
          <a:xfrm>
            <a:off x="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1" name="Rectangle 83"/>
          <p:cNvSpPr/>
          <p:nvPr/>
        </p:nvSpPr>
        <p:spPr>
          <a:xfrm>
            <a:off x="9144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Rectangle 84"/>
          <p:cNvSpPr/>
          <p:nvPr/>
        </p:nvSpPr>
        <p:spPr>
          <a:xfrm>
            <a:off x="18288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ectangle 85"/>
          <p:cNvSpPr/>
          <p:nvPr/>
        </p:nvSpPr>
        <p:spPr>
          <a:xfrm>
            <a:off x="27432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4" name="Rectangle 86"/>
          <p:cNvSpPr/>
          <p:nvPr/>
        </p:nvSpPr>
        <p:spPr>
          <a:xfrm>
            <a:off x="36576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5" name="Rectangle 87"/>
          <p:cNvSpPr/>
          <p:nvPr/>
        </p:nvSpPr>
        <p:spPr>
          <a:xfrm>
            <a:off x="45720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6" name="Rectangle 88"/>
          <p:cNvSpPr/>
          <p:nvPr/>
        </p:nvSpPr>
        <p:spPr>
          <a:xfrm>
            <a:off x="54864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ectangle 89"/>
          <p:cNvSpPr/>
          <p:nvPr/>
        </p:nvSpPr>
        <p:spPr>
          <a:xfrm>
            <a:off x="64008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8" name="Rectangle 90"/>
          <p:cNvSpPr/>
          <p:nvPr/>
        </p:nvSpPr>
        <p:spPr>
          <a:xfrm>
            <a:off x="73152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ectangle 91"/>
          <p:cNvSpPr/>
          <p:nvPr/>
        </p:nvSpPr>
        <p:spPr>
          <a:xfrm>
            <a:off x="82296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0" name="Rectangle 92"/>
          <p:cNvSpPr/>
          <p:nvPr/>
        </p:nvSpPr>
        <p:spPr>
          <a:xfrm>
            <a:off x="91440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1" name="Rectangle 93"/>
          <p:cNvSpPr/>
          <p:nvPr/>
        </p:nvSpPr>
        <p:spPr>
          <a:xfrm>
            <a:off x="100584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2" name="Rectangle 94"/>
          <p:cNvSpPr/>
          <p:nvPr/>
        </p:nvSpPr>
        <p:spPr>
          <a:xfrm>
            <a:off x="109728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3" name="Rectangle 95"/>
          <p:cNvSpPr/>
          <p:nvPr/>
        </p:nvSpPr>
        <p:spPr>
          <a:xfrm>
            <a:off x="118872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ectangle 96"/>
          <p:cNvSpPr/>
          <p:nvPr/>
        </p:nvSpPr>
        <p:spPr>
          <a:xfrm>
            <a:off x="0" y="0"/>
            <a:ext cx="307440" cy="6845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ounded Rectangle 43"/>
          <p:cNvSpPr/>
          <p:nvPr/>
        </p:nvSpPr>
        <p:spPr>
          <a:xfrm>
            <a:off x="9875520" y="365760"/>
            <a:ext cx="1999080" cy="490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" name="TextBox 16"/>
          <p:cNvSpPr/>
          <p:nvPr/>
        </p:nvSpPr>
        <p:spPr>
          <a:xfrm>
            <a:off x="1146240" y="914400"/>
            <a:ext cx="867744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Period and Duration in Java (Calculating Time Differences)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TextBox 17"/>
          <p:cNvSpPr/>
          <p:nvPr/>
        </p:nvSpPr>
        <p:spPr>
          <a:xfrm>
            <a:off x="668520" y="1600200"/>
            <a:ext cx="10352520" cy="5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to measure the time difference between two dates or two times, and to add or subtract specific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durations to/from dates, the Period class is used for date-based measurements, and the Duration class is used for time-based measurements.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Rounded Rectangle 44"/>
          <p:cNvSpPr/>
          <p:nvPr/>
        </p:nvSpPr>
        <p:spPr>
          <a:xfrm>
            <a:off x="987480" y="318204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9" name="Rounded Rectangle 45"/>
          <p:cNvSpPr/>
          <p:nvPr/>
        </p:nvSpPr>
        <p:spPr>
          <a:xfrm>
            <a:off x="457200" y="2514600"/>
            <a:ext cx="3736440" cy="4104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Period: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Represents date-based differences (years, months, days). It is generally used with LocalDate objects.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Duration: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Represents time-based differences (hours, minutes, seconds, nanoseconds). It is generally used with LocalTime or LocalDateTime objects.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between() method is used to find the difference between two date/time points.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They can be used with plus() and minus() methods to add or subtract time from an existing date.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Using these APIs instead of manual mathematical calculations prevents errors when handling complex situations like Daylight Saving Time (DST).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" name="Rounded Rectangle 46"/>
          <p:cNvSpPr/>
          <p:nvPr/>
        </p:nvSpPr>
        <p:spPr>
          <a:xfrm>
            <a:off x="4507920" y="318204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1" name="Rounded Rectangle 47"/>
          <p:cNvSpPr/>
          <p:nvPr/>
        </p:nvSpPr>
        <p:spPr>
          <a:xfrm>
            <a:off x="4434840" y="2514600"/>
            <a:ext cx="3279240" cy="3874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Start and end times (Date/Time objects) are created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appropriate class (Period or Duration) is selected based on the requirement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difference between the two times is calculated by calling the between() method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details of the difference are retrieved using relevant methods (e.g., getDays(), toHours())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result is printed to the screen or used in different business logic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" name="Rounded Rectangle 48"/>
          <p:cNvSpPr/>
          <p:nvPr/>
        </p:nvSpPr>
        <p:spPr>
          <a:xfrm>
            <a:off x="8028360" y="318204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3" name="Rounded Rectangle 49"/>
          <p:cNvSpPr/>
          <p:nvPr/>
        </p:nvSpPr>
        <p:spPr>
          <a:xfrm>
            <a:off x="8001000" y="2286000"/>
            <a:ext cx="3647880" cy="4105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DurationPeriodExample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PERIOD EXAMPLE (Date Difference)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oldDate = LocalDate.of(2022, 5, 10);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currentDate = LocalDate.now(); // e.g., April 28, 2024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Period period = Period.between(oldDate, currentDate);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 Difference: " + period.getYears() + " years,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period.getMonths() + " months,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period.getDays() + " days");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DURATION EXAMPLE (Time Difference)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startTime = LocalTime.of(9, 30);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endTime = LocalTime.of(17, 15);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duration = Duration.between(startTime, endTime);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System.out.println("Elapsed Time: " + duration.toHours() + " hours,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(duration.toMinutes() % 60) + " minutes");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4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Rectangle 97"/>
          <p:cNvSpPr/>
          <p:nvPr/>
        </p:nvSpPr>
        <p:spPr>
          <a:xfrm>
            <a:off x="0" y="0"/>
            <a:ext cx="12176640" cy="6845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ectangle 98"/>
          <p:cNvSpPr/>
          <p:nvPr/>
        </p:nvSpPr>
        <p:spPr>
          <a:xfrm>
            <a:off x="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7" name="Rectangle 99"/>
          <p:cNvSpPr/>
          <p:nvPr/>
        </p:nvSpPr>
        <p:spPr>
          <a:xfrm>
            <a:off x="914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8" name="Rectangle 100"/>
          <p:cNvSpPr/>
          <p:nvPr/>
        </p:nvSpPr>
        <p:spPr>
          <a:xfrm>
            <a:off x="1828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ectangle 101"/>
          <p:cNvSpPr/>
          <p:nvPr/>
        </p:nvSpPr>
        <p:spPr>
          <a:xfrm>
            <a:off x="2743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0" name="Rectangle 102"/>
          <p:cNvSpPr/>
          <p:nvPr/>
        </p:nvSpPr>
        <p:spPr>
          <a:xfrm>
            <a:off x="3657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1" name="Rectangle 103"/>
          <p:cNvSpPr/>
          <p:nvPr/>
        </p:nvSpPr>
        <p:spPr>
          <a:xfrm>
            <a:off x="4572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2" name="Rectangle 104"/>
          <p:cNvSpPr/>
          <p:nvPr/>
        </p:nvSpPr>
        <p:spPr>
          <a:xfrm>
            <a:off x="5486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ectangle 105"/>
          <p:cNvSpPr/>
          <p:nvPr/>
        </p:nvSpPr>
        <p:spPr>
          <a:xfrm>
            <a:off x="6400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4" name="Rectangle 106"/>
          <p:cNvSpPr/>
          <p:nvPr/>
        </p:nvSpPr>
        <p:spPr>
          <a:xfrm>
            <a:off x="7315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ectangle 107"/>
          <p:cNvSpPr/>
          <p:nvPr/>
        </p:nvSpPr>
        <p:spPr>
          <a:xfrm>
            <a:off x="8229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6" name="Rectangle 108"/>
          <p:cNvSpPr/>
          <p:nvPr/>
        </p:nvSpPr>
        <p:spPr>
          <a:xfrm>
            <a:off x="9144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ectangle 109"/>
          <p:cNvSpPr/>
          <p:nvPr/>
        </p:nvSpPr>
        <p:spPr>
          <a:xfrm>
            <a:off x="10058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8" name="Rectangle 110"/>
          <p:cNvSpPr/>
          <p:nvPr/>
        </p:nvSpPr>
        <p:spPr>
          <a:xfrm>
            <a:off x="10972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9" name="Rectangle 111"/>
          <p:cNvSpPr/>
          <p:nvPr/>
        </p:nvSpPr>
        <p:spPr>
          <a:xfrm>
            <a:off x="11887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112"/>
          <p:cNvSpPr/>
          <p:nvPr/>
        </p:nvSpPr>
        <p:spPr>
          <a:xfrm>
            <a:off x="0" y="0"/>
            <a:ext cx="307800" cy="6845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ounded Rectangle 50"/>
          <p:cNvSpPr/>
          <p:nvPr/>
        </p:nvSpPr>
        <p:spPr>
          <a:xfrm>
            <a:off x="9875520" y="365760"/>
            <a:ext cx="1999440" cy="490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" name="TextBox 21"/>
          <p:cNvSpPr/>
          <p:nvPr/>
        </p:nvSpPr>
        <p:spPr>
          <a:xfrm>
            <a:off x="1466280" y="914400"/>
            <a:ext cx="803592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The Ultimate Java Date &amp; Time Ecosystem (Summary)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TextBox 22"/>
          <p:cNvSpPr/>
          <p:nvPr/>
        </p:nvSpPr>
        <p:spPr>
          <a:xfrm>
            <a:off x="1767600" y="1694880"/>
            <a:ext cx="79506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java.time package (introduced in Java 8) is a paradigm shift in Java. It offers an immutable,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thread-safe, and domain-driven approach to modeling human time,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machine time, and the complex geographical rules that connect them.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Rounded Rectangle 51"/>
          <p:cNvSpPr/>
          <p:nvPr/>
        </p:nvSpPr>
        <p:spPr>
          <a:xfrm>
            <a:off x="98748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5" name="Rounded Rectangle 52"/>
          <p:cNvSpPr/>
          <p:nvPr/>
        </p:nvSpPr>
        <p:spPr>
          <a:xfrm>
            <a:off x="457200" y="2743200"/>
            <a:ext cx="3876840" cy="3876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1: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Human Timeline (Ignorant of Geography)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LocalDate, LocalTime, LocalDateTime represent time exactly as you see it on a wall clock or a paper calendar. They don't know where in the world they are.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2: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Earth's Grid (Geographical Reality)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ZoneId and ZonedDateTime anchor the human timeline to a specific coordinate on Earth. They automatically absorb the chaos of Daylight Saving Time (DST) and UTC offsets.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3: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Measurement (Space between moments)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Time is not just points; it's distances. Period measures calendar distances (years, months, days), while Duration measures clock distances (hours, minutes, seconds).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4: 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Translation Layer (The Bridge)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acts as the universal translator between raw string text (Parsing) and human-readable UI outputs (Formatting).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6" name="Rounded Rectangle 53"/>
          <p:cNvSpPr/>
          <p:nvPr/>
        </p:nvSpPr>
        <p:spPr>
          <a:xfrm>
            <a:off x="450792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7" name="Rounded Rectangle 54"/>
          <p:cNvSpPr/>
          <p:nvPr/>
        </p:nvSpPr>
        <p:spPr>
          <a:xfrm>
            <a:off x="4572000" y="2743200"/>
            <a:ext cx="3419640" cy="364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What kind of time do you need to model?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Does geography matter? (Global Events, Flights)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YES ─&gt; Bind with ZoneId ─&gt; ZonedDateTime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Is it just a local daily concept? (Birthdays, Alarms)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Date Only? ─&gt; LocalDate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Time Only? ─&gt; LocalTime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Both? ─&gt; LocalDateTime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Action Phase: What do you want to do with it?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Calculate a Countdown/Distance?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Calendar-based? ─&gt; Use Period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Clock-based? ─&gt; Use Duration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Send to UI or Database?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Map with DateTimeFormatter (Format / Parse)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8" name="Rounded Rectangle 55"/>
          <p:cNvSpPr/>
          <p:nvPr/>
        </p:nvSpPr>
        <p:spPr>
          <a:xfrm>
            <a:off x="802836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9" name="Rounded Rectangle 56"/>
          <p:cNvSpPr/>
          <p:nvPr/>
        </p:nvSpPr>
        <p:spPr>
          <a:xfrm>
            <a:off x="8229600" y="2514600"/>
            <a:ext cx="3648240" cy="4105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TimeMastery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1. Human Timeline (Local)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localMeeting = LocalDateTime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.of(2025, 10, 15, 9, 0);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2. Earth's Grid (Zoned)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nyZone = ZoneId.of("America/New_York");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nyMeeting = ZonedDateTime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.of(localMeeting, nyZone);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3. Translation Layer (Formatting)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fmt = DateTimeFormatter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.ofPattern("MMM dd, yyyy - HH:mm z");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System.out.println("Meeting: "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+ nyMeeting.format(fmt));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4. Measurement (Duration/Distance)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ZonedDateTime.now(nyZone);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if (nyMeeting.isAfter(now))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gap = Duration.between(now, nyMeeting);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System.out.println(gap.toDays() + " days left!");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 else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System.out.println("Already passed.");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0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Rectangle 113"/>
          <p:cNvSpPr/>
          <p:nvPr/>
        </p:nvSpPr>
        <p:spPr>
          <a:xfrm>
            <a:off x="0" y="0"/>
            <a:ext cx="12176280" cy="6845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ectangle 114"/>
          <p:cNvSpPr/>
          <p:nvPr/>
        </p:nvSpPr>
        <p:spPr>
          <a:xfrm>
            <a:off x="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3" name="Rectangle 115"/>
          <p:cNvSpPr/>
          <p:nvPr/>
        </p:nvSpPr>
        <p:spPr>
          <a:xfrm>
            <a:off x="9144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4" name="Rectangle 116"/>
          <p:cNvSpPr/>
          <p:nvPr/>
        </p:nvSpPr>
        <p:spPr>
          <a:xfrm>
            <a:off x="18288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ectangle 117"/>
          <p:cNvSpPr/>
          <p:nvPr/>
        </p:nvSpPr>
        <p:spPr>
          <a:xfrm>
            <a:off x="27432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6" name="Rectangle 118"/>
          <p:cNvSpPr/>
          <p:nvPr/>
        </p:nvSpPr>
        <p:spPr>
          <a:xfrm>
            <a:off x="36576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7" name="Rectangle 119"/>
          <p:cNvSpPr/>
          <p:nvPr/>
        </p:nvSpPr>
        <p:spPr>
          <a:xfrm>
            <a:off x="45720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8" name="Rectangle 120"/>
          <p:cNvSpPr/>
          <p:nvPr/>
        </p:nvSpPr>
        <p:spPr>
          <a:xfrm>
            <a:off x="54864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ectangle 121"/>
          <p:cNvSpPr/>
          <p:nvPr/>
        </p:nvSpPr>
        <p:spPr>
          <a:xfrm>
            <a:off x="64008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0" name="Rectangle 122"/>
          <p:cNvSpPr/>
          <p:nvPr/>
        </p:nvSpPr>
        <p:spPr>
          <a:xfrm>
            <a:off x="73152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ectangle 123"/>
          <p:cNvSpPr/>
          <p:nvPr/>
        </p:nvSpPr>
        <p:spPr>
          <a:xfrm>
            <a:off x="82296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2" name="Rectangle 124"/>
          <p:cNvSpPr/>
          <p:nvPr/>
        </p:nvSpPr>
        <p:spPr>
          <a:xfrm>
            <a:off x="91440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3" name="Rectangle 125"/>
          <p:cNvSpPr/>
          <p:nvPr/>
        </p:nvSpPr>
        <p:spPr>
          <a:xfrm>
            <a:off x="100584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4" name="Rectangle 126"/>
          <p:cNvSpPr/>
          <p:nvPr/>
        </p:nvSpPr>
        <p:spPr>
          <a:xfrm>
            <a:off x="109728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5" name="Rectangle 127"/>
          <p:cNvSpPr/>
          <p:nvPr/>
        </p:nvSpPr>
        <p:spPr>
          <a:xfrm>
            <a:off x="118872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6" name="Rectangle 128"/>
          <p:cNvSpPr/>
          <p:nvPr/>
        </p:nvSpPr>
        <p:spPr>
          <a:xfrm>
            <a:off x="0" y="0"/>
            <a:ext cx="307440" cy="6845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ounded Rectangle 57"/>
          <p:cNvSpPr/>
          <p:nvPr/>
        </p:nvSpPr>
        <p:spPr>
          <a:xfrm>
            <a:off x="9875520" y="365760"/>
            <a:ext cx="1999080" cy="490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8" name="TextBox 24"/>
          <p:cNvSpPr/>
          <p:nvPr/>
        </p:nvSpPr>
        <p:spPr>
          <a:xfrm>
            <a:off x="1737720" y="914400"/>
            <a:ext cx="74934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Introduction to Basic Operators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TextBox 25"/>
          <p:cNvSpPr/>
          <p:nvPr/>
        </p:nvSpPr>
        <p:spPr>
          <a:xfrm>
            <a:off x="1964160" y="1664640"/>
            <a:ext cx="75726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operators are special symbols used to perform mathematical, logical, or relational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operations on variables and values.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data items that operators act upon are called "Operands".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Rounded Rectangle 58"/>
          <p:cNvSpPr/>
          <p:nvPr/>
        </p:nvSpPr>
        <p:spPr>
          <a:xfrm>
            <a:off x="987480" y="318204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1" name="Rounded Rectangle 59"/>
          <p:cNvSpPr/>
          <p:nvPr/>
        </p:nvSpPr>
        <p:spPr>
          <a:xfrm>
            <a:off x="914400" y="2743200"/>
            <a:ext cx="3279240" cy="364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Basic Terminology: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Operator: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symbol performing the action (+, *, 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Operand: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data being manipulated (x, 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(e.g., In x + 5, + is the operator, x and 5 are operands.)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Common Operator Types: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Arithmetic: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Performs math calculations (+, -, *, /, % modulo).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Relational: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Compares two values, returns true or false (==, !=, &gt;, &lt;).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Logical: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Combines multiple boolean conditions (&amp;&amp; AND, || OR, ! NOT).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Assignment: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Assigns the right-side value to the left-side variable (=, +=, *=).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2" name="Rounded Rectangle 60"/>
          <p:cNvSpPr/>
          <p:nvPr/>
        </p:nvSpPr>
        <p:spPr>
          <a:xfrm>
            <a:off x="4507920" y="318204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3" name="Rounded Rectangle 61"/>
          <p:cNvSpPr/>
          <p:nvPr/>
        </p:nvSpPr>
        <p:spPr>
          <a:xfrm>
            <a:off x="4434840" y="2743200"/>
            <a:ext cx="3279240" cy="364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Operator Execution Flow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Data (Operands) defined in memory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e.g., int x = 10; int y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Expression is evaluated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Arithmetic: x + y (Result: 15)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Relational: x &gt; y (Result: true)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Assignment Operator executes (=)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result is stored in a variable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Result is ready for output/processing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4" name="Rounded Rectangle 62"/>
          <p:cNvSpPr/>
          <p:nvPr/>
        </p:nvSpPr>
        <p:spPr>
          <a:xfrm>
            <a:off x="8028360" y="318204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5" name="Rounded Rectangle 63"/>
          <p:cNvSpPr/>
          <p:nvPr/>
        </p:nvSpPr>
        <p:spPr>
          <a:xfrm>
            <a:off x="7955280" y="2743200"/>
            <a:ext cx="3691800" cy="364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OperatorIntro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1. Assignment Operator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15;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4;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2. Arithmetic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a + b;     // 19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remain = a % b;  // 3 (Modulus - remainder)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3. Relational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isGreater = (a &gt; b); // true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isEqual = (a == b);  // false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4. Logical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"Is 'a' &gt; 10 AND 'b' an even number?"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result = (a &gt; 10) &amp;&amp; (b % 2 == 0);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System.out.println("Sum: " + sum);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System.out.println("Remainder: " + remain);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System.out.println("Logical Result: " + result);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6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Rectangle 129"/>
          <p:cNvSpPr/>
          <p:nvPr/>
        </p:nvSpPr>
        <p:spPr>
          <a:xfrm>
            <a:off x="0" y="0"/>
            <a:ext cx="12175920" cy="6845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ectangle 130"/>
          <p:cNvSpPr/>
          <p:nvPr/>
        </p:nvSpPr>
        <p:spPr>
          <a:xfrm>
            <a:off x="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9" name="Rectangle 131"/>
          <p:cNvSpPr/>
          <p:nvPr/>
        </p:nvSpPr>
        <p:spPr>
          <a:xfrm>
            <a:off x="914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0" name="Rectangle 132"/>
          <p:cNvSpPr/>
          <p:nvPr/>
        </p:nvSpPr>
        <p:spPr>
          <a:xfrm>
            <a:off x="1828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ectangle 133"/>
          <p:cNvSpPr/>
          <p:nvPr/>
        </p:nvSpPr>
        <p:spPr>
          <a:xfrm>
            <a:off x="2743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2" name="Rectangle 134"/>
          <p:cNvSpPr/>
          <p:nvPr/>
        </p:nvSpPr>
        <p:spPr>
          <a:xfrm>
            <a:off x="3657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3" name="Rectangle 135"/>
          <p:cNvSpPr/>
          <p:nvPr/>
        </p:nvSpPr>
        <p:spPr>
          <a:xfrm>
            <a:off x="4572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4" name="Rectangle 136"/>
          <p:cNvSpPr/>
          <p:nvPr/>
        </p:nvSpPr>
        <p:spPr>
          <a:xfrm>
            <a:off x="5486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ectangle 137"/>
          <p:cNvSpPr/>
          <p:nvPr/>
        </p:nvSpPr>
        <p:spPr>
          <a:xfrm>
            <a:off x="6400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6" name="Rectangle 138"/>
          <p:cNvSpPr/>
          <p:nvPr/>
        </p:nvSpPr>
        <p:spPr>
          <a:xfrm>
            <a:off x="7315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ectangle 139"/>
          <p:cNvSpPr/>
          <p:nvPr/>
        </p:nvSpPr>
        <p:spPr>
          <a:xfrm>
            <a:off x="8229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8" name="Rectangle 140"/>
          <p:cNvSpPr/>
          <p:nvPr/>
        </p:nvSpPr>
        <p:spPr>
          <a:xfrm>
            <a:off x="9144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ectangle 141"/>
          <p:cNvSpPr/>
          <p:nvPr/>
        </p:nvSpPr>
        <p:spPr>
          <a:xfrm>
            <a:off x="10058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0" name="Rectangle 142"/>
          <p:cNvSpPr/>
          <p:nvPr/>
        </p:nvSpPr>
        <p:spPr>
          <a:xfrm>
            <a:off x="10972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1" name="Rectangle 143"/>
          <p:cNvSpPr/>
          <p:nvPr/>
        </p:nvSpPr>
        <p:spPr>
          <a:xfrm>
            <a:off x="11887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144"/>
          <p:cNvSpPr/>
          <p:nvPr/>
        </p:nvSpPr>
        <p:spPr>
          <a:xfrm>
            <a:off x="0" y="0"/>
            <a:ext cx="307080" cy="6845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ounded Rectangle 64"/>
          <p:cNvSpPr/>
          <p:nvPr/>
        </p:nvSpPr>
        <p:spPr>
          <a:xfrm>
            <a:off x="9875520" y="365760"/>
            <a:ext cx="1998720" cy="489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4" name="TextBox 28"/>
          <p:cNvSpPr/>
          <p:nvPr/>
        </p:nvSpPr>
        <p:spPr>
          <a:xfrm>
            <a:off x="2699280" y="914400"/>
            <a:ext cx="556848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TextBox 29"/>
          <p:cNvSpPr/>
          <p:nvPr/>
        </p:nvSpPr>
        <p:spPr>
          <a:xfrm>
            <a:off x="2148480" y="1694880"/>
            <a:ext cx="72709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Arithmetic operators are used to perform basic mathematical operations on numbers.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Standard mathematical precedence (e.g., multiplication is evaluated before addition)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strictly applies in Java just like in algebra.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Rounded Rectangle 65"/>
          <p:cNvSpPr/>
          <p:nvPr/>
        </p:nvSpPr>
        <p:spPr>
          <a:xfrm>
            <a:off x="98748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7" name="Rounded Rectangle 66"/>
          <p:cNvSpPr/>
          <p:nvPr/>
        </p:nvSpPr>
        <p:spPr>
          <a:xfrm>
            <a:off x="914400" y="3108960"/>
            <a:ext cx="3278880" cy="328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+ (Addition):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Adds numbers together. (Also concatenates Strings).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- (Subtraction):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Subtracts the right operand from the left.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* (Multiplication):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Multiplies two values.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/ (Division):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Returns the quotient. (Note: Integer division drops decimals. Ex: 5 / 2 = 2)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% (Modulo):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Returns the remainder of a division. Widely used to check odd/even numbers.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8" name="Rounded Rectangle 67"/>
          <p:cNvSpPr/>
          <p:nvPr/>
        </p:nvSpPr>
        <p:spPr>
          <a:xfrm>
            <a:off x="450792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9" name="Rounded Rectangle 68"/>
          <p:cNvSpPr/>
          <p:nvPr/>
        </p:nvSpPr>
        <p:spPr>
          <a:xfrm>
            <a:off x="4434840" y="3200400"/>
            <a:ext cx="3278880" cy="319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Operator Precedence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Parentheses ()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first, always.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Increment / Decrement ++, --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Multiply, Divide, Modulo *, /, %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from left to right.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Add and Subtract +, 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last.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0" name="Rounded Rectangle 69"/>
          <p:cNvSpPr/>
          <p:nvPr/>
        </p:nvSpPr>
        <p:spPr>
          <a:xfrm>
            <a:off x="802836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1" name="Rounded Rectangle 70"/>
          <p:cNvSpPr/>
          <p:nvPr/>
        </p:nvSpPr>
        <p:spPr>
          <a:xfrm>
            <a:off x="8003880" y="2971800"/>
            <a:ext cx="3417120" cy="3417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ArithmeticOps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3;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Basic Operations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a + b; // 13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div = a / b; // 3 (Decimals dropped)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mod = a % b; // 1 (Remainder of 10/3)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Precedence Rules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noParen = a + b * 2;  // 16 (Multiply 1st)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paren = (a + b) * 2;  // 26 (Brackets 1st)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Increment Operator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counter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counter++; // Value is now 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System.out.println("Division: " + div);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System.out.println("Modulo: " + mod);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System.out.println("Counter: " + counter);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2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Rectangle 145"/>
          <p:cNvSpPr/>
          <p:nvPr/>
        </p:nvSpPr>
        <p:spPr>
          <a:xfrm>
            <a:off x="0" y="0"/>
            <a:ext cx="12176280" cy="6845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ectangle 146"/>
          <p:cNvSpPr/>
          <p:nvPr/>
        </p:nvSpPr>
        <p:spPr>
          <a:xfrm>
            <a:off x="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5" name="Rectangle 147"/>
          <p:cNvSpPr/>
          <p:nvPr/>
        </p:nvSpPr>
        <p:spPr>
          <a:xfrm>
            <a:off x="9144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6" name="Rectangle 148"/>
          <p:cNvSpPr/>
          <p:nvPr/>
        </p:nvSpPr>
        <p:spPr>
          <a:xfrm>
            <a:off x="18288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ectangle 149"/>
          <p:cNvSpPr/>
          <p:nvPr/>
        </p:nvSpPr>
        <p:spPr>
          <a:xfrm>
            <a:off x="27432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8" name="Rectangle 150"/>
          <p:cNvSpPr/>
          <p:nvPr/>
        </p:nvSpPr>
        <p:spPr>
          <a:xfrm>
            <a:off x="36576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9" name="Rectangle 151"/>
          <p:cNvSpPr/>
          <p:nvPr/>
        </p:nvSpPr>
        <p:spPr>
          <a:xfrm>
            <a:off x="45720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0" name="Rectangle 152"/>
          <p:cNvSpPr/>
          <p:nvPr/>
        </p:nvSpPr>
        <p:spPr>
          <a:xfrm>
            <a:off x="54864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ectangle 153"/>
          <p:cNvSpPr/>
          <p:nvPr/>
        </p:nvSpPr>
        <p:spPr>
          <a:xfrm>
            <a:off x="64008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2" name="Rectangle 154"/>
          <p:cNvSpPr/>
          <p:nvPr/>
        </p:nvSpPr>
        <p:spPr>
          <a:xfrm>
            <a:off x="73152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ectangle 155"/>
          <p:cNvSpPr/>
          <p:nvPr/>
        </p:nvSpPr>
        <p:spPr>
          <a:xfrm>
            <a:off x="82296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4" name="Rectangle 156"/>
          <p:cNvSpPr/>
          <p:nvPr/>
        </p:nvSpPr>
        <p:spPr>
          <a:xfrm>
            <a:off x="91440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ectangle 157"/>
          <p:cNvSpPr/>
          <p:nvPr/>
        </p:nvSpPr>
        <p:spPr>
          <a:xfrm>
            <a:off x="100584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6" name="Rectangle 158"/>
          <p:cNvSpPr/>
          <p:nvPr/>
        </p:nvSpPr>
        <p:spPr>
          <a:xfrm>
            <a:off x="109728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7" name="Rectangle 159"/>
          <p:cNvSpPr/>
          <p:nvPr/>
        </p:nvSpPr>
        <p:spPr>
          <a:xfrm>
            <a:off x="118872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160"/>
          <p:cNvSpPr/>
          <p:nvPr/>
        </p:nvSpPr>
        <p:spPr>
          <a:xfrm>
            <a:off x="0" y="0"/>
            <a:ext cx="307440" cy="6845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ounded Rectangle 71"/>
          <p:cNvSpPr/>
          <p:nvPr/>
        </p:nvSpPr>
        <p:spPr>
          <a:xfrm>
            <a:off x="9875520" y="365760"/>
            <a:ext cx="1999080" cy="490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0" name="TextBox 31"/>
          <p:cNvSpPr/>
          <p:nvPr/>
        </p:nvSpPr>
        <p:spPr>
          <a:xfrm>
            <a:off x="1072440" y="914400"/>
            <a:ext cx="8822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 (Part 2: Prefix &amp; Postfix)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TextBox 32"/>
          <p:cNvSpPr/>
          <p:nvPr/>
        </p:nvSpPr>
        <p:spPr>
          <a:xfrm>
            <a:off x="2043720" y="1694880"/>
            <a:ext cx="74811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most common arithmetic bugs stem from the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placement of increment/decrement operators (++, --) and integer division.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Placing the operator before or after the variable completely changes the execution order.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Rounded Rectangle 72"/>
          <p:cNvSpPr/>
          <p:nvPr/>
        </p:nvSpPr>
        <p:spPr>
          <a:xfrm>
            <a:off x="987480" y="318204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ounded Rectangle 73"/>
          <p:cNvSpPr/>
          <p:nvPr/>
        </p:nvSpPr>
        <p:spPr>
          <a:xfrm>
            <a:off x="685800" y="2743200"/>
            <a:ext cx="3507840" cy="364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Prefix vs. Postfix Logic: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Prefix (++a)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: Increases the value by 1 first, then uses the new value in the current expression.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Postfix (a++):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Uses the current value in the expression first, then increases it by 1 afterwards..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Integer Division Traps: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If two integers (int) are divided, Java doesn't round; it truncates (throws away the decimal part). (Ex: 5 / 2 = 2).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To get a precise decimal result, at least one operand must be a decimal type (double or float). (Ex: 5.0 / 2 = 2.5).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4" name="Rounded Rectangle 74"/>
          <p:cNvSpPr/>
          <p:nvPr/>
        </p:nvSpPr>
        <p:spPr>
          <a:xfrm>
            <a:off x="4507920" y="318204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5" name="Rounded Rectangle 75"/>
          <p:cNvSpPr/>
          <p:nvPr/>
        </p:nvSpPr>
        <p:spPr>
          <a:xfrm>
            <a:off x="4434840" y="2971800"/>
            <a:ext cx="3279240" cy="3419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Prefix vs Postfix Execution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Base Variable: int x = 5;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Prefix Usage: int y = ++x;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Increase x (x becomes 6)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Assign new x to 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x = 6, y = 6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Postfix Usage: int z = x++;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Assign current x to z (z = 5)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Increase x (x becomes 6)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x = 6, z = 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6" name="Rounded Rectangle 76"/>
          <p:cNvSpPr/>
          <p:nvPr/>
        </p:nvSpPr>
        <p:spPr>
          <a:xfrm>
            <a:off x="8028360" y="318204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ounded Rectangle 77"/>
          <p:cNvSpPr/>
          <p:nvPr/>
        </p:nvSpPr>
        <p:spPr>
          <a:xfrm>
            <a:off x="8001000" y="2743200"/>
            <a:ext cx="3420720" cy="364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ArithmeticDetails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PREFIX (Increment First, Use Later)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++a; // a=6, then b is assigned 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POSTFIX (Use First, Increment Later)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x++; // y gets 5, then x becomes 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INTEGER DIVISION TRAP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badDiv = 5 / 2;      // Result: 2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trapDiv = 5 / 2;  // Result: 2.0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goodDiv = 5.0 / 2;// Result: 2.5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System.out.println("Prefix b: " + b);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System.out.println("Postfix y: " + y);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System.out.println("Proper Div: " + goodDiv);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8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Rectangle 161"/>
          <p:cNvSpPr/>
          <p:nvPr/>
        </p:nvSpPr>
        <p:spPr>
          <a:xfrm>
            <a:off x="0" y="0"/>
            <a:ext cx="12176280" cy="6845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ectangle 162"/>
          <p:cNvSpPr/>
          <p:nvPr/>
        </p:nvSpPr>
        <p:spPr>
          <a:xfrm>
            <a:off x="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1" name="Rectangle 163"/>
          <p:cNvSpPr/>
          <p:nvPr/>
        </p:nvSpPr>
        <p:spPr>
          <a:xfrm>
            <a:off x="9144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2" name="Rectangle 164"/>
          <p:cNvSpPr/>
          <p:nvPr/>
        </p:nvSpPr>
        <p:spPr>
          <a:xfrm>
            <a:off x="18288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ectangle 165"/>
          <p:cNvSpPr/>
          <p:nvPr/>
        </p:nvSpPr>
        <p:spPr>
          <a:xfrm>
            <a:off x="27432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4" name="Rectangle 166"/>
          <p:cNvSpPr/>
          <p:nvPr/>
        </p:nvSpPr>
        <p:spPr>
          <a:xfrm>
            <a:off x="36576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5" name="Rectangle 167"/>
          <p:cNvSpPr/>
          <p:nvPr/>
        </p:nvSpPr>
        <p:spPr>
          <a:xfrm>
            <a:off x="45720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6" name="Rectangle 168"/>
          <p:cNvSpPr/>
          <p:nvPr/>
        </p:nvSpPr>
        <p:spPr>
          <a:xfrm>
            <a:off x="54864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ectangle 169"/>
          <p:cNvSpPr/>
          <p:nvPr/>
        </p:nvSpPr>
        <p:spPr>
          <a:xfrm>
            <a:off x="64008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8" name="Rectangle 170"/>
          <p:cNvSpPr/>
          <p:nvPr/>
        </p:nvSpPr>
        <p:spPr>
          <a:xfrm>
            <a:off x="73152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ectangle 171"/>
          <p:cNvSpPr/>
          <p:nvPr/>
        </p:nvSpPr>
        <p:spPr>
          <a:xfrm>
            <a:off x="82296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0" name="Rectangle 172"/>
          <p:cNvSpPr/>
          <p:nvPr/>
        </p:nvSpPr>
        <p:spPr>
          <a:xfrm>
            <a:off x="91440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1" name="Rectangle 173"/>
          <p:cNvSpPr/>
          <p:nvPr/>
        </p:nvSpPr>
        <p:spPr>
          <a:xfrm>
            <a:off x="100584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2" name="Rectangle 174"/>
          <p:cNvSpPr/>
          <p:nvPr/>
        </p:nvSpPr>
        <p:spPr>
          <a:xfrm>
            <a:off x="109728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3" name="Rectangle 175"/>
          <p:cNvSpPr/>
          <p:nvPr/>
        </p:nvSpPr>
        <p:spPr>
          <a:xfrm>
            <a:off x="118872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4" name="Rectangle 176"/>
          <p:cNvSpPr/>
          <p:nvPr/>
        </p:nvSpPr>
        <p:spPr>
          <a:xfrm>
            <a:off x="0" y="0"/>
            <a:ext cx="307440" cy="6845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ounded Rectangle 78"/>
          <p:cNvSpPr/>
          <p:nvPr/>
        </p:nvSpPr>
        <p:spPr>
          <a:xfrm>
            <a:off x="9875520" y="365760"/>
            <a:ext cx="1999080" cy="490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6" name="TextBox 34"/>
          <p:cNvSpPr/>
          <p:nvPr/>
        </p:nvSpPr>
        <p:spPr>
          <a:xfrm>
            <a:off x="705600" y="914400"/>
            <a:ext cx="95569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 (Part 3: Shortcuts &amp; Strings)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TextBox 35"/>
          <p:cNvSpPr/>
          <p:nvPr/>
        </p:nvSpPr>
        <p:spPr>
          <a:xfrm>
            <a:off x="1482480" y="1694880"/>
            <a:ext cx="86029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offers shortcut operators to combine math and assignment into a single step, keeping code clean.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Additionally, the + operator has a dual identity: it performs mathematical addition for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numbers, but acts as a "glue" (concatenation) for Strings.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Rounded Rectangle 79"/>
          <p:cNvSpPr/>
          <p:nvPr/>
        </p:nvSpPr>
        <p:spPr>
          <a:xfrm>
            <a:off x="987480" y="318204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9" name="Rounded Rectangle 80"/>
          <p:cNvSpPr/>
          <p:nvPr/>
        </p:nvSpPr>
        <p:spPr>
          <a:xfrm>
            <a:off x="685800" y="2743200"/>
            <a:ext cx="3507840" cy="364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Compound Assignment: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Combines arithmetic with assignment: +=, -=, *=, /=, %=.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Ex: x += 5 is the exact shorthand for x = x + 5.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Pro-Tip: They automatically handle type casting behind the scenes (e.g., adding an int to a byte without errors).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The Dual Role of +: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Number + Number = Math (Addition).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String + Anything = Text (Concatenation).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flows strictly from Left to Right. If a String appears first, everything after it turns into text!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0" name="Rounded Rectangle 81"/>
          <p:cNvSpPr/>
          <p:nvPr/>
        </p:nvSpPr>
        <p:spPr>
          <a:xfrm>
            <a:off x="4507920" y="318204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1" name="Rounded Rectangle 82"/>
          <p:cNvSpPr/>
          <p:nvPr/>
        </p:nvSpPr>
        <p:spPr>
          <a:xfrm>
            <a:off x="4434840" y="2971800"/>
            <a:ext cx="3279240" cy="3419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[ Left-to-Right Execution of + ]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&gt; Scenario 1: 10 + 5 + "A"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1: Math! 10 + 5 = 15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2: Text! 15 + "A" = "15A"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Result: "15A"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&gt; Scenario 2: "A" + 10 + 5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1: Text! "A" + 10 = "A10"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2: Text! "A10" + 5 = "A105"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Result: "A105" (Not A15!)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2" name="Rounded Rectangle 83"/>
          <p:cNvSpPr/>
          <p:nvPr/>
        </p:nvSpPr>
        <p:spPr>
          <a:xfrm>
            <a:off x="8028360" y="318204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3" name="Rounded Rectangle 84"/>
          <p:cNvSpPr/>
          <p:nvPr/>
        </p:nvSpPr>
        <p:spPr>
          <a:xfrm>
            <a:off x="8001000" y="2743200"/>
            <a:ext cx="3420720" cy="364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ArithmeticTricks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COMPOUND ASSIGNMENT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score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+= 10; // score = score + 10 (60)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/= 2;  // score = score / 2  (30)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CONCATENATION TRAPS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Starts with numbers -&gt; Math first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str1 = x + y + " Java"; // "10 Java"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Starts with String -&gt; All Text!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str2 = "Java " + x + y; // "Java 55"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Brackets force math first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str3 = "Java " + (x+y); // "Java 10"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System.out.println("Final Score: " + score);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System.out.println("Str2: " + str2);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4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Rectangle 177"/>
          <p:cNvSpPr/>
          <p:nvPr/>
        </p:nvSpPr>
        <p:spPr>
          <a:xfrm>
            <a:off x="0" y="0"/>
            <a:ext cx="12176280" cy="6845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ectangle 178"/>
          <p:cNvSpPr/>
          <p:nvPr/>
        </p:nvSpPr>
        <p:spPr>
          <a:xfrm>
            <a:off x="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7" name="Rectangle 179"/>
          <p:cNvSpPr/>
          <p:nvPr/>
        </p:nvSpPr>
        <p:spPr>
          <a:xfrm>
            <a:off x="9144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8" name="Rectangle 180"/>
          <p:cNvSpPr/>
          <p:nvPr/>
        </p:nvSpPr>
        <p:spPr>
          <a:xfrm>
            <a:off x="18288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ectangle 181"/>
          <p:cNvSpPr/>
          <p:nvPr/>
        </p:nvSpPr>
        <p:spPr>
          <a:xfrm>
            <a:off x="27432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0" name="Rectangle 182"/>
          <p:cNvSpPr/>
          <p:nvPr/>
        </p:nvSpPr>
        <p:spPr>
          <a:xfrm>
            <a:off x="36576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1" name="Rectangle 183"/>
          <p:cNvSpPr/>
          <p:nvPr/>
        </p:nvSpPr>
        <p:spPr>
          <a:xfrm>
            <a:off x="45720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2" name="Rectangle 184"/>
          <p:cNvSpPr/>
          <p:nvPr/>
        </p:nvSpPr>
        <p:spPr>
          <a:xfrm>
            <a:off x="54864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ectangle 185"/>
          <p:cNvSpPr/>
          <p:nvPr/>
        </p:nvSpPr>
        <p:spPr>
          <a:xfrm>
            <a:off x="64008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4" name="Rectangle 186"/>
          <p:cNvSpPr/>
          <p:nvPr/>
        </p:nvSpPr>
        <p:spPr>
          <a:xfrm>
            <a:off x="73152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ectangle 187"/>
          <p:cNvSpPr/>
          <p:nvPr/>
        </p:nvSpPr>
        <p:spPr>
          <a:xfrm>
            <a:off x="82296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6" name="Rectangle 188"/>
          <p:cNvSpPr/>
          <p:nvPr/>
        </p:nvSpPr>
        <p:spPr>
          <a:xfrm>
            <a:off x="91440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7" name="Rectangle 189"/>
          <p:cNvSpPr/>
          <p:nvPr/>
        </p:nvSpPr>
        <p:spPr>
          <a:xfrm>
            <a:off x="100584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8" name="Rectangle 190"/>
          <p:cNvSpPr/>
          <p:nvPr/>
        </p:nvSpPr>
        <p:spPr>
          <a:xfrm>
            <a:off x="109728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9" name="Rectangle 191"/>
          <p:cNvSpPr/>
          <p:nvPr/>
        </p:nvSpPr>
        <p:spPr>
          <a:xfrm>
            <a:off x="118872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0" name="Rectangle 192"/>
          <p:cNvSpPr/>
          <p:nvPr/>
        </p:nvSpPr>
        <p:spPr>
          <a:xfrm>
            <a:off x="0" y="0"/>
            <a:ext cx="307440" cy="6845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ounded Rectangle 85"/>
          <p:cNvSpPr/>
          <p:nvPr/>
        </p:nvSpPr>
        <p:spPr>
          <a:xfrm>
            <a:off x="9875520" y="365760"/>
            <a:ext cx="1999080" cy="490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2" name="TextBox 37"/>
          <p:cNvSpPr/>
          <p:nvPr/>
        </p:nvSpPr>
        <p:spPr>
          <a:xfrm>
            <a:off x="2768400" y="914400"/>
            <a:ext cx="542988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Operators: Tricky Details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TextBox 38"/>
          <p:cNvSpPr/>
          <p:nvPr/>
        </p:nvSpPr>
        <p:spPr>
          <a:xfrm>
            <a:off x="1257120" y="1694880"/>
            <a:ext cx="905220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Understanding how data types behave behind the scenes during math operations prevents critical bugs.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Division by zero rules, character arithmetic, and implicit type promotion are the most common traps in Java.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Rounded Rectangle 86"/>
          <p:cNvSpPr/>
          <p:nvPr/>
        </p:nvSpPr>
        <p:spPr>
          <a:xfrm>
            <a:off x="987480" y="318204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5" name="Rounded Rectangle 87"/>
          <p:cNvSpPr/>
          <p:nvPr/>
        </p:nvSpPr>
        <p:spPr>
          <a:xfrm>
            <a:off x="685800" y="2743200"/>
            <a:ext cx="3507840" cy="364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Zero Division (The Crash Trap):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Dividing an integer (int) by 0 crashes the app (ArithmeticException).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Dividing a decimal (double) by 0 does not crash; it safely returns Infinity or NaN (Not a Number).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Char Arithmetic: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 types hold numeric values (ASCII) behind the scenes. Adding chars performs math, it does not concatenate text. (Ex: 'A' = 65).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3. Implicit Type Promotion: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When adding two byte or short values, Java automatically promotes the result to an int. Assigning the result directly back to a byte causes a compile error!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6" name="Rounded Rectangle 88"/>
          <p:cNvSpPr/>
          <p:nvPr/>
        </p:nvSpPr>
        <p:spPr>
          <a:xfrm>
            <a:off x="4507920" y="318204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7" name="Rounded Rectangle 89"/>
          <p:cNvSpPr/>
          <p:nvPr/>
        </p:nvSpPr>
        <p:spPr>
          <a:xfrm>
            <a:off x="4434840" y="2971800"/>
            <a:ext cx="3279240" cy="3419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Behind the Scenes Data Conversions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Zero Division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 / 0 ➔ ERROR! (Crash)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5.0 / 0 ➔ Result: Infinity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0.0 / 0 ➔ Result: NaN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Char Math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'A' + 1 ➔ 65 + 1 = 66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Byte Addition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x = 10; byte y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z = x + y; ➔ ERROR! (Result is int)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8" name="Rounded Rectangle 90"/>
          <p:cNvSpPr/>
          <p:nvPr/>
        </p:nvSpPr>
        <p:spPr>
          <a:xfrm>
            <a:off x="8028360" y="318204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9" name="Rounded Rectangle 91"/>
          <p:cNvSpPr/>
          <p:nvPr/>
        </p:nvSpPr>
        <p:spPr>
          <a:xfrm>
            <a:off x="8001000" y="2514600"/>
            <a:ext cx="3650040" cy="3878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ArithmeticNuances {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1. ZERO DIVISION TRAP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int crash = 5 / 0; // Throws Exception!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double infinity = 5.0 / 0;   // Infinity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double undefined = 0.0 / 0.0;// NaN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2. CHAR MATH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char letter = 'A'; // ASCII value is 65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int charSum = letter + 5; // Result: 70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char nextLetter = (char) (letter + 1); // 'B'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3. IMPLICIT INT PROMOTION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byte b1 = 10;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byte b2 = 20;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byte b3 = b1 + b2; // Compile Error!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int total = b1 + b2; // Correct way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System.out.println("5.0 / 0 = " + infinity);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System.out.println("0.0 / 0.0 = " + undefined);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System.out.println("Char + 5 = " + charSum);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0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Rectangle 193"/>
          <p:cNvSpPr/>
          <p:nvPr/>
        </p:nvSpPr>
        <p:spPr>
          <a:xfrm>
            <a:off x="0" y="0"/>
            <a:ext cx="12176280" cy="6845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ectangle 194"/>
          <p:cNvSpPr/>
          <p:nvPr/>
        </p:nvSpPr>
        <p:spPr>
          <a:xfrm>
            <a:off x="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3" name="Rectangle 195"/>
          <p:cNvSpPr/>
          <p:nvPr/>
        </p:nvSpPr>
        <p:spPr>
          <a:xfrm>
            <a:off x="9144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4" name="Rectangle 196"/>
          <p:cNvSpPr/>
          <p:nvPr/>
        </p:nvSpPr>
        <p:spPr>
          <a:xfrm>
            <a:off x="18288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ectangle 197"/>
          <p:cNvSpPr/>
          <p:nvPr/>
        </p:nvSpPr>
        <p:spPr>
          <a:xfrm>
            <a:off x="27432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6" name="Rectangle 198"/>
          <p:cNvSpPr/>
          <p:nvPr/>
        </p:nvSpPr>
        <p:spPr>
          <a:xfrm>
            <a:off x="36576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7" name="Rectangle 199"/>
          <p:cNvSpPr/>
          <p:nvPr/>
        </p:nvSpPr>
        <p:spPr>
          <a:xfrm>
            <a:off x="45720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8" name="Rectangle 200"/>
          <p:cNvSpPr/>
          <p:nvPr/>
        </p:nvSpPr>
        <p:spPr>
          <a:xfrm>
            <a:off x="54864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ectangle 201"/>
          <p:cNvSpPr/>
          <p:nvPr/>
        </p:nvSpPr>
        <p:spPr>
          <a:xfrm>
            <a:off x="64008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0" name="Rectangle 202"/>
          <p:cNvSpPr/>
          <p:nvPr/>
        </p:nvSpPr>
        <p:spPr>
          <a:xfrm>
            <a:off x="73152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ectangle 203"/>
          <p:cNvSpPr/>
          <p:nvPr/>
        </p:nvSpPr>
        <p:spPr>
          <a:xfrm>
            <a:off x="82296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2" name="Rectangle 204"/>
          <p:cNvSpPr/>
          <p:nvPr/>
        </p:nvSpPr>
        <p:spPr>
          <a:xfrm>
            <a:off x="91440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3" name="Rectangle 205"/>
          <p:cNvSpPr/>
          <p:nvPr/>
        </p:nvSpPr>
        <p:spPr>
          <a:xfrm>
            <a:off x="100584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4" name="Rectangle 206"/>
          <p:cNvSpPr/>
          <p:nvPr/>
        </p:nvSpPr>
        <p:spPr>
          <a:xfrm>
            <a:off x="109728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5" name="Rectangle 207"/>
          <p:cNvSpPr/>
          <p:nvPr/>
        </p:nvSpPr>
        <p:spPr>
          <a:xfrm>
            <a:off x="118872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6" name="Rectangle 208"/>
          <p:cNvSpPr/>
          <p:nvPr/>
        </p:nvSpPr>
        <p:spPr>
          <a:xfrm>
            <a:off x="0" y="0"/>
            <a:ext cx="307440" cy="6845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ounded Rectangle 92"/>
          <p:cNvSpPr/>
          <p:nvPr/>
        </p:nvSpPr>
        <p:spPr>
          <a:xfrm>
            <a:off x="9875520" y="365760"/>
            <a:ext cx="1999080" cy="490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8" name="TextBox 40"/>
          <p:cNvSpPr/>
          <p:nvPr/>
        </p:nvSpPr>
        <p:spPr>
          <a:xfrm>
            <a:off x="1534680" y="914400"/>
            <a:ext cx="7897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Real-World Math: Restaurant Bill Splitter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TextBox 41"/>
          <p:cNvSpPr/>
          <p:nvPr/>
        </p:nvSpPr>
        <p:spPr>
          <a:xfrm>
            <a:off x="1296000" y="1694880"/>
            <a:ext cx="89748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real-world applications, arithmetic operators are the engine of business logic. Let's build a mini-app that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calculates a restaurant bill, applies a discount, adds tax/tip using compound operators,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and safely splits the final cost among friends.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" name="Rounded Rectangle 93"/>
          <p:cNvSpPr/>
          <p:nvPr/>
        </p:nvSpPr>
        <p:spPr>
          <a:xfrm>
            <a:off x="987480" y="318204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1" name="Rounded Rectangle 94"/>
          <p:cNvSpPr/>
          <p:nvPr/>
        </p:nvSpPr>
        <p:spPr>
          <a:xfrm>
            <a:off x="685800" y="2971800"/>
            <a:ext cx="3193200" cy="3421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Mapping Operators to Business Rules: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Accumulation (+=):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add multiple items to a shopping cart or a digital bill.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Discounts (-=):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subtract coupons or promotional deductions.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Tax &amp; Tip (*=):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apply percentages. Multiplying by 1.25 instantly adds a 25% increase to the existing total.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Fair Split (/):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divide the final double amount by the number of guests.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2" name="Rounded Rectangle 95"/>
          <p:cNvSpPr/>
          <p:nvPr/>
        </p:nvSpPr>
        <p:spPr>
          <a:xfrm>
            <a:off x="4507920" y="318204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3" name="Rounded Rectangle 96"/>
          <p:cNvSpPr/>
          <p:nvPr/>
        </p:nvSpPr>
        <p:spPr>
          <a:xfrm>
            <a:off x="4257360" y="2971800"/>
            <a:ext cx="3279240" cy="3419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The Billing Workflow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1. Open Table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= 0.0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2. Add Orders (Accumulate)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+= itemPrice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3. Apply Promo Code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-= discount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4. Add Tax &amp; Tip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*= 1.25 (adds 25%)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5. Split the Bill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perPerson = bill / guests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4" name="Rounded Rectangle 97"/>
          <p:cNvSpPr/>
          <p:nvPr/>
        </p:nvSpPr>
        <p:spPr>
          <a:xfrm>
            <a:off x="8028360" y="318204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5" name="Rounded Rectangle 98"/>
          <p:cNvSpPr/>
          <p:nvPr/>
        </p:nvSpPr>
        <p:spPr>
          <a:xfrm>
            <a:off x="8001000" y="2514600"/>
            <a:ext cx="3420720" cy="3879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RestaurantBill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Initial State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bill = 0.0;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guests = 3;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Add Items (Compound Addition)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+= 25.50; // Pizza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+= 14.00; // Pasta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+= 10.50; // Drinks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Subtotal is now 50.00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Apply a $5 Coupon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-= 5.00;  // Subtotal is 45.00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Apply 25% Tax &amp; Tip together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Multiplies current bill by 1.25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*= 1.25;  // Final total: 56.25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5. Split among guests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perPerson = bill / guests;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System.out.println("Total: $" + bill);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System.out.println("Each pays: $" + perPerson);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6" name="TextBox 4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Rectangle 209"/>
          <p:cNvSpPr/>
          <p:nvPr/>
        </p:nvSpPr>
        <p:spPr>
          <a:xfrm>
            <a:off x="0" y="0"/>
            <a:ext cx="12176280" cy="6845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ectangle 210"/>
          <p:cNvSpPr/>
          <p:nvPr/>
        </p:nvSpPr>
        <p:spPr>
          <a:xfrm>
            <a:off x="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9" name="Rectangle 211"/>
          <p:cNvSpPr/>
          <p:nvPr/>
        </p:nvSpPr>
        <p:spPr>
          <a:xfrm>
            <a:off x="9144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0" name="Rectangle 212"/>
          <p:cNvSpPr/>
          <p:nvPr/>
        </p:nvSpPr>
        <p:spPr>
          <a:xfrm>
            <a:off x="18288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1" name="Rectangle 213"/>
          <p:cNvSpPr/>
          <p:nvPr/>
        </p:nvSpPr>
        <p:spPr>
          <a:xfrm>
            <a:off x="27432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2" name="Rectangle 214"/>
          <p:cNvSpPr/>
          <p:nvPr/>
        </p:nvSpPr>
        <p:spPr>
          <a:xfrm>
            <a:off x="36576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3" name="Rectangle 215"/>
          <p:cNvSpPr/>
          <p:nvPr/>
        </p:nvSpPr>
        <p:spPr>
          <a:xfrm>
            <a:off x="45720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4" name="Rectangle 216"/>
          <p:cNvSpPr/>
          <p:nvPr/>
        </p:nvSpPr>
        <p:spPr>
          <a:xfrm>
            <a:off x="54864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5" name="Rectangle 217"/>
          <p:cNvSpPr/>
          <p:nvPr/>
        </p:nvSpPr>
        <p:spPr>
          <a:xfrm>
            <a:off x="64008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6" name="Rectangle 218"/>
          <p:cNvSpPr/>
          <p:nvPr/>
        </p:nvSpPr>
        <p:spPr>
          <a:xfrm>
            <a:off x="73152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7" name="Rectangle 219"/>
          <p:cNvSpPr/>
          <p:nvPr/>
        </p:nvSpPr>
        <p:spPr>
          <a:xfrm>
            <a:off x="82296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8" name="Rectangle 220"/>
          <p:cNvSpPr/>
          <p:nvPr/>
        </p:nvSpPr>
        <p:spPr>
          <a:xfrm>
            <a:off x="91440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9" name="Rectangle 221"/>
          <p:cNvSpPr/>
          <p:nvPr/>
        </p:nvSpPr>
        <p:spPr>
          <a:xfrm>
            <a:off x="100584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0" name="Rectangle 222"/>
          <p:cNvSpPr/>
          <p:nvPr/>
        </p:nvSpPr>
        <p:spPr>
          <a:xfrm>
            <a:off x="109728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1" name="Rectangle 223"/>
          <p:cNvSpPr/>
          <p:nvPr/>
        </p:nvSpPr>
        <p:spPr>
          <a:xfrm>
            <a:off x="118872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2" name="Rectangle 224"/>
          <p:cNvSpPr/>
          <p:nvPr/>
        </p:nvSpPr>
        <p:spPr>
          <a:xfrm>
            <a:off x="0" y="0"/>
            <a:ext cx="307440" cy="6845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ounded Rectangle 99"/>
          <p:cNvSpPr/>
          <p:nvPr/>
        </p:nvSpPr>
        <p:spPr>
          <a:xfrm>
            <a:off x="9875520" y="365760"/>
            <a:ext cx="1999080" cy="490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4" name="TextBox 43"/>
          <p:cNvSpPr/>
          <p:nvPr/>
        </p:nvSpPr>
        <p:spPr>
          <a:xfrm>
            <a:off x="1859040" y="732600"/>
            <a:ext cx="7249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Operators: Final Summary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TextBox 44"/>
          <p:cNvSpPr/>
          <p:nvPr/>
        </p:nvSpPr>
        <p:spPr>
          <a:xfrm>
            <a:off x="876240" y="1600200"/>
            <a:ext cx="981432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Arithmetic operators are the foundation of data manipulation and business logic in Java. Choosing the right operator,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watching your data types, and understanding execution precedence are the golden rules for bug-free code.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Rounded Rectangle 100"/>
          <p:cNvSpPr/>
          <p:nvPr/>
        </p:nvSpPr>
        <p:spPr>
          <a:xfrm>
            <a:off x="987480" y="318204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7" name="Rounded Rectangle 101"/>
          <p:cNvSpPr/>
          <p:nvPr/>
        </p:nvSpPr>
        <p:spPr>
          <a:xfrm>
            <a:off x="685800" y="2971800"/>
            <a:ext cx="3193200" cy="3421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Golden Rules to Remember: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Big 5: +, -, *, /, and % (Modulo).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Precedence: Multiplication, division, and modulo always run before addition/subtraction. Parentheses () override all rules.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Division Trap: Dividing two integers (int) always drops the decimal. For precision, at least one operand must be a double.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Shortcuts: ++/-- (increment/decrement) and +=/*= (compound assignments) make code much cleaner and easier to read.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8" name="Rounded Rectangle 102"/>
          <p:cNvSpPr/>
          <p:nvPr/>
        </p:nvSpPr>
        <p:spPr>
          <a:xfrm>
            <a:off x="4507920" y="318204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9" name="Rounded Rectangle 103"/>
          <p:cNvSpPr/>
          <p:nvPr/>
        </p:nvSpPr>
        <p:spPr>
          <a:xfrm>
            <a:off x="4257360" y="2971800"/>
            <a:ext cx="3279240" cy="3419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The Developer's Checklist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Checking for Odd or Even?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Always use % 2!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Need decimals in a division?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Make one number a double (e.g., 2.0)!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Want to force execution order?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 the math in parentheses ()!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Updating an existing variable?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Use x += 5 instead of x = x + 5!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0" name="Rounded Rectangle 104"/>
          <p:cNvSpPr/>
          <p:nvPr/>
        </p:nvSpPr>
        <p:spPr>
          <a:xfrm>
            <a:off x="8028360" y="318204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1" name="Rounded Rectangle 105"/>
          <p:cNvSpPr/>
          <p:nvPr/>
        </p:nvSpPr>
        <p:spPr>
          <a:xfrm>
            <a:off x="8001000" y="2514600"/>
            <a:ext cx="3420720" cy="3879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ArithmeticSummary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num = 10;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Precedence &amp; Modulo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Remainder of 15 / 4 = 3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result = (num + 5) % 4;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2. Decimal Division (Precision)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Using 4.0 prevents int truncation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div = num / 4.0; // 2.5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3. Compound &amp; Increment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num += 5; // Becomes 15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num++;    // Becomes 16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System.out.println("Modulo: " + result);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System.out.println("Division: " + div);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System.out.println("Final Num: " + num);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2" name="TextBox 4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Rectangle 225"/>
          <p:cNvSpPr/>
          <p:nvPr/>
        </p:nvSpPr>
        <p:spPr>
          <a:xfrm>
            <a:off x="0" y="0"/>
            <a:ext cx="12176280" cy="6845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4" name="Rectangle 226"/>
          <p:cNvSpPr/>
          <p:nvPr/>
        </p:nvSpPr>
        <p:spPr>
          <a:xfrm>
            <a:off x="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5" name="Rectangle 227"/>
          <p:cNvSpPr/>
          <p:nvPr/>
        </p:nvSpPr>
        <p:spPr>
          <a:xfrm>
            <a:off x="9144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6" name="Rectangle 228"/>
          <p:cNvSpPr/>
          <p:nvPr/>
        </p:nvSpPr>
        <p:spPr>
          <a:xfrm>
            <a:off x="18288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7" name="Rectangle 229"/>
          <p:cNvSpPr/>
          <p:nvPr/>
        </p:nvSpPr>
        <p:spPr>
          <a:xfrm>
            <a:off x="27432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8" name="Rectangle 230"/>
          <p:cNvSpPr/>
          <p:nvPr/>
        </p:nvSpPr>
        <p:spPr>
          <a:xfrm>
            <a:off x="36576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9" name="Rectangle 231"/>
          <p:cNvSpPr/>
          <p:nvPr/>
        </p:nvSpPr>
        <p:spPr>
          <a:xfrm>
            <a:off x="45720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0" name="Rectangle 232"/>
          <p:cNvSpPr/>
          <p:nvPr/>
        </p:nvSpPr>
        <p:spPr>
          <a:xfrm>
            <a:off x="54864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1" name="Rectangle 233"/>
          <p:cNvSpPr/>
          <p:nvPr/>
        </p:nvSpPr>
        <p:spPr>
          <a:xfrm>
            <a:off x="64008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2" name="Rectangle 234"/>
          <p:cNvSpPr/>
          <p:nvPr/>
        </p:nvSpPr>
        <p:spPr>
          <a:xfrm>
            <a:off x="73152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3" name="Rectangle 235"/>
          <p:cNvSpPr/>
          <p:nvPr/>
        </p:nvSpPr>
        <p:spPr>
          <a:xfrm>
            <a:off x="82296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4" name="Rectangle 236"/>
          <p:cNvSpPr/>
          <p:nvPr/>
        </p:nvSpPr>
        <p:spPr>
          <a:xfrm>
            <a:off x="91440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5" name="Rectangle 237"/>
          <p:cNvSpPr/>
          <p:nvPr/>
        </p:nvSpPr>
        <p:spPr>
          <a:xfrm>
            <a:off x="100584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6" name="Rectangle 238"/>
          <p:cNvSpPr/>
          <p:nvPr/>
        </p:nvSpPr>
        <p:spPr>
          <a:xfrm>
            <a:off x="109728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7" name="Rectangle 239"/>
          <p:cNvSpPr/>
          <p:nvPr/>
        </p:nvSpPr>
        <p:spPr>
          <a:xfrm>
            <a:off x="118872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8" name="Rectangle 240"/>
          <p:cNvSpPr/>
          <p:nvPr/>
        </p:nvSpPr>
        <p:spPr>
          <a:xfrm>
            <a:off x="0" y="0"/>
            <a:ext cx="307440" cy="6845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ounded Rectangle 106"/>
          <p:cNvSpPr/>
          <p:nvPr/>
        </p:nvSpPr>
        <p:spPr>
          <a:xfrm>
            <a:off x="9875520" y="365760"/>
            <a:ext cx="1999080" cy="490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0" name="TextBox 46"/>
          <p:cNvSpPr/>
          <p:nvPr/>
        </p:nvSpPr>
        <p:spPr>
          <a:xfrm>
            <a:off x="2597400" y="732600"/>
            <a:ext cx="5771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TextBox 47"/>
          <p:cNvSpPr/>
          <p:nvPr/>
        </p:nvSpPr>
        <p:spPr>
          <a:xfrm>
            <a:off x="522720" y="1600200"/>
            <a:ext cx="10521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Assignment operators are used to store values into variables. Unlike arithmetic operations, assignment evaluates strictly from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Right to Left. Java also provides "compound" operators that merge math and assignment into a single step.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Rounded Rectangle 107"/>
          <p:cNvSpPr/>
          <p:nvPr/>
        </p:nvSpPr>
        <p:spPr>
          <a:xfrm>
            <a:off x="987480" y="318204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3" name="Rounded Rectangle 108"/>
          <p:cNvSpPr/>
          <p:nvPr/>
        </p:nvSpPr>
        <p:spPr>
          <a:xfrm>
            <a:off x="685800" y="2971800"/>
            <a:ext cx="3193200" cy="3421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Basic Assignment (=):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Assigns the right-side value to the left-side variable. The left side must be a variable, not a value.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Chaining: You can assign multiple variables at once (e.g., a = b = 5;).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Compound Assignment (+=, -=, *=, /=, %=):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x += 5 is exactly the same as x = x + 5.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Pro-Tip (Implicit Casting): Compound operators automatically convert data types behind the scenes. Adding an int to a byte using += will not throw a compile error!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4" name="Rounded Rectangle 109"/>
          <p:cNvSpPr/>
          <p:nvPr/>
        </p:nvSpPr>
        <p:spPr>
          <a:xfrm>
            <a:off x="4507920" y="318204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5" name="Rounded Rectangle 110"/>
          <p:cNvSpPr/>
          <p:nvPr/>
        </p:nvSpPr>
        <p:spPr>
          <a:xfrm>
            <a:off x="4257360" y="2971800"/>
            <a:ext cx="3279240" cy="3419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Right-to-Left Execution Logic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Standard Assignment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 x = 10 + 5;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Calculate right side (15)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Store 15 into left side (x)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Compound Assignment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x += 5;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Expand to x = x + 5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Calculate 15 + 5 (20)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3: Store 20 back into x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6" name="Rounded Rectangle 111"/>
          <p:cNvSpPr/>
          <p:nvPr/>
        </p:nvSpPr>
        <p:spPr>
          <a:xfrm>
            <a:off x="8028360" y="318204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7" name="Rounded Rectangle 112"/>
          <p:cNvSpPr/>
          <p:nvPr/>
        </p:nvSpPr>
        <p:spPr>
          <a:xfrm>
            <a:off x="8001000" y="2514600"/>
            <a:ext cx="3420720" cy="3879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AssignmentOps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BASIC &amp; CHAINED ASSIGNMENT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a, b;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 = b = 10; // Evaluates Right-to-Left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COMPOUND ASSIGNMENT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score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+= 10; // score = 60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-= 20; // score = 40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/= 2;  // score = 20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THE CASTING MAGIC (Pro-Tip)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tinyNum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tinyNum = tinyNum + 5; // Compile Error!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tinyNum += 5; // Works perfectly! (Becomes 10)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 and B: " + a);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System.out.println("Final Score: " + score);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System.out.println("Byte value: " + tinyNum);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8" name="TextBox 4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Rectangle 241"/>
          <p:cNvSpPr/>
          <p:nvPr/>
        </p:nvSpPr>
        <p:spPr>
          <a:xfrm>
            <a:off x="0" y="0"/>
            <a:ext cx="12176280" cy="6845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0" name="Rectangle 242"/>
          <p:cNvSpPr/>
          <p:nvPr/>
        </p:nvSpPr>
        <p:spPr>
          <a:xfrm>
            <a:off x="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1" name="Rectangle 243"/>
          <p:cNvSpPr/>
          <p:nvPr/>
        </p:nvSpPr>
        <p:spPr>
          <a:xfrm>
            <a:off x="9144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2" name="Rectangle 244"/>
          <p:cNvSpPr/>
          <p:nvPr/>
        </p:nvSpPr>
        <p:spPr>
          <a:xfrm>
            <a:off x="18288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3" name="Rectangle 245"/>
          <p:cNvSpPr/>
          <p:nvPr/>
        </p:nvSpPr>
        <p:spPr>
          <a:xfrm>
            <a:off x="27432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4" name="Rectangle 246"/>
          <p:cNvSpPr/>
          <p:nvPr/>
        </p:nvSpPr>
        <p:spPr>
          <a:xfrm>
            <a:off x="36576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5" name="Rectangle 247"/>
          <p:cNvSpPr/>
          <p:nvPr/>
        </p:nvSpPr>
        <p:spPr>
          <a:xfrm>
            <a:off x="45720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6" name="Rectangle 248"/>
          <p:cNvSpPr/>
          <p:nvPr/>
        </p:nvSpPr>
        <p:spPr>
          <a:xfrm>
            <a:off x="54864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7" name="Rectangle 249"/>
          <p:cNvSpPr/>
          <p:nvPr/>
        </p:nvSpPr>
        <p:spPr>
          <a:xfrm>
            <a:off x="64008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8" name="Rectangle 250"/>
          <p:cNvSpPr/>
          <p:nvPr/>
        </p:nvSpPr>
        <p:spPr>
          <a:xfrm>
            <a:off x="73152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9" name="Rectangle 251"/>
          <p:cNvSpPr/>
          <p:nvPr/>
        </p:nvSpPr>
        <p:spPr>
          <a:xfrm>
            <a:off x="82296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0" name="Rectangle 252"/>
          <p:cNvSpPr/>
          <p:nvPr/>
        </p:nvSpPr>
        <p:spPr>
          <a:xfrm>
            <a:off x="91440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1" name="Rectangle 253"/>
          <p:cNvSpPr/>
          <p:nvPr/>
        </p:nvSpPr>
        <p:spPr>
          <a:xfrm>
            <a:off x="100584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2" name="Rectangle 254"/>
          <p:cNvSpPr/>
          <p:nvPr/>
        </p:nvSpPr>
        <p:spPr>
          <a:xfrm>
            <a:off x="109728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3" name="Rectangle 255"/>
          <p:cNvSpPr/>
          <p:nvPr/>
        </p:nvSpPr>
        <p:spPr>
          <a:xfrm>
            <a:off x="118872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4" name="Rectangle 256"/>
          <p:cNvSpPr/>
          <p:nvPr/>
        </p:nvSpPr>
        <p:spPr>
          <a:xfrm>
            <a:off x="0" y="0"/>
            <a:ext cx="307440" cy="6845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5" name="Rounded Rectangle 113"/>
          <p:cNvSpPr/>
          <p:nvPr/>
        </p:nvSpPr>
        <p:spPr>
          <a:xfrm>
            <a:off x="9875520" y="365760"/>
            <a:ext cx="1999080" cy="490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6" name="TextBox 49"/>
          <p:cNvSpPr/>
          <p:nvPr/>
        </p:nvSpPr>
        <p:spPr>
          <a:xfrm>
            <a:off x="1756800" y="732600"/>
            <a:ext cx="74520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 (Part 2: Traps &amp; Advanced)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TextBox 50"/>
          <p:cNvSpPr/>
          <p:nvPr/>
        </p:nvSpPr>
        <p:spPr>
          <a:xfrm>
            <a:off x="926280" y="1466280"/>
            <a:ext cx="97290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most critical bugs in assignments arise from confusing the assignment operator (=) with the equality check (==).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Additionally, compound assignments aren't limited to basic math; they can also be combined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with bitwise operators for advanced binary calculations.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Rounded Rectangle 114"/>
          <p:cNvSpPr/>
          <p:nvPr/>
        </p:nvSpPr>
        <p:spPr>
          <a:xfrm>
            <a:off x="987480" y="318204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9" name="Rounded Rectangle 115"/>
          <p:cNvSpPr/>
          <p:nvPr/>
        </p:nvSpPr>
        <p:spPr>
          <a:xfrm>
            <a:off x="685800" y="2743200"/>
            <a:ext cx="3193200" cy="3650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The Ultimate Trap (= vs ==):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= (Single Equals): Assigns a value. Copies the right side to the left.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== (Double Equals): Compares values. Evaluates to true or false.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Danger: If you accidentally assign a boolean inside an if statement, Java won't crash; it performs the assignment and automatically executes the block!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Bitwise Assignments: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Operates on numbers at the raw binary level (1s and 0s).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&amp;= (Bitwise AND), |= (Bitwise OR), ^= (Bitwise XOR).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&lt;&lt;= (Left Shift): A highly optimized, fast way to multiply a number by powers of 2.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0" name="Rounded Rectangle 116"/>
          <p:cNvSpPr/>
          <p:nvPr/>
        </p:nvSpPr>
        <p:spPr>
          <a:xfrm>
            <a:off x="4507920" y="318204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1" name="Rounded Rectangle 117"/>
          <p:cNvSpPr/>
          <p:nvPr/>
        </p:nvSpPr>
        <p:spPr>
          <a:xfrm>
            <a:off x="4257360" y="2743200"/>
            <a:ext cx="3279240" cy="364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The = vs == Logic Trap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Wrong (Assignment inside if)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boolean isOpen = false;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if (isOpen = true) ➔ CHANGES VALUE!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isOpen becomes true, block RUNS.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Correct (Comparison)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boolean isOpen = false;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if (isOpen == true) ➔ ONLY CHECKS!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Condition is false, block SKIPS.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2" name="Rounded Rectangle 118"/>
          <p:cNvSpPr/>
          <p:nvPr/>
        </p:nvSpPr>
        <p:spPr>
          <a:xfrm>
            <a:off x="8028360" y="318204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3" name="Rounded Rectangle 119"/>
          <p:cNvSpPr/>
          <p:nvPr/>
        </p:nvSpPr>
        <p:spPr>
          <a:xfrm>
            <a:off x="8001000" y="2514600"/>
            <a:ext cx="3420720" cy="3879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AdvancedAssignments {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1. THE = vs == TRAP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isAdmin = false;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Accidental assignment instead of ==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if (isAdmin = true) { 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isAdmin is now true!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System.out.println("Access Granted!");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2. BITWISE ASSIGNMENT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  // Binary: 0101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x &amp;= 3;     // AND operation with 3 (0011)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Result becomes 0001 (Which is 1)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3. SHIFT ASSIGNMENT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int y = 4;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y &lt;&lt;= 1; // Shift left by 1 (Multiply by 2)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System.out.println("Bitwise x: " + x);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System.out.println("Shifted y: " + y);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4" name="TextBox 5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Rectangle 257"/>
          <p:cNvSpPr/>
          <p:nvPr/>
        </p:nvSpPr>
        <p:spPr>
          <a:xfrm>
            <a:off x="0" y="0"/>
            <a:ext cx="12176280" cy="6845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6" name="Rectangle 258"/>
          <p:cNvSpPr/>
          <p:nvPr/>
        </p:nvSpPr>
        <p:spPr>
          <a:xfrm>
            <a:off x="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7" name="Rectangle 259"/>
          <p:cNvSpPr/>
          <p:nvPr/>
        </p:nvSpPr>
        <p:spPr>
          <a:xfrm>
            <a:off x="9144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8" name="Rectangle 260"/>
          <p:cNvSpPr/>
          <p:nvPr/>
        </p:nvSpPr>
        <p:spPr>
          <a:xfrm>
            <a:off x="18288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9" name="Rectangle 261"/>
          <p:cNvSpPr/>
          <p:nvPr/>
        </p:nvSpPr>
        <p:spPr>
          <a:xfrm>
            <a:off x="27432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0" name="Rectangle 262"/>
          <p:cNvSpPr/>
          <p:nvPr/>
        </p:nvSpPr>
        <p:spPr>
          <a:xfrm>
            <a:off x="36576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1" name="Rectangle 263"/>
          <p:cNvSpPr/>
          <p:nvPr/>
        </p:nvSpPr>
        <p:spPr>
          <a:xfrm>
            <a:off x="45720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2" name="Rectangle 264"/>
          <p:cNvSpPr/>
          <p:nvPr/>
        </p:nvSpPr>
        <p:spPr>
          <a:xfrm>
            <a:off x="54864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3" name="Rectangle 265"/>
          <p:cNvSpPr/>
          <p:nvPr/>
        </p:nvSpPr>
        <p:spPr>
          <a:xfrm>
            <a:off x="64008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4" name="Rectangle 266"/>
          <p:cNvSpPr/>
          <p:nvPr/>
        </p:nvSpPr>
        <p:spPr>
          <a:xfrm>
            <a:off x="73152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5" name="Rectangle 267"/>
          <p:cNvSpPr/>
          <p:nvPr/>
        </p:nvSpPr>
        <p:spPr>
          <a:xfrm>
            <a:off x="82296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6" name="Rectangle 268"/>
          <p:cNvSpPr/>
          <p:nvPr/>
        </p:nvSpPr>
        <p:spPr>
          <a:xfrm>
            <a:off x="91440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7" name="Rectangle 269"/>
          <p:cNvSpPr/>
          <p:nvPr/>
        </p:nvSpPr>
        <p:spPr>
          <a:xfrm>
            <a:off x="100584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8" name="Rectangle 270"/>
          <p:cNvSpPr/>
          <p:nvPr/>
        </p:nvSpPr>
        <p:spPr>
          <a:xfrm>
            <a:off x="109728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9" name="Rectangle 271"/>
          <p:cNvSpPr/>
          <p:nvPr/>
        </p:nvSpPr>
        <p:spPr>
          <a:xfrm>
            <a:off x="118872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0" name="Rectangle 272"/>
          <p:cNvSpPr/>
          <p:nvPr/>
        </p:nvSpPr>
        <p:spPr>
          <a:xfrm>
            <a:off x="0" y="0"/>
            <a:ext cx="307440" cy="6845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1" name="Rounded Rectangle 120"/>
          <p:cNvSpPr/>
          <p:nvPr/>
        </p:nvSpPr>
        <p:spPr>
          <a:xfrm>
            <a:off x="9875520" y="365760"/>
            <a:ext cx="1999080" cy="490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2" name="TextBox 52"/>
          <p:cNvSpPr/>
          <p:nvPr/>
        </p:nvSpPr>
        <p:spPr>
          <a:xfrm>
            <a:off x="1433520" y="732600"/>
            <a:ext cx="81000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 (Part 3: References &amp; Memory)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TextBox 53"/>
          <p:cNvSpPr/>
          <p:nvPr/>
        </p:nvSpPr>
        <p:spPr>
          <a:xfrm>
            <a:off x="921960" y="1466280"/>
            <a:ext cx="97365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While the assignment operator (=) creates a perfect, independent copy of the value for primitive types (int, double),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it behaves differently for Arrays and Objects. For these complex types, it only copies the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memory address (reference), meaning both variables will point to the exact same data.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Rounded Rectangle 121"/>
          <p:cNvSpPr/>
          <p:nvPr/>
        </p:nvSpPr>
        <p:spPr>
          <a:xfrm>
            <a:off x="987480" y="318204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5" name="Rounded Rectangle 122"/>
          <p:cNvSpPr/>
          <p:nvPr/>
        </p:nvSpPr>
        <p:spPr>
          <a:xfrm>
            <a:off x="685800" y="2743200"/>
            <a:ext cx="3193200" cy="3650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Value vs. Reference Assignment: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Primitives (Value Copy): int a = b; copies the actual number. Changing one does not affect the other. They are fully independent.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References (Shared Address): int[] a = b; shares the same memory box. Modifying one variable instantly modifies the other!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Assignment Evaluates to a Value: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Every assignment in Java evaluates to the value being assigned.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Ex: System.out.println(x = 5); assigns 5 to x AND prints 5 to the console. This rule is what makes chained assignments (a = b = 5) possible.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6" name="Rounded Rectangle 123"/>
          <p:cNvSpPr/>
          <p:nvPr/>
        </p:nvSpPr>
        <p:spPr>
          <a:xfrm>
            <a:off x="4507920" y="318204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7" name="Rounded Rectangle 124"/>
          <p:cNvSpPr/>
          <p:nvPr/>
        </p:nvSpPr>
        <p:spPr>
          <a:xfrm>
            <a:off x="4257360" y="2743200"/>
            <a:ext cx="3279240" cy="364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Primitive vs Reference Logic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Primitive Type (Independent)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 x = 10; int y = x;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y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Only y changes. (x remains 10)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Reference Type (Shared Memory)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int[] a = {1, 2}; int[] b = a;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b[0] = 99;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BOTH CHANGE! (a[0] becomes 99 too)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8" name="Rounded Rectangle 125"/>
          <p:cNvSpPr/>
          <p:nvPr/>
        </p:nvSpPr>
        <p:spPr>
          <a:xfrm>
            <a:off x="8028360" y="318204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9" name="Rounded Rectangle 126"/>
          <p:cNvSpPr/>
          <p:nvPr/>
        </p:nvSpPr>
        <p:spPr>
          <a:xfrm>
            <a:off x="8001000" y="2514600"/>
            <a:ext cx="3420720" cy="3879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AssignReferences {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1. PRIMITIVE ASSIGNMENT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num1 = 10;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num2 = num1; // Value is copied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2. REFERENCE (ARRAY) ASSIGNMENT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arr1 = {1, 2, 3};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arr2 = arr1; // Address is shared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Modifying arr2 also modifies arr1!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arr2[0] = 99; 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3. RETURN VALUE OF ASSIGNMENT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x;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Assigns 5 to x AND prints it directly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System.out.println("x is: " + (x = 5)); 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System.out.println("num1: " + num1);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System.out.println("arr1[0]: " + arr1[0]);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0" name="TextBox 5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Rectangle 273"/>
          <p:cNvSpPr/>
          <p:nvPr/>
        </p:nvSpPr>
        <p:spPr>
          <a:xfrm>
            <a:off x="0" y="0"/>
            <a:ext cx="12176280" cy="6845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2" name="Rectangle 274"/>
          <p:cNvSpPr/>
          <p:nvPr/>
        </p:nvSpPr>
        <p:spPr>
          <a:xfrm>
            <a:off x="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3" name="Rectangle 275"/>
          <p:cNvSpPr/>
          <p:nvPr/>
        </p:nvSpPr>
        <p:spPr>
          <a:xfrm>
            <a:off x="9144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4" name="Rectangle 276"/>
          <p:cNvSpPr/>
          <p:nvPr/>
        </p:nvSpPr>
        <p:spPr>
          <a:xfrm>
            <a:off x="18288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5" name="Rectangle 277"/>
          <p:cNvSpPr/>
          <p:nvPr/>
        </p:nvSpPr>
        <p:spPr>
          <a:xfrm>
            <a:off x="27432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6" name="Rectangle 278"/>
          <p:cNvSpPr/>
          <p:nvPr/>
        </p:nvSpPr>
        <p:spPr>
          <a:xfrm>
            <a:off x="36576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7" name="Rectangle 279"/>
          <p:cNvSpPr/>
          <p:nvPr/>
        </p:nvSpPr>
        <p:spPr>
          <a:xfrm>
            <a:off x="45720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8" name="Rectangle 280"/>
          <p:cNvSpPr/>
          <p:nvPr/>
        </p:nvSpPr>
        <p:spPr>
          <a:xfrm>
            <a:off x="54864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9" name="Rectangle 281"/>
          <p:cNvSpPr/>
          <p:nvPr/>
        </p:nvSpPr>
        <p:spPr>
          <a:xfrm>
            <a:off x="64008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0" name="Rectangle 282"/>
          <p:cNvSpPr/>
          <p:nvPr/>
        </p:nvSpPr>
        <p:spPr>
          <a:xfrm>
            <a:off x="73152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1" name="Rectangle 283"/>
          <p:cNvSpPr/>
          <p:nvPr/>
        </p:nvSpPr>
        <p:spPr>
          <a:xfrm>
            <a:off x="82296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2" name="Rectangle 284"/>
          <p:cNvSpPr/>
          <p:nvPr/>
        </p:nvSpPr>
        <p:spPr>
          <a:xfrm>
            <a:off x="91440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3" name="Rectangle 285"/>
          <p:cNvSpPr/>
          <p:nvPr/>
        </p:nvSpPr>
        <p:spPr>
          <a:xfrm>
            <a:off x="100584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4" name="Rectangle 286"/>
          <p:cNvSpPr/>
          <p:nvPr/>
        </p:nvSpPr>
        <p:spPr>
          <a:xfrm>
            <a:off x="109728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5" name="Rectangle 287"/>
          <p:cNvSpPr/>
          <p:nvPr/>
        </p:nvSpPr>
        <p:spPr>
          <a:xfrm>
            <a:off x="118872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6" name="Rectangle 288"/>
          <p:cNvSpPr/>
          <p:nvPr/>
        </p:nvSpPr>
        <p:spPr>
          <a:xfrm>
            <a:off x="0" y="0"/>
            <a:ext cx="307440" cy="6845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7" name="Rounded Rectangle 127"/>
          <p:cNvSpPr/>
          <p:nvPr/>
        </p:nvSpPr>
        <p:spPr>
          <a:xfrm>
            <a:off x="9875520" y="365760"/>
            <a:ext cx="1999080" cy="490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8" name="TextBox 55"/>
          <p:cNvSpPr/>
          <p:nvPr/>
        </p:nvSpPr>
        <p:spPr>
          <a:xfrm>
            <a:off x="1849680" y="732600"/>
            <a:ext cx="726624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Operators: Memory &amp; Object States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9" name="TextBox 56"/>
          <p:cNvSpPr/>
          <p:nvPr/>
        </p:nvSpPr>
        <p:spPr>
          <a:xfrm>
            <a:off x="1215000" y="1466280"/>
            <a:ext cx="91497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When working with objects, the assignment operator (=) dictates which memory address a variable points to.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Understanding how to detach a variable from an object (using null)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or lock its memory address (using final) is crucial for effective memory management.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0" name="Rounded Rectangle 128"/>
          <p:cNvSpPr/>
          <p:nvPr/>
        </p:nvSpPr>
        <p:spPr>
          <a:xfrm>
            <a:off x="987480" y="318204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1" name="Rounded Rectangle 129"/>
          <p:cNvSpPr/>
          <p:nvPr/>
        </p:nvSpPr>
        <p:spPr>
          <a:xfrm>
            <a:off x="685800" y="2514600"/>
            <a:ext cx="3193200" cy="4109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1. Mutating vs. Reassigning: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Mutating: Changing the internal data of an existing object (e.g., arr[0] = 5;). The memory address stays the same.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Reassigning: Pointing the variable to a completely new object (e.g., arr = new int[]{1, 2};). The old memory address is abandoned.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2. The null Assignment: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Assigning null to a reference variable completely disconnects it from the object.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If an object in memory has zero variables pointing to it, the Garbage Collector (GC) automatically deletes it to free up RAM.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3. The final Reference Trap: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If a reference variable is marked final, you cannot reassign it to a new memory address using =.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However, you can still mutate (modify) its internal data!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2" name="Rounded Rectangle 130"/>
          <p:cNvSpPr/>
          <p:nvPr/>
        </p:nvSpPr>
        <p:spPr>
          <a:xfrm>
            <a:off x="4507920" y="318204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3" name="Rounded Rectangle 131"/>
          <p:cNvSpPr/>
          <p:nvPr/>
        </p:nvSpPr>
        <p:spPr>
          <a:xfrm>
            <a:off x="4257360" y="2743200"/>
            <a:ext cx="3279240" cy="364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MEMORY STATE TRACKER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ACTION 1: int[] x = {100};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[x] ----&gt; (Heap Memory: {100})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ACTION 2: int[] y = x;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[x] ----&gt; (Heap Memory: {100})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[y] ----/ (Both point to same)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ACTION 3: x = null;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[x] ----&gt; [ NULL / EMPTY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[y] ----&gt; (Heap Memory: {100})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Data survives because 'y' still holds it!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4" name="Rounded Rectangle 132"/>
          <p:cNvSpPr/>
          <p:nvPr/>
        </p:nvSpPr>
        <p:spPr>
          <a:xfrm>
            <a:off x="8028360" y="318204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5" name="Rounded Rectangle 133"/>
          <p:cNvSpPr/>
          <p:nvPr/>
        </p:nvSpPr>
        <p:spPr>
          <a:xfrm>
            <a:off x="8001000" y="2514600"/>
            <a:ext cx="3420720" cy="3879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--- TEST CASE 1: SURVIVING NULL ---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int[] dataA = { 50 };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int[] dataB = dataA; // Share address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dataA = null; // Cut connection for A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Will this crash? No! B still has it.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System.out.println("DataB: " + dataB[0]); 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&gt;&gt; Output: 50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--- TEST CASE 2: FINAL REFERENCE ---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final StringBuilder text = new StringBuilder("A");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ERROR: Cannot assign new memory!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text = new StringBuilder("B"); 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SUCCESS: Can mutate internal state!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text.append("B"); 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System.out.println("Text: " + text);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&gt;&gt; Output: AB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6" name="TextBox 5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Rectangle 289"/>
          <p:cNvSpPr/>
          <p:nvPr/>
        </p:nvSpPr>
        <p:spPr>
          <a:xfrm>
            <a:off x="0" y="0"/>
            <a:ext cx="12176280" cy="6845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8" name="Rectangle 290"/>
          <p:cNvSpPr/>
          <p:nvPr/>
        </p:nvSpPr>
        <p:spPr>
          <a:xfrm>
            <a:off x="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9" name="Rectangle 291"/>
          <p:cNvSpPr/>
          <p:nvPr/>
        </p:nvSpPr>
        <p:spPr>
          <a:xfrm>
            <a:off x="9144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0" name="Rectangle 292"/>
          <p:cNvSpPr/>
          <p:nvPr/>
        </p:nvSpPr>
        <p:spPr>
          <a:xfrm>
            <a:off x="18288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1" name="Rectangle 293"/>
          <p:cNvSpPr/>
          <p:nvPr/>
        </p:nvSpPr>
        <p:spPr>
          <a:xfrm>
            <a:off x="27432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2" name="Rectangle 294"/>
          <p:cNvSpPr/>
          <p:nvPr/>
        </p:nvSpPr>
        <p:spPr>
          <a:xfrm>
            <a:off x="36576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3" name="Rectangle 295"/>
          <p:cNvSpPr/>
          <p:nvPr/>
        </p:nvSpPr>
        <p:spPr>
          <a:xfrm>
            <a:off x="45720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4" name="Rectangle 296"/>
          <p:cNvSpPr/>
          <p:nvPr/>
        </p:nvSpPr>
        <p:spPr>
          <a:xfrm>
            <a:off x="54864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5" name="Rectangle 297"/>
          <p:cNvSpPr/>
          <p:nvPr/>
        </p:nvSpPr>
        <p:spPr>
          <a:xfrm>
            <a:off x="64008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6" name="Rectangle 298"/>
          <p:cNvSpPr/>
          <p:nvPr/>
        </p:nvSpPr>
        <p:spPr>
          <a:xfrm>
            <a:off x="73152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7" name="Rectangle 299"/>
          <p:cNvSpPr/>
          <p:nvPr/>
        </p:nvSpPr>
        <p:spPr>
          <a:xfrm>
            <a:off x="82296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8" name="Rectangle 300"/>
          <p:cNvSpPr/>
          <p:nvPr/>
        </p:nvSpPr>
        <p:spPr>
          <a:xfrm>
            <a:off x="91440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9" name="Rectangle 301"/>
          <p:cNvSpPr/>
          <p:nvPr/>
        </p:nvSpPr>
        <p:spPr>
          <a:xfrm>
            <a:off x="100584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0" name="Rectangle 302"/>
          <p:cNvSpPr/>
          <p:nvPr/>
        </p:nvSpPr>
        <p:spPr>
          <a:xfrm>
            <a:off x="109728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1" name="Rectangle 303"/>
          <p:cNvSpPr/>
          <p:nvPr/>
        </p:nvSpPr>
        <p:spPr>
          <a:xfrm>
            <a:off x="118872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2" name="Rectangle 304"/>
          <p:cNvSpPr/>
          <p:nvPr/>
        </p:nvSpPr>
        <p:spPr>
          <a:xfrm>
            <a:off x="0" y="0"/>
            <a:ext cx="307440" cy="6845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3" name="Rounded Rectangle 134"/>
          <p:cNvSpPr/>
          <p:nvPr/>
        </p:nvSpPr>
        <p:spPr>
          <a:xfrm>
            <a:off x="9875520" y="365760"/>
            <a:ext cx="1999080" cy="490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4" name="TextBox 58"/>
          <p:cNvSpPr/>
          <p:nvPr/>
        </p:nvSpPr>
        <p:spPr>
          <a:xfrm>
            <a:off x="1361880" y="732600"/>
            <a:ext cx="82414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Operators: Memory &amp; Reference Management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TextBox 59"/>
          <p:cNvSpPr/>
          <p:nvPr/>
        </p:nvSpPr>
        <p:spPr>
          <a:xfrm>
            <a:off x="1068120" y="1466280"/>
            <a:ext cx="94424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When working with objects, the assignment operator (=) determines which memory address a variable points to.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For effective memory management, understanding how to detach 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variable from an object (null) or lock its memory address (final) is crucial.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" name="Rounded Rectangle 135"/>
          <p:cNvSpPr/>
          <p:nvPr/>
        </p:nvSpPr>
        <p:spPr>
          <a:xfrm>
            <a:off x="987480" y="318204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7" name="Rounded Rectangle 136"/>
          <p:cNvSpPr/>
          <p:nvPr/>
        </p:nvSpPr>
        <p:spPr>
          <a:xfrm>
            <a:off x="685800" y="2514600"/>
            <a:ext cx="3193200" cy="4109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QUICK BITE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For primitive types (int, double), the = operator copies the value. However, for objects (Object, Array), it only copies the "address" (reference) in memory. Knowing this behavior is essential to manage objects in memory properly.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KEY CONCEPTS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Value Copy (Primitives): Creates fully independent copies. Changing one doesn't affect the other.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Sharing (Objects): Two variables link to the same memory box. A change in one instantly hits the other!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Detaching (null): Cuts the variable's link to the memory address. Objects with no variables holding them are deleted by the Garbage Collector (GC).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Locking Address (final): Forbids assigning the variable to a new memory address. But beware: Data inside the object can still be modified.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8" name="Rounded Rectangle 137"/>
          <p:cNvSpPr/>
          <p:nvPr/>
        </p:nvSpPr>
        <p:spPr>
          <a:xfrm>
            <a:off x="4507920" y="318204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9" name="Rounded Rectangle 138"/>
          <p:cNvSpPr/>
          <p:nvPr/>
        </p:nvSpPr>
        <p:spPr>
          <a:xfrm>
            <a:off x="4485960" y="2976120"/>
            <a:ext cx="2824200" cy="2962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Reference Sharing &amp; Mutation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int[] a = {5};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[a] -----&gt; (Memory Box: { 5 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int[] b = a;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[a] -----&gt; (Memory Box: { 5 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[b] -----/ (Both point to same)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a[0] = 9;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(Memory Box is now { 9 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Printing b[0] outputs 9!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0" name="Rounded Rectangle 139"/>
          <p:cNvSpPr/>
          <p:nvPr/>
        </p:nvSpPr>
        <p:spPr>
          <a:xfrm>
            <a:off x="8028360" y="318204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1" name="Rounded Rectangle 140"/>
          <p:cNvSpPr/>
          <p:nvPr/>
        </p:nvSpPr>
        <p:spPr>
          <a:xfrm>
            <a:off x="8001000" y="2514600"/>
            <a:ext cx="3420720" cy="3879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MemoryManagement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PRIMITIVE (Independent Copy)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y = 99; // x is unaffected, still 10!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REFERENCE (Shared Address)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arrA = { 10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arrB = arrA;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arrB[0] = 99; // arrA's content is also 99!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DETACHING (NULL)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arrA = null; // Cut the link for 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arrB still holds data, so it survives.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LOCKED ADDRESS (FINAL)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locked = { 5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locked = new int[]{ 1 }; // ERROR!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locked[0] = 7; // SUCCESS! Content changed.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2" name="TextBox 6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Rectangle 305"/>
          <p:cNvSpPr/>
          <p:nvPr/>
        </p:nvSpPr>
        <p:spPr>
          <a:xfrm>
            <a:off x="0" y="0"/>
            <a:ext cx="12176280" cy="6845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4" name="Rectangle 306"/>
          <p:cNvSpPr/>
          <p:nvPr/>
        </p:nvSpPr>
        <p:spPr>
          <a:xfrm>
            <a:off x="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5" name="Rectangle 307"/>
          <p:cNvSpPr/>
          <p:nvPr/>
        </p:nvSpPr>
        <p:spPr>
          <a:xfrm>
            <a:off x="9144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6" name="Rectangle 308"/>
          <p:cNvSpPr/>
          <p:nvPr/>
        </p:nvSpPr>
        <p:spPr>
          <a:xfrm>
            <a:off x="18288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7" name="Rectangle 309"/>
          <p:cNvSpPr/>
          <p:nvPr/>
        </p:nvSpPr>
        <p:spPr>
          <a:xfrm>
            <a:off x="27432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8" name="Rectangle 310"/>
          <p:cNvSpPr/>
          <p:nvPr/>
        </p:nvSpPr>
        <p:spPr>
          <a:xfrm>
            <a:off x="36576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9" name="Rectangle 311"/>
          <p:cNvSpPr/>
          <p:nvPr/>
        </p:nvSpPr>
        <p:spPr>
          <a:xfrm>
            <a:off x="45720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0" name="Rectangle 312"/>
          <p:cNvSpPr/>
          <p:nvPr/>
        </p:nvSpPr>
        <p:spPr>
          <a:xfrm>
            <a:off x="54864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1" name="Rectangle 313"/>
          <p:cNvSpPr/>
          <p:nvPr/>
        </p:nvSpPr>
        <p:spPr>
          <a:xfrm>
            <a:off x="64008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2" name="Rectangle 314"/>
          <p:cNvSpPr/>
          <p:nvPr/>
        </p:nvSpPr>
        <p:spPr>
          <a:xfrm>
            <a:off x="73152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3" name="Rectangle 315"/>
          <p:cNvSpPr/>
          <p:nvPr/>
        </p:nvSpPr>
        <p:spPr>
          <a:xfrm>
            <a:off x="82296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4" name="Rectangle 316"/>
          <p:cNvSpPr/>
          <p:nvPr/>
        </p:nvSpPr>
        <p:spPr>
          <a:xfrm>
            <a:off x="91440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5" name="Rectangle 317"/>
          <p:cNvSpPr/>
          <p:nvPr/>
        </p:nvSpPr>
        <p:spPr>
          <a:xfrm>
            <a:off x="100584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6" name="Rectangle 318"/>
          <p:cNvSpPr/>
          <p:nvPr/>
        </p:nvSpPr>
        <p:spPr>
          <a:xfrm>
            <a:off x="109728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7" name="Rectangle 319"/>
          <p:cNvSpPr/>
          <p:nvPr/>
        </p:nvSpPr>
        <p:spPr>
          <a:xfrm>
            <a:off x="118872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8" name="Rectangle 320"/>
          <p:cNvSpPr/>
          <p:nvPr/>
        </p:nvSpPr>
        <p:spPr>
          <a:xfrm>
            <a:off x="0" y="0"/>
            <a:ext cx="307440" cy="6845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9" name="Rounded Rectangle 141"/>
          <p:cNvSpPr/>
          <p:nvPr/>
        </p:nvSpPr>
        <p:spPr>
          <a:xfrm>
            <a:off x="9875520" y="365760"/>
            <a:ext cx="1999080" cy="490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0" name="TextBox 61"/>
          <p:cNvSpPr/>
          <p:nvPr/>
        </p:nvSpPr>
        <p:spPr>
          <a:xfrm>
            <a:off x="2553480" y="732600"/>
            <a:ext cx="585792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Real-World Example: Joint Bank Accounts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1" name="TextBox 62"/>
          <p:cNvSpPr/>
          <p:nvPr/>
        </p:nvSpPr>
        <p:spPr>
          <a:xfrm>
            <a:off x="2229120" y="1466280"/>
            <a:ext cx="71200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To understand memory references, think of everyday banking. Primitives are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like cash in separate wallets; spending from one doesn't affect the other.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Reference types are like two debit cards linked to the exact same joint bank account.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" name="Rounded Rectangle 142"/>
          <p:cNvSpPr/>
          <p:nvPr/>
        </p:nvSpPr>
        <p:spPr>
          <a:xfrm>
            <a:off x="987480" y="318204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3" name="Rounded Rectangle 143"/>
          <p:cNvSpPr/>
          <p:nvPr/>
        </p:nvSpPr>
        <p:spPr>
          <a:xfrm>
            <a:off x="688320" y="2743920"/>
            <a:ext cx="3193200" cy="3423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BANKING ANALOGY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Cash (Primitives): You and a friend both have a $100 bill. If your friend buys a coffee, your $100 is perfectly safe. (Independent copies).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Joint Account (References): A husband and wife have different debit cards pointing to one account. If the husband withdraws $50, the wife's balance instantly drops too!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Losing a Card (null): If the husband destroys his card (null), the actual bank vault isn't deleted. The wife can still access the money.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Fixed Account (final): A card strictly locked to one specific vault. You can't link it to a new bank, but you can still add/remove money from that vault.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4" name="Rounded Rectangle 144"/>
          <p:cNvSpPr/>
          <p:nvPr/>
        </p:nvSpPr>
        <p:spPr>
          <a:xfrm>
            <a:off x="4507920" y="318204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5" name="Rounded Rectangle 145"/>
          <p:cNvSpPr/>
          <p:nvPr/>
        </p:nvSpPr>
        <p:spPr>
          <a:xfrm>
            <a:off x="4485960" y="2976120"/>
            <a:ext cx="2824200" cy="319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The Joint Account Logic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double[] wifeCard = { 500 };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[Wife's Card] -----&gt; (Vault: $500)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double[] husbandCard = wifeCard;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[Husband's Card] --/ (Same Vault)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husbandCard[0] -= 100;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(Vault drops to $400)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The wife checks her balance and sees $400. The spending affected both!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6" name="Rounded Rectangle 146"/>
          <p:cNvSpPr/>
          <p:nvPr/>
        </p:nvSpPr>
        <p:spPr>
          <a:xfrm>
            <a:off x="8028360" y="318204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7" name="Rounded Rectangle 147"/>
          <p:cNvSpPr/>
          <p:nvPr/>
        </p:nvSpPr>
        <p:spPr>
          <a:xfrm>
            <a:off x="7772400" y="2514600"/>
            <a:ext cx="3881520" cy="4110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BankingApp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CASH (Primitive - Independent)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myWallet = 100;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friendWallet = myWallet;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friendWallet -= 20; // My wallet is still 100!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JOINT ACCOUNT (Reference - Shared)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jointAccount = { 1000.0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wifeCard = jointAccount;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husbandCard = jointAccount;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husbandCard[0] -= 200; // Husband spends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LOST CARD (Null)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husbandCard = null; // Card destroyed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Vault is safe! Wife still sees 800.0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System.out.println("Wife: $" + wifeCard[0]);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LOCKED CARD (Final)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final double[] businessVault = { 5000.0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businessVault = new double[]{ 0 }; // ERROR!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businessVault[0] += 500; // SUCCESS! (Deposit)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8" name="TextBox 6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Rectangle 321"/>
          <p:cNvSpPr/>
          <p:nvPr/>
        </p:nvSpPr>
        <p:spPr>
          <a:xfrm>
            <a:off x="0" y="0"/>
            <a:ext cx="12176280" cy="6845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0" name="Rectangle 322"/>
          <p:cNvSpPr/>
          <p:nvPr/>
        </p:nvSpPr>
        <p:spPr>
          <a:xfrm>
            <a:off x="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1" name="Rectangle 323"/>
          <p:cNvSpPr/>
          <p:nvPr/>
        </p:nvSpPr>
        <p:spPr>
          <a:xfrm>
            <a:off x="9144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2" name="Rectangle 324"/>
          <p:cNvSpPr/>
          <p:nvPr/>
        </p:nvSpPr>
        <p:spPr>
          <a:xfrm>
            <a:off x="18288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3" name="Rectangle 325"/>
          <p:cNvSpPr/>
          <p:nvPr/>
        </p:nvSpPr>
        <p:spPr>
          <a:xfrm>
            <a:off x="27432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4" name="Rectangle 326"/>
          <p:cNvSpPr/>
          <p:nvPr/>
        </p:nvSpPr>
        <p:spPr>
          <a:xfrm>
            <a:off x="36576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5" name="Rectangle 327"/>
          <p:cNvSpPr/>
          <p:nvPr/>
        </p:nvSpPr>
        <p:spPr>
          <a:xfrm>
            <a:off x="45720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6" name="Rectangle 328"/>
          <p:cNvSpPr/>
          <p:nvPr/>
        </p:nvSpPr>
        <p:spPr>
          <a:xfrm>
            <a:off x="54864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7" name="Rectangle 329"/>
          <p:cNvSpPr/>
          <p:nvPr/>
        </p:nvSpPr>
        <p:spPr>
          <a:xfrm>
            <a:off x="64008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8" name="Rectangle 330"/>
          <p:cNvSpPr/>
          <p:nvPr/>
        </p:nvSpPr>
        <p:spPr>
          <a:xfrm>
            <a:off x="73152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9" name="Rectangle 331"/>
          <p:cNvSpPr/>
          <p:nvPr/>
        </p:nvSpPr>
        <p:spPr>
          <a:xfrm>
            <a:off x="82296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0" name="Rectangle 332"/>
          <p:cNvSpPr/>
          <p:nvPr/>
        </p:nvSpPr>
        <p:spPr>
          <a:xfrm>
            <a:off x="91440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1" name="Rectangle 333"/>
          <p:cNvSpPr/>
          <p:nvPr/>
        </p:nvSpPr>
        <p:spPr>
          <a:xfrm>
            <a:off x="100584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2" name="Rectangle 334"/>
          <p:cNvSpPr/>
          <p:nvPr/>
        </p:nvSpPr>
        <p:spPr>
          <a:xfrm>
            <a:off x="109728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3" name="Rectangle 335"/>
          <p:cNvSpPr/>
          <p:nvPr/>
        </p:nvSpPr>
        <p:spPr>
          <a:xfrm>
            <a:off x="118872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4" name="Rectangle 336"/>
          <p:cNvSpPr/>
          <p:nvPr/>
        </p:nvSpPr>
        <p:spPr>
          <a:xfrm>
            <a:off x="0" y="0"/>
            <a:ext cx="307440" cy="6845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5" name="Rounded Rectangle 148"/>
          <p:cNvSpPr/>
          <p:nvPr/>
        </p:nvSpPr>
        <p:spPr>
          <a:xfrm>
            <a:off x="9875520" y="365760"/>
            <a:ext cx="1999080" cy="490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6" name="TextBox 64"/>
          <p:cNvSpPr/>
          <p:nvPr/>
        </p:nvSpPr>
        <p:spPr>
          <a:xfrm>
            <a:off x="1654920" y="732600"/>
            <a:ext cx="76564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&amp; Reference Management: Final Summary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7" name="TextBox 65"/>
          <p:cNvSpPr/>
          <p:nvPr/>
        </p:nvSpPr>
        <p:spPr>
          <a:xfrm>
            <a:off x="2430360" y="1371600"/>
            <a:ext cx="6722280" cy="10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Assignment operators (=) are the foundation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of storing data and managing memory. Knowing the critical difference between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value copying in primitives and address sharing in objects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is the golden rule of bug-free Java coding.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8" name="Rounded Rectangle 149"/>
          <p:cNvSpPr/>
          <p:nvPr/>
        </p:nvSpPr>
        <p:spPr>
          <a:xfrm>
            <a:off x="987480" y="318204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9" name="Rounded Rectangle 150"/>
          <p:cNvSpPr/>
          <p:nvPr/>
        </p:nvSpPr>
        <p:spPr>
          <a:xfrm>
            <a:off x="688680" y="2820240"/>
            <a:ext cx="3193200" cy="3423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DEVELOPER CHECKLIST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Flows Right-to-Left: Assignment always calculates the right side first, then writes the result to the left (a = 5 + 2;).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Ultimate Trap: Using = (assignment) instead of == (comparison) inside if statements won't crash the code, but completely ruins the logic.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Compound Power: Operators like += shorten your code and perform crucial automatic type casting behind the scenes.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Value vs. Address: Primitives (int) are fully independent. Objects (arrays, classes) share the exact same memory address.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0" name="Rounded Rectangle 151"/>
          <p:cNvSpPr/>
          <p:nvPr/>
        </p:nvSpPr>
        <p:spPr>
          <a:xfrm>
            <a:off x="4507920" y="318204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1" name="Rounded Rectangle 152"/>
          <p:cNvSpPr/>
          <p:nvPr/>
        </p:nvSpPr>
        <p:spPr>
          <a:xfrm>
            <a:off x="4343400" y="2976120"/>
            <a:ext cx="2824200" cy="319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The Debugging Map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Did you copy an array, and changing one modified the other?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Cause: = only copies the address. They are linked to the same vault!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Getting a compile error when adding numbers to a byte?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Solution: Use x += 5 instead of x = x + 5. Java handles the casting!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Want to get rid of a memory-heavy object?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Solution: Assign null to the variable. Let the Garbage Collector (GC) erase it.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2" name="Rounded Rectangle 153"/>
          <p:cNvSpPr/>
          <p:nvPr/>
        </p:nvSpPr>
        <p:spPr>
          <a:xfrm>
            <a:off x="8028360" y="318204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3" name="Rounded Rectangle 154"/>
          <p:cNvSpPr/>
          <p:nvPr/>
        </p:nvSpPr>
        <p:spPr>
          <a:xfrm>
            <a:off x="7671960" y="2286360"/>
            <a:ext cx="3525120" cy="4110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AssignmentSummary {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1. COMPOUND ASSIGNMENT (Auto Casting)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byte b = 10;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 += 5; // b = b + 5 would throw an ERROR!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2. THE LOGIC TRAP (= vs ==)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active = false;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if(active = true) -&gt; WRONG USE!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if (active == true) { /* Correct */ 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3. REFERENCE SHARING (Shared Address)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arrA = { 1 };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arrB = arrA; // Address shared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arrB[0] = 9; // arrA[0] becomes 9 too!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4. MEMORY CLEANUP &amp; LOCK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arrA = null; // Cut connection (ready for GC)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locked = { 5 };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locked = new int[]{1}; // ERROR! (Address locked)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locked[0] = 8; // SUCCESS! (Content mutable)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4" name="TextBox 6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Rectangle 337"/>
          <p:cNvSpPr/>
          <p:nvPr/>
        </p:nvSpPr>
        <p:spPr>
          <a:xfrm>
            <a:off x="0" y="0"/>
            <a:ext cx="12176280" cy="6845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6" name="Rectangle 338"/>
          <p:cNvSpPr/>
          <p:nvPr/>
        </p:nvSpPr>
        <p:spPr>
          <a:xfrm>
            <a:off x="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7" name="Rectangle 339"/>
          <p:cNvSpPr/>
          <p:nvPr/>
        </p:nvSpPr>
        <p:spPr>
          <a:xfrm>
            <a:off x="9144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8" name="Rectangle 340"/>
          <p:cNvSpPr/>
          <p:nvPr/>
        </p:nvSpPr>
        <p:spPr>
          <a:xfrm>
            <a:off x="18288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9" name="Rectangle 341"/>
          <p:cNvSpPr/>
          <p:nvPr/>
        </p:nvSpPr>
        <p:spPr>
          <a:xfrm>
            <a:off x="27432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0" name="Rectangle 342"/>
          <p:cNvSpPr/>
          <p:nvPr/>
        </p:nvSpPr>
        <p:spPr>
          <a:xfrm>
            <a:off x="36576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1" name="Rectangle 343"/>
          <p:cNvSpPr/>
          <p:nvPr/>
        </p:nvSpPr>
        <p:spPr>
          <a:xfrm>
            <a:off x="45720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2" name="Rectangle 344"/>
          <p:cNvSpPr/>
          <p:nvPr/>
        </p:nvSpPr>
        <p:spPr>
          <a:xfrm>
            <a:off x="54864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3" name="Rectangle 345"/>
          <p:cNvSpPr/>
          <p:nvPr/>
        </p:nvSpPr>
        <p:spPr>
          <a:xfrm>
            <a:off x="64008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4" name="Rectangle 346"/>
          <p:cNvSpPr/>
          <p:nvPr/>
        </p:nvSpPr>
        <p:spPr>
          <a:xfrm>
            <a:off x="73152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5" name="Rectangle 347"/>
          <p:cNvSpPr/>
          <p:nvPr/>
        </p:nvSpPr>
        <p:spPr>
          <a:xfrm>
            <a:off x="82296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6" name="Rectangle 348"/>
          <p:cNvSpPr/>
          <p:nvPr/>
        </p:nvSpPr>
        <p:spPr>
          <a:xfrm>
            <a:off x="91440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7" name="Rectangle 349"/>
          <p:cNvSpPr/>
          <p:nvPr/>
        </p:nvSpPr>
        <p:spPr>
          <a:xfrm>
            <a:off x="100584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8" name="Rectangle 350"/>
          <p:cNvSpPr/>
          <p:nvPr/>
        </p:nvSpPr>
        <p:spPr>
          <a:xfrm>
            <a:off x="109728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9" name="Rectangle 351"/>
          <p:cNvSpPr/>
          <p:nvPr/>
        </p:nvSpPr>
        <p:spPr>
          <a:xfrm>
            <a:off x="118872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0" name="Rectangle 352"/>
          <p:cNvSpPr/>
          <p:nvPr/>
        </p:nvSpPr>
        <p:spPr>
          <a:xfrm>
            <a:off x="0" y="0"/>
            <a:ext cx="307440" cy="6845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1" name="Rounded Rectangle 155"/>
          <p:cNvSpPr/>
          <p:nvPr/>
        </p:nvSpPr>
        <p:spPr>
          <a:xfrm>
            <a:off x="9875520" y="365760"/>
            <a:ext cx="1999080" cy="490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2" name="TextBox 67"/>
          <p:cNvSpPr/>
          <p:nvPr/>
        </p:nvSpPr>
        <p:spPr>
          <a:xfrm>
            <a:off x="3484440" y="732600"/>
            <a:ext cx="39956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Relational Operators in Java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3" name="TextBox 68"/>
          <p:cNvSpPr/>
          <p:nvPr/>
        </p:nvSpPr>
        <p:spPr>
          <a:xfrm>
            <a:off x="1586160" y="1371600"/>
            <a:ext cx="84106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Relational operators are used to compare two values.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They evaluate the relationship between operands and always return a boolean result (true or false),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forming the backbone of decision-making (if-else blocks and loops) in programming.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Rounded Rectangle 156"/>
          <p:cNvSpPr/>
          <p:nvPr/>
        </p:nvSpPr>
        <p:spPr>
          <a:xfrm>
            <a:off x="987480" y="318204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5" name="Rounded Rectangle 157"/>
          <p:cNvSpPr/>
          <p:nvPr/>
        </p:nvSpPr>
        <p:spPr>
          <a:xfrm>
            <a:off x="688680" y="2820240"/>
            <a:ext cx="3193200" cy="3423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COMPARISON RULES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Primitive Value Rules: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Works natively on all numeric types (int, double, char).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== (is equal) and != (not equal).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&gt;, &lt;, &gt;=, &lt;= (boundary checks).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Evaluates purely based on the mathematical value.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Reference / Object Rules: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 Objects (like Strings), == only checks if they share the same memory address (identity).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To check if the actual text content of two objects is identical, you must bypass == and use .equals().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6" name="Rounded Rectangle 158"/>
          <p:cNvSpPr/>
          <p:nvPr/>
        </p:nvSpPr>
        <p:spPr>
          <a:xfrm>
            <a:off x="4507920" y="318204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7" name="Rounded Rectangle 159"/>
          <p:cNvSpPr/>
          <p:nvPr/>
        </p:nvSpPr>
        <p:spPr>
          <a:xfrm>
            <a:off x="4343400" y="2976120"/>
            <a:ext cx="2824200" cy="319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LOGIC EVALUATION TRACE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Context: int x = 10; int y = 20;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TRACE 1: x != 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Evaluation: 10 != 20 ➔ true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Verdict: Safe. They are indeed different.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TRACE 2: x &gt;= 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Evaluation: 10 &gt;= 20 ➔ false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Verdict: Safe. 10 is not greater than 20.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TRACE 3: str1 == str2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Evaluation: AddressA == AddressB ➔ false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Verdict: TRAP! Contents match, but pointers differ.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8" name="Rounded Rectangle 160"/>
          <p:cNvSpPr/>
          <p:nvPr/>
        </p:nvSpPr>
        <p:spPr>
          <a:xfrm>
            <a:off x="8028360" y="318204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9" name="Rounded Rectangle 161"/>
          <p:cNvSpPr/>
          <p:nvPr/>
        </p:nvSpPr>
        <p:spPr>
          <a:xfrm>
            <a:off x="7671960" y="2286000"/>
            <a:ext cx="3525480" cy="4110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RelationalOps {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20;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1. BASIC COMPARISONS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isEqual = (a == b);   // false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isNotEqual = (a != b);// true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isLess = (a &lt;= b);    // true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2. CONDITIONAL BLOCKS (IF-ELSE)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if (a &gt;= 10) {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 is 10 or more");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3. THE STRING TRAP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s1 = new String("Java");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s2 = new String("Java");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False! Different memory addresses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badCompare = (s1 == s2);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True! Correct way to compare text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goodCompare = s1.equals(s2);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System.out.println("Good Match: " + goodCompare);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0" name="TextBox 6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Rectangle 353"/>
          <p:cNvSpPr/>
          <p:nvPr/>
        </p:nvSpPr>
        <p:spPr>
          <a:xfrm>
            <a:off x="0" y="0"/>
            <a:ext cx="12176280" cy="6845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2" name="Rectangle 354"/>
          <p:cNvSpPr/>
          <p:nvPr/>
        </p:nvSpPr>
        <p:spPr>
          <a:xfrm>
            <a:off x="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3" name="Rectangle 355"/>
          <p:cNvSpPr/>
          <p:nvPr/>
        </p:nvSpPr>
        <p:spPr>
          <a:xfrm>
            <a:off x="9144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4" name="Rectangle 356"/>
          <p:cNvSpPr/>
          <p:nvPr/>
        </p:nvSpPr>
        <p:spPr>
          <a:xfrm>
            <a:off x="18288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5" name="Rectangle 357"/>
          <p:cNvSpPr/>
          <p:nvPr/>
        </p:nvSpPr>
        <p:spPr>
          <a:xfrm>
            <a:off x="27432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6" name="Rectangle 358"/>
          <p:cNvSpPr/>
          <p:nvPr/>
        </p:nvSpPr>
        <p:spPr>
          <a:xfrm>
            <a:off x="36576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7" name="Rectangle 359"/>
          <p:cNvSpPr/>
          <p:nvPr/>
        </p:nvSpPr>
        <p:spPr>
          <a:xfrm>
            <a:off x="45720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8" name="Rectangle 360"/>
          <p:cNvSpPr/>
          <p:nvPr/>
        </p:nvSpPr>
        <p:spPr>
          <a:xfrm>
            <a:off x="54864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9" name="Rectangle 361"/>
          <p:cNvSpPr/>
          <p:nvPr/>
        </p:nvSpPr>
        <p:spPr>
          <a:xfrm>
            <a:off x="64008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0" name="Rectangle 362"/>
          <p:cNvSpPr/>
          <p:nvPr/>
        </p:nvSpPr>
        <p:spPr>
          <a:xfrm>
            <a:off x="73152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1" name="Rectangle 363"/>
          <p:cNvSpPr/>
          <p:nvPr/>
        </p:nvSpPr>
        <p:spPr>
          <a:xfrm>
            <a:off x="82296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2" name="Rectangle 364"/>
          <p:cNvSpPr/>
          <p:nvPr/>
        </p:nvSpPr>
        <p:spPr>
          <a:xfrm>
            <a:off x="91440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3" name="Rectangle 365"/>
          <p:cNvSpPr/>
          <p:nvPr/>
        </p:nvSpPr>
        <p:spPr>
          <a:xfrm>
            <a:off x="100584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4" name="Rectangle 366"/>
          <p:cNvSpPr/>
          <p:nvPr/>
        </p:nvSpPr>
        <p:spPr>
          <a:xfrm>
            <a:off x="109728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5" name="Rectangle 367"/>
          <p:cNvSpPr/>
          <p:nvPr/>
        </p:nvSpPr>
        <p:spPr>
          <a:xfrm>
            <a:off x="118872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6" name="Rectangle 368"/>
          <p:cNvSpPr/>
          <p:nvPr/>
        </p:nvSpPr>
        <p:spPr>
          <a:xfrm>
            <a:off x="0" y="0"/>
            <a:ext cx="307440" cy="6845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7" name="Rounded Rectangle 162"/>
          <p:cNvSpPr/>
          <p:nvPr/>
        </p:nvSpPr>
        <p:spPr>
          <a:xfrm>
            <a:off x="9875520" y="365760"/>
            <a:ext cx="1999080" cy="490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8" name="TextBox 70"/>
          <p:cNvSpPr/>
          <p:nvPr/>
        </p:nvSpPr>
        <p:spPr>
          <a:xfrm>
            <a:off x="2286000" y="656640"/>
            <a:ext cx="64112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Relational Operators (Part 2: Advanced Traps)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9" name="TextBox 71"/>
          <p:cNvSpPr/>
          <p:nvPr/>
        </p:nvSpPr>
        <p:spPr>
          <a:xfrm>
            <a:off x="1828800" y="1222920"/>
            <a:ext cx="8159400" cy="10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relational operators are not limited to numbers; they can also compare characters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using their underlying ASCII values.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However, using these operators on object-based numbers (Integer) or writing chained conditions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mathematically can lead to critical compile-time or logic errors.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" name="Rounded Rectangle 163"/>
          <p:cNvSpPr/>
          <p:nvPr/>
        </p:nvSpPr>
        <p:spPr>
          <a:xfrm>
            <a:off x="987480" y="318204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1" name="Rounded Rectangle 164"/>
          <p:cNvSpPr/>
          <p:nvPr/>
        </p:nvSpPr>
        <p:spPr>
          <a:xfrm>
            <a:off x="688680" y="2514600"/>
            <a:ext cx="3422520" cy="3882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CRITICAL TRAPS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 Comparison: Comparing characters (like 'a', 'b') actually compares their underlying ASCII decimal values. (Ex: 'a' &lt; 'b' evaluates to 97 &lt; 98, returning true).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Chaining Error: In Java, you cannot write 10 &lt; x &lt; 20 mathematically (causes a compile error). You must combine individual boundaries using logical operators: 10 &lt; x &amp;&amp; x &lt; 20.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Integer Caching Trap: When comparing Integer objects with ==, it only works for values between -128 and 127 due to caching. Outside this range, == compares memory references and fails. Always use .equals().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2" name="Rounded Rectangle 165"/>
          <p:cNvSpPr/>
          <p:nvPr/>
        </p:nvSpPr>
        <p:spPr>
          <a:xfrm>
            <a:off x="4507920" y="318204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3" name="Rounded Rectangle 166"/>
          <p:cNvSpPr/>
          <p:nvPr/>
        </p:nvSpPr>
        <p:spPr>
          <a:xfrm>
            <a:off x="4441680" y="2967120"/>
            <a:ext cx="2824200" cy="319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DECISION MATRIX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Safe Comparison Methods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Type: int, double (Primitives)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Method: == or != (Always 100% safe)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Type: char (Characters)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Method: &lt; or &gt; (Compares ASCII values)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Type: String or Integer (Objects)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Method: Always use .equals()! (Avoids memory traps)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4" name="Rounded Rectangle 167"/>
          <p:cNvSpPr/>
          <p:nvPr/>
        </p:nvSpPr>
        <p:spPr>
          <a:xfrm>
            <a:off x="8028360" y="318204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5" name="Rounded Rectangle 168"/>
          <p:cNvSpPr/>
          <p:nvPr/>
        </p:nvSpPr>
        <p:spPr>
          <a:xfrm>
            <a:off x="7671960" y="2286000"/>
            <a:ext cx="3525480" cy="4110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AdvancedRelational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1. CHAR COMPARISON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char c1 = 'a'; // ASCII: 97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char c2 = 'b'; // ASCII: 98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charComp = (c1 &lt; c2);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2. CHAINING TRAP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15;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boolean error = 10 &lt; x &lt; 20; // COMPILE ERROR!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correct = (10 &lt; x) &amp;&amp; (x &lt; 20);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3. INTEGER CACHING TRAP (-128 to 127)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n1 = 127;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n2 = 127;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equalCached = (n1 == n2);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n3 = 128;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n4 = 128;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equalTrap = (n3 == n4); // false! (Trap)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properEqual = n3.equals(n4);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System.out.println("128 == 128: " + equalTrap);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System.out.println("Proper Match: " + properEqual);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6" name="TextBox 7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Rectangle 369"/>
          <p:cNvSpPr/>
          <p:nvPr/>
        </p:nvSpPr>
        <p:spPr>
          <a:xfrm>
            <a:off x="0" y="0"/>
            <a:ext cx="12176280" cy="6845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8" name="Rectangle 370"/>
          <p:cNvSpPr/>
          <p:nvPr/>
        </p:nvSpPr>
        <p:spPr>
          <a:xfrm>
            <a:off x="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9" name="Rectangle 371"/>
          <p:cNvSpPr/>
          <p:nvPr/>
        </p:nvSpPr>
        <p:spPr>
          <a:xfrm>
            <a:off x="9144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0" name="Rectangle 372"/>
          <p:cNvSpPr/>
          <p:nvPr/>
        </p:nvSpPr>
        <p:spPr>
          <a:xfrm>
            <a:off x="18288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1" name="Rectangle 373"/>
          <p:cNvSpPr/>
          <p:nvPr/>
        </p:nvSpPr>
        <p:spPr>
          <a:xfrm>
            <a:off x="27432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2" name="Rectangle 374"/>
          <p:cNvSpPr/>
          <p:nvPr/>
        </p:nvSpPr>
        <p:spPr>
          <a:xfrm>
            <a:off x="36576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3" name="Rectangle 375"/>
          <p:cNvSpPr/>
          <p:nvPr/>
        </p:nvSpPr>
        <p:spPr>
          <a:xfrm>
            <a:off x="45720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4" name="Rectangle 376"/>
          <p:cNvSpPr/>
          <p:nvPr/>
        </p:nvSpPr>
        <p:spPr>
          <a:xfrm>
            <a:off x="54864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5" name="Rectangle 377"/>
          <p:cNvSpPr/>
          <p:nvPr/>
        </p:nvSpPr>
        <p:spPr>
          <a:xfrm>
            <a:off x="64008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6" name="Rectangle 378"/>
          <p:cNvSpPr/>
          <p:nvPr/>
        </p:nvSpPr>
        <p:spPr>
          <a:xfrm>
            <a:off x="73152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7" name="Rectangle 379"/>
          <p:cNvSpPr/>
          <p:nvPr/>
        </p:nvSpPr>
        <p:spPr>
          <a:xfrm>
            <a:off x="82296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8" name="Rectangle 380"/>
          <p:cNvSpPr/>
          <p:nvPr/>
        </p:nvSpPr>
        <p:spPr>
          <a:xfrm>
            <a:off x="91440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9" name="Rectangle 381"/>
          <p:cNvSpPr/>
          <p:nvPr/>
        </p:nvSpPr>
        <p:spPr>
          <a:xfrm>
            <a:off x="100584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0" name="Rectangle 382"/>
          <p:cNvSpPr/>
          <p:nvPr/>
        </p:nvSpPr>
        <p:spPr>
          <a:xfrm>
            <a:off x="109728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1" name="Rectangle 383"/>
          <p:cNvSpPr/>
          <p:nvPr/>
        </p:nvSpPr>
        <p:spPr>
          <a:xfrm>
            <a:off x="118872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2" name="Rectangle 384"/>
          <p:cNvSpPr/>
          <p:nvPr/>
        </p:nvSpPr>
        <p:spPr>
          <a:xfrm>
            <a:off x="0" y="0"/>
            <a:ext cx="307440" cy="6845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3" name="Rounded Rectangle 169"/>
          <p:cNvSpPr/>
          <p:nvPr/>
        </p:nvSpPr>
        <p:spPr>
          <a:xfrm>
            <a:off x="9875520" y="365760"/>
            <a:ext cx="1999080" cy="490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4" name="TextBox 73"/>
          <p:cNvSpPr/>
          <p:nvPr/>
        </p:nvSpPr>
        <p:spPr>
          <a:xfrm>
            <a:off x="1711440" y="656640"/>
            <a:ext cx="75603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Relational Operators (Part 3: Type Checks &amp; Precision)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5" name="TextBox 74"/>
          <p:cNvSpPr/>
          <p:nvPr/>
        </p:nvSpPr>
        <p:spPr>
          <a:xfrm>
            <a:off x="991800" y="1222920"/>
            <a:ext cx="98326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Relational operators in Java extend beyond simple math.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instanceof operator allows us to compare an object's type against a class,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while comparing floating-point numbers (double/float) requires strict delta checks due to binary precision limitations.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6" name="Rounded Rectangle 170"/>
          <p:cNvSpPr/>
          <p:nvPr/>
        </p:nvSpPr>
        <p:spPr>
          <a:xfrm>
            <a:off x="987480" y="318204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7" name="Rounded Rectangle 171"/>
          <p:cNvSpPr/>
          <p:nvPr/>
        </p:nvSpPr>
        <p:spPr>
          <a:xfrm>
            <a:off x="688680" y="2514600"/>
            <a:ext cx="3422520" cy="3882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Type Comparison (instanceof):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Compares an object reference to a class type. Returns true if the object is an instance of that class, subclass, or interface.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Floating-Point Precision Trap: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Computers store decimals in binary (IEEE 754). This causes rounding issues. For example, 0.1 + 0.2 does not exactly equal 0.3 (it equals 0.30000000000000004).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Delta Check Solution: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Never compare floats/doubles with ==. Instead, check if the absolute difference between them is smaller than a tiny threshold (epsilon, e.g., 0.00001).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8" name="Rounded Rectangle 172"/>
          <p:cNvSpPr/>
          <p:nvPr/>
        </p:nvSpPr>
        <p:spPr>
          <a:xfrm>
            <a:off x="4507920" y="318204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9" name="Rounded Rectangle 173"/>
          <p:cNvSpPr/>
          <p:nvPr/>
        </p:nvSpPr>
        <p:spPr>
          <a:xfrm>
            <a:off x="4581000" y="2967120"/>
            <a:ext cx="2824200" cy="274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Precision vs Type Checks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ask 1: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Check if a generic object is a String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Solution: obj instanceof String (Safely returns boolean)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Task 2: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Compare double values a and b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Wrong: a == b (Vulnerable to binary rounding errors)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Right: Math.abs(a - b) &lt; 0.00001 (Delta threshold check)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0" name="Rounded Rectangle 174"/>
          <p:cNvSpPr/>
          <p:nvPr/>
        </p:nvSpPr>
        <p:spPr>
          <a:xfrm>
            <a:off x="8028360" y="318204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1" name="Rounded Rectangle 175"/>
          <p:cNvSpPr/>
          <p:nvPr/>
        </p:nvSpPr>
        <p:spPr>
          <a:xfrm>
            <a:off x="7900560" y="2286000"/>
            <a:ext cx="2840400" cy="3882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PrecisionInstanceof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1. TYPE COMPARISON (instanceof)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Object text = "Hello World";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isString = text instanceof String;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isNumber = text instanceof Number; // false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2. FLOATING-POINT PRECISION TRAP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d1 = 0.1 + 0.2;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d2 = 0.3;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badCompare = (d1 == d2); // false! (Trap)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3. THE DELTA CHECK SOLUTION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double epsilon = 0.00001; // tolerance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goodCompare = Math.abs(d1 - d2) &lt; epsilon;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System.out.println("0.1 + 0.2 == 0.3: " + badCompare);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System.out.println("Proper Match: " + goodCompare);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2" name="TextBox 7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Rectangle 385"/>
          <p:cNvSpPr/>
          <p:nvPr/>
        </p:nvSpPr>
        <p:spPr>
          <a:xfrm>
            <a:off x="0" y="0"/>
            <a:ext cx="12176280" cy="6845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4" name="Rectangle 386"/>
          <p:cNvSpPr/>
          <p:nvPr/>
        </p:nvSpPr>
        <p:spPr>
          <a:xfrm>
            <a:off x="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5" name="Rectangle 387"/>
          <p:cNvSpPr/>
          <p:nvPr/>
        </p:nvSpPr>
        <p:spPr>
          <a:xfrm>
            <a:off x="9144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6" name="Rectangle 388"/>
          <p:cNvSpPr/>
          <p:nvPr/>
        </p:nvSpPr>
        <p:spPr>
          <a:xfrm>
            <a:off x="18288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7" name="Rectangle 389"/>
          <p:cNvSpPr/>
          <p:nvPr/>
        </p:nvSpPr>
        <p:spPr>
          <a:xfrm>
            <a:off x="27432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8" name="Rectangle 390"/>
          <p:cNvSpPr/>
          <p:nvPr/>
        </p:nvSpPr>
        <p:spPr>
          <a:xfrm>
            <a:off x="36576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9" name="Rectangle 391"/>
          <p:cNvSpPr/>
          <p:nvPr/>
        </p:nvSpPr>
        <p:spPr>
          <a:xfrm>
            <a:off x="45720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0" name="Rectangle 392"/>
          <p:cNvSpPr/>
          <p:nvPr/>
        </p:nvSpPr>
        <p:spPr>
          <a:xfrm>
            <a:off x="54864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1" name="Rectangle 393"/>
          <p:cNvSpPr/>
          <p:nvPr/>
        </p:nvSpPr>
        <p:spPr>
          <a:xfrm>
            <a:off x="64008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2" name="Rectangle 394"/>
          <p:cNvSpPr/>
          <p:nvPr/>
        </p:nvSpPr>
        <p:spPr>
          <a:xfrm>
            <a:off x="73152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3" name="Rectangle 395"/>
          <p:cNvSpPr/>
          <p:nvPr/>
        </p:nvSpPr>
        <p:spPr>
          <a:xfrm>
            <a:off x="82296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4" name="Rectangle 396"/>
          <p:cNvSpPr/>
          <p:nvPr/>
        </p:nvSpPr>
        <p:spPr>
          <a:xfrm>
            <a:off x="91440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5" name="Rectangle 397"/>
          <p:cNvSpPr/>
          <p:nvPr/>
        </p:nvSpPr>
        <p:spPr>
          <a:xfrm>
            <a:off x="100584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6" name="Rectangle 398"/>
          <p:cNvSpPr/>
          <p:nvPr/>
        </p:nvSpPr>
        <p:spPr>
          <a:xfrm>
            <a:off x="109728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7" name="Rectangle 399"/>
          <p:cNvSpPr/>
          <p:nvPr/>
        </p:nvSpPr>
        <p:spPr>
          <a:xfrm>
            <a:off x="118872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8" name="Rectangle 400"/>
          <p:cNvSpPr/>
          <p:nvPr/>
        </p:nvSpPr>
        <p:spPr>
          <a:xfrm>
            <a:off x="0" y="0"/>
            <a:ext cx="307440" cy="6845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9" name="Rounded Rectangle 176"/>
          <p:cNvSpPr/>
          <p:nvPr/>
        </p:nvSpPr>
        <p:spPr>
          <a:xfrm>
            <a:off x="9875520" y="365760"/>
            <a:ext cx="1999080" cy="490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0" name="TextBox 76"/>
          <p:cNvSpPr/>
          <p:nvPr/>
        </p:nvSpPr>
        <p:spPr>
          <a:xfrm>
            <a:off x="2580840" y="656640"/>
            <a:ext cx="582012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Real-World Example: User Access Control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1" name="TextBox 77"/>
          <p:cNvSpPr/>
          <p:nvPr/>
        </p:nvSpPr>
        <p:spPr>
          <a:xfrm>
            <a:off x="2959560" y="1222920"/>
            <a:ext cx="58960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real-world applications, relational operators form the foundation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of business rules writtento validate user registration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processes, security boundaries, and role-based access control (RBAC).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2" name="Rounded Rectangle 177"/>
          <p:cNvSpPr/>
          <p:nvPr/>
        </p:nvSpPr>
        <p:spPr>
          <a:xfrm>
            <a:off x="987480" y="318204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3" name="Rounded Rectangle 178"/>
          <p:cNvSpPr/>
          <p:nvPr/>
        </p:nvSpPr>
        <p:spPr>
          <a:xfrm>
            <a:off x="685800" y="2743200"/>
            <a:ext cx="3423240" cy="319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Age Verification (&gt;=):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Validates whether a user meets the legal age limit (e.g., 18) required to register or access restricted areas.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Password Matching (.equals()):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Securely matches the entered password character-by-character, rather than comparing its volatile memory address.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Role Validation (instanceof):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Dynamically verifies at runtime whether the logged-in user object belongs to the "Admin" class or role.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4" name="Rounded Rectangle 179"/>
          <p:cNvSpPr/>
          <p:nvPr/>
        </p:nvSpPr>
        <p:spPr>
          <a:xfrm>
            <a:off x="4507920" y="318204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5" name="Rounded Rectangle 180"/>
          <p:cNvSpPr/>
          <p:nvPr/>
        </p:nvSpPr>
        <p:spPr>
          <a:xfrm>
            <a:off x="4580640" y="2743200"/>
            <a:ext cx="2740320" cy="319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[ User Login Workflow ]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Inputs: age = 20, password = "Pass123", User Object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&gt; 1. Age Check: age &gt;= 18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Result: true (Age Limit Passed)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&gt; 2. Password Check: entered.equals(stored)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Result: true (Password Matches)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&gt; 3. Role Check: user instanceof Admin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Yes (true) ➔ Redirect to Admin Panel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No (false) ➔ Load Standard UI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6" name="Rounded Rectangle 181"/>
          <p:cNvSpPr/>
          <p:nvPr/>
        </p:nvSpPr>
        <p:spPr>
          <a:xfrm>
            <a:off x="8028360" y="318204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7" name="Rounded Rectangle 182"/>
          <p:cNvSpPr/>
          <p:nvPr/>
        </p:nvSpPr>
        <p:spPr>
          <a:xfrm>
            <a:off x="7790040" y="2514600"/>
            <a:ext cx="3637080" cy="3654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AccessControl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1. USER DATA INPUTS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20;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String enteredPass = new String("Pass123");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storedPass = new String("Pass123");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Object activeUser = "AdminObject"; // Mock object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2. VALIDATION (Relational &amp; Content check)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agePassed = (age &gt;= 18);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passPassed = enteredPass.equals(storedPass);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3. ROLE CHECK (Type Check)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Is activeUser a String (representing Admin)?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isAdmin = activeUser instanceof String;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if (agePassed &amp;&amp; passPassed)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System.out.println("Login Successful!");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if (isAdmin)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System.out.println("Admin panel unlocked.");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8" name="TextBox 7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Rectangle 401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0" name="Rectangle 402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1" name="Rectangle 403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2" name="Rectangle 404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3" name="Rectangle 405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4" name="Rectangle 406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5" name="Rectangle 407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6" name="Rectangle 408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7" name="Rectangle 409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8" name="Rectangle 410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9" name="Rectangle 411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0" name="Rectangle 412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1" name="Rectangle 413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2" name="Rectangle 414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3" name="Rectangle 415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4" name="Rectangle 416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5" name="Rounded Rectangle 183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6" name="TextBox 79"/>
          <p:cNvSpPr/>
          <p:nvPr/>
        </p:nvSpPr>
        <p:spPr>
          <a:xfrm>
            <a:off x="1536840" y="457200"/>
            <a:ext cx="790920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Relational Operators: Final Summary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7" name="TextBox 80"/>
          <p:cNvSpPr/>
          <p:nvPr/>
        </p:nvSpPr>
        <p:spPr>
          <a:xfrm>
            <a:off x="1600200" y="1438920"/>
            <a:ext cx="8012880" cy="124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Relational operators manage decision-making and flow control in programming.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While they compare raw values for primitive types,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we must watch out for Java's internal memory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logic when comparing objects, Strings, and floating-point numbers.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8" name="Rounded Rectangle 184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9" name="Rounded Rectangle 185"/>
          <p:cNvSpPr/>
          <p:nvPr/>
        </p:nvSpPr>
        <p:spPr>
          <a:xfrm>
            <a:off x="685800" y="2853360"/>
            <a:ext cx="3516480" cy="3654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Value vs. Address:</a:t>
            </a:r>
            <a:r>
              <a:rPr b="0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 While == compares raw values for primitives, it compares memory addresses for objects (Strings, Integers). Always use .equals() for structural content checks.</a:t>
            </a:r>
            <a:endParaRPr b="0" lang="en-US" sz="123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Precision Boundary: </a:t>
            </a:r>
            <a:r>
              <a:rPr b="0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Floating-point numbers (double/float) should never be compared with ==. Instead, check if the absolute difference between them is smaller than a tiny tolerance value (epsilon).</a:t>
            </a:r>
            <a:endParaRPr b="0" lang="en-US" sz="123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Type Validation:</a:t>
            </a:r>
            <a:r>
              <a:rPr b="0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 The instanceof operator is used at runtime to safely check whether an object belongs to a specific class, subclass, or interface.</a:t>
            </a:r>
            <a:endParaRPr b="0" lang="en-US" sz="123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Integer Caching:</a:t>
            </a:r>
            <a:r>
              <a:rPr b="0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 Comparing Integer objects with == is only reliable between -128 and 127. Outside this boundary, it falls back to reference checking and fails.</a:t>
            </a:r>
            <a:endParaRPr b="0" lang="en-US" sz="123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0" name="Rounded Rectangle 186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1" name="Rounded Rectangle 187"/>
          <p:cNvSpPr/>
          <p:nvPr/>
        </p:nvSpPr>
        <p:spPr>
          <a:xfrm>
            <a:off x="4572000" y="3108960"/>
            <a:ext cx="3426120" cy="3060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Quick Comparison Map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Compare two primitive numbers?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 == b or a &lt; b (Fast and 100% safe)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Compare two String objects (text)?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Always use s1.equals(s2)!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Compare double/float decimals?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Math.abs(a - b) &lt; 0.00001 (Delta threshold)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Validate an object's class type?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obj instanceof ClassName (Safe runtime check)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2" name="Rounded Rectangle 188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3" name="Rounded Rectangle 189"/>
          <p:cNvSpPr/>
          <p:nvPr/>
        </p:nvSpPr>
        <p:spPr>
          <a:xfrm>
            <a:off x="8246880" y="2286000"/>
            <a:ext cx="3654720" cy="4111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RelationalSummary {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1. BASIC COMPARISON (Primitive)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10;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isLess = (x &lt; 20); // true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2. STRING &amp; OBJECT COMPARISON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s1 = new String("Java");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s1.equals("Java") -&gt; CORRECT METHOD!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s1 == "Java"      -&gt; WRONG / RISKY!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3. TYPE CHECKING (instanceof)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Object obj = "Test";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isStr = obj instanceof String; // true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4. FLOATING-POINT PRECISION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d1 = 0.1 + 0.2;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d2 = 0.3;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properComp = Math.abs(d1 - d2) &lt; 1e-5; // true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System.out.println("Matches: " + properComp);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4" name="TextBox 8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Rectangle 417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6" name="Rectangle 418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7" name="Rectangle 419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8" name="Rectangle 420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9" name="Rectangle 421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0" name="Rectangle 422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1" name="Rectangle 423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2" name="Rectangle 424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3" name="Rectangle 425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4" name="Rectangle 426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5" name="Rectangle 427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6" name="Rectangle 428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7" name="Rectangle 429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8" name="Rectangle 430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9" name="Rectangle 431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0" name="Rectangle 432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1" name="Rounded Rectangle 190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2" name="TextBox 82"/>
          <p:cNvSpPr/>
          <p:nvPr/>
        </p:nvSpPr>
        <p:spPr>
          <a:xfrm>
            <a:off x="2265120" y="457200"/>
            <a:ext cx="645084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Comparison Operators in Java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3" name="TextBox 83"/>
          <p:cNvSpPr/>
          <p:nvPr/>
        </p:nvSpPr>
        <p:spPr>
          <a:xfrm>
            <a:off x="1600200" y="1328040"/>
            <a:ext cx="812736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Comparison operators are used to evaluate the relationship between two values.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They test for equality, inequality, or size differences, always returning a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logical boolean decision (true or false) to guide program execution.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4" name="Rounded Rectangle 191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5" name="Rounded Rectangle 192"/>
          <p:cNvSpPr/>
          <p:nvPr/>
        </p:nvSpPr>
        <p:spPr>
          <a:xfrm>
            <a:off x="685800" y="3061800"/>
            <a:ext cx="3198240" cy="2859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Equality &amp; Inequality:</a:t>
            </a:r>
            <a:r>
              <a:rPr b="0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 == (equal to) and != (not equal to) directly compare raw values.</a:t>
            </a:r>
            <a:endParaRPr b="0" lang="en-US" sz="123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Boundary Checks:</a:t>
            </a:r>
            <a:r>
              <a:rPr b="0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 &gt;, &lt;, &gt;=, &lt;= test for size relationships (greater than, less than, or equal bounds).</a:t>
            </a:r>
            <a:endParaRPr b="0" lang="en-US" sz="123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Return Type:</a:t>
            </a:r>
            <a:r>
              <a:rPr b="0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 The output of any comparison operation is always a primitive boolean value.</a:t>
            </a:r>
            <a:endParaRPr b="0" lang="en-US" sz="123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String Warning:</a:t>
            </a:r>
            <a:r>
              <a:rPr b="0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 For object and text comparison, always use .equals() instead of == to verify the actual content rather than memory addresses.</a:t>
            </a:r>
            <a:endParaRPr b="0" lang="en-US" sz="123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6" name="Rounded Rectangle 193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7" name="Rounded Rectangle 194"/>
          <p:cNvSpPr/>
          <p:nvPr/>
        </p:nvSpPr>
        <p:spPr>
          <a:xfrm>
            <a:off x="4344120" y="2971800"/>
            <a:ext cx="3426120" cy="3060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Comparison &amp; Logical Decision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Inputs: x = 25, y = 20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Equality Check: x == 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Result: false (Numbers are not equal)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Boundary Check: x &gt; 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Result: true (25 is greater than 20)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Decision Making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The resulting true/false directs conditional blocks (if-else).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8" name="Rounded Rectangle 195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9" name="Rounded Rectangle 196"/>
          <p:cNvSpPr/>
          <p:nvPr/>
        </p:nvSpPr>
        <p:spPr>
          <a:xfrm>
            <a:off x="8246880" y="2286000"/>
            <a:ext cx="3654720" cy="4111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ComparisonIntro {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25;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20;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1. Equality &amp; Inequality Checks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isEqual = (x == y);   // false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isDifferent = (x != y); // true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2. Boundary (Size) Checks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isGreater = (x &gt; y);   // true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isLessOrEqual = (x &lt;= y); // false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3. Use in Conditional Blocks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if (isGreater) {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System.out.println("X is greater than Y.");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System.out.println("Is equal: " + isEqual);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System.out.println("Is different: " + isDifferent);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0" name="TextBox 8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1" name="Rectangle 433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2" name="Rectangle 434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3" name="Rectangle 435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4" name="Rectangle 436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5" name="Rectangle 437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6" name="Rectangle 438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7" name="Rectangle 439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8" name="Rectangle 440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9" name="Rectangle 441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0" name="Rectangle 442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1" name="Rectangle 443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2" name="Rectangle 444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3" name="Rectangle 445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4" name="Rectangle 446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5" name="Rectangle 447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6" name="Rectangle 448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7" name="Rounded Rectangle 197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8" name="TextBox 85"/>
          <p:cNvSpPr/>
          <p:nvPr/>
        </p:nvSpPr>
        <p:spPr>
          <a:xfrm>
            <a:off x="1569240" y="457200"/>
            <a:ext cx="78422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Comparing Objects in Java (Comparable)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9" name="TextBox 86"/>
          <p:cNvSpPr/>
          <p:nvPr/>
        </p:nvSpPr>
        <p:spPr>
          <a:xfrm>
            <a:off x="691200" y="1143000"/>
            <a:ext cx="1008864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While primitive numbers can be easily compared using &lt; or &gt;,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comparing custom objects (such as Students or Products) for size or order requires implementing the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Comparable interface and using the compareTo() method.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0" name="Rounded Rectangle 198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1" name="Rounded Rectangle 199"/>
          <p:cNvSpPr/>
          <p:nvPr/>
        </p:nvSpPr>
        <p:spPr>
          <a:xfrm>
            <a:off x="457200" y="2971800"/>
            <a:ext cx="3426840" cy="2859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Why We Need It: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Writing student1 &gt; student2 causes a compile-time error in Java. We must explicitly define which attribute (e.g., age, price) determines the comparison order.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How compareTo() Works: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A.compareTo(B) &gt; 0 ➔ A is greater than B (Returns a positive value).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A.compareTo(B) &lt; 0 ➔ A is less than B (Returns a negative value).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A.compareTo(B) == 0 ➔ Both objects are equal under the comparison criteria (Returns zero).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2" name="Rounded Rectangle 200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3" name="Rounded Rectangle 201"/>
          <p:cNvSpPr/>
          <p:nvPr/>
        </p:nvSpPr>
        <p:spPr>
          <a:xfrm>
            <a:off x="4343400" y="2971800"/>
            <a:ext cx="3426480" cy="3060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Object Comparison Logic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Operation: A.compareTo(B)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Positive Return (&gt; 0)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Result: A &gt; B (Object A is greater than B)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Negative Return (&lt; 0)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Result: A &lt; B (Object A is less than B)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Zero Return (== 0)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Result: A == B (Both objects are equal)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4" name="Rounded Rectangle 202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5" name="Rounded Rectangle 203"/>
          <p:cNvSpPr/>
          <p:nvPr/>
        </p:nvSpPr>
        <p:spPr>
          <a:xfrm>
            <a:off x="8263800" y="2514600"/>
            <a:ext cx="3621600" cy="3655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ObjectComparison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Comparing Number Objects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num1 = 15;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num2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Returns positive (1) because num1 &gt; num2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numResult = num1.compareTo(num2);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Comparing String Objects (Alphabetically)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text1 = "Alice";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text2 = "Bob";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Returns negative because "Alice" comes first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textResult = text1.compareTo(text2);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System.out.println("Number Comp: " + numResult); // 1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System.out.println("Text Comp: " + textResult); // Negative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6" name="TextBox 8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Rectangle 449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8" name="Rectangle 450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9" name="Rectangle 451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0" name="Rectangle 452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1" name="Rectangle 453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2" name="Rectangle 454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3" name="Rectangle 455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4" name="Rectangle 456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5" name="Rectangle 457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6" name="Rectangle 458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7" name="Rectangle 459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8" name="Rectangle 460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9" name="Rectangle 461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0" name="Rectangle 462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1" name="Rectangle 463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2" name="Rectangle 464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3" name="Rounded Rectangle 204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4" name="TextBox 88"/>
          <p:cNvSpPr/>
          <p:nvPr/>
        </p:nvSpPr>
        <p:spPr>
          <a:xfrm>
            <a:off x="1083960" y="457200"/>
            <a:ext cx="81248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Comparing Objects: The Engine of Flexibility (Comparator)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5" name="TextBox 89"/>
          <p:cNvSpPr/>
          <p:nvPr/>
        </p:nvSpPr>
        <p:spPr>
          <a:xfrm>
            <a:off x="770760" y="1143000"/>
            <a:ext cx="99295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While Comparable defines a class's "natural" ordering,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Comparator allows us to create multiple, flexible sorting rules (e.g., by age, price, name) through external intervention.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It is the most powerful tool for changing sorting logic without touching the original class code.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6" name="Rounded Rectangle 205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7" name="Rounded Rectangle 206"/>
          <p:cNvSpPr/>
          <p:nvPr/>
        </p:nvSpPr>
        <p:spPr>
          <a:xfrm>
            <a:off x="458640" y="2514600"/>
            <a:ext cx="3426480" cy="3427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Comparable vs. Comparator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Comparable (Internal):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Embedded within the class. Provides a single "natural" order (e.g., sorted by Student ID).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Comparator (External):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Acts as an externally assigned "referee". Allows you to define different rules for the same object (e.g., by age, by name).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8" name="Rounded Rectangle 207"/>
          <p:cNvSpPr/>
          <p:nvPr/>
        </p:nvSpPr>
        <p:spPr>
          <a:xfrm>
            <a:off x="448164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9" name="Rounded Rectangle 208"/>
          <p:cNvSpPr/>
          <p:nvPr/>
        </p:nvSpPr>
        <p:spPr>
          <a:xfrm>
            <a:off x="4343400" y="2514600"/>
            <a:ext cx="3426120" cy="319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[ The Engine of Flexibility ]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Goal: Sort the list differently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 price? ➔ PriceComp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 name? ➔ NameComp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Workflow: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1. Write the Comparator rule.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2. Pass the rule into sort().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3. Java sorts according to your rule.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0" name="Rounded Rectangle 209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1" name="Rounded Rectangle 210"/>
          <p:cNvSpPr/>
          <p:nvPr/>
        </p:nvSpPr>
        <p:spPr>
          <a:xfrm>
            <a:off x="8263800" y="2057400"/>
            <a:ext cx="3393720" cy="4113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java.util.*;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FlexibleSorting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List&lt;String&gt; list =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Arrays.asList("Zebra", "Apple");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1. NATURAL (Comparable)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Collections.sort(list);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2. FLEXIBLE (Comparator)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Comparator&lt;String&gt; lenComp =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(s1, s2) -&gt;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Integer.compare(s1.length(),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s2.length());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Collections.sort(list, lenComp);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2" name="TextBox 9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3" name="Rectangle 465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4" name="Rectangle 466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5" name="Rectangle 467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6" name="Rectangle 468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7" name="Rectangle 469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8" name="Rectangle 470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9" name="Rectangle 471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0" name="Rectangle 472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1" name="Rectangle 473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2" name="Rectangle 474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3" name="Rectangle 475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4" name="Rectangle 476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5" name="Rectangle 477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6" name="Rectangle 478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7" name="Rectangle 479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8" name="Rectangle 480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9" name="Rounded Rectangle 211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0" name="TextBox 91"/>
          <p:cNvSpPr/>
          <p:nvPr/>
        </p:nvSpPr>
        <p:spPr>
          <a:xfrm>
            <a:off x="2413440" y="457200"/>
            <a:ext cx="54658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Comparison Strategies: Final Summary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1" name="TextBox 92"/>
          <p:cNvSpPr/>
          <p:nvPr/>
        </p:nvSpPr>
        <p:spPr>
          <a:xfrm>
            <a:off x="1095120" y="1143000"/>
            <a:ext cx="92804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Mastering object comparison in Java means knowing the right tool for the job.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Whether it's simple primitive checks, natural sorting, or dynamic custom sorting, choosing the correct strategy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determines the robustness and flexibility of your code.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2" name="Rounded Rectangle 212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3" name="Rounded Rectangle 213"/>
          <p:cNvSpPr/>
          <p:nvPr/>
        </p:nvSpPr>
        <p:spPr>
          <a:xfrm>
            <a:off x="458640" y="2514600"/>
            <a:ext cx="3427200" cy="3200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COMPARISON CHEAT SHEET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Primitives: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Use &lt;, &gt;, == directly. It's fast, built-in, and safe.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Strings: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Never use ==. Always use .equals() for content, and compareTo() for sorting.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Comparable: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Use for a "Natural Order" that is permanently fixed (e.g., ID-based sorting).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Comparator: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Use for "Custom Orders" (e.g., sort by price today, sort by name tomorrow).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4" name="Rounded Rectangle 214"/>
          <p:cNvSpPr/>
          <p:nvPr/>
        </p:nvSpPr>
        <p:spPr>
          <a:xfrm>
            <a:off x="448164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5" name="Rounded Rectangle 215"/>
          <p:cNvSpPr/>
          <p:nvPr/>
        </p:nvSpPr>
        <p:spPr>
          <a:xfrm>
            <a:off x="4343400" y="2514600"/>
            <a:ext cx="3426120" cy="319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[ Comparison Decision Map ]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Need a quick logical test?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Use Operators (==, !=, &lt;, &gt;)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Need to sort a list naturally?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Implement Comparable interface.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Need multiple/dynamic sort orders?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Use a Comparator strategy.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Comparing textual content?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Always use .equals().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6" name="Rounded Rectangle 216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7" name="Rounded Rectangle 217"/>
          <p:cNvSpPr/>
          <p:nvPr/>
        </p:nvSpPr>
        <p:spPr>
          <a:xfrm>
            <a:off x="8263800" y="1828800"/>
            <a:ext cx="3393720" cy="4571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FINAL OVERVIEW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FinalSummary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Primitive: Fast &amp; Safe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5, y = 10;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if (x &lt; y) { /* Logic */ 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2. String: Content Check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s1 = "Hi";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if (s1.equals("Hi")) { /* Safe */ 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3. Sorting Strategy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List&lt;Integer&gt; list = Arrays.asList(3, 1, 2);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Natural (Comparable)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Collections.sort(list);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Custom (Comparator)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Collections.sort(list,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(a, b) -&gt; b.compareTo(a)); // Reverse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8" name="TextBox 9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307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2026-06-26T02:59:35Z</dcterms:modified>
  <cp:revision>54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