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</p:sldIdLst>
  <p:sldSz cx="10077450" cy="75628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AC09BD4-F9F0-4DCC-A7A3-3BAD5840E1C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63489E-E9F5-4870-8704-7C8BCEEF520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C09DBC4-BCB3-4191-AA3F-60DE6DCB0B3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EF30C77-5A6E-4BA9-915A-CCB50BF4F94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45195B4-F6EE-45EB-8AB2-CD3600E08DB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06ACBF-9D1A-45C9-8922-F7303191366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B9CA0C1-F568-42D4-A39B-76C9ED75362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804E0E6-CAB5-4FB8-842C-89C50033752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934BEBE-F517-4C3A-A52B-0C127124317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F3B24DF-8CE7-478D-B0F0-FA40AEA0A53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D0DD61C-6B4E-4FD0-A2DF-05774C41099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BF42A9C-70B4-45CB-B542-4EF7B0C0B75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16388D2-332E-4A8D-A3C4-29B53A33265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E57F535-C8E6-4D31-BD47-74C8F348D23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1D5F090-38A6-409E-9F66-4D3820C872C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2C43A54-8F72-45A8-903D-56AAEBCEFD1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49CBE2C-D156-4CD5-9004-1748AEAAFD1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7F905FB-6186-41F9-80FD-80B77E5B364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D3A19DF-2CD6-4B4F-92E3-CB4D0D77809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AC183A4-CEFC-4B1F-B1CC-B21AE37347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8E98E9F-F06F-45D3-A032-031047BC0B9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5D790D0-E835-4320-BD91-F82A208BE11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4E068EC-E797-403D-ABB7-B388834B7AA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1694CE1-FB9A-4DE5-9094-E9A14021231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B6968CC-8F74-4A9E-8C5D-0E4BFBF4A33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7784170-2081-47F7-A2B1-824F8E01573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F18FABD-8231-47FD-BC93-76886023C59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BA067AA-C604-4D59-BF73-60876912193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55797D0-593D-4418-BF5C-2970CD3DB8E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F77F8DC-4B52-433C-8CDA-00A9183BB7E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673FBD4-8612-4A9D-A7F4-90FB1957969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53E9904-E9A7-4F67-94DF-BAD682A63DF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050449D-2832-4C14-B23F-D5CB2D93BB8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23FB988-91FE-43CF-A3A8-34701A29A6A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2099C67-13BC-40FA-A8AC-5480F0A9C4B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9A72529-17D3-47DB-988F-BCAC04F40EC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E8BD3A4-BA49-494A-B9C4-6171A0C40EE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0E8EC02-C0E0-490F-BA48-4DE32360283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E230D56-E1C8-453C-8AFF-3E976E6B62E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8C0A780-D5B9-4AC8-B2B4-8D82ADF5897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D631685-E7C8-4CAA-AAC8-A4EE6870239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A7C7190-DC6B-4C70-A826-222B17CDFFD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C0D1C04-BE78-44CC-BC0B-F40117C758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0AD6FD2-CCAC-481C-877E-B00FF97A388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F14DF92-0369-4F80-ADC6-BDB0F984916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0225C98-7A5B-414E-8304-4D996D0E912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A757824-007B-42B9-8092-068DEA11916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7D93082-9287-49F0-A9C5-D3E31479FDD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966A7CA-6981-439A-A5AF-CED309402E8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EEFACF6-7270-417D-AAF6-B570E2E2514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4396AE8-EC95-43B8-8E33-1FE54CE6F83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E1806A6-47B7-417F-8CAF-8D03BFEFDDD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66D8BAC-5D10-47FF-B35A-FB0E60687B9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342C666-2D1C-4474-A549-CF53BF32314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720CFB7-8253-418F-B6A9-01DB149FCD6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1BAD177-3926-4CA1-AB94-6C82C22900A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F5DFD28-D5E6-4F85-89C0-AC3C7A55172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15D6CD0-312B-4C9C-ACCD-AA3B1743D27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47B00D9-C200-41C7-BD82-F345993C837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718BC2C-B9A7-4F3D-8AF0-33A869AE29D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82852B8-F751-4F53-9461-AF677FC6CB3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ADED0C9-4CF3-4947-A024-756416C73E5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3D4EFEA-08D2-4073-8077-7EF01900FA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689A0DD-8F87-4A58-AD24-7A300DA1A9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D5B2908-1544-44CA-8213-09C98FDB01D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60AD2A6-C776-4060-8DD1-2D89A8239C0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AD4B25F-6099-4F5B-A7CB-C386BE75F87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7C27C3C-2200-4552-A2DD-E5B666E5982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4F154D7-4D53-4BC7-8BCE-A79D9E8240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690B6C9-ED4D-467E-B0A0-C37FCF50251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2A47244-B4BB-4326-A86F-C72727DB81D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4569A2E-C94B-4AA7-935E-5177913172C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C2EE322-A63F-44D3-8FB7-CC461A7B768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CEE62F3-2854-4320-A7A6-20744552C57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85A78CD-3E72-4727-AB1F-30E0BAD08DF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5C0E5FD-3D45-48D0-B275-20EFB7D6980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9314A17-DAB8-42DA-A371-AE542588AEE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8144767-0D75-4D8E-96AA-318436EE15F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C308E53-0943-482F-8A7F-1639407327F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14EAF6A-1F45-435B-B264-CFF2EFFE1E1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6079C54-A5FA-4CC8-826B-2AFAA78735E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36D39D7-633E-47DE-91D2-2F8848DD81C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9440E3F-0594-48D0-8AF7-CEC26F083E6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6BC8DE1-A491-497E-B2BE-1E38DE81DDC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428B498-7EB2-4E07-B085-7BCEC769F71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D1CFF36-96CB-4BBA-9FCA-3825059D512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F9F9D6A-8E28-4A36-9DCD-E3DED0E8B42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80732FF-B0DB-4674-80B0-8F65C5D23E6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FC90E08-9B80-482A-9E67-F73607CC3EA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B34ED6D-4C3C-4401-B814-9B21E1B2A1E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4A67784-107D-4B24-8763-611881F8344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1BB9AD8-BABC-4A0D-B942-6A56A3CDB45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58757A1-3723-4381-B07C-4AD0C8C7BD9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82003D3-5A41-44D8-A3ED-FAE982F0466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87C5AA6-684D-4CB4-90F0-CFD5957FC0B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7B37052-2516-4F94-95DC-572FD424AB4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A673E9C-DD83-4C1F-863B-2BA225E0D6A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996BE51-36F7-4D70-8583-E6CBE0C4941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BE05954-7DE3-42CC-A746-298C420D5A8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53B4E6A-E4D1-46B4-A860-A932E2932E7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EFA023B-1AFF-48E4-8099-4880D03629D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143C6E8-96E0-4778-B87B-839AEE0EB60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24C3C26-D690-4440-85BB-59D3D0BB6F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2D66899-8834-45B0-9A12-0B00FA26516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8DEED67-2F43-42FF-82B1-CD53EBA7FC8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28EC61C-6958-4AD0-BFA2-18FE78D1EEE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A69F10B-5552-4DFB-8690-AE0F8992F77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FBB9474-79F7-4C35-8FDC-6857C1EADD7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E5D5BDA-3F7F-4F38-B9C8-4B09F0DA45D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EEE7DCA-3DCA-446E-8BEC-EBD4F1C638F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7666EE7-D6AF-4E6F-B42B-E9678C99E03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B55615F-E863-4FE5-8667-FA40645A976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3405AA5-077D-4D71-B59B-27D1A4E36C7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C8D3184-85B0-47FD-A5E4-4C655A3CB42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93403A5-FD12-4F7B-9201-4EBAB72A315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FD3D9A6-8F0F-4B17-83FD-55991981273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2BF9EEF-06CF-423A-A4AC-D72445A2CB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34777D6-7289-4864-9590-5848454CBA4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59296E8-45E4-42EB-929F-A3D25BC66F1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8839330-A846-44F2-A6D1-4B24CE07A30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30BFF9F-120C-4EA5-9F9D-B54CBEAD54E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FC185CA-F94F-4878-8A3E-F8AF4AE2B19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3F0E8F3-3E65-4381-A962-76C9A5341E9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8199D91-B724-4D71-802E-F4C27F5E84F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C566B10-86D8-4699-AB2D-C42313BFF26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18A6C4A-A477-4A97-AB79-F003A21B9B2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2361DB4-35D7-49F9-BDB8-30F390A77D1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7AC84EF-6782-447D-84E4-08044C659AC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F238067-4CE9-4FF0-A31F-78382FA012A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7F0B4EA-BCAE-4B02-90FE-3CEEC79BB25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8F5AB01-7C6C-47DD-92E0-2845BE89DC8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423A393-60A4-44B4-9C91-7146A3B88AC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0880" y="7007400"/>
            <a:ext cx="31798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0160" y="7007400"/>
            <a:ext cx="234036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E55384F-0B8E-4766-88C8-049279B27D4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560" y="7007400"/>
            <a:ext cx="234036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442320" y="7005240"/>
            <a:ext cx="318204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7223040" y="7005240"/>
            <a:ext cx="234252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6E59D07-A27E-4156-BFE1-7B578309F19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02920" y="7005240"/>
            <a:ext cx="234252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442320" y="7005240"/>
            <a:ext cx="318276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722304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5D01A6A-F8E0-470A-A61B-7D35A0DE9C8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50292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442320" y="7005240"/>
            <a:ext cx="318312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722304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A9D03EC-E897-455F-9B1B-D4441AFFBBD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50292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442320" y="7005240"/>
            <a:ext cx="318312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722304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830020C-C988-4AA8-AB25-5E3D5E810CB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50292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442320" y="7005240"/>
            <a:ext cx="318348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722304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FF17CE-81DC-4983-A831-39B33A4DDC6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50292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442320" y="7005240"/>
            <a:ext cx="318348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722304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BF97087-17EA-4206-B38A-D4A9AE148DE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50292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442320" y="7005240"/>
            <a:ext cx="318384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722304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0BF45DE-ACD5-49FA-8F47-5557762EC46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50292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ftr" idx="25"/>
          </p:nvPr>
        </p:nvSpPr>
        <p:spPr>
          <a:xfrm>
            <a:off x="3442320" y="7005240"/>
            <a:ext cx="318312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26"/>
          </p:nvPr>
        </p:nvSpPr>
        <p:spPr>
          <a:xfrm>
            <a:off x="722304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465199-E85C-4AA3-95C0-43153271FCF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dt" idx="27"/>
          </p:nvPr>
        </p:nvSpPr>
        <p:spPr>
          <a:xfrm>
            <a:off x="50292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ftr" idx="28"/>
          </p:nvPr>
        </p:nvSpPr>
        <p:spPr>
          <a:xfrm>
            <a:off x="3442320" y="7005240"/>
            <a:ext cx="318312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sldNum" idx="29"/>
          </p:nvPr>
        </p:nvSpPr>
        <p:spPr>
          <a:xfrm>
            <a:off x="722304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7DF0A5-7E76-4783-AB73-666CE7723A4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dt" idx="30"/>
          </p:nvPr>
        </p:nvSpPr>
        <p:spPr>
          <a:xfrm>
            <a:off x="50292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ftr" idx="31"/>
          </p:nvPr>
        </p:nvSpPr>
        <p:spPr>
          <a:xfrm>
            <a:off x="3442320" y="7005240"/>
            <a:ext cx="318276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 type="sldNum" idx="32"/>
          </p:nvPr>
        </p:nvSpPr>
        <p:spPr>
          <a:xfrm>
            <a:off x="722304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0519A5A-F6D2-431A-96EC-9C68953E558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dt" idx="33"/>
          </p:nvPr>
        </p:nvSpPr>
        <p:spPr>
          <a:xfrm>
            <a:off x="50292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1800" y="1800"/>
            <a:ext cx="1342044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"/>
          <p:cNvSpPr/>
          <p:nvPr/>
        </p:nvSpPr>
        <p:spPr>
          <a:xfrm>
            <a:off x="18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3"/>
          <p:cNvSpPr/>
          <p:nvPr/>
        </p:nvSpPr>
        <p:spPr>
          <a:xfrm>
            <a:off x="100476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4"/>
          <p:cNvSpPr/>
          <p:nvPr/>
        </p:nvSpPr>
        <p:spPr>
          <a:xfrm>
            <a:off x="20124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5"/>
          <p:cNvSpPr/>
          <p:nvPr/>
        </p:nvSpPr>
        <p:spPr>
          <a:xfrm>
            <a:off x="30200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6"/>
          <p:cNvSpPr/>
          <p:nvPr/>
        </p:nvSpPr>
        <p:spPr>
          <a:xfrm>
            <a:off x="40276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7"/>
          <p:cNvSpPr/>
          <p:nvPr/>
        </p:nvSpPr>
        <p:spPr>
          <a:xfrm>
            <a:off x="503532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8"/>
          <p:cNvSpPr/>
          <p:nvPr/>
        </p:nvSpPr>
        <p:spPr>
          <a:xfrm>
            <a:off x="604296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9"/>
          <p:cNvSpPr/>
          <p:nvPr/>
        </p:nvSpPr>
        <p:spPr>
          <a:xfrm>
            <a:off x="70506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10"/>
          <p:cNvSpPr/>
          <p:nvPr/>
        </p:nvSpPr>
        <p:spPr>
          <a:xfrm>
            <a:off x="80582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11"/>
          <p:cNvSpPr/>
          <p:nvPr/>
        </p:nvSpPr>
        <p:spPr>
          <a:xfrm>
            <a:off x="90658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12"/>
          <p:cNvSpPr/>
          <p:nvPr/>
        </p:nvSpPr>
        <p:spPr>
          <a:xfrm>
            <a:off x="1007352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13"/>
          <p:cNvSpPr/>
          <p:nvPr/>
        </p:nvSpPr>
        <p:spPr>
          <a:xfrm>
            <a:off x="110808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14"/>
          <p:cNvSpPr/>
          <p:nvPr/>
        </p:nvSpPr>
        <p:spPr>
          <a:xfrm>
            <a:off x="120884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15"/>
          <p:cNvSpPr/>
          <p:nvPr/>
        </p:nvSpPr>
        <p:spPr>
          <a:xfrm>
            <a:off x="130960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16"/>
          <p:cNvSpPr/>
          <p:nvPr/>
        </p:nvSpPr>
        <p:spPr>
          <a:xfrm>
            <a:off x="1800" y="1800"/>
            <a:ext cx="34200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17"/>
          <p:cNvSpPr/>
          <p:nvPr/>
        </p:nvSpPr>
        <p:spPr>
          <a:xfrm>
            <a:off x="10880640" y="401400"/>
            <a:ext cx="2205720" cy="542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18"/>
          <p:cNvSpPr/>
          <p:nvPr/>
        </p:nvSpPr>
        <p:spPr>
          <a:xfrm>
            <a:off x="5377320" y="1107360"/>
            <a:ext cx="1327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19"/>
          <p:cNvSpPr/>
          <p:nvPr/>
        </p:nvSpPr>
        <p:spPr>
          <a:xfrm>
            <a:off x="2608920" y="2266920"/>
            <a:ext cx="7519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sunumda Java programlama dili ve ele alınacak konuların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Rounded Rectangle 20"/>
          <p:cNvSpPr/>
          <p:nvPr/>
        </p:nvSpPr>
        <p:spPr>
          <a:xfrm>
            <a:off x="108612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ounded Rectangle 21"/>
          <p:cNvSpPr/>
          <p:nvPr/>
        </p:nvSpPr>
        <p:spPr>
          <a:xfrm>
            <a:off x="1019520" y="342684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programlama dilini tanıtmak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Temel kavramları ve temel prensipleri açıklamak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geliştirme için sağlam bir temel oluşturmak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Rounded Rectangle 22"/>
          <p:cNvSpPr/>
          <p:nvPr/>
        </p:nvSpPr>
        <p:spPr>
          <a:xfrm>
            <a:off x="496620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23"/>
          <p:cNvSpPr/>
          <p:nvPr/>
        </p:nvSpPr>
        <p:spPr>
          <a:xfrm>
            <a:off x="4884480" y="342684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Giriş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nedir?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 öğreneceksiniz?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Tarihi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Rounded Rectangle 24"/>
          <p:cNvSpPr/>
          <p:nvPr/>
        </p:nvSpPr>
        <p:spPr>
          <a:xfrm>
            <a:off x="884556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ounded Rectangle 25"/>
          <p:cNvSpPr/>
          <p:nvPr/>
        </p:nvSpPr>
        <p:spPr>
          <a:xfrm>
            <a:off x="8763840" y="342684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78ffc8"/>
                </a:solidFill>
                <a:latin typeface="Consolas"/>
                <a:ea typeface="DejaVu Sans"/>
              </a:rPr>
              <a:t>Java’ya Giriş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TextBox 2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Rectangle 32"/>
          <p:cNvSpPr/>
          <p:nvPr/>
        </p:nvSpPr>
        <p:spPr>
          <a:xfrm>
            <a:off x="1800" y="1800"/>
            <a:ext cx="1342044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33"/>
          <p:cNvSpPr/>
          <p:nvPr/>
        </p:nvSpPr>
        <p:spPr>
          <a:xfrm>
            <a:off x="18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34"/>
          <p:cNvSpPr/>
          <p:nvPr/>
        </p:nvSpPr>
        <p:spPr>
          <a:xfrm>
            <a:off x="100476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35"/>
          <p:cNvSpPr/>
          <p:nvPr/>
        </p:nvSpPr>
        <p:spPr>
          <a:xfrm>
            <a:off x="20124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36"/>
          <p:cNvSpPr/>
          <p:nvPr/>
        </p:nvSpPr>
        <p:spPr>
          <a:xfrm>
            <a:off x="30200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37"/>
          <p:cNvSpPr/>
          <p:nvPr/>
        </p:nvSpPr>
        <p:spPr>
          <a:xfrm>
            <a:off x="40276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38"/>
          <p:cNvSpPr/>
          <p:nvPr/>
        </p:nvSpPr>
        <p:spPr>
          <a:xfrm>
            <a:off x="503532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39"/>
          <p:cNvSpPr/>
          <p:nvPr/>
        </p:nvSpPr>
        <p:spPr>
          <a:xfrm>
            <a:off x="604296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40"/>
          <p:cNvSpPr/>
          <p:nvPr/>
        </p:nvSpPr>
        <p:spPr>
          <a:xfrm>
            <a:off x="70506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41"/>
          <p:cNvSpPr/>
          <p:nvPr/>
        </p:nvSpPr>
        <p:spPr>
          <a:xfrm>
            <a:off x="80582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42"/>
          <p:cNvSpPr/>
          <p:nvPr/>
        </p:nvSpPr>
        <p:spPr>
          <a:xfrm>
            <a:off x="90658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43"/>
          <p:cNvSpPr/>
          <p:nvPr/>
        </p:nvSpPr>
        <p:spPr>
          <a:xfrm>
            <a:off x="1007352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44"/>
          <p:cNvSpPr/>
          <p:nvPr/>
        </p:nvSpPr>
        <p:spPr>
          <a:xfrm>
            <a:off x="110808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45"/>
          <p:cNvSpPr/>
          <p:nvPr/>
        </p:nvSpPr>
        <p:spPr>
          <a:xfrm>
            <a:off x="120884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46"/>
          <p:cNvSpPr/>
          <p:nvPr/>
        </p:nvSpPr>
        <p:spPr>
          <a:xfrm>
            <a:off x="130960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47"/>
          <p:cNvSpPr/>
          <p:nvPr/>
        </p:nvSpPr>
        <p:spPr>
          <a:xfrm>
            <a:off x="1800" y="1800"/>
            <a:ext cx="34200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8"/>
          <p:cNvSpPr/>
          <p:nvPr/>
        </p:nvSpPr>
        <p:spPr>
          <a:xfrm>
            <a:off x="10880640" y="401400"/>
            <a:ext cx="2205720" cy="542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4"/>
          <p:cNvSpPr/>
          <p:nvPr/>
        </p:nvSpPr>
        <p:spPr>
          <a:xfrm>
            <a:off x="4506120" y="1107360"/>
            <a:ext cx="3072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Nedir?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Box 5"/>
          <p:cNvSpPr/>
          <p:nvPr/>
        </p:nvSpPr>
        <p:spPr>
          <a:xfrm>
            <a:off x="3046320" y="2266920"/>
            <a:ext cx="6641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Java, platformdan bağımsız ve güvenilir olacak şekilde tasarlanmış,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yüksek seviyeli, nesne yönelimli bir programlama dilidir.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Rounded Rectangle 9"/>
          <p:cNvSpPr/>
          <p:nvPr/>
        </p:nvSpPr>
        <p:spPr>
          <a:xfrm>
            <a:off x="108612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ounded Rectangle 10"/>
          <p:cNvSpPr/>
          <p:nvPr/>
        </p:nvSpPr>
        <p:spPr>
          <a:xfrm>
            <a:off x="1005840" y="3426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seviyeli programlama dili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(OOP) yaklaşım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sayesinde platformdan bağımsız çalışma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 ve sağlam yapı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ve web uygulamalarında yaygın kullanım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Rounded Rectangle 11"/>
          <p:cNvSpPr/>
          <p:nvPr/>
        </p:nvSpPr>
        <p:spPr>
          <a:xfrm>
            <a:off x="496620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"/>
          <p:cNvSpPr/>
          <p:nvPr/>
        </p:nvSpPr>
        <p:spPr>
          <a:xfrm>
            <a:off x="4884480" y="3426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Nasıl Çalışır?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Derleyicisi (Compiler)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Sanal Makinesi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(Write Once, Run Anywhere)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Rounded Rectangle 13"/>
          <p:cNvSpPr/>
          <p:nvPr/>
        </p:nvSpPr>
        <p:spPr>
          <a:xfrm>
            <a:off x="884556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ounded Rectangle 14"/>
          <p:cNvSpPr/>
          <p:nvPr/>
        </p:nvSpPr>
        <p:spPr>
          <a:xfrm>
            <a:off x="8763840" y="342684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TextBox 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Rectangle 17"/>
          <p:cNvSpPr/>
          <p:nvPr/>
        </p:nvSpPr>
        <p:spPr>
          <a:xfrm>
            <a:off x="1800" y="1800"/>
            <a:ext cx="1342044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18"/>
          <p:cNvSpPr/>
          <p:nvPr/>
        </p:nvSpPr>
        <p:spPr>
          <a:xfrm>
            <a:off x="18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19"/>
          <p:cNvSpPr/>
          <p:nvPr/>
        </p:nvSpPr>
        <p:spPr>
          <a:xfrm>
            <a:off x="100476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0"/>
          <p:cNvSpPr/>
          <p:nvPr/>
        </p:nvSpPr>
        <p:spPr>
          <a:xfrm>
            <a:off x="20124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1"/>
          <p:cNvSpPr/>
          <p:nvPr/>
        </p:nvSpPr>
        <p:spPr>
          <a:xfrm>
            <a:off x="30200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2"/>
          <p:cNvSpPr/>
          <p:nvPr/>
        </p:nvSpPr>
        <p:spPr>
          <a:xfrm>
            <a:off x="40276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3"/>
          <p:cNvSpPr/>
          <p:nvPr/>
        </p:nvSpPr>
        <p:spPr>
          <a:xfrm>
            <a:off x="503532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4"/>
          <p:cNvSpPr/>
          <p:nvPr/>
        </p:nvSpPr>
        <p:spPr>
          <a:xfrm>
            <a:off x="604296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5"/>
          <p:cNvSpPr/>
          <p:nvPr/>
        </p:nvSpPr>
        <p:spPr>
          <a:xfrm>
            <a:off x="70506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6"/>
          <p:cNvSpPr/>
          <p:nvPr/>
        </p:nvSpPr>
        <p:spPr>
          <a:xfrm>
            <a:off x="80582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7"/>
          <p:cNvSpPr/>
          <p:nvPr/>
        </p:nvSpPr>
        <p:spPr>
          <a:xfrm>
            <a:off x="90658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8"/>
          <p:cNvSpPr/>
          <p:nvPr/>
        </p:nvSpPr>
        <p:spPr>
          <a:xfrm>
            <a:off x="1007352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"/>
          <p:cNvSpPr/>
          <p:nvPr/>
        </p:nvSpPr>
        <p:spPr>
          <a:xfrm>
            <a:off x="110808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30"/>
          <p:cNvSpPr/>
          <p:nvPr/>
        </p:nvSpPr>
        <p:spPr>
          <a:xfrm>
            <a:off x="120884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31"/>
          <p:cNvSpPr/>
          <p:nvPr/>
        </p:nvSpPr>
        <p:spPr>
          <a:xfrm>
            <a:off x="130960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48"/>
          <p:cNvSpPr/>
          <p:nvPr/>
        </p:nvSpPr>
        <p:spPr>
          <a:xfrm>
            <a:off x="1800" y="1800"/>
            <a:ext cx="34200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15"/>
          <p:cNvSpPr/>
          <p:nvPr/>
        </p:nvSpPr>
        <p:spPr>
          <a:xfrm>
            <a:off x="10880640" y="401400"/>
            <a:ext cx="2205720" cy="542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7"/>
          <p:cNvSpPr/>
          <p:nvPr/>
        </p:nvSpPr>
        <p:spPr>
          <a:xfrm>
            <a:off x="3482280" y="1107360"/>
            <a:ext cx="512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Ne Öğreneceksiniz?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8"/>
          <p:cNvSpPr/>
          <p:nvPr/>
        </p:nvSpPr>
        <p:spPr>
          <a:xfrm>
            <a:off x="2704320" y="2266920"/>
            <a:ext cx="7325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Java kursunda ele alınan temel konuların ve becerilerin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Rounded Rectangle 16"/>
          <p:cNvSpPr/>
          <p:nvPr/>
        </p:nvSpPr>
        <p:spPr>
          <a:xfrm>
            <a:off x="108612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ounded Rectangle 18"/>
          <p:cNvSpPr/>
          <p:nvPr/>
        </p:nvSpPr>
        <p:spPr>
          <a:xfrm>
            <a:off x="1005840" y="342684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temel kavramlarını anlama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 kavramlarını öğrenme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 yazma ve çalıştırma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Sağlam bir programlama temeli oluşturma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Rounded Rectangle 19"/>
          <p:cNvSpPr/>
          <p:nvPr/>
        </p:nvSpPr>
        <p:spPr>
          <a:xfrm>
            <a:off x="496620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26"/>
          <p:cNvSpPr/>
          <p:nvPr/>
        </p:nvSpPr>
        <p:spPr>
          <a:xfrm>
            <a:off x="4884480" y="342540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Sözdizimi ve Temelleri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 ve Veri Tipleri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Kontrol Yapıları (if / döngüler)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Metotlar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Rounded Rectangle 27"/>
          <p:cNvSpPr/>
          <p:nvPr/>
        </p:nvSpPr>
        <p:spPr>
          <a:xfrm>
            <a:off x="884556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ounded Rectangle 28"/>
          <p:cNvSpPr/>
          <p:nvPr/>
        </p:nvSpPr>
        <p:spPr>
          <a:xfrm>
            <a:off x="8763840" y="3426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TextBox 9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Rectangle 49"/>
          <p:cNvSpPr/>
          <p:nvPr/>
        </p:nvSpPr>
        <p:spPr>
          <a:xfrm>
            <a:off x="1800" y="1800"/>
            <a:ext cx="1342044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50"/>
          <p:cNvSpPr/>
          <p:nvPr/>
        </p:nvSpPr>
        <p:spPr>
          <a:xfrm>
            <a:off x="18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51"/>
          <p:cNvSpPr/>
          <p:nvPr/>
        </p:nvSpPr>
        <p:spPr>
          <a:xfrm>
            <a:off x="100476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52"/>
          <p:cNvSpPr/>
          <p:nvPr/>
        </p:nvSpPr>
        <p:spPr>
          <a:xfrm>
            <a:off x="20124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53"/>
          <p:cNvSpPr/>
          <p:nvPr/>
        </p:nvSpPr>
        <p:spPr>
          <a:xfrm>
            <a:off x="30200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54"/>
          <p:cNvSpPr/>
          <p:nvPr/>
        </p:nvSpPr>
        <p:spPr>
          <a:xfrm>
            <a:off x="40276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55"/>
          <p:cNvSpPr/>
          <p:nvPr/>
        </p:nvSpPr>
        <p:spPr>
          <a:xfrm>
            <a:off x="503532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56"/>
          <p:cNvSpPr/>
          <p:nvPr/>
        </p:nvSpPr>
        <p:spPr>
          <a:xfrm>
            <a:off x="604296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57"/>
          <p:cNvSpPr/>
          <p:nvPr/>
        </p:nvSpPr>
        <p:spPr>
          <a:xfrm>
            <a:off x="70506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58"/>
          <p:cNvSpPr/>
          <p:nvPr/>
        </p:nvSpPr>
        <p:spPr>
          <a:xfrm>
            <a:off x="80582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59"/>
          <p:cNvSpPr/>
          <p:nvPr/>
        </p:nvSpPr>
        <p:spPr>
          <a:xfrm>
            <a:off x="90658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60"/>
          <p:cNvSpPr/>
          <p:nvPr/>
        </p:nvSpPr>
        <p:spPr>
          <a:xfrm>
            <a:off x="1007352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61"/>
          <p:cNvSpPr/>
          <p:nvPr/>
        </p:nvSpPr>
        <p:spPr>
          <a:xfrm>
            <a:off x="110808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62"/>
          <p:cNvSpPr/>
          <p:nvPr/>
        </p:nvSpPr>
        <p:spPr>
          <a:xfrm>
            <a:off x="120884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63"/>
          <p:cNvSpPr/>
          <p:nvPr/>
        </p:nvSpPr>
        <p:spPr>
          <a:xfrm>
            <a:off x="130960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64"/>
          <p:cNvSpPr/>
          <p:nvPr/>
        </p:nvSpPr>
        <p:spPr>
          <a:xfrm>
            <a:off x="1800" y="1800"/>
            <a:ext cx="34200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29"/>
          <p:cNvSpPr/>
          <p:nvPr/>
        </p:nvSpPr>
        <p:spPr>
          <a:xfrm>
            <a:off x="10880640" y="401400"/>
            <a:ext cx="2205720" cy="542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10"/>
          <p:cNvSpPr/>
          <p:nvPr/>
        </p:nvSpPr>
        <p:spPr>
          <a:xfrm>
            <a:off x="4171320" y="1107360"/>
            <a:ext cx="373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Tarihi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Box 11"/>
          <p:cNvSpPr/>
          <p:nvPr/>
        </p:nvSpPr>
        <p:spPr>
          <a:xfrm>
            <a:off x="1949760" y="2266920"/>
            <a:ext cx="8837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nasıl ortaya çıktığı ve neden en güçlü programlama dillerinden biri haline geldiği.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Rounded Rectangle 30"/>
          <p:cNvSpPr/>
          <p:nvPr/>
        </p:nvSpPr>
        <p:spPr>
          <a:xfrm>
            <a:off x="108612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ounded Rectangle 31"/>
          <p:cNvSpPr/>
          <p:nvPr/>
        </p:nvSpPr>
        <p:spPr>
          <a:xfrm>
            <a:off x="1005840" y="3426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Sun Microsystems’te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ve ekibi tarafından oluşturuldu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 Oak idi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Başlangıçtaki amaç: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Tüketici elektroniği için yazılım geliştirmek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Televizyonlar, set-top box’lar, gömülü sistemler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Temel sorun: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Farklı donanımlar, farklı yazılımlar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çalışabilecek tek bir dile ihtiyacımız vardı.”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Rounded Rectangle 32"/>
          <p:cNvSpPr/>
          <p:nvPr/>
        </p:nvSpPr>
        <p:spPr>
          <a:xfrm>
            <a:off x="496620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33"/>
          <p:cNvSpPr/>
          <p:nvPr/>
        </p:nvSpPr>
        <p:spPr>
          <a:xfrm>
            <a:off x="4884480" y="3426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(Write Once, Run Anywhere)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Bytecode’a derlenir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JVM üzerinde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Her işletim sisteminde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1995’te yayımlandı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İnternet çağı için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Rounded Rectangle 34"/>
          <p:cNvSpPr/>
          <p:nvPr/>
        </p:nvSpPr>
        <p:spPr>
          <a:xfrm>
            <a:off x="884556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ounded Rectangle 35"/>
          <p:cNvSpPr/>
          <p:nvPr/>
        </p:nvSpPr>
        <p:spPr>
          <a:xfrm>
            <a:off x="8763840" y="3426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Tarihi Başlıyor!");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doğdu");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" name="TextBox 12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Rectangle 65"/>
          <p:cNvSpPr/>
          <p:nvPr/>
        </p:nvSpPr>
        <p:spPr>
          <a:xfrm>
            <a:off x="1800" y="1800"/>
            <a:ext cx="1342080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66"/>
          <p:cNvSpPr/>
          <p:nvPr/>
        </p:nvSpPr>
        <p:spPr>
          <a:xfrm>
            <a:off x="18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67"/>
          <p:cNvSpPr/>
          <p:nvPr/>
        </p:nvSpPr>
        <p:spPr>
          <a:xfrm>
            <a:off x="100476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68"/>
          <p:cNvSpPr/>
          <p:nvPr/>
        </p:nvSpPr>
        <p:spPr>
          <a:xfrm>
            <a:off x="20124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69"/>
          <p:cNvSpPr/>
          <p:nvPr/>
        </p:nvSpPr>
        <p:spPr>
          <a:xfrm>
            <a:off x="30200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70"/>
          <p:cNvSpPr/>
          <p:nvPr/>
        </p:nvSpPr>
        <p:spPr>
          <a:xfrm>
            <a:off x="40276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71"/>
          <p:cNvSpPr/>
          <p:nvPr/>
        </p:nvSpPr>
        <p:spPr>
          <a:xfrm>
            <a:off x="503532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72"/>
          <p:cNvSpPr/>
          <p:nvPr/>
        </p:nvSpPr>
        <p:spPr>
          <a:xfrm>
            <a:off x="604296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73"/>
          <p:cNvSpPr/>
          <p:nvPr/>
        </p:nvSpPr>
        <p:spPr>
          <a:xfrm>
            <a:off x="70506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74"/>
          <p:cNvSpPr/>
          <p:nvPr/>
        </p:nvSpPr>
        <p:spPr>
          <a:xfrm>
            <a:off x="80582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75"/>
          <p:cNvSpPr/>
          <p:nvPr/>
        </p:nvSpPr>
        <p:spPr>
          <a:xfrm>
            <a:off x="90658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76"/>
          <p:cNvSpPr/>
          <p:nvPr/>
        </p:nvSpPr>
        <p:spPr>
          <a:xfrm>
            <a:off x="1007352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77"/>
          <p:cNvSpPr/>
          <p:nvPr/>
        </p:nvSpPr>
        <p:spPr>
          <a:xfrm>
            <a:off x="110808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78"/>
          <p:cNvSpPr/>
          <p:nvPr/>
        </p:nvSpPr>
        <p:spPr>
          <a:xfrm>
            <a:off x="120884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79"/>
          <p:cNvSpPr/>
          <p:nvPr/>
        </p:nvSpPr>
        <p:spPr>
          <a:xfrm>
            <a:off x="130960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80"/>
          <p:cNvSpPr/>
          <p:nvPr/>
        </p:nvSpPr>
        <p:spPr>
          <a:xfrm>
            <a:off x="1800" y="1800"/>
            <a:ext cx="34236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36"/>
          <p:cNvSpPr/>
          <p:nvPr/>
        </p:nvSpPr>
        <p:spPr>
          <a:xfrm>
            <a:off x="10880640" y="401400"/>
            <a:ext cx="220608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13"/>
          <p:cNvSpPr/>
          <p:nvPr/>
        </p:nvSpPr>
        <p:spPr>
          <a:xfrm>
            <a:off x="2801160" y="1107360"/>
            <a:ext cx="64828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Java’dan Önceki Problem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Box 14"/>
          <p:cNvSpPr/>
          <p:nvPr/>
        </p:nvSpPr>
        <p:spPr>
          <a:xfrm>
            <a:off x="2820600" y="2266920"/>
            <a:ext cx="7094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Dünyanın neden yeni bir programlama diline ihtiyaç duyduğunu anlatır.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Rounded Rectangle 37"/>
          <p:cNvSpPr/>
          <p:nvPr/>
        </p:nvSpPr>
        <p:spPr>
          <a:xfrm>
            <a:off x="108612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ounded Rectangle 38"/>
          <p:cNvSpPr/>
          <p:nvPr/>
        </p:nvSpPr>
        <p:spPr>
          <a:xfrm>
            <a:off x="679320" y="3274920"/>
            <a:ext cx="4024440" cy="316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Yazılım Kaosu (1990’ların başı)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Durum: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bilgisayarlar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işlemciler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işletim sistemleri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Başka bir makinede çalışmıyordu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sorun: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aynı yazılımı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tekrar tekrar baştan yazmak zorundaydı.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çalıştır” henüz yoktu.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Rounded Rectangle 39"/>
          <p:cNvSpPr/>
          <p:nvPr/>
        </p:nvSpPr>
        <p:spPr>
          <a:xfrm>
            <a:off x="496620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40"/>
          <p:cNvSpPr/>
          <p:nvPr/>
        </p:nvSpPr>
        <p:spPr>
          <a:xfrm>
            <a:off x="4884480" y="342684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Mevcut Diller Neden Başarısız Oldu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Donanıma bağımlı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özel derlenmiş dosyalar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Bellek yönetimi problemleri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 sorunları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 sıkıntı: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sistem = bir derleme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Evrensel bir çözüm yoktu.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Rounded Rectangle 41"/>
          <p:cNvSpPr/>
          <p:nvPr/>
        </p:nvSpPr>
        <p:spPr>
          <a:xfrm>
            <a:off x="884556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ounded Rectangle 42"/>
          <p:cNvSpPr/>
          <p:nvPr/>
        </p:nvSpPr>
        <p:spPr>
          <a:xfrm>
            <a:off x="8763840" y="3426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Kod donanıma bağımlıydı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Java’dan Önceki Felsefe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System.out.println("Yazılımı yeniden yaz!");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TextBox 15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Rectangle 81"/>
          <p:cNvSpPr/>
          <p:nvPr/>
        </p:nvSpPr>
        <p:spPr>
          <a:xfrm>
            <a:off x="1800" y="1800"/>
            <a:ext cx="1342080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82"/>
          <p:cNvSpPr/>
          <p:nvPr/>
        </p:nvSpPr>
        <p:spPr>
          <a:xfrm>
            <a:off x="18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83"/>
          <p:cNvSpPr/>
          <p:nvPr/>
        </p:nvSpPr>
        <p:spPr>
          <a:xfrm>
            <a:off x="100476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84"/>
          <p:cNvSpPr/>
          <p:nvPr/>
        </p:nvSpPr>
        <p:spPr>
          <a:xfrm>
            <a:off x="20124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85"/>
          <p:cNvSpPr/>
          <p:nvPr/>
        </p:nvSpPr>
        <p:spPr>
          <a:xfrm>
            <a:off x="30200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86"/>
          <p:cNvSpPr/>
          <p:nvPr/>
        </p:nvSpPr>
        <p:spPr>
          <a:xfrm>
            <a:off x="40276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87"/>
          <p:cNvSpPr/>
          <p:nvPr/>
        </p:nvSpPr>
        <p:spPr>
          <a:xfrm>
            <a:off x="503532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88"/>
          <p:cNvSpPr/>
          <p:nvPr/>
        </p:nvSpPr>
        <p:spPr>
          <a:xfrm>
            <a:off x="604296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89"/>
          <p:cNvSpPr/>
          <p:nvPr/>
        </p:nvSpPr>
        <p:spPr>
          <a:xfrm>
            <a:off x="70506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90"/>
          <p:cNvSpPr/>
          <p:nvPr/>
        </p:nvSpPr>
        <p:spPr>
          <a:xfrm>
            <a:off x="80582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91"/>
          <p:cNvSpPr/>
          <p:nvPr/>
        </p:nvSpPr>
        <p:spPr>
          <a:xfrm>
            <a:off x="90658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92"/>
          <p:cNvSpPr/>
          <p:nvPr/>
        </p:nvSpPr>
        <p:spPr>
          <a:xfrm>
            <a:off x="1007352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93"/>
          <p:cNvSpPr/>
          <p:nvPr/>
        </p:nvSpPr>
        <p:spPr>
          <a:xfrm>
            <a:off x="110808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94"/>
          <p:cNvSpPr/>
          <p:nvPr/>
        </p:nvSpPr>
        <p:spPr>
          <a:xfrm>
            <a:off x="120884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95"/>
          <p:cNvSpPr/>
          <p:nvPr/>
        </p:nvSpPr>
        <p:spPr>
          <a:xfrm>
            <a:off x="130960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96"/>
          <p:cNvSpPr/>
          <p:nvPr/>
        </p:nvSpPr>
        <p:spPr>
          <a:xfrm>
            <a:off x="1800" y="1800"/>
            <a:ext cx="34236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1"/>
          <p:cNvSpPr/>
          <p:nvPr/>
        </p:nvSpPr>
        <p:spPr>
          <a:xfrm>
            <a:off x="10880640" y="401400"/>
            <a:ext cx="220608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16"/>
          <p:cNvSpPr/>
          <p:nvPr/>
        </p:nvSpPr>
        <p:spPr>
          <a:xfrm>
            <a:off x="2592360" y="1107360"/>
            <a:ext cx="6911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 Projesi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TextBox 17"/>
          <p:cNvSpPr/>
          <p:nvPr/>
        </p:nvSpPr>
        <p:spPr>
          <a:xfrm>
            <a:off x="4428720" y="2266920"/>
            <a:ext cx="387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Daha sonra Java’ya dönüşecek olan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Rounded Rectangle 43"/>
          <p:cNvSpPr/>
          <p:nvPr/>
        </p:nvSpPr>
        <p:spPr>
          <a:xfrm>
            <a:off x="108612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ounded Rectangle 44"/>
          <p:cNvSpPr/>
          <p:nvPr/>
        </p:nvSpPr>
        <p:spPr>
          <a:xfrm>
            <a:off x="1005840" y="342540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Oak Projesi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Microsystems’in dahili projesi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liderliğinde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odaklanmış bir ekip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Amaç: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cihazlar için yazılım geliştirmek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Set-top box’lar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Gömülü sistemler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" name="Rounded Rectangle 45"/>
          <p:cNvSpPr/>
          <p:nvPr/>
        </p:nvSpPr>
        <p:spPr>
          <a:xfrm>
            <a:off x="496620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46"/>
          <p:cNvSpPr/>
          <p:nvPr/>
        </p:nvSpPr>
        <p:spPr>
          <a:xfrm>
            <a:off x="884556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ounded Rectangle 47"/>
          <p:cNvSpPr/>
          <p:nvPr/>
        </p:nvSpPr>
        <p:spPr>
          <a:xfrm>
            <a:off x="8763840" y="342684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System.out.println("Bu fikir yazılımı değiştirecek");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TextBox 20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48"/>
          <p:cNvSpPr/>
          <p:nvPr/>
        </p:nvSpPr>
        <p:spPr>
          <a:xfrm>
            <a:off x="4938840" y="345096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Arkasındaki Temel Fikir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sözdizimi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güvenlik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Donanıma doğrudan bağımlılık yok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Devrimsel düşünce: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Birçok cihaz için tek bir dil.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Aynı kod her yerde çalışmalı.”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Rectangle 97"/>
          <p:cNvSpPr/>
          <p:nvPr/>
        </p:nvSpPr>
        <p:spPr>
          <a:xfrm>
            <a:off x="1800" y="1800"/>
            <a:ext cx="1342116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98"/>
          <p:cNvSpPr/>
          <p:nvPr/>
        </p:nvSpPr>
        <p:spPr>
          <a:xfrm>
            <a:off x="18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99"/>
          <p:cNvSpPr/>
          <p:nvPr/>
        </p:nvSpPr>
        <p:spPr>
          <a:xfrm>
            <a:off x="100476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100"/>
          <p:cNvSpPr/>
          <p:nvPr/>
        </p:nvSpPr>
        <p:spPr>
          <a:xfrm>
            <a:off x="20124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101"/>
          <p:cNvSpPr/>
          <p:nvPr/>
        </p:nvSpPr>
        <p:spPr>
          <a:xfrm>
            <a:off x="30200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102"/>
          <p:cNvSpPr/>
          <p:nvPr/>
        </p:nvSpPr>
        <p:spPr>
          <a:xfrm>
            <a:off x="40276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103"/>
          <p:cNvSpPr/>
          <p:nvPr/>
        </p:nvSpPr>
        <p:spPr>
          <a:xfrm>
            <a:off x="503532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104"/>
          <p:cNvSpPr/>
          <p:nvPr/>
        </p:nvSpPr>
        <p:spPr>
          <a:xfrm>
            <a:off x="604296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05"/>
          <p:cNvSpPr/>
          <p:nvPr/>
        </p:nvSpPr>
        <p:spPr>
          <a:xfrm>
            <a:off x="70506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06"/>
          <p:cNvSpPr/>
          <p:nvPr/>
        </p:nvSpPr>
        <p:spPr>
          <a:xfrm>
            <a:off x="80582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07"/>
          <p:cNvSpPr/>
          <p:nvPr/>
        </p:nvSpPr>
        <p:spPr>
          <a:xfrm>
            <a:off x="90658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08"/>
          <p:cNvSpPr/>
          <p:nvPr/>
        </p:nvSpPr>
        <p:spPr>
          <a:xfrm>
            <a:off x="1007352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109"/>
          <p:cNvSpPr/>
          <p:nvPr/>
        </p:nvSpPr>
        <p:spPr>
          <a:xfrm>
            <a:off x="110808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110"/>
          <p:cNvSpPr/>
          <p:nvPr/>
        </p:nvSpPr>
        <p:spPr>
          <a:xfrm>
            <a:off x="120884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111"/>
          <p:cNvSpPr/>
          <p:nvPr/>
        </p:nvSpPr>
        <p:spPr>
          <a:xfrm>
            <a:off x="130960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112"/>
          <p:cNvSpPr/>
          <p:nvPr/>
        </p:nvSpPr>
        <p:spPr>
          <a:xfrm>
            <a:off x="1800" y="1800"/>
            <a:ext cx="34272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49"/>
          <p:cNvSpPr/>
          <p:nvPr/>
        </p:nvSpPr>
        <p:spPr>
          <a:xfrm>
            <a:off x="10880640" y="401400"/>
            <a:ext cx="220644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21"/>
          <p:cNvSpPr/>
          <p:nvPr/>
        </p:nvSpPr>
        <p:spPr>
          <a:xfrm>
            <a:off x="2608920" y="1107720"/>
            <a:ext cx="6882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Oak'tan Java'ya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Box 22"/>
          <p:cNvSpPr/>
          <p:nvPr/>
        </p:nvSpPr>
        <p:spPr>
          <a:xfrm>
            <a:off x="3687120" y="2266920"/>
            <a:ext cx="535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Oak nasıl Java’ya dönüştü ve gerçek amacını nasıl buldu.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Rounded Rectangle 50"/>
          <p:cNvSpPr/>
          <p:nvPr/>
        </p:nvSpPr>
        <p:spPr>
          <a:xfrm>
            <a:off x="108612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ounded Rectangle 51"/>
          <p:cNvSpPr/>
          <p:nvPr/>
        </p:nvSpPr>
        <p:spPr>
          <a:xfrm>
            <a:off x="1005840" y="3426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Dönüm Noktası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 ters gitti?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TV pazarı başarısız oldu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ticari bir geleceği yoktu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 neredeyse iptal ediliyordu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Ama bir şey değişti…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büyümeye başladı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tarayıcıları popülerleşti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Taşınabilir ve güvenli koda ihtiyaç doğdu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Kritik farkındalık: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Gelecek televizyonlar değil — Web’tir.”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Rounded Rectangle 52"/>
          <p:cNvSpPr/>
          <p:nvPr/>
        </p:nvSpPr>
        <p:spPr>
          <a:xfrm>
            <a:off x="496620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53"/>
          <p:cNvSpPr/>
          <p:nvPr/>
        </p:nvSpPr>
        <p:spPr>
          <a:xfrm>
            <a:off x="884556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ounded Rectangle 54"/>
          <p:cNvSpPr/>
          <p:nvPr/>
        </p:nvSpPr>
        <p:spPr>
          <a:xfrm>
            <a:off x="8763840" y="3426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Web için hazır!"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Box 23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ounded Rectangle 55"/>
          <p:cNvSpPr/>
          <p:nvPr/>
        </p:nvSpPr>
        <p:spPr>
          <a:xfrm>
            <a:off x="4938840" y="345060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Web Fırsatı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 neden İnternet için mükemmeldi?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verimli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Doğrudan donanım bağımlılığı yok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Yeni yön: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Cihazlardan → tarayıcılara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Oak’tan → Java’ya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dünyaya resmen tanıtıldı.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Rectangle 113"/>
          <p:cNvSpPr/>
          <p:nvPr/>
        </p:nvSpPr>
        <p:spPr>
          <a:xfrm>
            <a:off x="1800" y="1800"/>
            <a:ext cx="1342116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114"/>
          <p:cNvSpPr/>
          <p:nvPr/>
        </p:nvSpPr>
        <p:spPr>
          <a:xfrm>
            <a:off x="18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115"/>
          <p:cNvSpPr/>
          <p:nvPr/>
        </p:nvSpPr>
        <p:spPr>
          <a:xfrm>
            <a:off x="100476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116"/>
          <p:cNvSpPr/>
          <p:nvPr/>
        </p:nvSpPr>
        <p:spPr>
          <a:xfrm>
            <a:off x="20124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117"/>
          <p:cNvSpPr/>
          <p:nvPr/>
        </p:nvSpPr>
        <p:spPr>
          <a:xfrm>
            <a:off x="30200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118"/>
          <p:cNvSpPr/>
          <p:nvPr/>
        </p:nvSpPr>
        <p:spPr>
          <a:xfrm>
            <a:off x="40276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119"/>
          <p:cNvSpPr/>
          <p:nvPr/>
        </p:nvSpPr>
        <p:spPr>
          <a:xfrm>
            <a:off x="503532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120"/>
          <p:cNvSpPr/>
          <p:nvPr/>
        </p:nvSpPr>
        <p:spPr>
          <a:xfrm>
            <a:off x="604296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21"/>
          <p:cNvSpPr/>
          <p:nvPr/>
        </p:nvSpPr>
        <p:spPr>
          <a:xfrm>
            <a:off x="70506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122"/>
          <p:cNvSpPr/>
          <p:nvPr/>
        </p:nvSpPr>
        <p:spPr>
          <a:xfrm>
            <a:off x="80582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123"/>
          <p:cNvSpPr/>
          <p:nvPr/>
        </p:nvSpPr>
        <p:spPr>
          <a:xfrm>
            <a:off x="90658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124"/>
          <p:cNvSpPr/>
          <p:nvPr/>
        </p:nvSpPr>
        <p:spPr>
          <a:xfrm>
            <a:off x="1007352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125"/>
          <p:cNvSpPr/>
          <p:nvPr/>
        </p:nvSpPr>
        <p:spPr>
          <a:xfrm>
            <a:off x="110808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126"/>
          <p:cNvSpPr/>
          <p:nvPr/>
        </p:nvSpPr>
        <p:spPr>
          <a:xfrm>
            <a:off x="120884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127"/>
          <p:cNvSpPr/>
          <p:nvPr/>
        </p:nvSpPr>
        <p:spPr>
          <a:xfrm>
            <a:off x="130960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128"/>
          <p:cNvSpPr/>
          <p:nvPr/>
        </p:nvSpPr>
        <p:spPr>
          <a:xfrm>
            <a:off x="1800" y="1800"/>
            <a:ext cx="34272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56"/>
          <p:cNvSpPr/>
          <p:nvPr/>
        </p:nvSpPr>
        <p:spPr>
          <a:xfrm>
            <a:off x="10880640" y="401400"/>
            <a:ext cx="220644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24"/>
          <p:cNvSpPr/>
          <p:nvPr/>
        </p:nvSpPr>
        <p:spPr>
          <a:xfrm>
            <a:off x="562680" y="1107720"/>
            <a:ext cx="10980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Felsefesi – Bir Kez Yaz, Her Yerde Çalıştır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TextBox 25"/>
          <p:cNvSpPr/>
          <p:nvPr/>
        </p:nvSpPr>
        <p:spPr>
          <a:xfrm>
            <a:off x="4013640" y="2266920"/>
            <a:ext cx="470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Yazılım geliştirmeyi sonsuza kadar değiştiren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Rounded Rectangle 57"/>
          <p:cNvSpPr/>
          <p:nvPr/>
        </p:nvSpPr>
        <p:spPr>
          <a:xfrm>
            <a:off x="108612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ounded Rectangle 58"/>
          <p:cNvSpPr/>
          <p:nvPr/>
        </p:nvSpPr>
        <p:spPr>
          <a:xfrm>
            <a:off x="1005840" y="3426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Vaat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Java’dan önce: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 işletim sistemi = 1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sistem için yeniden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Yüksek bakım maliyeti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kaynak kod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kez derlenen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çalışır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Ünlü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4" name="Rounded Rectangle 59"/>
          <p:cNvSpPr/>
          <p:nvPr/>
        </p:nvSpPr>
        <p:spPr>
          <a:xfrm>
            <a:off x="496620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ounded Rectangle 60"/>
          <p:cNvSpPr/>
          <p:nvPr/>
        </p:nvSpPr>
        <p:spPr>
          <a:xfrm>
            <a:off x="884556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ounded Rectangle 61"/>
          <p:cNvSpPr/>
          <p:nvPr/>
        </p:nvSpPr>
        <p:spPr>
          <a:xfrm>
            <a:off x="8763840" y="3426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"Çalıştığı sistem: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"Aynı kod. Aynı sonuç."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7" name="TextBox 27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Rounded Rectangle 62"/>
          <p:cNvSpPr/>
          <p:nvPr/>
        </p:nvSpPr>
        <p:spPr>
          <a:xfrm>
            <a:off x="4938840" y="345204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Çalışır? (Basit Anlatım)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çalışma modeli: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(her işletim sistemi için)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platformda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Rectangle 129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130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131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132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133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134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135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136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137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138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139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140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141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142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143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144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63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28"/>
          <p:cNvSpPr/>
          <p:nvPr/>
        </p:nvSpPr>
        <p:spPr>
          <a:xfrm>
            <a:off x="2558160" y="1107360"/>
            <a:ext cx="6989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Kurumsal Dünyaya Giriyor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TextBox 29"/>
          <p:cNvSpPr/>
          <p:nvPr/>
        </p:nvSpPr>
        <p:spPr>
          <a:xfrm>
            <a:off x="4201920" y="2266200"/>
            <a:ext cx="4337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büyük ölçekli sistemlere nasıl girdiği.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Rounded Rectangle 64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ounded Rectangle 65"/>
          <p:cNvSpPr/>
          <p:nvPr/>
        </p:nvSpPr>
        <p:spPr>
          <a:xfrm>
            <a:off x="100656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1990’ların sonlarında internet hızla büyüdü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Şirketlerin ölçeklenebilir yazılımlara ihtiyacı vardı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Güvenlik, kritik bir gereklilik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farklı işletim sistemlerinde çalışması gerekiyordu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sorunları şu özelliklerle çözdü: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bağımsızlık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nesne yönelimli tasarım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özellikleri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kurumsal sistemler için tercih edilen dil hâline geldi.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Rounded Rectangle 66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ounded Rectangle 67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ounded Rectangle 68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kurumsal dünyaya giriyor!");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Rounded Rectangle 69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benimsenme yolu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uygulamaları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Rectangle 145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146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147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148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149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150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151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152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153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154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155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156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157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158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159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160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70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Box 31"/>
          <p:cNvSpPr/>
          <p:nvPr/>
        </p:nvSpPr>
        <p:spPr>
          <a:xfrm>
            <a:off x="2953800" y="1107360"/>
            <a:ext cx="6199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Java Sürümleri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TextBox 32"/>
          <p:cNvSpPr/>
          <p:nvPr/>
        </p:nvSpPr>
        <p:spPr>
          <a:xfrm>
            <a:off x="4707360" y="2266200"/>
            <a:ext cx="332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adım adım nasıl ilerlediği.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Rounded Rectangle 71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ounded Rectangle 72"/>
          <p:cNvSpPr/>
          <p:nvPr/>
        </p:nvSpPr>
        <p:spPr>
          <a:xfrm>
            <a:off x="1006560" y="34243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1994’ten sonra Java yön değiştirdi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Dilin adı Oak’tan Java’ya değiştirildi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Web için geliştirilmeye başlandı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Microsystems, Java’yı herkese açık olarak yayımlamaya karar verdi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noktadan sonra Java sürümleri ortaya çıkmaya başladı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Temel fikir: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sürüm, eskilerini bozmadan Java’yı geliştirdi.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6" name="Rounded Rectangle 73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ounded Rectangle 74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ounded Rectangle 75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sürüm sürüm gelişmeye devam ediyor.");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Rounded Rectangle 76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sürümleri baştan yazım değildir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Kademeli iyileştirmelerdir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Yeni özellikler + aynı temel fikir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Felsefe: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sonsuza kadar geliştir.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Rectangle 161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162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163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164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165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166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167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168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169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170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171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172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173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174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175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176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77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Box 34"/>
          <p:cNvSpPr/>
          <p:nvPr/>
        </p:nvSpPr>
        <p:spPr>
          <a:xfrm>
            <a:off x="1916280" y="1107360"/>
            <a:ext cx="8279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Kurumsal Patlama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TextBox 35"/>
          <p:cNvSpPr/>
          <p:nvPr/>
        </p:nvSpPr>
        <p:spPr>
          <a:xfrm>
            <a:off x="3533400" y="2266200"/>
            <a:ext cx="5675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kurumsal yazılımların belkemiği hâline nasıl geldiği.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Rounded Rectangle 78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ounded Rectangle 79"/>
          <p:cNvSpPr/>
          <p:nvPr/>
        </p:nvSpPr>
        <p:spPr>
          <a:xfrm>
            <a:off x="10065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2000’lerin başı: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kullanımı patlama yaşadı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E-ticaret büyümeye başladı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 büyük ölçekli sistemlere ihtiyaç duydu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şu özelliklere sahip olması gerekiyordu: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Güvenli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Ölçeklenebilir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2" name="Rounded Rectangle 80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ounded Rectangle 81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ounded Rectangle 82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(sistemOnline)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"Kurumsal sistemler 7/24 çalışıyor."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Rounded Rectangle 83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neden bu döneme damga vurdu: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Platformu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sunucu tarafı programlama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Çok katmanlı mimari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modeli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odaklı uygulamalar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Rectangle 177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178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179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180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181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182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183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184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185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186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187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188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189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190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191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192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84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Box 37"/>
          <p:cNvSpPr/>
          <p:nvPr/>
        </p:nvSpPr>
        <p:spPr>
          <a:xfrm>
            <a:off x="1708920" y="1107360"/>
            <a:ext cx="8695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2000–2005 Arası Java Teknolojileri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TextBox 38"/>
          <p:cNvSpPr/>
          <p:nvPr/>
        </p:nvSpPr>
        <p:spPr>
          <a:xfrm>
            <a:off x="4586400" y="2266200"/>
            <a:ext cx="356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Modern kurumsal Java’nın temelleri.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Rounded Rectangle 85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ounded Rectangle 86"/>
          <p:cNvSpPr/>
          <p:nvPr/>
        </p:nvSpPr>
        <p:spPr>
          <a:xfrm>
            <a:off x="10065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8" name="Rounded Rectangle 87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ounded Rectangle 88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ounded Rectangle 89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Rounded Rectangle 90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 teknolojiler sayesinde: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Dinamik web uygulamaları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tabanlı sistemler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(transaction) yönetimi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Dağıtık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ölçekte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Rectangle 193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194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195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196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197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198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199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200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201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202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203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204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205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206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207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208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ounded Rectangle 91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Box 40"/>
          <p:cNvSpPr/>
          <p:nvPr/>
        </p:nvSpPr>
        <p:spPr>
          <a:xfrm>
            <a:off x="2097720" y="1107360"/>
            <a:ext cx="7918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Teknolojileri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TextBox 41"/>
          <p:cNvSpPr/>
          <p:nvPr/>
        </p:nvSpPr>
        <p:spPr>
          <a:xfrm>
            <a:off x="5367240" y="2266200"/>
            <a:ext cx="200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Rounded Rectangle 92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ounded Rectangle 93"/>
          <p:cNvSpPr/>
          <p:nvPr/>
        </p:nvSpPr>
        <p:spPr>
          <a:xfrm>
            <a:off x="10065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 (Ortaya çıkanlar):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(Kontrolün Tersine Çevrilmesi – IoC, Bağımlılık Enjeksiyonu – DI)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(Nesne-İlişkisel Eşleme – ORM)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(XML ağırlıklı yapılandırmaların yerini anotasyonlar aldı)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(Bileşen tabanlı kullanıcı arayüzü)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(Standart derleme ve bağımlılık yönetimi)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Rounded Rectangle 94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ounded Rectangle 95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ounded Rectangle 96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Rounded Rectangle 97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 dönem neden önemliydi: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 ağırlıklı kurumsal Java yapıları sadeleştirildi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Gereksiz tekrar kod ciddi şekilde azaldı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Gevşek bağlılık  standart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ve katmanlı mimari yaygınlaştı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üretkenlik ve esneklik kazandı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öncesi: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karmaşık, uzun, bakımı zor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sonrası: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daha temiz, modüler, framework odaklı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Rectangle 209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210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211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212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213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214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215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216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217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218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219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220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221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ectangle 222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ectangle 223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ectangle 224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ounded Rectangle 98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extBox 43"/>
          <p:cNvSpPr/>
          <p:nvPr/>
        </p:nvSpPr>
        <p:spPr>
          <a:xfrm>
            <a:off x="2808000" y="1107360"/>
            <a:ext cx="64983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ve Bulut Çağı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extBox 44"/>
          <p:cNvSpPr/>
          <p:nvPr/>
        </p:nvSpPr>
        <p:spPr>
          <a:xfrm>
            <a:off x="5367240" y="2266200"/>
            <a:ext cx="200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Rounded Rectangle 99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ounded Rectangle 100"/>
          <p:cNvSpPr/>
          <p:nvPr/>
        </p:nvSpPr>
        <p:spPr>
          <a:xfrm>
            <a:off x="10209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(Temel teknolojiler):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API’ler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 ifadeleri, Stream API)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Rounded Rectangle 101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ounded Rectangle 102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ounded Rectangle 103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Rounded Rectangle 104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Bulut uyumlu (cloud-native)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 mimarisi ile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Hızlı dağıtım (deployment)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Fonksiyonel programlama yaklaşımı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Uzun süreli destek (LTS – Long Term Support)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Rectangle 225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226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227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228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229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230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231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232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233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234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235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236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237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238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ectangle 239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ectangle 240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ounded Rectangle 105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Box 46"/>
          <p:cNvSpPr/>
          <p:nvPr/>
        </p:nvSpPr>
        <p:spPr>
          <a:xfrm>
            <a:off x="3957120" y="1107360"/>
            <a:ext cx="4198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2015 Sonrası Java: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TextBox 47"/>
          <p:cNvSpPr/>
          <p:nvPr/>
        </p:nvSpPr>
        <p:spPr>
          <a:xfrm>
            <a:off x="4066200" y="2266200"/>
            <a:ext cx="460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büyüyor: daha hızlı, daha temiz, daha akıllı.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Rounded Rectangle 106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ounded Rectangle 107"/>
          <p:cNvSpPr/>
          <p:nvPr/>
        </p:nvSpPr>
        <p:spPr>
          <a:xfrm>
            <a:off x="10209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İfadeleri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Fonksiyonel Arayüzler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(Asenkron programlama)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(değiştirilemez veri taşıyıcıları)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6" name="Rounded Rectangle 108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ounded Rectangle 109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ounded Rectangle 110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9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Rounded Rectangle 111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ifade gücü yüksek kode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az tekrar (boilerplate)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iyi performans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Paralel ve asenkron işlem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programlama paradigmaları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Okunabilirlik + sürdürülebilirlik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Öncesi: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Emredici (imperative), uzun, döngü ağırlıklı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Sonrası: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Bildirime dayalı, fonksiyonel, akıcı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Rectangle 241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242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243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244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245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246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247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248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249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250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ectangle 251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ectangle 252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ectangle 253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ectangle 254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ectangle 255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ectangle 256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ounded Rectangle 112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TextBox 49"/>
          <p:cNvSpPr/>
          <p:nvPr/>
        </p:nvSpPr>
        <p:spPr>
          <a:xfrm>
            <a:off x="1362960" y="1107360"/>
            <a:ext cx="93891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Bugünün Java’sı: Kurumsal, Bulut ve Ötesi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TextBox 50"/>
          <p:cNvSpPr/>
          <p:nvPr/>
        </p:nvSpPr>
        <p:spPr>
          <a:xfrm>
            <a:off x="4168080" y="2266200"/>
            <a:ext cx="440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artık sadece kurumsal değil — her yerde.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Rounded Rectangle 113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ounded Rectangle 114"/>
          <p:cNvSpPr/>
          <p:nvPr/>
        </p:nvSpPr>
        <p:spPr>
          <a:xfrm>
            <a:off x="10209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Bulut-yerel (cloud-native) backend’ler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performanslı API’ler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Finansal sistemler ve bankacılık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veri ve akış (streaming) platformları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(çekirdek dil temelleri)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Oyun sunucuları ve gerçek zamanlı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2" name="Rounded Rectangle 115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ounded Rectangle 116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ounded Rectangle 117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ResponseEntity.ok("Servis çalışıyor");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5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Rounded Rectangle 118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Modern Java Ekosistemi;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Reaktif programlama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Kubernetes-yerel dağıtımlar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Image’lar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Gözlemlenebilirlik (metrikler, izleme/tracing)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Uzun dönem destek (LTS) kararlılığı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Rectangle 257"/>
          <p:cNvSpPr/>
          <p:nvPr/>
        </p:nvSpPr>
        <p:spPr>
          <a:xfrm>
            <a:off x="16920" y="1800"/>
            <a:ext cx="1342836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ectangle 258"/>
          <p:cNvSpPr/>
          <p:nvPr/>
        </p:nvSpPr>
        <p:spPr>
          <a:xfrm>
            <a:off x="144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9" name="Rectangle 259"/>
          <p:cNvSpPr/>
          <p:nvPr/>
        </p:nvSpPr>
        <p:spPr>
          <a:xfrm>
            <a:off x="100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260"/>
          <p:cNvSpPr/>
          <p:nvPr/>
        </p:nvSpPr>
        <p:spPr>
          <a:xfrm>
            <a:off x="201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ectangle 261"/>
          <p:cNvSpPr/>
          <p:nvPr/>
        </p:nvSpPr>
        <p:spPr>
          <a:xfrm>
            <a:off x="302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ectangle 262"/>
          <p:cNvSpPr/>
          <p:nvPr/>
        </p:nvSpPr>
        <p:spPr>
          <a:xfrm>
            <a:off x="402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ectangle 263"/>
          <p:cNvSpPr/>
          <p:nvPr/>
        </p:nvSpPr>
        <p:spPr>
          <a:xfrm>
            <a:off x="503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4" name="Rectangle 264"/>
          <p:cNvSpPr/>
          <p:nvPr/>
        </p:nvSpPr>
        <p:spPr>
          <a:xfrm>
            <a:off x="604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ectangle 265"/>
          <p:cNvSpPr/>
          <p:nvPr/>
        </p:nvSpPr>
        <p:spPr>
          <a:xfrm>
            <a:off x="705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ectangle 266"/>
          <p:cNvSpPr/>
          <p:nvPr/>
        </p:nvSpPr>
        <p:spPr>
          <a:xfrm>
            <a:off x="806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ectangle 267"/>
          <p:cNvSpPr/>
          <p:nvPr/>
        </p:nvSpPr>
        <p:spPr>
          <a:xfrm>
            <a:off x="906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ectangle 268"/>
          <p:cNvSpPr/>
          <p:nvPr/>
        </p:nvSpPr>
        <p:spPr>
          <a:xfrm>
            <a:off x="1007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ectangle 269"/>
          <p:cNvSpPr/>
          <p:nvPr/>
        </p:nvSpPr>
        <p:spPr>
          <a:xfrm>
            <a:off x="1108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ectangle 270"/>
          <p:cNvSpPr/>
          <p:nvPr/>
        </p:nvSpPr>
        <p:spPr>
          <a:xfrm>
            <a:off x="1209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1" name="Rectangle 271"/>
          <p:cNvSpPr/>
          <p:nvPr/>
        </p:nvSpPr>
        <p:spPr>
          <a:xfrm>
            <a:off x="1310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2" name="Rectangle 272"/>
          <p:cNvSpPr/>
          <p:nvPr/>
        </p:nvSpPr>
        <p:spPr>
          <a:xfrm>
            <a:off x="1440" y="1800"/>
            <a:ext cx="34452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ounded Rectangle 119"/>
          <p:cNvSpPr/>
          <p:nvPr/>
        </p:nvSpPr>
        <p:spPr>
          <a:xfrm>
            <a:off x="10884960" y="401400"/>
            <a:ext cx="220896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4" name="TextBox 52"/>
          <p:cNvSpPr/>
          <p:nvPr/>
        </p:nvSpPr>
        <p:spPr>
          <a:xfrm>
            <a:off x="2818440" y="1107360"/>
            <a:ext cx="6478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Pratik: Fikirden Koda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TextBox 53"/>
          <p:cNvSpPr/>
          <p:nvPr/>
        </p:nvSpPr>
        <p:spPr>
          <a:xfrm>
            <a:off x="2823120" y="2266200"/>
            <a:ext cx="7092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fikirleri temiz, düzenli ve sürdürülebilir koda dönüştürmeye odaklanır.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Rounded Rectangle 120"/>
          <p:cNvSpPr/>
          <p:nvPr/>
        </p:nvSpPr>
        <p:spPr>
          <a:xfrm>
            <a:off x="108684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ounded Rectangle 121"/>
          <p:cNvSpPr/>
          <p:nvPr/>
        </p:nvSpPr>
        <p:spPr>
          <a:xfrm>
            <a:off x="1020960" y="342432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okunabilirliği ve yapısal düzeni ön planda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tip sistemi, birçok çalışma zamanı hatasını önler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 okunabilirliği, uzun vadeli bakımı kolaylaştırır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ve uzun ömürlü sistemler için uygundur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8" name="Rounded Rectangle 122"/>
          <p:cNvSpPr/>
          <p:nvPr/>
        </p:nvSpPr>
        <p:spPr>
          <a:xfrm>
            <a:off x="49683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ounded Rectangle 123"/>
          <p:cNvSpPr/>
          <p:nvPr/>
        </p:nvSpPr>
        <p:spPr>
          <a:xfrm>
            <a:off x="88491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ounded Rectangle 124"/>
          <p:cNvSpPr/>
          <p:nvPr/>
        </p:nvSpPr>
        <p:spPr>
          <a:xfrm>
            <a:off x="876744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1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Rounded Rectangle 125"/>
          <p:cNvSpPr/>
          <p:nvPr/>
        </p:nvSpPr>
        <p:spPr>
          <a:xfrm>
            <a:off x="4941000" y="345096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Tanımı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Çözüm Planlaması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Sınıf ve Metot Tasarımı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Uygulama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 Çalıştırılması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Rectangle 273"/>
          <p:cNvSpPr/>
          <p:nvPr/>
        </p:nvSpPr>
        <p:spPr>
          <a:xfrm>
            <a:off x="16920" y="1800"/>
            <a:ext cx="1342836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ectangle 274"/>
          <p:cNvSpPr/>
          <p:nvPr/>
        </p:nvSpPr>
        <p:spPr>
          <a:xfrm>
            <a:off x="144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5" name="Rectangle 275"/>
          <p:cNvSpPr/>
          <p:nvPr/>
        </p:nvSpPr>
        <p:spPr>
          <a:xfrm>
            <a:off x="100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276"/>
          <p:cNvSpPr/>
          <p:nvPr/>
        </p:nvSpPr>
        <p:spPr>
          <a:xfrm>
            <a:off x="201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ectangle 277"/>
          <p:cNvSpPr/>
          <p:nvPr/>
        </p:nvSpPr>
        <p:spPr>
          <a:xfrm>
            <a:off x="302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ectangle 278"/>
          <p:cNvSpPr/>
          <p:nvPr/>
        </p:nvSpPr>
        <p:spPr>
          <a:xfrm>
            <a:off x="402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ectangle 279"/>
          <p:cNvSpPr/>
          <p:nvPr/>
        </p:nvSpPr>
        <p:spPr>
          <a:xfrm>
            <a:off x="503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ectangle 280"/>
          <p:cNvSpPr/>
          <p:nvPr/>
        </p:nvSpPr>
        <p:spPr>
          <a:xfrm>
            <a:off x="604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ectangle 281"/>
          <p:cNvSpPr/>
          <p:nvPr/>
        </p:nvSpPr>
        <p:spPr>
          <a:xfrm>
            <a:off x="705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ectangle 282"/>
          <p:cNvSpPr/>
          <p:nvPr/>
        </p:nvSpPr>
        <p:spPr>
          <a:xfrm>
            <a:off x="806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ectangle 283"/>
          <p:cNvSpPr/>
          <p:nvPr/>
        </p:nvSpPr>
        <p:spPr>
          <a:xfrm>
            <a:off x="906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ectangle 284"/>
          <p:cNvSpPr/>
          <p:nvPr/>
        </p:nvSpPr>
        <p:spPr>
          <a:xfrm>
            <a:off x="1007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ectangle 285"/>
          <p:cNvSpPr/>
          <p:nvPr/>
        </p:nvSpPr>
        <p:spPr>
          <a:xfrm>
            <a:off x="1108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ectangle 286"/>
          <p:cNvSpPr/>
          <p:nvPr/>
        </p:nvSpPr>
        <p:spPr>
          <a:xfrm>
            <a:off x="1209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7" name="Rectangle 287"/>
          <p:cNvSpPr/>
          <p:nvPr/>
        </p:nvSpPr>
        <p:spPr>
          <a:xfrm>
            <a:off x="1310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8" name="Rectangle 288"/>
          <p:cNvSpPr/>
          <p:nvPr/>
        </p:nvSpPr>
        <p:spPr>
          <a:xfrm>
            <a:off x="1440" y="1800"/>
            <a:ext cx="34452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ounded Rectangle 126"/>
          <p:cNvSpPr/>
          <p:nvPr/>
        </p:nvSpPr>
        <p:spPr>
          <a:xfrm>
            <a:off x="10884960" y="401400"/>
            <a:ext cx="220896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0" name="TextBox 55"/>
          <p:cNvSpPr/>
          <p:nvPr/>
        </p:nvSpPr>
        <p:spPr>
          <a:xfrm>
            <a:off x="1771920" y="1107360"/>
            <a:ext cx="8572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Çekirdek Özellikleri – Genel Bakış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TextBox 56"/>
          <p:cNvSpPr/>
          <p:nvPr/>
        </p:nvSpPr>
        <p:spPr>
          <a:xfrm>
            <a:off x="3605040" y="2266200"/>
            <a:ext cx="5528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şekillendiren temel özelliklere ilk bakış.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Rounded Rectangle 127"/>
          <p:cNvSpPr/>
          <p:nvPr/>
        </p:nvSpPr>
        <p:spPr>
          <a:xfrm>
            <a:off x="108684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3" name="Rounded Rectangle 128"/>
          <p:cNvSpPr/>
          <p:nvPr/>
        </p:nvSpPr>
        <p:spPr>
          <a:xfrm>
            <a:off x="1020960" y="342432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geliştiricilerin programları anlaşılır, yapılı ve öngörülebilir bir şekilde yazmasına yardımcı olan bir dizi çekirdek özellikle tasarlanmıştır.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özellikler, yaygın programlama hatalarını azaltır, kodun okunabilirliğini artırır ve uygulamaların zaman içinde daha kolay bakımını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Düşük seviyeli sistem detaylarına odaklanmak yerine, Java geliştiricilerin program mantığına ve problem çözmeye yoğunlaşmasına olanak tanır..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4" name="Rounded Rectangle 129"/>
          <p:cNvSpPr/>
          <p:nvPr/>
        </p:nvSpPr>
        <p:spPr>
          <a:xfrm>
            <a:off x="49683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5" name="Rounded Rectangle 130"/>
          <p:cNvSpPr/>
          <p:nvPr/>
        </p:nvSpPr>
        <p:spPr>
          <a:xfrm>
            <a:off x="88491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6" name="Rounded Rectangle 131"/>
          <p:cNvSpPr/>
          <p:nvPr/>
        </p:nvSpPr>
        <p:spPr>
          <a:xfrm>
            <a:off x="876744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 sayı");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7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Rounded Rectangle 132"/>
          <p:cNvSpPr/>
          <p:nvPr/>
        </p:nvSpPr>
        <p:spPr>
          <a:xfrm>
            <a:off x="4941000" y="345096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Ne yapmak istiyorum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izin verdikleri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Nasıl yazmam gerekir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çalıştırılır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Ne elde ederim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Rectangle 289"/>
          <p:cNvSpPr/>
          <p:nvPr/>
        </p:nvSpPr>
        <p:spPr>
          <a:xfrm>
            <a:off x="16920" y="1800"/>
            <a:ext cx="1342836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0" name="Rectangle 290"/>
          <p:cNvSpPr/>
          <p:nvPr/>
        </p:nvSpPr>
        <p:spPr>
          <a:xfrm>
            <a:off x="144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1" name="Rectangle 291"/>
          <p:cNvSpPr/>
          <p:nvPr/>
        </p:nvSpPr>
        <p:spPr>
          <a:xfrm>
            <a:off x="100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2" name="Rectangle 292"/>
          <p:cNvSpPr/>
          <p:nvPr/>
        </p:nvSpPr>
        <p:spPr>
          <a:xfrm>
            <a:off x="201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3" name="Rectangle 293"/>
          <p:cNvSpPr/>
          <p:nvPr/>
        </p:nvSpPr>
        <p:spPr>
          <a:xfrm>
            <a:off x="302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ectangle 294"/>
          <p:cNvSpPr/>
          <p:nvPr/>
        </p:nvSpPr>
        <p:spPr>
          <a:xfrm>
            <a:off x="402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5" name="Rectangle 295"/>
          <p:cNvSpPr/>
          <p:nvPr/>
        </p:nvSpPr>
        <p:spPr>
          <a:xfrm>
            <a:off x="503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6" name="Rectangle 296"/>
          <p:cNvSpPr/>
          <p:nvPr/>
        </p:nvSpPr>
        <p:spPr>
          <a:xfrm>
            <a:off x="604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7" name="Rectangle 297"/>
          <p:cNvSpPr/>
          <p:nvPr/>
        </p:nvSpPr>
        <p:spPr>
          <a:xfrm>
            <a:off x="705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ectangle 298"/>
          <p:cNvSpPr/>
          <p:nvPr/>
        </p:nvSpPr>
        <p:spPr>
          <a:xfrm>
            <a:off x="806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9" name="Rectangle 299"/>
          <p:cNvSpPr/>
          <p:nvPr/>
        </p:nvSpPr>
        <p:spPr>
          <a:xfrm>
            <a:off x="906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0" name="Rectangle 300"/>
          <p:cNvSpPr/>
          <p:nvPr/>
        </p:nvSpPr>
        <p:spPr>
          <a:xfrm>
            <a:off x="1007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ectangle 301"/>
          <p:cNvSpPr/>
          <p:nvPr/>
        </p:nvSpPr>
        <p:spPr>
          <a:xfrm>
            <a:off x="1108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ectangle 302"/>
          <p:cNvSpPr/>
          <p:nvPr/>
        </p:nvSpPr>
        <p:spPr>
          <a:xfrm>
            <a:off x="1209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3" name="Rectangle 303"/>
          <p:cNvSpPr/>
          <p:nvPr/>
        </p:nvSpPr>
        <p:spPr>
          <a:xfrm>
            <a:off x="1310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4" name="Rectangle 304"/>
          <p:cNvSpPr/>
          <p:nvPr/>
        </p:nvSpPr>
        <p:spPr>
          <a:xfrm>
            <a:off x="1440" y="1800"/>
            <a:ext cx="34452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5" name="Rounded Rectangle 133"/>
          <p:cNvSpPr/>
          <p:nvPr/>
        </p:nvSpPr>
        <p:spPr>
          <a:xfrm>
            <a:off x="10884960" y="401400"/>
            <a:ext cx="220896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6" name="TextBox 58"/>
          <p:cNvSpPr/>
          <p:nvPr/>
        </p:nvSpPr>
        <p:spPr>
          <a:xfrm>
            <a:off x="4195440" y="1107360"/>
            <a:ext cx="3723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Nesne Yönelimli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TextBox 59"/>
          <p:cNvSpPr/>
          <p:nvPr/>
        </p:nvSpPr>
        <p:spPr>
          <a:xfrm>
            <a:off x="1016640" y="2266200"/>
            <a:ext cx="10707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nesne yönelimli bir programlama dilidir.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Bu, Java programlarının gerçek dünyadaki varlıkları temsil eden nesneler kullanılarak oluşturulduğu anlamına gelir.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Rounded Rectangle 134"/>
          <p:cNvSpPr/>
          <p:nvPr/>
        </p:nvSpPr>
        <p:spPr>
          <a:xfrm>
            <a:off x="108684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9" name="Rounded Rectangle 135"/>
          <p:cNvSpPr/>
          <p:nvPr/>
        </p:nvSpPr>
        <p:spPr>
          <a:xfrm>
            <a:off x="1020960" y="342432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her şey sınıflar ve nesneler üzerine kuruludur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sınıf bir şablondur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nesne, bir sınıfın gerçek (somut) örneğidir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OOP, programların daha kolay anlaşılmasını ve yönetilmesini sağlar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of real-world objects: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Araba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Öğrenci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0" name="Rounded Rectangle 136"/>
          <p:cNvSpPr/>
          <p:nvPr/>
        </p:nvSpPr>
        <p:spPr>
          <a:xfrm>
            <a:off x="49683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1" name="Rounded Rectangle 137"/>
          <p:cNvSpPr/>
          <p:nvPr/>
        </p:nvSpPr>
        <p:spPr>
          <a:xfrm>
            <a:off x="88491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2" name="Rounded Rectangle 138"/>
          <p:cNvSpPr/>
          <p:nvPr/>
        </p:nvSpPr>
        <p:spPr>
          <a:xfrm>
            <a:off x="876744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class Car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model;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color;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3" name="TextBox 6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Rounded Rectangle 139"/>
          <p:cNvSpPr/>
          <p:nvPr/>
        </p:nvSpPr>
        <p:spPr>
          <a:xfrm>
            <a:off x="4941000" y="345096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Dünya Nesnesi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Nesene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Mantığı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Açıklama: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Önce bir sınıf tanımlarız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Sonra o sınıftan nesneler oluştururuz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program içinde kullanılır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Rectangle 305"/>
          <p:cNvSpPr/>
          <p:nvPr/>
        </p:nvSpPr>
        <p:spPr>
          <a:xfrm>
            <a:off x="16920" y="1800"/>
            <a:ext cx="1342836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6" name="Rectangle 306"/>
          <p:cNvSpPr/>
          <p:nvPr/>
        </p:nvSpPr>
        <p:spPr>
          <a:xfrm>
            <a:off x="144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7" name="Rectangle 307"/>
          <p:cNvSpPr/>
          <p:nvPr/>
        </p:nvSpPr>
        <p:spPr>
          <a:xfrm>
            <a:off x="100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8" name="Rectangle 308"/>
          <p:cNvSpPr/>
          <p:nvPr/>
        </p:nvSpPr>
        <p:spPr>
          <a:xfrm>
            <a:off x="201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9" name="Rectangle 309"/>
          <p:cNvSpPr/>
          <p:nvPr/>
        </p:nvSpPr>
        <p:spPr>
          <a:xfrm>
            <a:off x="302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ectangle 310"/>
          <p:cNvSpPr/>
          <p:nvPr/>
        </p:nvSpPr>
        <p:spPr>
          <a:xfrm>
            <a:off x="402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1" name="Rectangle 311"/>
          <p:cNvSpPr/>
          <p:nvPr/>
        </p:nvSpPr>
        <p:spPr>
          <a:xfrm>
            <a:off x="503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2" name="Rectangle 312"/>
          <p:cNvSpPr/>
          <p:nvPr/>
        </p:nvSpPr>
        <p:spPr>
          <a:xfrm>
            <a:off x="604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3" name="Rectangle 313"/>
          <p:cNvSpPr/>
          <p:nvPr/>
        </p:nvSpPr>
        <p:spPr>
          <a:xfrm>
            <a:off x="705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ectangle 314"/>
          <p:cNvSpPr/>
          <p:nvPr/>
        </p:nvSpPr>
        <p:spPr>
          <a:xfrm>
            <a:off x="806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5" name="Rectangle 315"/>
          <p:cNvSpPr/>
          <p:nvPr/>
        </p:nvSpPr>
        <p:spPr>
          <a:xfrm>
            <a:off x="906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6" name="Rectangle 316"/>
          <p:cNvSpPr/>
          <p:nvPr/>
        </p:nvSpPr>
        <p:spPr>
          <a:xfrm>
            <a:off x="1007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ectangle 317"/>
          <p:cNvSpPr/>
          <p:nvPr/>
        </p:nvSpPr>
        <p:spPr>
          <a:xfrm>
            <a:off x="1108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ectangle 318"/>
          <p:cNvSpPr/>
          <p:nvPr/>
        </p:nvSpPr>
        <p:spPr>
          <a:xfrm>
            <a:off x="1209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9" name="Rectangle 319"/>
          <p:cNvSpPr/>
          <p:nvPr/>
        </p:nvSpPr>
        <p:spPr>
          <a:xfrm>
            <a:off x="1310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0" name="Rectangle 320"/>
          <p:cNvSpPr/>
          <p:nvPr/>
        </p:nvSpPr>
        <p:spPr>
          <a:xfrm>
            <a:off x="1440" y="1800"/>
            <a:ext cx="34452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1" name="Rounded Rectangle 140"/>
          <p:cNvSpPr/>
          <p:nvPr/>
        </p:nvSpPr>
        <p:spPr>
          <a:xfrm>
            <a:off x="10884960" y="401400"/>
            <a:ext cx="220896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2" name="TextBox 61"/>
          <p:cNvSpPr/>
          <p:nvPr/>
        </p:nvSpPr>
        <p:spPr>
          <a:xfrm>
            <a:off x="4156560" y="1107360"/>
            <a:ext cx="3802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Güvenli (Secure)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TextBox 62"/>
          <p:cNvSpPr/>
          <p:nvPr/>
        </p:nvSpPr>
        <p:spPr>
          <a:xfrm>
            <a:off x="945720" y="2266200"/>
            <a:ext cx="108475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güvenli bir programlama dili olacak şekilde tasarlanmıştır.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Geliştiricilerin virüssüz ve kurcalamaya karşı dayanıklı uygulamalar geliştirmesine olanak tanır.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güvenliği; açık anahtar şifreleme, bytecode doğrulama ve kontrollü bellek erişimi gibi güçlü kavramlara dayanır.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Rounded Rectangle 141"/>
          <p:cNvSpPr/>
          <p:nvPr/>
        </p:nvSpPr>
        <p:spPr>
          <a:xfrm>
            <a:off x="108684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5" name="Rounded Rectangle 142"/>
          <p:cNvSpPr/>
          <p:nvPr/>
        </p:nvSpPr>
        <p:spPr>
          <a:xfrm>
            <a:off x="1020960" y="342432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doğrudan bellek erişimine izin vermez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C/C++’taki gibi pointer (işaretçi) kullanımı yoktur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Programlar Java Virtual Machine (JVM) içinde çalışır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Bytecode, çalıştırılmadan önce doğrulanır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Yaygın sorunlar büyük ölçüde engellenir: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- Bellek sızıntıları (memory leaks)</a:t>
            </a:r>
            <a:br>
              <a:rPr sz="1300"/>
            </a:b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- Buffer overflow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Ek Güvenlik Avantajları: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exception (istisna) yönetimi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çöp toplama (Garbage Collection)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sınıf yükleme mekanizması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6" name="Rounded Rectangle 143"/>
          <p:cNvSpPr/>
          <p:nvPr/>
        </p:nvSpPr>
        <p:spPr>
          <a:xfrm>
            <a:off x="49683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7" name="Rounded Rectangle 144"/>
          <p:cNvSpPr/>
          <p:nvPr/>
        </p:nvSpPr>
        <p:spPr>
          <a:xfrm>
            <a:off x="88491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8" name="Rounded Rectangle 145"/>
          <p:cNvSpPr/>
          <p:nvPr/>
        </p:nvSpPr>
        <p:spPr>
          <a:xfrm>
            <a:off x="876744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SecureExample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try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 / 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 catch (Exception e)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System.out.println("Hata güvenli şekilde yakalandı");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9" name="TextBox 6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Rounded Rectangle 146"/>
          <p:cNvSpPr/>
          <p:nvPr/>
        </p:nvSpPr>
        <p:spPr>
          <a:xfrm>
            <a:off x="4941000" y="345096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Bytecode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JVM Güvenlik Kontrolü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Çalıştırma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Rectangle 321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2" name="Rectangle 322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3" name="Rectangle 323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4" name="Rectangle 324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5" name="Rectangle 325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6" name="Rectangle 326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7" name="Rectangle 327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8" name="Rectangle 328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9" name="Rectangle 329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0" name="Rectangle 330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1" name="Rectangle 331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2" name="Rectangle 332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3" name="Rectangle 333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4" name="Rectangle 334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5" name="Rectangle 335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6" name="Rectangle 336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7" name="Rounded Rectangle 147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8" name="TextBox 64"/>
          <p:cNvSpPr/>
          <p:nvPr/>
        </p:nvSpPr>
        <p:spPr>
          <a:xfrm>
            <a:off x="3147120" y="1107360"/>
            <a:ext cx="5821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Interpreted (Yorumlanan)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TextBox 65"/>
          <p:cNvSpPr/>
          <p:nvPr/>
        </p:nvSpPr>
        <p:spPr>
          <a:xfrm>
            <a:off x="2014560" y="2266200"/>
            <a:ext cx="8709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kodu, doğrudan donanım üzerinde çalıştırılmak yerine ara bir adım üzerinden yürütülür.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Rounded Rectangle 148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1" name="Rounded Rectangle 149"/>
          <p:cNvSpPr/>
          <p:nvPr/>
        </p:nvSpPr>
        <p:spPr>
          <a:xfrm>
            <a:off x="10209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önce makine koduna değil, Bytecode’a derlenir.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Bytecode, program çalışırken anlık olarak (on the fly) yerel makine talimatlarına çevrilir.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Çevrilen bu talimatlar kalıcı olarak saklanmaz.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model sayesinde: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Geliştirme süreci daha hızlıdır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Derleme ve bağlama (linking) işlemleri hafiftir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Kod analizi ve hata ayıklama daha kolay hale gelir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2" name="Rounded Rectangle 150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3" name="Rounded Rectangle 151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4" name="Rounded Rectangle 152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InterpretedExample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JVM üzerinden çalışır");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5" name="TextBox 6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Rounded Rectangle 153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Nasıl Çalışır?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Talimatları (çalışma zamanı)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Rectangle 337"/>
          <p:cNvSpPr/>
          <p:nvPr/>
        </p:nvSpPr>
        <p:spPr>
          <a:xfrm>
            <a:off x="17280" y="1800"/>
            <a:ext cx="13424400" cy="7555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8" name="Rectangle 338"/>
          <p:cNvSpPr/>
          <p:nvPr/>
        </p:nvSpPr>
        <p:spPr>
          <a:xfrm>
            <a:off x="1800" y="1800"/>
            <a:ext cx="1296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9" name="Rectangle 339"/>
          <p:cNvSpPr/>
          <p:nvPr/>
        </p:nvSpPr>
        <p:spPr>
          <a:xfrm>
            <a:off x="1005120" y="1800"/>
            <a:ext cx="1296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0" name="Rectangle 340"/>
          <p:cNvSpPr/>
          <p:nvPr/>
        </p:nvSpPr>
        <p:spPr>
          <a:xfrm>
            <a:off x="2012760" y="1800"/>
            <a:ext cx="1296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1" name="Rectangle 341"/>
          <p:cNvSpPr/>
          <p:nvPr/>
        </p:nvSpPr>
        <p:spPr>
          <a:xfrm>
            <a:off x="3020400" y="1800"/>
            <a:ext cx="1296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2" name="Rectangle 342"/>
          <p:cNvSpPr/>
          <p:nvPr/>
        </p:nvSpPr>
        <p:spPr>
          <a:xfrm>
            <a:off x="4028040" y="1800"/>
            <a:ext cx="1296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3" name="Rectangle 343"/>
          <p:cNvSpPr/>
          <p:nvPr/>
        </p:nvSpPr>
        <p:spPr>
          <a:xfrm>
            <a:off x="5035680" y="1800"/>
            <a:ext cx="1296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4" name="Rectangle 344"/>
          <p:cNvSpPr/>
          <p:nvPr/>
        </p:nvSpPr>
        <p:spPr>
          <a:xfrm>
            <a:off x="6043320" y="1800"/>
            <a:ext cx="1296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5" name="Rectangle 345"/>
          <p:cNvSpPr/>
          <p:nvPr/>
        </p:nvSpPr>
        <p:spPr>
          <a:xfrm>
            <a:off x="7050960" y="1800"/>
            <a:ext cx="1296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6" name="Rectangle 346"/>
          <p:cNvSpPr/>
          <p:nvPr/>
        </p:nvSpPr>
        <p:spPr>
          <a:xfrm>
            <a:off x="8058600" y="1800"/>
            <a:ext cx="1296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7" name="Rectangle 347"/>
          <p:cNvSpPr/>
          <p:nvPr/>
        </p:nvSpPr>
        <p:spPr>
          <a:xfrm>
            <a:off x="9066240" y="1800"/>
            <a:ext cx="1296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8" name="Rectangle 348"/>
          <p:cNvSpPr/>
          <p:nvPr/>
        </p:nvSpPr>
        <p:spPr>
          <a:xfrm>
            <a:off x="10074240" y="1800"/>
            <a:ext cx="1296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9" name="Rectangle 349"/>
          <p:cNvSpPr/>
          <p:nvPr/>
        </p:nvSpPr>
        <p:spPr>
          <a:xfrm>
            <a:off x="11081880" y="1800"/>
            <a:ext cx="1296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0" name="Rectangle 350"/>
          <p:cNvSpPr/>
          <p:nvPr/>
        </p:nvSpPr>
        <p:spPr>
          <a:xfrm>
            <a:off x="12089520" y="1800"/>
            <a:ext cx="1296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1" name="Rectangle 351"/>
          <p:cNvSpPr/>
          <p:nvPr/>
        </p:nvSpPr>
        <p:spPr>
          <a:xfrm>
            <a:off x="13097160" y="1800"/>
            <a:ext cx="1296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2" name="Rectangle 352"/>
          <p:cNvSpPr/>
          <p:nvPr/>
        </p:nvSpPr>
        <p:spPr>
          <a:xfrm>
            <a:off x="1800" y="1800"/>
            <a:ext cx="344880" cy="7555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3" name="Rounded Rectangle 154"/>
          <p:cNvSpPr/>
          <p:nvPr/>
        </p:nvSpPr>
        <p:spPr>
          <a:xfrm>
            <a:off x="10881360" y="401400"/>
            <a:ext cx="220860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4" name="TextBox 67"/>
          <p:cNvSpPr/>
          <p:nvPr/>
        </p:nvSpPr>
        <p:spPr>
          <a:xfrm>
            <a:off x="2183400" y="1107720"/>
            <a:ext cx="77446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Yüksek Performans ve Dağıtık Yapı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TextBox 68"/>
          <p:cNvSpPr/>
          <p:nvPr/>
        </p:nvSpPr>
        <p:spPr>
          <a:xfrm>
            <a:off x="2557440" y="2266920"/>
            <a:ext cx="7621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çekirdek tasarımında performans ve ağ (network) desteğini bir arada sunar.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Rounded Rectangle 155"/>
          <p:cNvSpPr/>
          <p:nvPr/>
        </p:nvSpPr>
        <p:spPr>
          <a:xfrm>
            <a:off x="1086480" y="350748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7" name="Rounded Rectangle 156"/>
          <p:cNvSpPr/>
          <p:nvPr/>
        </p:nvSpPr>
        <p:spPr>
          <a:xfrm>
            <a:off x="1020600" y="2972880"/>
            <a:ext cx="3620160" cy="347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 (High Performance)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Just-In-Time (JIT) derleme kullanarak yüksek performans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JVM, program çalışırken sık kullanılan Bytecode’u optimize edilmiş yerel makine koduna dönüştürür.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Yaygın JIT optimizasyonları şunlardır: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Metot içe alma (Method inlining)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Ölü kodların kaldırılması (Dead code elimination)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katlama (Constant folding)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Optimize edilmiş metot çağrıları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Zamanla daha hızlı çalışma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Yerel (native) performansa yakın hız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8" name="Rounded Rectangle 157"/>
          <p:cNvSpPr/>
          <p:nvPr/>
        </p:nvSpPr>
        <p:spPr>
          <a:xfrm>
            <a:off x="4966560" y="350748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9" name="Rounded Rectangle 158"/>
          <p:cNvSpPr/>
          <p:nvPr/>
        </p:nvSpPr>
        <p:spPr>
          <a:xfrm>
            <a:off x="8846280" y="350748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0" name="Rounded Rectangle 159"/>
          <p:cNvSpPr/>
          <p:nvPr/>
        </p:nvSpPr>
        <p:spPr>
          <a:xfrm>
            <a:off x="8764560" y="342648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PerformanceDemo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System.out.println("Hızlı ve dağıtık Java uygulamaları");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1" name="TextBox 69"/>
          <p:cNvSpPr/>
          <p:nvPr/>
        </p:nvSpPr>
        <p:spPr>
          <a:xfrm>
            <a:off x="5222160" y="710748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Rounded Rectangle 160"/>
          <p:cNvSpPr/>
          <p:nvPr/>
        </p:nvSpPr>
        <p:spPr>
          <a:xfrm>
            <a:off x="4939200" y="345240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Dağıtık (Distributed);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Java, özellikle İnternet için tasarlanmış dağıtık ortamları destekler.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Yerleşik olarak şu özellikleri sunar: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Ağ iletişimi (Networking)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Uzak metot çağrıları (Remote method calls)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Dağıtık sistemler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uygulamaları, ağ üzerinden kolayca iletişim kurabilir ve birden fazla makinede çalışabilir.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Rectangle 353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4" name="Rectangle 354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5" name="Rectangle 355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6" name="Rectangle 356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7" name="Rectangle 357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8" name="Rectangle 358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9" name="Rectangle 359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0" name="Rectangle 360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1" name="Rectangle 361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2" name="Rectangle 362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3" name="Rectangle 363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4" name="Rectangle 364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5" name="Rectangle 365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6" name="Rectangle 366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7" name="Rectangle 367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8" name="Rectangle 368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9" name="Rounded Rectangle 161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0" name="TextBox 70"/>
          <p:cNvSpPr/>
          <p:nvPr/>
        </p:nvSpPr>
        <p:spPr>
          <a:xfrm>
            <a:off x="2409480" y="1107360"/>
            <a:ext cx="72957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Diğer Önemli Özellikleri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TextBox 71"/>
          <p:cNvSpPr/>
          <p:nvPr/>
        </p:nvSpPr>
        <p:spPr>
          <a:xfrm>
            <a:off x="923400" y="2266200"/>
            <a:ext cx="10893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geliştiricilerin temiz, kararlı ve sürdürülebilir programlar yazmasına yardımcı olan birçok benzersiz özellik sunar.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Rounded Rectangle 162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3" name="Rounded Rectangle 163"/>
          <p:cNvSpPr/>
          <p:nvPr/>
        </p:nvSpPr>
        <p:spPr>
          <a:xfrm>
            <a:off x="1020960" y="2743200"/>
            <a:ext cx="3620520" cy="422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Basit ve Öğrenmesi Kolay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açık ve okunabilir bir sözdizimine sahiptir.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Pointer (işaretçi) gibi karmaşık yapılar kaldırıldığı için, özellikle yeni başlayanlar için öğrenmesi daha kolaydır..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Tip Denetimi (Strongly Typed)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değişkenin tanımlı bir veri tipi vardır.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hatalar çalışma zamanında değil, derleme zamanında tespit edilir.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bellek yönetimini Garbage Collection kullanarak otomatik olarak yapar.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Geliştiricilerin belleği manuel olarak serbest bırakmasına gerek yoktur.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Çoklu İş Parçacığı Desteği (Multithreading)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çoklu iş parçacığı desteği sunar.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programlar aynı anda birden fazla görevi yerine getirebilir.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Zengin Standart Kütüphane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Java; koleksiyonlar, dosya işlemleri, ağ programlama ve daha fazlası için geniş bir yerleşik kütüphane seti sunar.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4" name="Rounded Rectangle 164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5" name="Rounded Rectangle 165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6" name="Rounded Rectangle 166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güçlü tip sistemi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kolay ve güçlüdür");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7" name="TextBox 7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Rounded Rectangle 167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Basit Sözdizimi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Öğrenmesi Kolay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Güçlü Tip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Otomatik Bellek Yönetimi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Çoklu İş Parçacığı Desteği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Zengin Standart Kütüphane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Temiz ve Sürdürülebilir Java Programları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Rectangle 369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0" name="Rectangle 370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1" name="Rectangle 371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2" name="Rectangle 372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3" name="Rectangle 373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4" name="Rectangle 374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5" name="Rectangle 375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6" name="Rectangle 376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7" name="Rectangle 377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8" name="Rectangle 378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9" name="Rectangle 379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0" name="Rectangle 380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1" name="Rectangle 381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2" name="Rectangle 382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3" name="Rectangle 383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4" name="Rectangle 384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5" name="Rounded Rectangle 168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6" name="TextBox 73"/>
          <p:cNvSpPr/>
          <p:nvPr/>
        </p:nvSpPr>
        <p:spPr>
          <a:xfrm>
            <a:off x="2998440" y="1107360"/>
            <a:ext cx="6118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Üst Düzey Bir Karşılaştırma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TextBox 74"/>
          <p:cNvSpPr/>
          <p:nvPr/>
        </p:nvSpPr>
        <p:spPr>
          <a:xfrm>
            <a:off x="1414440" y="2266200"/>
            <a:ext cx="9910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Java ve C++ arasındaki temel farkları,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tasarım felsefeleri, çalışma (execution) modelleri ve geliştirici deneyimleri üzerinden karşılaştırarak tanıtır.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Rounded Rectangle 169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9" name="Rounded Rectangle 170"/>
          <p:cNvSpPr/>
          <p:nvPr/>
        </p:nvSpPr>
        <p:spPr>
          <a:xfrm>
            <a:off x="1018440" y="3053160"/>
            <a:ext cx="3620520" cy="3804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 üzerinde çalışır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bağımsızdır (Bir kez yaz, her yerde çalıştır)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sağlar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Güvenlik, taşınabilirlik ve sürdürülebilirliğe odaklanır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Kurumsal uygulamalar, web ve bulut sistemlerinde yaygın olarak kullanılır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Doğrudan yerel (native) makine koduna derlenir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bağımlıdır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Manuel bellek yönetimi gerektirir (pointer’lar, bellek ayırma)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 ve düşük seviye kontrol sunar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Sistem yazılımları, oyun motorları ve gömülü sistemlerde yaygın olarak kullanılır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0" name="Rounded Rectangle 171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1" name="Rounded Rectangle 172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2" name="Rounded Rectangle 173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güçlü tip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karmaşıklığı gizler"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3" name="TextBox 7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Rounded Rectangle 174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→ Bytecode → JVM → Herhangi Bir İşletim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C++ Kaynak Kodu → Yerel (Native) Kod → Belirli Bir İşletim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Rectangle 385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6" name="Rectangle 386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7" name="Rectangle 387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8" name="Rectangle 388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9" name="Rectangle 389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0" name="Rectangle 390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1" name="Rectangle 391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2" name="Rectangle 392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3" name="Rectangle 393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4" name="Rectangle 394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5" name="Rectangle 395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6" name="Rectangle 396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7" name="Rectangle 397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8" name="Rectangle 398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9" name="Rectangle 399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0" name="Rectangle 400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1" name="Rounded Rectangle 175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2" name="TextBox 76"/>
          <p:cNvSpPr/>
          <p:nvPr/>
        </p:nvSpPr>
        <p:spPr>
          <a:xfrm>
            <a:off x="1464120" y="1107360"/>
            <a:ext cx="9186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Avantajlar ve Dezavantajlar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TextBox 77"/>
          <p:cNvSpPr/>
          <p:nvPr/>
        </p:nvSpPr>
        <p:spPr>
          <a:xfrm>
            <a:off x="3937320" y="2266200"/>
            <a:ext cx="48639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Java ve C++ arasındaki temel farkları;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tasarım felsefeleri, çalışma (execution) modeli ve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geliştirici deneyimi üzerinden karşılaştırarak tanıtır.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Rounded Rectangle 176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5" name="Rounded Rectangle 177"/>
          <p:cNvSpPr/>
          <p:nvPr/>
        </p:nvSpPr>
        <p:spPr>
          <a:xfrm>
            <a:off x="1020960" y="3506040"/>
            <a:ext cx="3620520" cy="289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– Avantajlar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bağımsızdır (Bir kez yaz, her yerde çalıştır)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(Garbage Collection)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çalışma (pointer yok, JVM güvenlik kontrolleri)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Öğrenmesi ve okunması daha kolay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Zengin standart kütüphane ve framework ekosistemi</a:t>
            </a:r>
            <a:br>
              <a:rPr sz="1100"/>
            </a:b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Büyük, uzun ömürlü ve kurumsal sistemler için idealdir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– Dezavantajlar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Bazı durumlarda yerel (native) C++’a göre biraz daha yavaştır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Donanım ve bellek üzerinde daha az kontrol sunar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ek yükü (başlangıç süresi, bellek kullanımı)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6" name="Rounded Rectangle 178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7" name="Rounded Rectangle 179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8" name="Rounded Rectangle 180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class JavaApp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güvenlik ve taşınabilirliğe odaklanır");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9" name="TextBox 7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Rounded Rectangle 181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Problem Türü?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Taşınabilirlik gerekli mi?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(Java her yerde çalışır)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HAYIR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Maksimum performans gerekli mi?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(Düşük seviyeli kontrol)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HAYIR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Güvenlik ve sürdürülebilirlik gerekli mi?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Rectangle 401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2" name="Rectangle 402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3" name="Rectangle 403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4" name="Rectangle 404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5" name="Rectangle 405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6" name="Rectangle 406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7" name="Rectangle 407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8" name="Rectangle 408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9" name="Rectangle 409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0" name="Rectangle 410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1" name="Rectangle 411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2" name="Rectangle 412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3" name="Rectangle 413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4" name="Rectangle 414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5" name="Rectangle 415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6" name="Rectangle 416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7" name="Rounded Rectangle 182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8" name="TextBox 79"/>
          <p:cNvSpPr/>
          <p:nvPr/>
        </p:nvSpPr>
        <p:spPr>
          <a:xfrm>
            <a:off x="1464120" y="1107360"/>
            <a:ext cx="9186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Avantajlar ve Dezavantajlar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TextBox 80"/>
          <p:cNvSpPr/>
          <p:nvPr/>
        </p:nvSpPr>
        <p:spPr>
          <a:xfrm>
            <a:off x="3937320" y="2266200"/>
            <a:ext cx="48639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Java ve C++ arasındaki temel farkları;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tasarım felsefeleri, çalışma (execution) modeli ve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geliştirici deneyimi üzerinden karşılaştırarak tanıtır.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Rounded Rectangle 183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1" name="Rounded Rectangle 184"/>
          <p:cNvSpPr/>
          <p:nvPr/>
        </p:nvSpPr>
        <p:spPr>
          <a:xfrm>
            <a:off x="1020960" y="3506040"/>
            <a:ext cx="3620520" cy="289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Avantajlar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Çok yüksek performans (yerel / native çalışma)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Bellek ve donanım üzerinde tam kontrol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Sanal makine ek yükü yoktur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Sistem seviyesinde ve performans kritik yazılımlar için idealdir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Oyun motorları ve gömülü sistemlerde yaygın olarak kullanılır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Disadvantages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bağımlıdır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Manuel bellek yönetimi (bellek sızıntısı riski)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Daha karmaşık sözdizimi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Öğrenmesi ve bakımı daha zordur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(runtime) hatası ihtimali daha yüksektir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2" name="Rounded Rectangle 185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3" name="Rounded Rectangle 186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4" name="Rounded Rectangle 187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#include &lt;iostream&gt;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using namespace std;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 main()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cout &lt;&lt; "C++ performans ve kontrol odaklıdır";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0;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5" name="TextBox 8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Rounded Rectangle 188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Uygulama Gereksinimi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Maksimum performans gerekli mi?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Düşük seviyeli bellek kontrolü gerekli mi?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Sistem / Oyun / Gömülü Sistem mi?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→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Rectangle 417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8" name="Rectangle 418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9" name="Rectangle 419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0" name="Rectangle 420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1" name="Rectangle 421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2" name="Rectangle 422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3" name="Rectangle 423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4" name="Rectangle 424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5" name="Rectangle 425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6" name="Rectangle 426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7" name="Rectangle 427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8" name="Rectangle 428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9" name="Rectangle 429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0" name="Rectangle 430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1" name="Rectangle 431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2" name="Rectangle 432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3" name="Rounded Rectangle 189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4" name="TextBox 82"/>
          <p:cNvSpPr/>
          <p:nvPr/>
        </p:nvSpPr>
        <p:spPr>
          <a:xfrm>
            <a:off x="2115720" y="1107360"/>
            <a:ext cx="7883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mı C++ mı Ne Zaman Seçilmeli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TextBox 83"/>
          <p:cNvSpPr/>
          <p:nvPr/>
        </p:nvSpPr>
        <p:spPr>
          <a:xfrm>
            <a:off x="975960" y="2266200"/>
            <a:ext cx="10786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Doğru programlama dilini seçmek; performans ihtiyaçlarına, taşınabilirliğe ve uzun vadeli sürdürülebilirliğe bağlıdır.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Rounded Rectangle 190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7" name="Rounded Rectangle 191"/>
          <p:cNvSpPr/>
          <p:nvPr/>
        </p:nvSpPr>
        <p:spPr>
          <a:xfrm>
            <a:off x="1020960" y="3506040"/>
            <a:ext cx="3620160" cy="289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Programlama dilleri farklı amaçlar için tasarlanır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taşınabilirlik, güvenlik ve sürdürülebilirliği önceliklendirir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C++, performans ve düşük seviyeli kontrolü önceliklendirir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 seçim, popülerliğe değil problem alanına bağlıdır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iyi dil” yoktur — iş için doğru araç vardır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8" name="Rounded Rectangle 192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9" name="Rounded Rectangle 193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0" name="Rounded Rectangle 194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Java: Güvenlik ve taşınabilirliğe odaklanır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ChoiceExample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System.out.println("Ölçeklenebilir ve sürdürülebilir sistemler için Java’yı seçin");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1" name="TextBox 8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Rounded Rectangle 195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Ana hedefin nedir?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Taşınabilirlik ve uzun vadeli bakım mı gerekiyor?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EVET →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HAYIR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Maksimum performans ve donanım kontrolü mü gerekiyor?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EVET → C++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HAYIR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Güvenlik, ölçeklenebilirlik ve kurumsal destek mi gerekiyor?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EVET →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2026-01-17T17:13:18Z</dcterms:modified>
  <cp:revision>122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