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4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_rels/slideLayout31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39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44.xml.rels" ContentType="application/vnd.openxmlformats-package.relationships+xml"/>
  <Override PartName="/ppt/slideLayouts/_rels/slideLayout45.xml.rels" ContentType="application/vnd.openxmlformats-package.relationships+xml"/>
  <Override PartName="/ppt/slideLayouts/_rels/slideLayout46.xml.rels" ContentType="application/vnd.openxmlformats-package.relationships+xml"/>
  <Override PartName="/ppt/slideLayouts/_rels/slideLayout47.xml.rels" ContentType="application/vnd.openxmlformats-package.relationships+xml"/>
  <Override PartName="/ppt/slideLayouts/_rels/slideLayout48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C215A0C-A718-457B-BF37-1880E330954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9BD4547-569E-4612-B04B-994DD86F44C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C84A6D9-DA40-40B4-A488-E2A933E2C9B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E509831-1708-4C77-AF4F-A80E426AB01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29DD725-3BC3-4A17-8DD2-59113BE476F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4875671-9376-450E-9BF8-59FF514BD27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DC48A70-2A32-4080-B312-C3D098D3917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9FE537E-5019-458D-8435-CA9E9D40FF1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787DA41-7DA1-47F7-A2BB-B21B3D9A96C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E85BCF6-295E-4292-A615-BD24A8DDDDB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FCC8DF8-C3D9-4FD7-AB7E-C714A8BE2035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05C7CC0-CABC-4DAA-A3A6-2322B1C16209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5B53005-3BCB-4289-88B5-7FD89F09356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E644947-2ACC-449B-8B50-4030C069939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C546E87-25E9-4453-A4CE-1D8A8B1C978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0CD4E03B-C402-4B04-A41B-F4E6D0B8BA3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C9C27530-887D-489B-B979-636614F391D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4D5F5F38-F932-4D8E-AFA5-10BF54C58DD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C2807947-9E56-40FD-B48C-424073FA4E7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EB40C941-10DE-4E04-A33D-3A599666E47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D249DD29-CDC8-4121-9DD4-90B7D397411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95053264-D791-45E5-B55E-67AFF8EF818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CB6CD64A-F919-4080-B099-24137933E6C1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B643E947-6D97-472C-BB98-D1BB81F55E11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D97DFCDB-86BD-4766-8E3C-F85F81391EA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2E9DAD3F-A8A7-4FCD-92FF-2351FDC4158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9294A7ED-7D4E-4322-8C5D-FDDA1461746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B570380F-9644-4180-A928-625CD595DF9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47334071-8D87-4A9F-BD2B-CDC8FF3D32F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7203B896-3099-4B7B-A616-8A5B399CF58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D2FB7526-8DCD-4027-A23A-6A7AD50691B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10173B5A-1777-4C57-B18A-EF4AD13731E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FB730700-CC77-47E1-AA54-3B0FAB295EC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FBEE9429-C7BF-42B0-9E25-6A992AA8919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13460C90-3A8A-48DB-B63D-A98F0C338519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5DF65984-4310-4849-A238-2B8867C58CFD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2C5BC07B-1FE2-481F-A892-57135E70B09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02975408-530E-4AE9-81B4-22D77220DF1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C8A5AC6D-1F89-43A8-87E7-2EB564F1ED6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B516604D-C8FB-4821-9E06-54C4CC880F3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1719B2F6-026B-4422-AD96-2487F50737A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670E7F4B-FF0E-41E3-BA91-F42D58A26F2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AB6CC599-D38C-4B7A-BE56-D66F1D2FFC7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540C0919-C172-48DF-8CED-27262BA42BB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AA41883C-9F6F-40EC-9401-C8E9828A422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05A583CD-DC6C-46D6-AFD8-DBEBD8303A0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7855ED21-19CF-488C-B2B7-7B7D1B7A7E7F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66C7C114-B761-4F70-A240-E3CDF16E0B20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37.xml"/><Relationship Id="rId3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9.xml"/><Relationship Id="rId5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2.xml"/><Relationship Id="rId8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48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332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0072634-F9D3-4B19-B20E-3B3A009A0BD8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9332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0C82354-8072-4394-B344-EC3A5CA7EAA3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ftr" idx="7"/>
          </p:nvPr>
        </p:nvSpPr>
        <p:spPr>
          <a:xfrm>
            <a:off x="3124080" y="6356520"/>
            <a:ext cx="289368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sldNum" idx="8"/>
          </p:nvPr>
        </p:nvSpPr>
        <p:spPr>
          <a:xfrm>
            <a:off x="655308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60A3333-1ADB-4168-BB60-879FFA82D6A0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dt" idx="9"/>
          </p:nvPr>
        </p:nvSpPr>
        <p:spPr>
          <a:xfrm>
            <a:off x="45720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ftr" idx="10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 type="sldNum" idx="11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0070983-A9B1-4F91-ACC9-ACA684BE83C8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" name="PlaceHolder 3"/>
          <p:cNvSpPr>
            <a:spLocks noGrp="1"/>
          </p:cNvSpPr>
          <p:nvPr>
            <p:ph type="dt" idx="12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Rectangle 1"/>
          <p:cNvSpPr/>
          <p:nvPr/>
        </p:nvSpPr>
        <p:spPr>
          <a:xfrm>
            <a:off x="0" y="0"/>
            <a:ext cx="12186720" cy="6855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5" name="Rectangle 2"/>
          <p:cNvSpPr/>
          <p:nvPr/>
        </p:nvSpPr>
        <p:spPr>
          <a:xfrm>
            <a:off x="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6" name="Rectangle 3"/>
          <p:cNvSpPr/>
          <p:nvPr/>
        </p:nvSpPr>
        <p:spPr>
          <a:xfrm>
            <a:off x="914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7" name="Rectangle 4"/>
          <p:cNvSpPr/>
          <p:nvPr/>
        </p:nvSpPr>
        <p:spPr>
          <a:xfrm>
            <a:off x="1828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8" name="Rectangle 5"/>
          <p:cNvSpPr/>
          <p:nvPr/>
        </p:nvSpPr>
        <p:spPr>
          <a:xfrm>
            <a:off x="2743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9" name="Rectangle 6"/>
          <p:cNvSpPr/>
          <p:nvPr/>
        </p:nvSpPr>
        <p:spPr>
          <a:xfrm>
            <a:off x="3657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0" name="Rectangle 7"/>
          <p:cNvSpPr/>
          <p:nvPr/>
        </p:nvSpPr>
        <p:spPr>
          <a:xfrm>
            <a:off x="4572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1" name="Rectangle 8"/>
          <p:cNvSpPr/>
          <p:nvPr/>
        </p:nvSpPr>
        <p:spPr>
          <a:xfrm>
            <a:off x="5486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2" name="Rectangle 9"/>
          <p:cNvSpPr/>
          <p:nvPr/>
        </p:nvSpPr>
        <p:spPr>
          <a:xfrm>
            <a:off x="6400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3" name="Rectangle 10"/>
          <p:cNvSpPr/>
          <p:nvPr/>
        </p:nvSpPr>
        <p:spPr>
          <a:xfrm>
            <a:off x="7315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4" name="Rectangle 11"/>
          <p:cNvSpPr/>
          <p:nvPr/>
        </p:nvSpPr>
        <p:spPr>
          <a:xfrm>
            <a:off x="8229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5" name="Rectangle 12"/>
          <p:cNvSpPr/>
          <p:nvPr/>
        </p:nvSpPr>
        <p:spPr>
          <a:xfrm>
            <a:off x="9144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6" name="Rectangle 13"/>
          <p:cNvSpPr/>
          <p:nvPr/>
        </p:nvSpPr>
        <p:spPr>
          <a:xfrm>
            <a:off x="10058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7" name="Rectangle 14"/>
          <p:cNvSpPr/>
          <p:nvPr/>
        </p:nvSpPr>
        <p:spPr>
          <a:xfrm>
            <a:off x="10972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8" name="Rectangle 15"/>
          <p:cNvSpPr/>
          <p:nvPr/>
        </p:nvSpPr>
        <p:spPr>
          <a:xfrm>
            <a:off x="11887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9" name="Rectangle 16"/>
          <p:cNvSpPr/>
          <p:nvPr/>
        </p:nvSpPr>
        <p:spPr>
          <a:xfrm>
            <a:off x="0" y="0"/>
            <a:ext cx="317880" cy="6855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0" name="Rounded Rectangle 17"/>
          <p:cNvSpPr/>
          <p:nvPr/>
        </p:nvSpPr>
        <p:spPr>
          <a:xfrm>
            <a:off x="9875520" y="365760"/>
            <a:ext cx="2009520" cy="500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1" name="TextBox 18"/>
          <p:cNvSpPr/>
          <p:nvPr/>
        </p:nvSpPr>
        <p:spPr>
          <a:xfrm>
            <a:off x="3340800" y="1005840"/>
            <a:ext cx="42897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VARIABLES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TextBox 19"/>
          <p:cNvSpPr/>
          <p:nvPr/>
        </p:nvSpPr>
        <p:spPr>
          <a:xfrm>
            <a:off x="1470960" y="2057400"/>
            <a:ext cx="95018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Variables are named memory locations used to store data in a program.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every variable must have a specific data type that defines what kind of data it can store.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Rounded Rectangle 20"/>
          <p:cNvSpPr/>
          <p:nvPr/>
        </p:nvSpPr>
        <p:spPr>
          <a:xfrm>
            <a:off x="98748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4" name="Rounded Rectangle 21"/>
          <p:cNvSpPr/>
          <p:nvPr/>
        </p:nvSpPr>
        <p:spPr>
          <a:xfrm>
            <a:off x="914400" y="3108960"/>
            <a:ext cx="3289680" cy="3290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Definition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A variable is a named memory location used to store data.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Data Type Requirement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In Java, every variable must be declared with a specific data type.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Memory Allocation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data type determines the type of value and the memory size.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Example Data Types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For example, int stores whole numbers, double stores decimals, and String stores text.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Program Flexibility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Variables allow programs to store and modify data during execution.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5" name="Rounded Rectangle 22"/>
          <p:cNvSpPr/>
          <p:nvPr/>
        </p:nvSpPr>
        <p:spPr>
          <a:xfrm>
            <a:off x="450792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6" name="Rounded Rectangle 23"/>
          <p:cNvSpPr/>
          <p:nvPr/>
        </p:nvSpPr>
        <p:spPr>
          <a:xfrm>
            <a:off x="4434840" y="310896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Start Program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Declare Variable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(data type + name)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Assign Value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Use Variable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(print / calculate)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7" name="Rounded Rectangle 24"/>
          <p:cNvSpPr/>
          <p:nvPr/>
        </p:nvSpPr>
        <p:spPr>
          <a:xfrm>
            <a:off x="802836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8" name="Rounded Rectangle 25"/>
          <p:cNvSpPr/>
          <p:nvPr/>
        </p:nvSpPr>
        <p:spPr>
          <a:xfrm>
            <a:off x="7955280" y="3108960"/>
            <a:ext cx="3473640" cy="3290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VariableExample{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age = 21;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49.99;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name = "Java";</a:t>
            </a:r>
            <a:br>
              <a:rPr sz="1400"/>
            </a:b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System.out.println(age);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System.out.println(price);    System.out.println(name);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9" name="TextBox 2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Rectangle 32"/>
          <p:cNvSpPr/>
          <p:nvPr/>
        </p:nvSpPr>
        <p:spPr>
          <a:xfrm>
            <a:off x="0" y="0"/>
            <a:ext cx="12186720" cy="6855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1" name="Rectangle 33"/>
          <p:cNvSpPr/>
          <p:nvPr/>
        </p:nvSpPr>
        <p:spPr>
          <a:xfrm>
            <a:off x="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2" name="Rectangle 34"/>
          <p:cNvSpPr/>
          <p:nvPr/>
        </p:nvSpPr>
        <p:spPr>
          <a:xfrm>
            <a:off x="914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3" name="Rectangle 35"/>
          <p:cNvSpPr/>
          <p:nvPr/>
        </p:nvSpPr>
        <p:spPr>
          <a:xfrm>
            <a:off x="1828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4" name="Rectangle 36"/>
          <p:cNvSpPr/>
          <p:nvPr/>
        </p:nvSpPr>
        <p:spPr>
          <a:xfrm>
            <a:off x="2743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5" name="Rectangle 37"/>
          <p:cNvSpPr/>
          <p:nvPr/>
        </p:nvSpPr>
        <p:spPr>
          <a:xfrm>
            <a:off x="3657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6" name="Rectangle 38"/>
          <p:cNvSpPr/>
          <p:nvPr/>
        </p:nvSpPr>
        <p:spPr>
          <a:xfrm>
            <a:off x="4572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7" name="Rectangle 39"/>
          <p:cNvSpPr/>
          <p:nvPr/>
        </p:nvSpPr>
        <p:spPr>
          <a:xfrm>
            <a:off x="5486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8" name="Rectangle 40"/>
          <p:cNvSpPr/>
          <p:nvPr/>
        </p:nvSpPr>
        <p:spPr>
          <a:xfrm>
            <a:off x="6400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9" name="Rectangle 41"/>
          <p:cNvSpPr/>
          <p:nvPr/>
        </p:nvSpPr>
        <p:spPr>
          <a:xfrm>
            <a:off x="7315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0" name="Rectangle 42"/>
          <p:cNvSpPr/>
          <p:nvPr/>
        </p:nvSpPr>
        <p:spPr>
          <a:xfrm>
            <a:off x="8229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1" name="Rectangle 43"/>
          <p:cNvSpPr/>
          <p:nvPr/>
        </p:nvSpPr>
        <p:spPr>
          <a:xfrm>
            <a:off x="9144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2" name="Rectangle 44"/>
          <p:cNvSpPr/>
          <p:nvPr/>
        </p:nvSpPr>
        <p:spPr>
          <a:xfrm>
            <a:off x="10058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3" name="Rectangle 45"/>
          <p:cNvSpPr/>
          <p:nvPr/>
        </p:nvSpPr>
        <p:spPr>
          <a:xfrm>
            <a:off x="10972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4" name="Rectangle 46"/>
          <p:cNvSpPr/>
          <p:nvPr/>
        </p:nvSpPr>
        <p:spPr>
          <a:xfrm>
            <a:off x="11887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5" name="Rectangle 47"/>
          <p:cNvSpPr/>
          <p:nvPr/>
        </p:nvSpPr>
        <p:spPr>
          <a:xfrm>
            <a:off x="0" y="0"/>
            <a:ext cx="317880" cy="6855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6" name="Rounded Rectangle 8"/>
          <p:cNvSpPr/>
          <p:nvPr/>
        </p:nvSpPr>
        <p:spPr>
          <a:xfrm>
            <a:off x="9875520" y="365760"/>
            <a:ext cx="2009520" cy="500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7" name="TextBox 4"/>
          <p:cNvSpPr/>
          <p:nvPr/>
        </p:nvSpPr>
        <p:spPr>
          <a:xfrm>
            <a:off x="2652120" y="1005840"/>
            <a:ext cx="56674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VARIABLE TYPES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TextBox 5"/>
          <p:cNvSpPr/>
          <p:nvPr/>
        </p:nvSpPr>
        <p:spPr>
          <a:xfrm>
            <a:off x="712800" y="2057400"/>
            <a:ext cx="1101816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variables are classified based on where they are declared and how they are used within a class or method.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Rounded Rectangle 9"/>
          <p:cNvSpPr/>
          <p:nvPr/>
        </p:nvSpPr>
        <p:spPr>
          <a:xfrm>
            <a:off x="98748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0" name="Rounded Rectangle 10"/>
          <p:cNvSpPr/>
          <p:nvPr/>
        </p:nvSpPr>
        <p:spPr>
          <a:xfrm>
            <a:off x="931680" y="2925720"/>
            <a:ext cx="3182040" cy="3474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Local Variables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Local variables are declared inside a method, constructor, or block. They can only be accessed within that specific method or block where they are created.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Instance Variables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Instance variables are declared inside a class but outside methods. Each object of the class has its own copy of these variables.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Static Variables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Static variables are declared using the static keyword. They belong to the class itself and are shared among all objects of that class.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1" name="Rounded Rectangle 11"/>
          <p:cNvSpPr/>
          <p:nvPr/>
        </p:nvSpPr>
        <p:spPr>
          <a:xfrm>
            <a:off x="450792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2" name="Rounded Rectangle 12"/>
          <p:cNvSpPr/>
          <p:nvPr/>
        </p:nvSpPr>
        <p:spPr>
          <a:xfrm>
            <a:off x="4434840" y="3108960"/>
            <a:ext cx="3289680" cy="3062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Class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Static Variable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Instance Variable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Method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 Variable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3" name="Rounded Rectangle 13"/>
          <p:cNvSpPr/>
          <p:nvPr/>
        </p:nvSpPr>
        <p:spPr>
          <a:xfrm>
            <a:off x="802836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4" name="Rounded Rectangle 14"/>
          <p:cNvSpPr/>
          <p:nvPr/>
        </p:nvSpPr>
        <p:spPr>
          <a:xfrm>
            <a:off x="7955280" y="3108960"/>
            <a:ext cx="3473640" cy="3290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VariableTypes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instanceVar = 10;        // instance variable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static int staticVar = 20;   // static variable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void showVariables()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localVar = 30;       // local variable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System.out.println(localVar);        System.out.println(instanceVar);        System.out.println(staticVar);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5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Rectangle 48"/>
          <p:cNvSpPr/>
          <p:nvPr/>
        </p:nvSpPr>
        <p:spPr>
          <a:xfrm>
            <a:off x="0" y="0"/>
            <a:ext cx="12186720" cy="6855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7" name="Rectangle 49"/>
          <p:cNvSpPr/>
          <p:nvPr/>
        </p:nvSpPr>
        <p:spPr>
          <a:xfrm>
            <a:off x="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8" name="Rectangle 50"/>
          <p:cNvSpPr/>
          <p:nvPr/>
        </p:nvSpPr>
        <p:spPr>
          <a:xfrm>
            <a:off x="914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9" name="Rectangle 51"/>
          <p:cNvSpPr/>
          <p:nvPr/>
        </p:nvSpPr>
        <p:spPr>
          <a:xfrm>
            <a:off x="1828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0" name="Rectangle 52"/>
          <p:cNvSpPr/>
          <p:nvPr/>
        </p:nvSpPr>
        <p:spPr>
          <a:xfrm>
            <a:off x="2743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1" name="Rectangle 53"/>
          <p:cNvSpPr/>
          <p:nvPr/>
        </p:nvSpPr>
        <p:spPr>
          <a:xfrm>
            <a:off x="3657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2" name="Rectangle 54"/>
          <p:cNvSpPr/>
          <p:nvPr/>
        </p:nvSpPr>
        <p:spPr>
          <a:xfrm>
            <a:off x="4572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3" name="Rectangle 55"/>
          <p:cNvSpPr/>
          <p:nvPr/>
        </p:nvSpPr>
        <p:spPr>
          <a:xfrm>
            <a:off x="5486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4" name="Rectangle 56"/>
          <p:cNvSpPr/>
          <p:nvPr/>
        </p:nvSpPr>
        <p:spPr>
          <a:xfrm>
            <a:off x="6400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5" name="Rectangle 57"/>
          <p:cNvSpPr/>
          <p:nvPr/>
        </p:nvSpPr>
        <p:spPr>
          <a:xfrm>
            <a:off x="7315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6" name="Rectangle 58"/>
          <p:cNvSpPr/>
          <p:nvPr/>
        </p:nvSpPr>
        <p:spPr>
          <a:xfrm>
            <a:off x="8229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7" name="Rectangle 59"/>
          <p:cNvSpPr/>
          <p:nvPr/>
        </p:nvSpPr>
        <p:spPr>
          <a:xfrm>
            <a:off x="9144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8" name="Rectangle 60"/>
          <p:cNvSpPr/>
          <p:nvPr/>
        </p:nvSpPr>
        <p:spPr>
          <a:xfrm>
            <a:off x="10058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9" name="Rectangle 61"/>
          <p:cNvSpPr/>
          <p:nvPr/>
        </p:nvSpPr>
        <p:spPr>
          <a:xfrm>
            <a:off x="10972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0" name="Rectangle 62"/>
          <p:cNvSpPr/>
          <p:nvPr/>
        </p:nvSpPr>
        <p:spPr>
          <a:xfrm>
            <a:off x="11887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1" name="Rectangle 63"/>
          <p:cNvSpPr/>
          <p:nvPr/>
        </p:nvSpPr>
        <p:spPr>
          <a:xfrm>
            <a:off x="0" y="0"/>
            <a:ext cx="317880" cy="6855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2" name="Rounded Rectangle 15"/>
          <p:cNvSpPr/>
          <p:nvPr/>
        </p:nvSpPr>
        <p:spPr>
          <a:xfrm>
            <a:off x="9875520" y="365760"/>
            <a:ext cx="2009520" cy="500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3" name="TextBox 7"/>
          <p:cNvSpPr/>
          <p:nvPr/>
        </p:nvSpPr>
        <p:spPr>
          <a:xfrm>
            <a:off x="1629000" y="1005840"/>
            <a:ext cx="77144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   </a:t>
            </a: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PRIMITIVE DATA TYPES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TextBox 8"/>
          <p:cNvSpPr/>
          <p:nvPr/>
        </p:nvSpPr>
        <p:spPr>
          <a:xfrm>
            <a:off x="1870560" y="1846080"/>
            <a:ext cx="72896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Primitive data types are the basic data types in Java used to store simple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values such as numbers, characters, and boolean values.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Rounded Rectangle 16"/>
          <p:cNvSpPr/>
          <p:nvPr/>
        </p:nvSpPr>
        <p:spPr>
          <a:xfrm>
            <a:off x="98748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6" name="Rounded Rectangle 18"/>
          <p:cNvSpPr/>
          <p:nvPr/>
        </p:nvSpPr>
        <p:spPr>
          <a:xfrm>
            <a:off x="685800" y="2743200"/>
            <a:ext cx="3518280" cy="3427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Numeric Types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provides numeric data types such as byte, short, int, long, float, and double to store different kinds of numbers.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Character Type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char data type is used to store a single character based on the Unicode system.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Boolean Type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boolean data type represents logical values and can only store true or false.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Memory Efficiency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types are stored directly in memory and are faster and more memory-efficient than reference types.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7" name="Rounded Rectangle 19"/>
          <p:cNvSpPr/>
          <p:nvPr/>
        </p:nvSpPr>
        <p:spPr>
          <a:xfrm>
            <a:off x="450792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8" name="Rounded Rectangle 26"/>
          <p:cNvSpPr/>
          <p:nvPr/>
        </p:nvSpPr>
        <p:spPr>
          <a:xfrm>
            <a:off x="4343400" y="2743200"/>
            <a:ext cx="3381120" cy="3656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Data Types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├──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Numeric Types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byte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short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float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├──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Character Type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Boolean Type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9" name="Rounded Rectangle 27"/>
          <p:cNvSpPr/>
          <p:nvPr/>
        </p:nvSpPr>
        <p:spPr>
          <a:xfrm>
            <a:off x="802836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0" name="Rounded Rectangle 28"/>
          <p:cNvSpPr/>
          <p:nvPr/>
        </p:nvSpPr>
        <p:spPr>
          <a:xfrm>
            <a:off x="7955280" y="2971800"/>
            <a:ext cx="3702240" cy="3199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PrimitiveExample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age = 25;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19.99;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char grade = 'A';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isStudent = true;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System.out.println(age);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System.out.println(price);      System.out.println(grade);    System.out.println(isStudent);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1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Rectangle 80"/>
          <p:cNvSpPr/>
          <p:nvPr/>
        </p:nvSpPr>
        <p:spPr>
          <a:xfrm>
            <a:off x="0" y="0"/>
            <a:ext cx="12187080" cy="6856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3" name="Rectangle 81"/>
          <p:cNvSpPr/>
          <p:nvPr/>
        </p:nvSpPr>
        <p:spPr>
          <a:xfrm>
            <a:off x="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4" name="Rectangle 82"/>
          <p:cNvSpPr/>
          <p:nvPr/>
        </p:nvSpPr>
        <p:spPr>
          <a:xfrm>
            <a:off x="914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5" name="Rectangle 83"/>
          <p:cNvSpPr/>
          <p:nvPr/>
        </p:nvSpPr>
        <p:spPr>
          <a:xfrm>
            <a:off x="1828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6" name="Rectangle 84"/>
          <p:cNvSpPr/>
          <p:nvPr/>
        </p:nvSpPr>
        <p:spPr>
          <a:xfrm>
            <a:off x="2743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7" name="Rectangle 85"/>
          <p:cNvSpPr/>
          <p:nvPr/>
        </p:nvSpPr>
        <p:spPr>
          <a:xfrm>
            <a:off x="3657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8" name="Rectangle 86"/>
          <p:cNvSpPr/>
          <p:nvPr/>
        </p:nvSpPr>
        <p:spPr>
          <a:xfrm>
            <a:off x="4572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9" name="Rectangle 87"/>
          <p:cNvSpPr/>
          <p:nvPr/>
        </p:nvSpPr>
        <p:spPr>
          <a:xfrm>
            <a:off x="5486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0" name="Rectangle 88"/>
          <p:cNvSpPr/>
          <p:nvPr/>
        </p:nvSpPr>
        <p:spPr>
          <a:xfrm>
            <a:off x="6400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1" name="Rectangle 89"/>
          <p:cNvSpPr/>
          <p:nvPr/>
        </p:nvSpPr>
        <p:spPr>
          <a:xfrm>
            <a:off x="7315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2" name="Rectangle 90"/>
          <p:cNvSpPr/>
          <p:nvPr/>
        </p:nvSpPr>
        <p:spPr>
          <a:xfrm>
            <a:off x="8229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3" name="Rectangle 91"/>
          <p:cNvSpPr/>
          <p:nvPr/>
        </p:nvSpPr>
        <p:spPr>
          <a:xfrm>
            <a:off x="9144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4" name="Rectangle 92"/>
          <p:cNvSpPr/>
          <p:nvPr/>
        </p:nvSpPr>
        <p:spPr>
          <a:xfrm>
            <a:off x="10058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5" name="Rectangle 93"/>
          <p:cNvSpPr/>
          <p:nvPr/>
        </p:nvSpPr>
        <p:spPr>
          <a:xfrm>
            <a:off x="10972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6" name="Rectangle 94"/>
          <p:cNvSpPr/>
          <p:nvPr/>
        </p:nvSpPr>
        <p:spPr>
          <a:xfrm>
            <a:off x="11887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7" name="Rectangle 95"/>
          <p:cNvSpPr/>
          <p:nvPr/>
        </p:nvSpPr>
        <p:spPr>
          <a:xfrm>
            <a:off x="0" y="0"/>
            <a:ext cx="318240" cy="6856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8" name="Rounded Rectangle 36"/>
          <p:cNvSpPr/>
          <p:nvPr/>
        </p:nvSpPr>
        <p:spPr>
          <a:xfrm>
            <a:off x="9875520" y="365760"/>
            <a:ext cx="2009880" cy="501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9" name="TextBox 13"/>
          <p:cNvSpPr/>
          <p:nvPr/>
        </p:nvSpPr>
        <p:spPr>
          <a:xfrm>
            <a:off x="2400480" y="1005840"/>
            <a:ext cx="61704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REFERENCE DATA TYPES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" name="TextBox 14"/>
          <p:cNvSpPr/>
          <p:nvPr/>
        </p:nvSpPr>
        <p:spPr>
          <a:xfrm>
            <a:off x="2493720" y="2194560"/>
            <a:ext cx="598392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Reference data types store references (memory addresses)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to objects rather than the actual values.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Rounded Rectangle 37"/>
          <p:cNvSpPr/>
          <p:nvPr/>
        </p:nvSpPr>
        <p:spPr>
          <a:xfrm>
            <a:off x="98748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2" name="Rounded Rectangle 38"/>
          <p:cNvSpPr/>
          <p:nvPr/>
        </p:nvSpPr>
        <p:spPr>
          <a:xfrm>
            <a:off x="685800" y="3108960"/>
            <a:ext cx="3518640" cy="3291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Object-Based Types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 types represent objects created from classes.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Memory Reference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They store the memory address of the object instead of the actual data.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Common Examples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Examples include String, arrays, classes, and objects.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Flexible Structure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 types allow storing complex data structures and multiple values.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3" name="Rounded Rectangle 39"/>
          <p:cNvSpPr/>
          <p:nvPr/>
        </p:nvSpPr>
        <p:spPr>
          <a:xfrm>
            <a:off x="450792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4" name="Rounded Rectangle 40"/>
          <p:cNvSpPr/>
          <p:nvPr/>
        </p:nvSpPr>
        <p:spPr>
          <a:xfrm>
            <a:off x="4434840" y="310896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 Types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String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Arrays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Classes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└──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Objects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5" name="Rounded Rectangle 41"/>
          <p:cNvSpPr/>
          <p:nvPr/>
        </p:nvSpPr>
        <p:spPr>
          <a:xfrm>
            <a:off x="802836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6" name="Rounded Rectangle 42"/>
          <p:cNvSpPr/>
          <p:nvPr/>
        </p:nvSpPr>
        <p:spPr>
          <a:xfrm>
            <a:off x="7955280" y="3108960"/>
            <a:ext cx="3702600" cy="3062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ReferenceExample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name = "Java";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int[] numbers = {10, 20, 30};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System.out.println(name);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System.out.println(numbers[0]);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7" name="TextBox 1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Rectangle 64"/>
          <p:cNvSpPr/>
          <p:nvPr/>
        </p:nvSpPr>
        <p:spPr>
          <a:xfrm>
            <a:off x="0" y="0"/>
            <a:ext cx="12187080" cy="6856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9" name="Rectangle 65"/>
          <p:cNvSpPr/>
          <p:nvPr/>
        </p:nvSpPr>
        <p:spPr>
          <a:xfrm>
            <a:off x="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0" name="Rectangle 66"/>
          <p:cNvSpPr/>
          <p:nvPr/>
        </p:nvSpPr>
        <p:spPr>
          <a:xfrm>
            <a:off x="914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1" name="Rectangle 67"/>
          <p:cNvSpPr/>
          <p:nvPr/>
        </p:nvSpPr>
        <p:spPr>
          <a:xfrm>
            <a:off x="1828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2" name="Rectangle 68"/>
          <p:cNvSpPr/>
          <p:nvPr/>
        </p:nvSpPr>
        <p:spPr>
          <a:xfrm>
            <a:off x="2743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3" name="Rectangle 69"/>
          <p:cNvSpPr/>
          <p:nvPr/>
        </p:nvSpPr>
        <p:spPr>
          <a:xfrm>
            <a:off x="3657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4" name="Rectangle 70"/>
          <p:cNvSpPr/>
          <p:nvPr/>
        </p:nvSpPr>
        <p:spPr>
          <a:xfrm>
            <a:off x="4572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5" name="Rectangle 71"/>
          <p:cNvSpPr/>
          <p:nvPr/>
        </p:nvSpPr>
        <p:spPr>
          <a:xfrm>
            <a:off x="5486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6" name="Rectangle 72"/>
          <p:cNvSpPr/>
          <p:nvPr/>
        </p:nvSpPr>
        <p:spPr>
          <a:xfrm>
            <a:off x="6400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7" name="Rectangle 73"/>
          <p:cNvSpPr/>
          <p:nvPr/>
        </p:nvSpPr>
        <p:spPr>
          <a:xfrm>
            <a:off x="7315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8" name="Rectangle 74"/>
          <p:cNvSpPr/>
          <p:nvPr/>
        </p:nvSpPr>
        <p:spPr>
          <a:xfrm>
            <a:off x="8229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9" name="Rectangle 75"/>
          <p:cNvSpPr/>
          <p:nvPr/>
        </p:nvSpPr>
        <p:spPr>
          <a:xfrm>
            <a:off x="9144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0" name="Rectangle 76"/>
          <p:cNvSpPr/>
          <p:nvPr/>
        </p:nvSpPr>
        <p:spPr>
          <a:xfrm>
            <a:off x="10058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1" name="Rectangle 77"/>
          <p:cNvSpPr/>
          <p:nvPr/>
        </p:nvSpPr>
        <p:spPr>
          <a:xfrm>
            <a:off x="10972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2" name="Rectangle 78"/>
          <p:cNvSpPr/>
          <p:nvPr/>
        </p:nvSpPr>
        <p:spPr>
          <a:xfrm>
            <a:off x="11887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3" name="Rectangle 79"/>
          <p:cNvSpPr/>
          <p:nvPr/>
        </p:nvSpPr>
        <p:spPr>
          <a:xfrm>
            <a:off x="0" y="0"/>
            <a:ext cx="318240" cy="6856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4" name="Rounded Rectangle 29"/>
          <p:cNvSpPr/>
          <p:nvPr/>
        </p:nvSpPr>
        <p:spPr>
          <a:xfrm>
            <a:off x="9875520" y="365760"/>
            <a:ext cx="2009880" cy="501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5" name="TextBox 10"/>
          <p:cNvSpPr/>
          <p:nvPr/>
        </p:nvSpPr>
        <p:spPr>
          <a:xfrm>
            <a:off x="1342800" y="1005840"/>
            <a:ext cx="82857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PRIMITIVE VS REFERENCE TYPES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TextBox 11"/>
          <p:cNvSpPr/>
          <p:nvPr/>
        </p:nvSpPr>
        <p:spPr>
          <a:xfrm>
            <a:off x="1143000" y="2057400"/>
            <a:ext cx="92732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data types are divided into primitive types and reference types.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Primitive types store actual values, while reference types store memory addresses of objects.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" name="Rounded Rectangle 30"/>
          <p:cNvSpPr/>
          <p:nvPr/>
        </p:nvSpPr>
        <p:spPr>
          <a:xfrm>
            <a:off x="98748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8" name="Rounded Rectangle 31"/>
          <p:cNvSpPr/>
          <p:nvPr/>
        </p:nvSpPr>
        <p:spPr>
          <a:xfrm>
            <a:off x="457200" y="2971800"/>
            <a:ext cx="3747240" cy="3428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Types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types store the actual value directly in memory. Examples include int, double, char, and boolean.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 Types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 types store the memory address of an object. Examples include String, arrays, and class objects.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Memory Storage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values are stored directly, while reference types point to objects in memory.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Usage Difference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types are used for simple values, while reference types handle complex data and objects.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9" name="Rounded Rectangle 32"/>
          <p:cNvSpPr/>
          <p:nvPr/>
        </p:nvSpPr>
        <p:spPr>
          <a:xfrm>
            <a:off x="450792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0" name="Rounded Rectangle 33"/>
          <p:cNvSpPr/>
          <p:nvPr/>
        </p:nvSpPr>
        <p:spPr>
          <a:xfrm>
            <a:off x="4343400" y="2971800"/>
            <a:ext cx="3428280" cy="3291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Data Types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Types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└─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 Types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String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Arrays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└─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Objects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1" name="Rounded Rectangle 34"/>
          <p:cNvSpPr/>
          <p:nvPr/>
        </p:nvSpPr>
        <p:spPr>
          <a:xfrm>
            <a:off x="802836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2" name="Rounded Rectangle 35"/>
          <p:cNvSpPr/>
          <p:nvPr/>
        </p:nvSpPr>
        <p:spPr>
          <a:xfrm>
            <a:off x="7955280" y="3108960"/>
            <a:ext cx="3702600" cy="3062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PrimitiveVsReference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10;           // primitive type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19.99;     // primitive type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text = "Java";     // reference type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int[] numbers = {1, 2, 3}; // reference type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System.out.println(number);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System.out.println(price);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System.out.println(text);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System.out.println(numbers[0]);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3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Rectangle 96"/>
          <p:cNvSpPr/>
          <p:nvPr/>
        </p:nvSpPr>
        <p:spPr>
          <a:xfrm>
            <a:off x="0" y="0"/>
            <a:ext cx="12187440" cy="6856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5" name="Rectangle 97"/>
          <p:cNvSpPr/>
          <p:nvPr/>
        </p:nvSpPr>
        <p:spPr>
          <a:xfrm>
            <a:off x="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6" name="Rectangle 98"/>
          <p:cNvSpPr/>
          <p:nvPr/>
        </p:nvSpPr>
        <p:spPr>
          <a:xfrm>
            <a:off x="914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7" name="Rectangle 99"/>
          <p:cNvSpPr/>
          <p:nvPr/>
        </p:nvSpPr>
        <p:spPr>
          <a:xfrm>
            <a:off x="1828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8" name="Rectangle 100"/>
          <p:cNvSpPr/>
          <p:nvPr/>
        </p:nvSpPr>
        <p:spPr>
          <a:xfrm>
            <a:off x="2743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9" name="Rectangle 101"/>
          <p:cNvSpPr/>
          <p:nvPr/>
        </p:nvSpPr>
        <p:spPr>
          <a:xfrm>
            <a:off x="3657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0" name="Rectangle 102"/>
          <p:cNvSpPr/>
          <p:nvPr/>
        </p:nvSpPr>
        <p:spPr>
          <a:xfrm>
            <a:off x="4572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1" name="Rectangle 103"/>
          <p:cNvSpPr/>
          <p:nvPr/>
        </p:nvSpPr>
        <p:spPr>
          <a:xfrm>
            <a:off x="5486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2" name="Rectangle 104"/>
          <p:cNvSpPr/>
          <p:nvPr/>
        </p:nvSpPr>
        <p:spPr>
          <a:xfrm>
            <a:off x="6400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3" name="Rectangle 105"/>
          <p:cNvSpPr/>
          <p:nvPr/>
        </p:nvSpPr>
        <p:spPr>
          <a:xfrm>
            <a:off x="7315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4" name="Rectangle 106"/>
          <p:cNvSpPr/>
          <p:nvPr/>
        </p:nvSpPr>
        <p:spPr>
          <a:xfrm>
            <a:off x="8229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5" name="Rectangle 107"/>
          <p:cNvSpPr/>
          <p:nvPr/>
        </p:nvSpPr>
        <p:spPr>
          <a:xfrm>
            <a:off x="9144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6" name="Rectangle 108"/>
          <p:cNvSpPr/>
          <p:nvPr/>
        </p:nvSpPr>
        <p:spPr>
          <a:xfrm>
            <a:off x="10058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7" name="Rectangle 109"/>
          <p:cNvSpPr/>
          <p:nvPr/>
        </p:nvSpPr>
        <p:spPr>
          <a:xfrm>
            <a:off x="10972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8" name="Rectangle 110"/>
          <p:cNvSpPr/>
          <p:nvPr/>
        </p:nvSpPr>
        <p:spPr>
          <a:xfrm>
            <a:off x="11887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9" name="Rectangle 111"/>
          <p:cNvSpPr/>
          <p:nvPr/>
        </p:nvSpPr>
        <p:spPr>
          <a:xfrm>
            <a:off x="0" y="0"/>
            <a:ext cx="318600" cy="6856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0" name="Rounded Rectangle 43"/>
          <p:cNvSpPr/>
          <p:nvPr/>
        </p:nvSpPr>
        <p:spPr>
          <a:xfrm>
            <a:off x="9875520" y="365760"/>
            <a:ext cx="2010240" cy="501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1" name="TextBox 16"/>
          <p:cNvSpPr/>
          <p:nvPr/>
        </p:nvSpPr>
        <p:spPr>
          <a:xfrm>
            <a:off x="2108520" y="1005840"/>
            <a:ext cx="67543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VARIABLE NAMING RULES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TextBox 17"/>
          <p:cNvSpPr/>
          <p:nvPr/>
        </p:nvSpPr>
        <p:spPr>
          <a:xfrm>
            <a:off x="2305080" y="1826640"/>
            <a:ext cx="650556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Variable naming rules specify how variables should be written in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to ensure valid and readable code.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" name="Rounded Rectangle 44"/>
          <p:cNvSpPr/>
          <p:nvPr/>
        </p:nvSpPr>
        <p:spPr>
          <a:xfrm>
            <a:off x="98748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4" name="Rounded Rectangle 45"/>
          <p:cNvSpPr/>
          <p:nvPr/>
        </p:nvSpPr>
        <p:spPr>
          <a:xfrm>
            <a:off x="475560" y="2514600"/>
            <a:ext cx="3729240" cy="3885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Start with Letter, _ or $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 variable name must start with a letter, underscore _, or dollar sign $.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No Spaces Allowed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names cannot contain spaces.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Case Sensitive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variable names are case sensitive (age and Age are different).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Cannot Use Keywords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reserved keywords such as int, class, or public cannot be used as variable names.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Meaningful Names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names should be meaningful and descriptive to improve code readability.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5" name="Rounded Rectangle 46"/>
          <p:cNvSpPr/>
          <p:nvPr/>
        </p:nvSpPr>
        <p:spPr>
          <a:xfrm>
            <a:off x="450792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6" name="Rounded Rectangle 47"/>
          <p:cNvSpPr/>
          <p:nvPr/>
        </p:nvSpPr>
        <p:spPr>
          <a:xfrm>
            <a:off x="4434840" y="310896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Name Rules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Start with letter / _ / $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No spaces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Case sensitive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Not a keyword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Use meaningful names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7" name="Rounded Rectangle 48"/>
          <p:cNvSpPr/>
          <p:nvPr/>
        </p:nvSpPr>
        <p:spPr>
          <a:xfrm>
            <a:off x="802836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8" name="Rounded Rectangle 49"/>
          <p:cNvSpPr/>
          <p:nvPr/>
        </p:nvSpPr>
        <p:spPr>
          <a:xfrm>
            <a:off x="7955280" y="2514600"/>
            <a:ext cx="3702960" cy="3409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VariableNaming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age = 25;          // valid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studentCount = 30; // valid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2age = 20;      // invalid (cannot start with number)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student age = 5; // invalid (space not allowed)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class = 10;     // invalid (keyword)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System.out.println(age); System.out.println(studentCount);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9" name="TextBox 20"/>
          <p:cNvSpPr/>
          <p:nvPr/>
        </p:nvSpPr>
        <p:spPr>
          <a:xfrm>
            <a:off x="4600080" y="6446520"/>
            <a:ext cx="3051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Rectangle 112"/>
          <p:cNvSpPr/>
          <p:nvPr/>
        </p:nvSpPr>
        <p:spPr>
          <a:xfrm>
            <a:off x="0" y="0"/>
            <a:ext cx="12187440" cy="6856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1" name="Rectangle 113"/>
          <p:cNvSpPr/>
          <p:nvPr/>
        </p:nvSpPr>
        <p:spPr>
          <a:xfrm>
            <a:off x="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2" name="Rectangle 114"/>
          <p:cNvSpPr/>
          <p:nvPr/>
        </p:nvSpPr>
        <p:spPr>
          <a:xfrm>
            <a:off x="914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3" name="Rectangle 115"/>
          <p:cNvSpPr/>
          <p:nvPr/>
        </p:nvSpPr>
        <p:spPr>
          <a:xfrm>
            <a:off x="1828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4" name="Rectangle 116"/>
          <p:cNvSpPr/>
          <p:nvPr/>
        </p:nvSpPr>
        <p:spPr>
          <a:xfrm>
            <a:off x="2743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5" name="Rectangle 117"/>
          <p:cNvSpPr/>
          <p:nvPr/>
        </p:nvSpPr>
        <p:spPr>
          <a:xfrm>
            <a:off x="3657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6" name="Rectangle 118"/>
          <p:cNvSpPr/>
          <p:nvPr/>
        </p:nvSpPr>
        <p:spPr>
          <a:xfrm>
            <a:off x="4572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7" name="Rectangle 119"/>
          <p:cNvSpPr/>
          <p:nvPr/>
        </p:nvSpPr>
        <p:spPr>
          <a:xfrm>
            <a:off x="5486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8" name="Rectangle 120"/>
          <p:cNvSpPr/>
          <p:nvPr/>
        </p:nvSpPr>
        <p:spPr>
          <a:xfrm>
            <a:off x="6400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9" name="Rectangle 121"/>
          <p:cNvSpPr/>
          <p:nvPr/>
        </p:nvSpPr>
        <p:spPr>
          <a:xfrm>
            <a:off x="7315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0" name="Rectangle 122"/>
          <p:cNvSpPr/>
          <p:nvPr/>
        </p:nvSpPr>
        <p:spPr>
          <a:xfrm>
            <a:off x="8229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1" name="Rectangle 123"/>
          <p:cNvSpPr/>
          <p:nvPr/>
        </p:nvSpPr>
        <p:spPr>
          <a:xfrm>
            <a:off x="9144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2" name="Rectangle 124"/>
          <p:cNvSpPr/>
          <p:nvPr/>
        </p:nvSpPr>
        <p:spPr>
          <a:xfrm>
            <a:off x="10058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3" name="Rectangle 125"/>
          <p:cNvSpPr/>
          <p:nvPr/>
        </p:nvSpPr>
        <p:spPr>
          <a:xfrm>
            <a:off x="10972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4" name="Rectangle 126"/>
          <p:cNvSpPr/>
          <p:nvPr/>
        </p:nvSpPr>
        <p:spPr>
          <a:xfrm>
            <a:off x="11887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5" name="Rectangle 127"/>
          <p:cNvSpPr/>
          <p:nvPr/>
        </p:nvSpPr>
        <p:spPr>
          <a:xfrm>
            <a:off x="0" y="0"/>
            <a:ext cx="318600" cy="6856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6" name="Rounded Rectangle 50"/>
          <p:cNvSpPr/>
          <p:nvPr/>
        </p:nvSpPr>
        <p:spPr>
          <a:xfrm>
            <a:off x="9875520" y="365760"/>
            <a:ext cx="2010240" cy="501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7" name="TextBox 21"/>
          <p:cNvSpPr/>
          <p:nvPr/>
        </p:nvSpPr>
        <p:spPr>
          <a:xfrm>
            <a:off x="2159640" y="1005840"/>
            <a:ext cx="66520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VARIABLE INITIALIZATION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8" name="TextBox 22"/>
          <p:cNvSpPr/>
          <p:nvPr/>
        </p:nvSpPr>
        <p:spPr>
          <a:xfrm>
            <a:off x="2057400" y="2074680"/>
            <a:ext cx="687276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Variable initialization is the process of assigning a value to a variable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when it is declared or before it is used.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9" name="Rounded Rectangle 51"/>
          <p:cNvSpPr/>
          <p:nvPr/>
        </p:nvSpPr>
        <p:spPr>
          <a:xfrm>
            <a:off x="98748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0" name="Rounded Rectangle 52"/>
          <p:cNvSpPr/>
          <p:nvPr/>
        </p:nvSpPr>
        <p:spPr>
          <a:xfrm>
            <a:off x="685800" y="2971800"/>
            <a:ext cx="3519000" cy="3200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Declaration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 variable must first be declared with a data type and name.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Initialization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Initialization means assigning an initial value to the variable.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Default Values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Some variables receive default values automatically depending on their type.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Before Usage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Local variables must be initialized before they are used in a program.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1" name="Rounded Rectangle 53"/>
          <p:cNvSpPr/>
          <p:nvPr/>
        </p:nvSpPr>
        <p:spPr>
          <a:xfrm>
            <a:off x="450792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2" name="Rounded Rectangle 54"/>
          <p:cNvSpPr/>
          <p:nvPr/>
        </p:nvSpPr>
        <p:spPr>
          <a:xfrm>
            <a:off x="4434840" y="310896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Initialization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Declare Variable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     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 age;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Assign Value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     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age = 20;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Use Variable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System.out.println(age);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3" name="Rounded Rectangle 55"/>
          <p:cNvSpPr/>
          <p:nvPr/>
        </p:nvSpPr>
        <p:spPr>
          <a:xfrm>
            <a:off x="802836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4" name="Rounded Rectangle 56"/>
          <p:cNvSpPr/>
          <p:nvPr/>
        </p:nvSpPr>
        <p:spPr>
          <a:xfrm>
            <a:off x="7955280" y="2971800"/>
            <a:ext cx="3474360" cy="2971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VariableInitialization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age;      // declaration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age = 20;     // initialization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19.99; // declaration + initialization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System.out.println(age);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System.out.println(price);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5" name="TextBox 23"/>
          <p:cNvSpPr/>
          <p:nvPr/>
        </p:nvSpPr>
        <p:spPr>
          <a:xfrm>
            <a:off x="4600080" y="6446520"/>
            <a:ext cx="3051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39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2026-03-11T15:29:12Z</dcterms:modified>
  <cp:revision>8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