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93AE5D-58AE-4A8C-83B1-0879E5F2BC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62DF67-60A2-42C1-8356-EB32C402DB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158D75-5E9D-4885-9285-D6D8997F38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81439A6-755D-4086-9E2A-E41A674546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A5FAC3-0A1C-437A-8FEC-FE7BAF5A67A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C796C1-9089-4DF8-B8FB-5D22BCE237D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C526A8-7C9B-403C-9B42-995E472997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0C9C10-3903-4E30-9621-3469B3D4EA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E0C101-E412-41DA-A521-6F34DEB7FF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1E1BE9-6FDD-46BB-AFDA-5C87F8D928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4CD736-5396-4AB7-92C5-79EAA9766D7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AEE5B3-E582-48E0-B781-2B5866977AB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9FA11AD-C107-4A00-8DE8-9394C4D2D2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4C2A32-692C-441D-ADD4-987F7EB263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112E28-E339-4A09-89CE-1511C3FD70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FB227F-A82C-4653-B0FC-FEC3F98F899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0741324-1D07-4771-8DB9-B26EC5A7B1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C07048-433D-4E2E-A424-004089CA42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B639DF-5448-4287-8EA2-32ABBB7E0C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D71FACA-6E5B-4F63-B017-9E9830656C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7072A7-7E2A-4758-98A8-B497E44DC6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9ECDDF-A557-41DD-A8A6-CDA80312A9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4A286C0-4149-4CFD-9D25-5A049342EF7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75894F-6009-46B7-915C-4D196D6E611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687D557-1FA2-4835-81BF-EF47F2A473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F30D32E-FC4B-4CB1-A1E3-033B7BBE4F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2F8A98C-443F-4250-A3A4-13C179EC36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CB92933-5658-4BCA-8F7C-0D5F3E394E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BBE1691-312B-41B6-B6D1-6D2BDA49EB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72BE139-8B82-4BA3-945D-36AB91A58D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1B0956-3549-46DD-8D73-80854772F1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F3EF7B9-ED4C-4B50-A2DE-B4332E4B381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AA5D1F6-8710-4E05-BDE5-079B300601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3382496-BF99-48FA-A28A-2094D49EEC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A878C28-62AD-4EF8-AD63-8CE27E423A3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1AB4C13-E345-455E-921B-246DDC2A9D9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824B792-16A3-4264-B920-6A7F653E0D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B4C62F8-2AA3-49C9-A83E-CBBE611340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7EACE9E-6C4D-4EE3-90F4-7FA45A2E0D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5A776BE-F7E6-433B-A9C4-43BFB0E3B9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B52DE1-9602-4EFA-A458-BC7205E461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201A1F-F49C-4365-8093-D63BF74922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0E4D606-B818-4BA0-8FB0-539CAE7FEE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98E45A3-0A9D-4431-890C-3AEA1CFA07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FB29246-9BAB-4C5C-976D-5778D56762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F8124E0-9887-4992-88D4-63FA2E773B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A6C04D8-B6FD-49A7-AD30-F703D7E7FA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A11DE42-41C5-42F2-AD33-C7169741989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80AFC94-1B2D-4D17-96D2-35BBF03650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6FC969A-4CF5-4639-8291-3702CACECF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B9665D5-4F5C-40A0-9A94-BE32B2EA6E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F0E55FD-E32D-4D89-883B-64FBEFACA0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588802C-05DF-4433-A3B4-53CAC06FD6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8EA0608-05B6-4CD0-AEA1-D8E0995C8C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540FCBD-22EA-42EE-ACC7-EF34583E4A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273863C-92CE-4D86-B85A-A5EB20C2DB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266E892-C2E6-4FEB-BB36-080FCF9963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E01F2D5-B5BC-4231-BAB7-93CB909D61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E50B447-AD6C-4B03-A34F-82F72586D09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3C79D1C-2077-4DAE-9F11-F44B884F175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FF31ECF-2579-4B23-A352-9D2FA708D8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7E0339F-7654-4634-B901-9D513364EA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8020969-E0D5-454F-A866-3AD573194B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EE11001-6405-4195-A336-0E9C5E1FA22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CC87489-7E2C-4520-82F1-AC349871E2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1BB4ED1-415E-4A25-AE98-D14559961C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35B72C-BF32-4798-91DA-F0B033820D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9C5A19E-892A-4D05-AF59-C3B727D24F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49051AC-C88E-4DBE-8024-3DAE71B8C2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6660E07-6278-48A3-8A91-B055A3B3CC6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30EED8B-E04E-430A-B155-E04C16DB294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0BC0F4-86EE-46CC-8346-E709AE6FF71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7C56BD8-CD7D-43FD-A3E0-E29B40F0C67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EBEACB1-A036-4477-A3ED-053E386FD7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9D543EC-88BD-4C17-8838-4912373E50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8C01E40-D1B0-4AFC-A71C-9AED5FE4C9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3B87D9D-3DA3-4567-9ABE-22751AD38E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A604712-96D7-4438-BE44-8FF2671628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9E599B9-FDF3-405E-B931-0391C775DA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2713B5-5BD6-4F22-B958-FA4B8D25E5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86B3953-BBE1-41B6-8B82-6F08209CD5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3324041-16DF-4C3E-8C12-32B7B0549D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2C88578-98C7-493B-B239-F827C5C49D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63BC342-46F9-41BB-99D0-B79CC72B8D9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A2497B3-B1CD-4C12-B560-DBBEE61C52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22EC236-FD5C-473E-9B5E-9BFFBA5B27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2AB6DBA-D90B-4A74-A02F-532ED87C5C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583BC5D-502B-4192-BC06-C28F9432BC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8BC61B9-E15B-4D24-A85C-62C948706E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7C44E3D-AB69-4802-B43A-1C9C648588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992CA7E-F28E-437B-A388-7F95D3AFCF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9A944A7-3929-4FB2-8909-7C8A6B7A45C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E1E4D77-D556-47CC-B03A-0D3388CAC1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4CB046A-5CE8-42FC-B89C-44976EAD26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5905197-1BD1-4106-B7ED-68854F1B4D0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91AEE6A-0C65-4864-9E8F-EC81C3CE81F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093505-9313-4BF7-91D7-FAEE095B2ED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5635D2-B289-44A7-8049-C6D1DF507E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9BB074-5361-47A9-9A4F-E0E42EDABA7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3FA9AD-1223-4F1B-831F-2085E45975D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DE68C5-6C68-4831-A134-1A7860BEAF3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43C0F7-D066-412C-A984-AE532C64993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80AA23-F293-4739-AE1C-44377A8BFC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0AFB55-0944-4ADD-B547-AFFC5E94098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1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2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1"/>
          <p:cNvSpPr/>
          <p:nvPr/>
        </p:nvSpPr>
        <p:spPr>
          <a:xfrm>
            <a:off x="685800" y="2521440"/>
            <a:ext cx="3424320" cy="332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ounded Rectangle 2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25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3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3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3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4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4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0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2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ounded Rectangle 1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14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4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7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8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0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2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3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4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5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6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7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8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9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30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31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1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1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18"/>
          <p:cNvSpPr/>
          <p:nvPr/>
        </p:nvSpPr>
        <p:spPr>
          <a:xfrm>
            <a:off x="475560" y="2743200"/>
            <a:ext cx="3725640" cy="310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1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26"/>
          <p:cNvSpPr/>
          <p:nvPr/>
        </p:nvSpPr>
        <p:spPr>
          <a:xfrm>
            <a:off x="4343400" y="2918520"/>
            <a:ext cx="3515400" cy="292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27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28"/>
          <p:cNvSpPr/>
          <p:nvPr/>
        </p:nvSpPr>
        <p:spPr>
          <a:xfrm>
            <a:off x="8023680" y="2743200"/>
            <a:ext cx="383688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64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4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5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5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5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5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5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5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5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5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5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5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6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6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6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6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29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3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31"/>
          <p:cNvSpPr/>
          <p:nvPr/>
        </p:nvSpPr>
        <p:spPr>
          <a:xfrm>
            <a:off x="685800" y="2971800"/>
            <a:ext cx="351576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3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3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3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35"/>
          <p:cNvSpPr/>
          <p:nvPr/>
        </p:nvSpPr>
        <p:spPr>
          <a:xfrm>
            <a:off x="795528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80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6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6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6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6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6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7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7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7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7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7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7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7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7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7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7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36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37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38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3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40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41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42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Rectangle 8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8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8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8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8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8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8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8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8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9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9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9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9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9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4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ounded Rectangle 4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45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4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7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ounded Rectangle 4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49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Rectangle 9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0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0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0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0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0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0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0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0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0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0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1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1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1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5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5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52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5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54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5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56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11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1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1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1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1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1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1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2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2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2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2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2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2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2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2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2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5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5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59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6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61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6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63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2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3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3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3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3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3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3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3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3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3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3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4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4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4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4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4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6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28"/>
          <p:cNvSpPr/>
          <p:nvPr/>
        </p:nvSpPr>
        <p:spPr>
          <a:xfrm>
            <a:off x="3053160" y="1005840"/>
            <a:ext cx="486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9"/>
          <p:cNvSpPr/>
          <p:nvPr/>
        </p:nvSpPr>
        <p:spPr>
          <a:xfrm>
            <a:off x="1154520" y="2194560"/>
            <a:ext cx="867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6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66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6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68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6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70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4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4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4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4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4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5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5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5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5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5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5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5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5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5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5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6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7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32"/>
          <p:cNvSpPr/>
          <p:nvPr/>
        </p:nvSpPr>
        <p:spPr>
          <a:xfrm>
            <a:off x="2109960" y="2194560"/>
            <a:ext cx="6763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7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73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7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75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ounded Rectangle 7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77"/>
          <p:cNvSpPr/>
          <p:nvPr/>
        </p:nvSpPr>
        <p:spPr>
          <a:xfrm>
            <a:off x="7955280" y="3108960"/>
            <a:ext cx="328752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6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6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6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6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6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6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6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6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6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7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7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7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7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7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7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7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4"/>
          <p:cNvSpPr/>
          <p:nvPr/>
        </p:nvSpPr>
        <p:spPr>
          <a:xfrm>
            <a:off x="3134520" y="1005840"/>
            <a:ext cx="469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7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80"/>
          <p:cNvSpPr/>
          <p:nvPr/>
        </p:nvSpPr>
        <p:spPr>
          <a:xfrm>
            <a:off x="457200" y="2971800"/>
            <a:ext cx="378252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2"/>
          <p:cNvSpPr/>
          <p:nvPr/>
        </p:nvSpPr>
        <p:spPr>
          <a:xfrm>
            <a:off x="4434840" y="3108960"/>
            <a:ext cx="3287520" cy="283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8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84"/>
          <p:cNvSpPr/>
          <p:nvPr/>
        </p:nvSpPr>
        <p:spPr>
          <a:xfrm>
            <a:off x="8001000" y="2743200"/>
            <a:ext cx="342684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7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7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7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8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8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8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8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8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8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8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87"/>
          <p:cNvSpPr/>
          <p:nvPr/>
        </p:nvSpPr>
        <p:spPr>
          <a:xfrm>
            <a:off x="821232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8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8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9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9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9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8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1742040" y="2013840"/>
            <a:ext cx="7629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7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88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89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Rounded Rectangle 90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91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Rectangle 19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9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9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9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9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0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0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0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03"/>
          <p:cNvSpPr/>
          <p:nvPr/>
        </p:nvSpPr>
        <p:spPr>
          <a:xfrm>
            <a:off x="821232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0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0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0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0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0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92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TextBox 40"/>
          <p:cNvSpPr/>
          <p:nvPr/>
        </p:nvSpPr>
        <p:spPr>
          <a:xfrm>
            <a:off x="658080" y="1005840"/>
            <a:ext cx="9654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41"/>
          <p:cNvSpPr/>
          <p:nvPr/>
        </p:nvSpPr>
        <p:spPr>
          <a:xfrm>
            <a:off x="2366640" y="2013840"/>
            <a:ext cx="6379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ounded Rectangle 93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94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95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96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Rounded Rectangle 9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98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Rectangle 22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0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1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1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1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1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1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1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1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1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1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1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2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2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2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2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9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43"/>
          <p:cNvSpPr/>
          <p:nvPr/>
        </p:nvSpPr>
        <p:spPr>
          <a:xfrm>
            <a:off x="2463840" y="1005840"/>
            <a:ext cx="60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TEMEL SÖZDİZİMİ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Box 44"/>
          <p:cNvSpPr/>
          <p:nvPr/>
        </p:nvSpPr>
        <p:spPr>
          <a:xfrm>
            <a:off x="2525760" y="2194560"/>
            <a:ext cx="5919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Sözdizimi, bir Java programını yazmak ve çalıştırmak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için gereken temel kuralları ve yapıyı ifade eder.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Rounded Rectangle 10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101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Temel Sözdizimi, Java programlarının temel yazım kurallarıdır.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Tüm kodlar bir class içinde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main() metodu ile başlar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noktalı virgül ( ; ) ile biter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{ } işaretleri kod bloklarını belirtir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10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10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Yüklenir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Biter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Rounded Rectangle 10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10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System.out.println("Selam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Rectangle 22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2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2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2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2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3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3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3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3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3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3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3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3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3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3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4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10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46"/>
          <p:cNvSpPr/>
          <p:nvPr/>
        </p:nvSpPr>
        <p:spPr>
          <a:xfrm>
            <a:off x="802080" y="1005840"/>
            <a:ext cx="9367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TANIMLAYICILAR (IDENTIFIERS)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47"/>
          <p:cNvSpPr/>
          <p:nvPr/>
        </p:nvSpPr>
        <p:spPr>
          <a:xfrm>
            <a:off x="1519920" y="2194560"/>
            <a:ext cx="7932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Tanımlayıcılar, Java’da sınıf, değişken ve metot gibi elemanlara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10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0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için Kurallar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harf, $ veya _ ile başlamalıdır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karakterden sonra her türlü kombinasyon kullanılabilir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(keywords) tanımlayıcı olarak kullanılamaz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İsimler anlamlı ve okunabilir olmalıdır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0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10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İsim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Tanımlayıcı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İçinde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Rounded Rectangle 11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112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Geçersiz örnekler: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25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41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42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43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44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45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46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47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48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49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50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51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52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53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54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55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11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49"/>
          <p:cNvSpPr/>
          <p:nvPr/>
        </p:nvSpPr>
        <p:spPr>
          <a:xfrm>
            <a:off x="3572280" y="550800"/>
            <a:ext cx="3825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50"/>
          <p:cNvSpPr/>
          <p:nvPr/>
        </p:nvSpPr>
        <p:spPr>
          <a:xfrm>
            <a:off x="849960" y="1388880"/>
            <a:ext cx="9448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 (Identifiers); sınıflar, değişkenler ve metotlar gibi Java öğelerine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1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15"/>
          <p:cNvSpPr/>
          <p:nvPr/>
        </p:nvSpPr>
        <p:spPr>
          <a:xfrm>
            <a:off x="685800" y="2286000"/>
            <a:ext cx="3517920" cy="4342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Modifier’lar, sınıfların, metotların ve değişkenlerin erişim seviyesini ve davranışını belirler.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Kontrol ettikleri: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Görünürlük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Kalıtım (Inheritance)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Değiştirilebilirlik (Mutability)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Metot ezme (Method overriding)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Belirleyiciler (Access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Sadece sınıf içinden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Aynı paket + alt sınıflar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Sadece aynı paket içinde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Dışı Belirleyiciler (Non-Access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Değiştirilemez / override edilemez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Alt sınıfta uygulanmalıdır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Sınıfa aittir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Bellek görünürlüğünü garanti eder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1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17"/>
          <p:cNvSpPr/>
          <p:nvPr/>
        </p:nvSpPr>
        <p:spPr>
          <a:xfrm>
            <a:off x="4434840" y="2286000"/>
            <a:ext cx="328932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BELİRLEYİCİLERİ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DIŞI BELİRLEYİCİLER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Rounded Rectangle 11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119"/>
          <p:cNvSpPr/>
          <p:nvPr/>
        </p:nvSpPr>
        <p:spPr>
          <a:xfrm>
            <a:off x="7955280" y="2743200"/>
            <a:ext cx="328932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 // Erişim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 // Erişim dışı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System.out.println("Marka: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25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5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5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6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6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6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6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6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6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6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6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6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6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7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7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7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12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52"/>
          <p:cNvSpPr/>
          <p:nvPr/>
        </p:nvSpPr>
        <p:spPr>
          <a:xfrm>
            <a:off x="3239640" y="1005840"/>
            <a:ext cx="4494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Değişkenleri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53"/>
          <p:cNvSpPr/>
          <p:nvPr/>
        </p:nvSpPr>
        <p:spPr>
          <a:xfrm>
            <a:off x="1310400" y="2013840"/>
            <a:ext cx="8349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verileri depolamak için kullanılan isimlendirilmiş bellek alanlarıdır.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bir veri tipine sahiptir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bilginin program içinde nasıl saklandığını, erişildiğini ve işlendiğini belirler.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12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122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Türleri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Sadece metot çalıştığı sürece var olur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 Değişken (Instance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nesneye aittir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 (Static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anahtar kelimesi ile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arasında paylaşılır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12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24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Kategorileri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 (Reference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Diziler (Arrays), 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Rounded Rectangle 12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126"/>
          <p:cNvSpPr/>
          <p:nvPr/>
        </p:nvSpPr>
        <p:spPr>
          <a:xfrm>
            <a:off x="7955280" y="2971800"/>
            <a:ext cx="328932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// Örnek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// Yerel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273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74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5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6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7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78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79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80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81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82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83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84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85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86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87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88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12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56"/>
          <p:cNvSpPr/>
          <p:nvPr/>
        </p:nvSpPr>
        <p:spPr>
          <a:xfrm>
            <a:off x="1149480" y="1828800"/>
            <a:ext cx="96300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 enum (Enumeration’ın kısaltması), Java’da sabit bir değer kümesini tanımlamak için kullanılan özel bir veri tipidir.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Java sözdiziminin (syntax) bir parçasıdır çünkü class, int veya String gibi yeni bir tür tanımlar.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Enum’lar, değerleri önceden tanımlanmış sabitlerle sınırlandırarak programları daha güvenli ve daha okunabilir hale getirir.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ounded Rectangle 12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29"/>
          <p:cNvSpPr/>
          <p:nvPr/>
        </p:nvSpPr>
        <p:spPr>
          <a:xfrm>
            <a:off x="685800" y="2743200"/>
            <a:ext cx="351936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Enum Nedir?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referans tipidir.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Sabit değer gruplarını temsil etmek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enum anahtar kelimesi ile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Tip güvenliği sağlar (type safety).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Neden Enum Kullanırız?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Normal bir String kullanımı: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kod derlenir, ancak yanlıştır.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Eğer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yazarsanız, derleyici hata verir.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da demektir ki enum’lar, hatalı değerleri derleme zamanında engeller.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13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131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Enum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sabit nesneler oluşturur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EnumName.VALUE şeklinde erişilir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tanımlı değerler kullanılabilir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Rounded Rectangle 13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133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Box 5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2026-02-22T17:03:44Z</dcterms:modified>
  <cp:revision>35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