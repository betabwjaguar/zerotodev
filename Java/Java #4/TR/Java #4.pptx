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CB531F9-34ED-4F11-8E6D-6466384431E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08FE230-30EC-436A-82D0-CAE274863BB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C95D465-CCBB-4E57-A6BB-555070E5963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ACC19DF-A5D8-442A-BF18-E3AA3468596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131157B-1F62-4F4D-A093-7FD9020A0D1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9F7C04F-BD59-47CC-89F1-ABF820197BA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238F000-72B9-4CFD-B6E2-EE7ED32304C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252830B-706C-4D4A-BC49-3EA26BAC528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0663B59-500F-44EE-844B-2C06DE99C6E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AC6206A-70DB-4129-8991-96590DB8624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AD7D6B1-765D-46D1-A2CE-90851A37A48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C2C0E20-B1A2-44BA-A846-7FB1820713A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A01CAD4-84E5-4A2B-8A6E-F9F516B4CE1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A3CD093-2ADB-4568-80BD-DD07D48E273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C82332F-A32F-407C-9193-D72A930EDD5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B9F66F8-EFEC-467B-810A-8FA069587DD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DF335C8-7595-4078-A2A3-891709E34B2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5859C31-0524-438A-B2E8-B56B635DC0D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C6E4A7F-2E44-4F05-A520-E623871594E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D76BAE7-36C5-4C94-97A1-5DA0BED3183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A679D87-22E9-48DB-9A52-BBF8C5A15C2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0013437-819C-4F1B-BC63-FA165F69B45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A98E82A-A0AC-43F0-AE50-5083F5FC0CA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3F090CB-0AFB-43FD-94B7-3074E296720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FB0AA59-C193-4550-ABBA-8ABB5D63563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E98DA96-5493-4278-8E9B-8B8DB653259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1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ectangle 2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" name="Rectangle 3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" name="Rectangle 4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" name="Rectangle 5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ectangle 6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" name="Rectangle 7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ectangle 8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" name="Rectangle 9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ectangle 10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" name="Rectangle 11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" name="Rectangle 12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3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4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15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16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ounded Rectangle 17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Box 18"/>
          <p:cNvSpPr/>
          <p:nvPr/>
        </p:nvSpPr>
        <p:spPr>
          <a:xfrm>
            <a:off x="3070440" y="5508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19"/>
          <p:cNvSpPr/>
          <p:nvPr/>
        </p:nvSpPr>
        <p:spPr>
          <a:xfrm>
            <a:off x="3070440" y="1495080"/>
            <a:ext cx="59374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tarih ve saat işlemleri, Java 8 ile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gelen java.time paketi kullanılarak yönetilir.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Eski tarih sınıflarının aksine, bu yeni API çok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daha güvenli (thread-safe), anlaşılır ve esnek bir yapı sunar.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Rounded Rectangle 20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ounded Rectangle 21"/>
          <p:cNvSpPr/>
          <p:nvPr/>
        </p:nvSpPr>
        <p:spPr>
          <a:xfrm>
            <a:off x="914400" y="310896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8 ile birlikte gelen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paketi, bölgesel zamanı (Timezone) ve tarihleri hassas bir şekilde yönetmemizi sağlar.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ve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sınıfları kullanılarak, bulunduğunuz konumun (örneğin İstanbul, Türkiye) yerel saat dilimine ve güncel tarih verilerine anlık olarak ulaşılıp istenilen formatta yazdırılabilir.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Rounded Rectangle 22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ounded Rectangle 23"/>
          <p:cNvSpPr/>
          <p:nvPr/>
        </p:nvSpPr>
        <p:spPr>
          <a:xfrm>
            <a:off x="4434840" y="310896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Bölge (ZoneId) Tanımlanır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Güncel Zaman (ZonedDateTime) Alınır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Belirlenir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Rounded Rectangle 24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ounded Rectangle 25"/>
          <p:cNvSpPr/>
          <p:nvPr/>
        </p:nvSpPr>
        <p:spPr>
          <a:xfrm>
            <a:off x="7955280" y="2971800"/>
            <a:ext cx="3919680" cy="364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Konum İstanbul olarak ayarlanır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İstanbul bölgesindeki güncel zaman alınır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İstenen formata göre (Örn: Salı, 28 Nisan 2026 saat 22:26 +03:00)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dd MMMM yyyy 'saat' HH:mm xxx",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System.out.println("Şu anki zaman: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System.out.println("Mevcut konumun İstanbul, Türkiye olduğunu unutmayın.");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angle 32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ectangle 33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" name="Rectangle 34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" name="Rectangle 35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" name="Rectangle 36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ectangle 37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" name="Rectangle 38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ectangle 39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" name="Rectangle 40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ectangle 41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" name="Rectangle 42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" name="Rectangle 43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44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45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46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47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ounded Rectangle 8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Box 4"/>
          <p:cNvSpPr/>
          <p:nvPr/>
        </p:nvSpPr>
        <p:spPr>
          <a:xfrm>
            <a:off x="723240" y="914400"/>
            <a:ext cx="9523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Saat Dilimi (Timezone) ve Bölgesel Zaman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5"/>
          <p:cNvSpPr/>
          <p:nvPr/>
        </p:nvSpPr>
        <p:spPr>
          <a:xfrm>
            <a:off x="1778760" y="1828800"/>
            <a:ext cx="7932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saat dilimi yönetimi, farklı bölgelerin zamanını doğru şekilde hesaplamak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ZoneId ile bölge seçilir, ZonedDateTime ile o bölgenin güncel tarih ve saati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alınır. Bu yapı sayesinde global uygulamalarda her kullanıcıya doğru zaman gösterilir.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Rounded Rectangle 9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ounded Rectangle 10"/>
          <p:cNvSpPr/>
          <p:nvPr/>
        </p:nvSpPr>
        <p:spPr>
          <a:xfrm>
            <a:off x="914400" y="310896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Saat dilimini temsil eder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Saat dilimi ile birlikte tarih ve saat bilgisini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bölge için farklı UTC offset otomatik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/ kış saati değişimleri otomatik yönetilir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Rounded Rectangle 11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ounded Rectangle 12"/>
          <p:cNvSpPr/>
          <p:nvPr/>
        </p:nvSpPr>
        <p:spPr>
          <a:xfrm>
            <a:off x="4434840" y="310896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Seçilir (ZoneId)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 Bölgeye Ait Zaman Alınır (ZonedDateTime)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Rounded Rectangle 13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ounded Rectangle 14"/>
          <p:cNvSpPr/>
          <p:nvPr/>
        </p:nvSpPr>
        <p:spPr>
          <a:xfrm>
            <a:off x="7955280" y="3108960"/>
            <a:ext cx="3691440" cy="3051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System.out.println("İstanbul Saati: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Saati: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Rectangle 17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ectangle 18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" name="Rectangle 19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" name="Rectangle 20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" name="Rectangle 21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ectangle 22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" name="Rectangle 23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ectangle 24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" name="Rectangle 25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ectangle 26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" name="Rectangle 27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" name="Rectangle 28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29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30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31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48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ounded Rectangle 15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Box 7"/>
          <p:cNvSpPr/>
          <p:nvPr/>
        </p:nvSpPr>
        <p:spPr>
          <a:xfrm>
            <a:off x="942480" y="914400"/>
            <a:ext cx="9084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LocalDate, LocalTime ve LocalDateTime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Box 8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Rounded Rectangle 16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ounded Rectangle 18"/>
          <p:cNvSpPr/>
          <p:nvPr/>
        </p:nvSpPr>
        <p:spPr>
          <a:xfrm>
            <a:off x="914400" y="3108960"/>
            <a:ext cx="3278880" cy="3051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Sadece tarih bilgisini tutar (yıl, ay, gün)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Sadece saat bilgisini tutar (saat, dakika, saniye)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Tarih ve saat bilgisini birlikte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(timezone) içermezler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basit ve performanslı kullanım sağlar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Rounded Rectangle 19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ounded Rectangle 26"/>
          <p:cNvSpPr/>
          <p:nvPr/>
        </p:nvSpPr>
        <p:spPr>
          <a:xfrm>
            <a:off x="4434840" y="310896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Uygun Sınıf Seçilir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Güncel Değer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Rounded Rectangle 27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ounded Rectangle 28"/>
          <p:cNvSpPr/>
          <p:nvPr/>
        </p:nvSpPr>
        <p:spPr>
          <a:xfrm>
            <a:off x="7955280" y="3108960"/>
            <a:ext cx="3691440" cy="3051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System.out.println("Saat: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ve Saat: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Rectangle 49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ectangle 50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2" name="Rectangle 51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3" name="Rectangle 52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4" name="Rectangle 53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ectangle 54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6" name="Rectangle 55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ectangle 56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8" name="Rectangle 57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ectangle 58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0" name="Rectangle 59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ectangle 60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61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62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63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64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ounded Rectangle 29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Box 10"/>
          <p:cNvSpPr/>
          <p:nvPr/>
        </p:nvSpPr>
        <p:spPr>
          <a:xfrm>
            <a:off x="2796840" y="914400"/>
            <a:ext cx="5374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DateTimeFormatter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Box 11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Rounded Rectangle 30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ounded Rectangle 31"/>
          <p:cNvSpPr/>
          <p:nvPr/>
        </p:nvSpPr>
        <p:spPr>
          <a:xfrm>
            <a:off x="914400" y="3108960"/>
            <a:ext cx="3278880" cy="3051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Tarih ve saat verilerini formatlar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Özel format desenlerini destekler (dd/MM/yyyy, HH:mm vb.)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LocalDateTime, ZonedDateTime gibi sınıflarla kullanılabilir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(locale) tabanlı formatlama sağlar (dil desteği)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Tarih-saat çıktısının okunabilirliğini artırır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Rounded Rectangle 32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ounded Rectangle 33"/>
          <p:cNvSpPr/>
          <p:nvPr/>
        </p:nvSpPr>
        <p:spPr>
          <a:xfrm>
            <a:off x="4434840" y="310896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Uygulama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Tarih/Saat bilgisine ihtiyaç duyulur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 bir format deseni belirlenir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veriyi işler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 bir çıktı üretilir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Rounded Rectangle 34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ounded Rectangle 35"/>
          <p:cNvSpPr/>
          <p:nvPr/>
        </p:nvSpPr>
        <p:spPr>
          <a:xfrm>
            <a:off x="7955280" y="2743200"/>
            <a:ext cx="3691440" cy="364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System.out.println("Türkçe Format: " + now.format(formatterTR));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System.out.println("ABD Formatı: " + now.format(formatterUS));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Rectangle 65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ectangle 66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8" name="Rectangle 67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9" name="Rectangle 68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0" name="Rectangle 69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ectangle 70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2" name="Rectangle 71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ectangle 72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ectangle 73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ectangle 74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6" name="Rectangle 75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7" name="Rectangle 76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77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78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79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80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ounded Rectangle 36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TextBox 13"/>
          <p:cNvSpPr/>
          <p:nvPr/>
        </p:nvSpPr>
        <p:spPr>
          <a:xfrm>
            <a:off x="2099160" y="914400"/>
            <a:ext cx="6772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Tarih ve Saat Parsing İşlemi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Box 14"/>
          <p:cNvSpPr/>
          <p:nvPr/>
        </p:nvSpPr>
        <p:spPr>
          <a:xfrm>
            <a:off x="1196640" y="1828800"/>
            <a:ext cx="90936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parsing, metin (String) formatındaki tarih değerlerini uygulama içinde kullanılabilecek yapılandırılmış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tarih-saat nesnelerine dönüştürme işlemidir.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Rounded Rectangle 37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ounded Rectangle 38"/>
          <p:cNvSpPr/>
          <p:nvPr/>
        </p:nvSpPr>
        <p:spPr>
          <a:xfrm>
            <a:off x="457200" y="2514600"/>
            <a:ext cx="3736080" cy="410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Tarihler genellikle düz metin olarak gelir.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Metinler üzerinde hesaplama veya karşılaştırma yapılamaz.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 yüzden gerçek bir tarih nesnesine dönüştürülmelidir.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pattern, metnin nasıl okunacağını belirler.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bu kurala sıkı sıkıya bağlı kalır.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 eşleşirse dönüşüm başarılı olur.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Eşleşmezse hata oluşur.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Rounded Rectangle 39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ounded Rectangle 40"/>
          <p:cNvSpPr/>
          <p:nvPr/>
        </p:nvSpPr>
        <p:spPr>
          <a:xfrm>
            <a:off x="4434840" y="2971800"/>
            <a:ext cx="3278880" cy="3417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Ham metin veri sisteme girer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Sistem beklenen tarih yapısını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dönüşüm kuralı (pattern) hazırlanır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bu kurala göre yorumlanır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Geçerli 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işlemler için kullanılabilir hale gelir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Rounded Rectangle 41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ounded Rectangle 42"/>
          <p:cNvSpPr/>
          <p:nvPr/>
        </p:nvSpPr>
        <p:spPr>
          <a:xfrm>
            <a:off x="8001000" y="3200400"/>
            <a:ext cx="3463920" cy="2732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System.out.println("Ayrıştırılmış Tarih: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Rectangle 81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82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83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84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85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86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87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88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89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ectangle 90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2" name="Rectangle 91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3" name="Rectangle 92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93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94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95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96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ounded Rectangle 43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TextBox 16"/>
          <p:cNvSpPr/>
          <p:nvPr/>
        </p:nvSpPr>
        <p:spPr>
          <a:xfrm>
            <a:off x="1540440" y="914400"/>
            <a:ext cx="78879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Period ve Duration (Zaman Farkı Hesaplama)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Box 17"/>
          <p:cNvSpPr/>
          <p:nvPr/>
        </p:nvSpPr>
        <p:spPr>
          <a:xfrm>
            <a:off x="880200" y="1600200"/>
            <a:ext cx="97261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iki tarih veya iki saat arasındaki zaman farkını ölçmek, tarihlere belirli süreler ekleyip çıkarmak için tarih bazlı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ölçümlerde Period, saat bazlı ölçümlerde ise Duration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Rounded Rectangle 44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ounded Rectangle 45"/>
          <p:cNvSpPr/>
          <p:nvPr/>
        </p:nvSpPr>
        <p:spPr>
          <a:xfrm>
            <a:off x="457200" y="2514600"/>
            <a:ext cx="3736080" cy="410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Tarihsel farkları (yıl, ay, gün) ifade eder. Genellikle LocalDate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Zamansal farkları (saat, dakika, saniye, nanosaniye) ifade eder. Genellikle LocalTime veya LocalDateTime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tarih/saat noktası arasındaki farkı bulmak için between() metodu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Mevcut bir tarihe süre eklemek veya çıkarmak için plus() ve minus() metotlarıyla birlikte kullanılabilirler.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gibi karmaşık durumları yönetirken manuel matematiksel hesaplamalar yerine bu API'leri kullanmak hataları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Rounded Rectangle 46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ounded Rectangle 47"/>
          <p:cNvSpPr/>
          <p:nvPr/>
        </p:nvSpPr>
        <p:spPr>
          <a:xfrm>
            <a:off x="4434840" y="2514600"/>
            <a:ext cx="3278880" cy="387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ve bitiş zamanları (Tarih/Saat nesneleri)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İhtiyaca göre uygun sınıf (Period veya Duration) seçilir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between() metodu çağrılarak iki zaman arasındaki fark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İlgili metotlar (örn: getDays(), toHours()) ile farkın detayı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 veya farklı bir iş mantığında kullanılır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Rounded Rectangle 48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ounded Rectangle 49"/>
          <p:cNvSpPr/>
          <p:nvPr/>
        </p:nvSpPr>
        <p:spPr>
          <a:xfrm>
            <a:off x="8001000" y="2514600"/>
            <a:ext cx="3463920" cy="387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ÖRNEĞİ (Tarih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Örn: 28 Nisan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Farkı: " + period.getYears() + " yıl,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ay,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gün");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ÖRNEĞİ (Saat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System.out.println("Geçen Süre: " + duration.toHours() + " saat,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dakika");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Rectangle 97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98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99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100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101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102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103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104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105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106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107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108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09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10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11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12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ounded Rectangle 50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TextBox 21"/>
          <p:cNvSpPr/>
          <p:nvPr/>
        </p:nvSpPr>
        <p:spPr>
          <a:xfrm>
            <a:off x="2106360" y="914400"/>
            <a:ext cx="6755760" cy="9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Kapsamlı Java Date &amp; Time Ekosistemi (Özet)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Box 22"/>
          <p:cNvSpPr/>
          <p:nvPr/>
        </p:nvSpPr>
        <p:spPr>
          <a:xfrm>
            <a:off x="1124280" y="1565280"/>
            <a:ext cx="9252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8 ile gelen java.time paketi, Java'da bir paradigma değişimidir. İnsan zamanını,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makine zamanını ve bunları birbirine bağlayan karmaşık coğrafi kuralları modellemek için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değiştirilemez (immutable), iş parçacığı güvenli (thread-safe) ve alan odaklı (domain-driven) bir yaklaşım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Rounded Rectangle 51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ounded Rectangle 52"/>
          <p:cNvSpPr/>
          <p:nvPr/>
        </p:nvSpPr>
        <p:spPr>
          <a:xfrm>
            <a:off x="457200" y="2743200"/>
            <a:ext cx="3876120" cy="387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İnsan Zaman Çizelgesi (Coğrafyadan Bağımsız)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zamanı tam olarak bir duvar saatinde veya kağıt takvimde gördüğünüz gibi temsil eder. Dünyanın neresinde olduklarını bilmezler.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Dünya Izgarası (Coğrafi Gerçeklik)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ve ZonedDateTime, insan zaman çizelgesini Dünya üzerindeki belirli bir koordinata sabitler. Yaz Saati (DST) ve UTC farklarının yarattığı karmaşayı otomatik olarak yönetirler.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Ölçüm (Anlar arasındaki boşluk)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Zaman sadece noktalardan ibaret değildir; mesafelerdir. Period takvimsel mesafeleri (yıl, ay, gün) ölçerken, Duration saat bazlı mesafeleri (saat, dakika, saniye) ölçer.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4: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 Çeviri Katmanı (Köprü)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DateTimeFormatter, ham metin (Parsing) ile insan tarafından okunabilen kullanıcı arayüzü çıktıları (Formatting) arasında evrensel bir çevirmen görevi görür.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Rounded Rectangle 53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ounded Rectangle 54"/>
          <p:cNvSpPr/>
          <p:nvPr/>
        </p:nvSpPr>
        <p:spPr>
          <a:xfrm>
            <a:off x="4572000" y="2743200"/>
            <a:ext cx="3418920" cy="364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Ne tür bir zaman modellemeniz gerekiyor?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Coğrafya önemli mi? (Küresel Etkinlikler, Uçuşlar)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EVET ─&gt; ZoneId ile bağla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Sadece yerel/günlük bir kavram mı? (Doğum Günleri, Alarmlar)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Tarih mi Lazım?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Saat mi Lazım?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İkisi de mi Lazım?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Evresi: Bununla ne yapmak istiyorsunuz?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Geri Sayım/Mesafe mi hesaplanacak?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Takvim bazlı mı? ─&gt; Period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Saat bazlı mı? ─&gt; Duration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Arayüze veya Veritabanına mı gönderilecek?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ile dönüştür (Formatla / Ayrıştır)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Rounded Rectangle 55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ounded Rectangle 56"/>
          <p:cNvSpPr/>
          <p:nvPr/>
        </p:nvSpPr>
        <p:spPr>
          <a:xfrm>
            <a:off x="8229600" y="2514600"/>
            <a:ext cx="3647520" cy="410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ZamanEkoSistemi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İnsan Zaman Çizelgesi (Yerel)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yerelToplanti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Dünya Izgarası (Bölgesel/Zoned)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nyBolgesi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nyToplantisi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.of(yerelToplanti, 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Çeviri Katmanı (Formatlama)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.ofPattern("dd MMM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nyToplantisi.format(format));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Ölçüm (Süre/Mesafe)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suAn = ZonedDateTime.now(nyBolgesi);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(nyToplantisi.isAfter(suAn))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fark = Duration.between(suAn, nyToplantisi);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System.out.println(fark.toDays() + " gün kaldı!");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 tarihi geçmiş.");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Rectangle 113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ectangle 114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115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116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117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118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119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120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121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ectangle 122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4" name="Rectangle 123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ectangle 124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25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26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27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28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ounded Rectangle 57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TextBox 24"/>
          <p:cNvSpPr/>
          <p:nvPr/>
        </p:nvSpPr>
        <p:spPr>
          <a:xfrm>
            <a:off x="2324520" y="914400"/>
            <a:ext cx="6319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Temel Operatörlere Giriş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Box 25"/>
          <p:cNvSpPr/>
          <p:nvPr/>
        </p:nvSpPr>
        <p:spPr>
          <a:xfrm>
            <a:off x="2448360" y="1828800"/>
            <a:ext cx="6589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operatörler, değişkenler ve değerler üzerinde matematiksel, mantıksal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ilişkisel işlemler gerçekleştirmemizi sağlayan özel sembollerdir.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İşlem gören verilere ise "Operand" denir.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Rounded Rectangle 58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ounded Rectangle 59"/>
          <p:cNvSpPr/>
          <p:nvPr/>
        </p:nvSpPr>
        <p:spPr>
          <a:xfrm>
            <a:off x="914400" y="3108960"/>
            <a:ext cx="3278880" cy="328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Terimler: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yapan sembol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İşleme giren veri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(Örn: x + 5 ifadesinde + operatör, x ve 5 operanddır.)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Sık Kullanılan Operatör Türleri: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Matematiksel hesaplar yapar (+, -, *, /, % mod alma).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İlişkisel: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karşılaştırır, geriye true veya false döner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Koşulları birbirine bağlar (&amp;&amp; VE, || VEYA, ! DEĞİL).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Atama: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değeri soldaki değişkene aktarır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Rounded Rectangle 60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ounded Rectangle 61"/>
          <p:cNvSpPr/>
          <p:nvPr/>
        </p:nvSpPr>
        <p:spPr>
          <a:xfrm>
            <a:off x="4434840" y="2971800"/>
            <a:ext cx="3278880" cy="341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Operatör İşlem Mantığı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Veriler (Operandlar) Hafızada Tanımlanır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Örn: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İfade (Expression) Değerlendirilir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 x + y (Sonuç: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 x &gt; y (Sonuç: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Atama Operatörü Çalışır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Hesaplanan sonuç yeni bir değişkene yazılır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Sonuç Çıktı Olarak Kullanılır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Rounded Rectangle 62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ounded Rectangle 63"/>
          <p:cNvSpPr/>
          <p:nvPr/>
        </p:nvSpPr>
        <p:spPr>
          <a:xfrm>
            <a:off x="7955280" y="2743200"/>
            <a:ext cx="3691440" cy="364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OperatorGiris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Atama (Assignment) Operatörü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Aritmetik (Arithmetic)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  // 19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  // 3 (Modülüs - kalanı bulur)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İlişkisel (Relational)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buyukMu = (a &gt; b); 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Mantıksal (Logical)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"a 10'dan büyük VE b çift sayı mı?"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sonuc = (a &gt; 10) &amp;&amp; (b % 2 == 0);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toplam);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System.out.println("Kalan: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System.out.println("Mantıksal Sonuç: " + sonuc);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tangle 129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130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131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132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133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134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135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136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137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38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39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140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41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42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43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44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ounded Rectangle 64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TextBox 28"/>
          <p:cNvSpPr/>
          <p:nvPr/>
        </p:nvSpPr>
        <p:spPr>
          <a:xfrm>
            <a:off x="2585880" y="914400"/>
            <a:ext cx="57956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Aritmetik Operatörler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TextBox 29"/>
          <p:cNvSpPr/>
          <p:nvPr/>
        </p:nvSpPr>
        <p:spPr>
          <a:xfrm>
            <a:off x="2057400" y="1694880"/>
            <a:ext cx="7453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sayılar üzerinde toplama, çıkarma, çarpma gibi temel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matematiksel işlemleri gerçekleştirmek için kullanılır. Klasik matematikteki işlem önceliği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(çarpma/bölmenin toplamadan önce yapılması) Java'da da aynen geçerlidir.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Rounded Rectangle 65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ounded Rectangle 66"/>
          <p:cNvSpPr/>
          <p:nvPr/>
        </p:nvSpPr>
        <p:spPr>
          <a:xfrm>
            <a:off x="914400" y="3108960"/>
            <a:ext cx="3278880" cy="328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(Toplama):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Sayıları toplar. (Ayrıca metinleri birleştirir).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(Çıkarma):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sayıyı soldakinden çıkarır.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(Çarpma):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çarpar.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(Bölme):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Bölüm sonucunu verir. (Not: İki tam sayı bölünürse sonuç da tam sayı olur, ondalık kısım atılır. Örn: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 Alma):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Bölme işleminden kalan sayıyı verir. Çift/tek sayı bulmada çok sık kullanılır.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Rounded Rectangle 67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ounded Rectangle 68"/>
          <p:cNvSpPr/>
          <p:nvPr/>
        </p:nvSpPr>
        <p:spPr>
          <a:xfrm>
            <a:off x="4434840" y="2971800"/>
            <a:ext cx="3278880" cy="341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Önceliği (Operator Precedence)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Parantez İçleri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zaman ilk olarak hesaplanır.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Artırma / Azaltma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Çarpma, Bölme, Mod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(Soldan sağa doğru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Toplama ve Çıkarma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(En son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" name="Rounded Rectangle 69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ounded Rectangle 70"/>
          <p:cNvSpPr/>
          <p:nvPr/>
        </p:nvSpPr>
        <p:spPr>
          <a:xfrm>
            <a:off x="8003880" y="2971800"/>
            <a:ext cx="3417120" cy="341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AritmetikIslemler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Temel İşlemler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bolum = a / b;  // 3 (Ondalık kısım silinir)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// 1 (10'un 3'e bölümünden kalan)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İşlem Önceliği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islemsiz = a + b * 2;   // 16 (Önce çarpma)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islemli = (a + b) * 2;  // 26 (Önce parantez)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Artırma Operatörü (Increment)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sayac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sayac++; // sayac'ın yeni değeri 6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System.out.println("Bölüm: " + bolum);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(Kalan):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System.out.println("Sayaç: " + sayac);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Rectangle 145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146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147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148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149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150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151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152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153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154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155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156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57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58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59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60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ounded Rectangle 71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TextBox 31"/>
          <p:cNvSpPr/>
          <p:nvPr/>
        </p:nvSpPr>
        <p:spPr>
          <a:xfrm>
            <a:off x="959040" y="914400"/>
            <a:ext cx="90507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2: Prefix/Postfix)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Box 32"/>
          <p:cNvSpPr/>
          <p:nvPr/>
        </p:nvSpPr>
        <p:spPr>
          <a:xfrm>
            <a:off x="1267200" y="1694880"/>
            <a:ext cx="90342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en sık yapılan hatalar artırma/azaltma (++, --) operatörlerinin konumundan ve tam sayı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bölmesinden kaynaklanır. Operatörün değişkenin sağında veya solunda olması,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kodun çalışma sırasını tamamen değiştirir.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Rounded Rectangle 72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ounded Rectangle 73"/>
          <p:cNvSpPr/>
          <p:nvPr/>
        </p:nvSpPr>
        <p:spPr>
          <a:xfrm>
            <a:off x="685800" y="2743200"/>
            <a:ext cx="3507480" cy="364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ve Postfix Mantığı: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Prefix (Önden - ++a)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: Önce değişkenin değerini 1 artırır, sonra o satırdaki diğer işlemleri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(Sondan - a++):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Önce değişkenin mevcut değerini kullanır (işleme sokar), satır bittikten sonra değerini 1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Bölme İşlemi Tuzakları: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tam sayı (int) bölünürse, Java ondalık kısmı yuvarlamaz, direkt çöpe atar. (Örn: 5 / 2 = 2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Küsuratlı sonucu tam olarak alabilmek için, işleme giren sayılardan en az birinin ondalıklı (double veya float) olması gerekir. (Örn: 5.0 / 2 = 2.5).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Rounded Rectangle 74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ounded Rectangle 75"/>
          <p:cNvSpPr/>
          <p:nvPr/>
        </p:nvSpPr>
        <p:spPr>
          <a:xfrm>
            <a:off x="4434840" y="2971800"/>
            <a:ext cx="3278880" cy="341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Çalışma Akışı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Tanımı: int x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Kullanım: int y = ++x;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Yeni x değerini y'ye ata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y = 6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Kullanım: int z = x++;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Mevcut x değerini z'ye ata (z=5)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z = 5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Rounded Rectangle 76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ounded Rectangle 77"/>
          <p:cNvSpPr/>
          <p:nvPr/>
        </p:nvSpPr>
        <p:spPr>
          <a:xfrm>
            <a:off x="8003880" y="2743200"/>
            <a:ext cx="3417120" cy="364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(Önce Artır, Sonra Kullan)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 olur, b'ye 6 atanır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(Önce Kullan, Sonra Artır)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y'ye 5 atanır, sonra x=6 olur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TAM SAYI BÖLMESİ (Integer Division)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yanlisBolme = 5 / 2;     // Sonuç: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doubleHata = 5 / 2;   // Sonuç: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dogruBolme = 5.0 / 2; // Sonuç: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Bölme: " + dogruBolme);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Rectangle 161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162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163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164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165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166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167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168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169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170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171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172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73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74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75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76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ounded Rectangle 78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" name="TextBox 34"/>
          <p:cNvSpPr/>
          <p:nvPr/>
        </p:nvSpPr>
        <p:spPr>
          <a:xfrm>
            <a:off x="1221120" y="914400"/>
            <a:ext cx="85251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3: Kısaltmalar ve Metinler)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Box 35"/>
          <p:cNvSpPr/>
          <p:nvPr/>
        </p:nvSpPr>
        <p:spPr>
          <a:xfrm>
            <a:off x="1353600" y="1694880"/>
            <a:ext cx="88603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Java, matematik ve atama işlemlerini tek adımda birleştirerek kodu temiz tutan kısayol operatörleri sunar.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+ operatörünün çift kimliği vardır: Sayılar için toplama yaparken,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String'ler (metinler) için "yapıştırıcı" (birleştirme) görevi görür.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Rounded Rectangle 79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ounded Rectangle 80"/>
          <p:cNvSpPr/>
          <p:nvPr/>
        </p:nvSpPr>
        <p:spPr>
          <a:xfrm>
            <a:off x="685800" y="2743200"/>
            <a:ext cx="3507480" cy="364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Bileşik Atama (Compound):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 işlem ve atamayı birleştirir: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x += 5 ifadesi, tam olarak x = x + 5 işleminin kısaltmasıdır.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İpucu: Arka planda otomatik tip dönüşümü (casting) yaparlar (hata fırlatmazlar).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+ Operatörünün İki Yüzü: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 + Sayı = Matematik (Toplama).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Herhangi Bir Şey = Metin (Birleştirme - 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kesinlikle Soldan Sağa akar. Eğer işlem bir String ile başlarsa, sağındaki her şey metne dönüşür!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" name="Rounded Rectangle 81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ounded Rectangle 82"/>
          <p:cNvSpPr/>
          <p:nvPr/>
        </p:nvSpPr>
        <p:spPr>
          <a:xfrm>
            <a:off x="4434840" y="2971800"/>
            <a:ext cx="3278880" cy="341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+ İşleminin Soldan Sağa Akışı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1: 10 + 5 + "A"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Matematik! 10 + 5 = 15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15 + "A" =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2: "A" + 10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Metin! "A" + 10 = "A10"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"A10" + 5 = "A105"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"A105" (A15 DEĞİL!)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" name="Rounded Rectangle 83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ounded Rectangle 84"/>
          <p:cNvSpPr/>
          <p:nvPr/>
        </p:nvSpPr>
        <p:spPr>
          <a:xfrm>
            <a:off x="8001000" y="2971800"/>
            <a:ext cx="3306240" cy="342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AritmetikTuzaklar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skor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skor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METİN BİRLEŞTİRME TUZAKLARI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Sayıyla başlar -&gt; Önce Matematik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Metinle başlar -&gt; Hepsi Metin olur!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Parantez matematiği öne alır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 Sonuç: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Rectangle 177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178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179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180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181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182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183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184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185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186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187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188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189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190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191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192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ounded Rectangle 85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TextBox 37"/>
          <p:cNvSpPr/>
          <p:nvPr/>
        </p:nvSpPr>
        <p:spPr>
          <a:xfrm>
            <a:off x="2731320" y="914400"/>
            <a:ext cx="5504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İnce Detaylar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TextBox 38"/>
          <p:cNvSpPr/>
          <p:nvPr/>
        </p:nvSpPr>
        <p:spPr>
          <a:xfrm>
            <a:off x="674280" y="1694880"/>
            <a:ext cx="1021824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veri tiplerinin arka planda nasıl davrandığını bilmek kritik hataları önler. Sıfıra bölünme tepkileri,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sayılara dönüşmesi ve küçük veri tiplerinin işlemler sırasında otomatik olarak büyümesi en bilinen tuzaklardır.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Rounded Rectangle 86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ounded Rectangle 87"/>
          <p:cNvSpPr/>
          <p:nvPr/>
        </p:nvSpPr>
        <p:spPr>
          <a:xfrm>
            <a:off x="685800" y="2743200"/>
            <a:ext cx="3507480" cy="364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Sıfıra Bölünme (Zero Division):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Tam sayılar (int) 0'a bölünürse program çöker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Ondalıklılar (double) 0'a bölünürse çökmez, Infinity (Sonsuz) veya NaN (Sayı Değil) verir.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Karakter (Char) Matematiği: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tipleri arka planda sayı (ASCII değeri) tutar. İki char toplanırsa yan yana yazılmazlar, sayısal değerleri toplanır. (Örn: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Gizli Tip Terfisi (Promotion):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İki byte veya short değişken toplanırken sonuç otomatik olarak int tipine yükseltilir. Sonucu direkt byte'a atamak hata verir!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" name="Rounded Rectangle 88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ounded Rectangle 89"/>
          <p:cNvSpPr/>
          <p:nvPr/>
        </p:nvSpPr>
        <p:spPr>
          <a:xfrm>
            <a:off x="4434840" y="2971800"/>
            <a:ext cx="3278880" cy="341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Arka Plandaki Veri Dönüşümleri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Sıfıra Bölünme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HATA!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Sonuç: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Sonuç: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İşlemleri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Toplaması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HATA! (Sonuç int olur)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" name="Rounded Rectangle 90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ounded Rectangle 91"/>
          <p:cNvSpPr/>
          <p:nvPr/>
        </p:nvSpPr>
        <p:spPr>
          <a:xfrm>
            <a:off x="8001000" y="2514600"/>
            <a:ext cx="3649680" cy="387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SIFIRA BÖLÜNME TUZAĞI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hata = 5 / 0; // Kodu çökertir!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sonsuz = 5.0 / 0; // Infinity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belirsiz = 0.0 / 0.0; // NaN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(KARAKTER) MATEMATİĞİ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harf = 'A'; // ASCII değeri 65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charToplami = harf + 5; // Sonuç: 70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siradakiHarf = (char) (harf + 1); // 'B'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INT TERFİSİ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Derleme Hatası!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b1 + b2; // Doğrusu budur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sonsuz);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belirsiz);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System.out.println("Harf + 5 = " + charToplami);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Rectangle 193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194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195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196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197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198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199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200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201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202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203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204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05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06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07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08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ounded Rectangle 92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" name="TextBox 40"/>
          <p:cNvSpPr/>
          <p:nvPr/>
        </p:nvSpPr>
        <p:spPr>
          <a:xfrm>
            <a:off x="1557360" y="732600"/>
            <a:ext cx="7851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Restoran Adisyonu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TextBox 41"/>
          <p:cNvSpPr/>
          <p:nvPr/>
        </p:nvSpPr>
        <p:spPr>
          <a:xfrm>
            <a:off x="1082520" y="1600200"/>
            <a:ext cx="9401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Gerçek dünya uygulamalarında aritmetik operatörler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motorudur. Bir restoran hesabını hesaplayan, indirim uygulayan,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bileşik operatörlerle vergi/bahşiş ekleyen ve son tutarı arkadaşlar arasında bölen mini bir uygulama tasarlayalım.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Rounded Rectangle 93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ounded Rectangle 94"/>
          <p:cNvSpPr/>
          <p:nvPr/>
        </p:nvSpPr>
        <p:spPr>
          <a:xfrm>
            <a:off x="685800" y="2971800"/>
            <a:ext cx="3192840" cy="342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Operatörleri İş Kurallarına Eşleme: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Biriktirme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Sepete veya dijital adisyona birden fazla ürün eklemek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İndirimler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Kupon veya promosyon indirimlerini toplamdan düşmek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Vergi &amp; Bahşiş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Yüzde uygulamak için kullanılır. Mevcut hesabı 1.25 ile çarpmak, toplama anında %25 ekler.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Adil Bölüşüm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Çıkan nihai tutarı misafir sayısına bölmek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" name="Rounded Rectangle 95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ounded Rectangle 96"/>
          <p:cNvSpPr/>
          <p:nvPr/>
        </p:nvSpPr>
        <p:spPr>
          <a:xfrm>
            <a:off x="4257360" y="2971800"/>
            <a:ext cx="3278880" cy="341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Adisyon ve Hesap Akışı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Masayı Aç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Siparişleri Ekle (Biriktir)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+= urunFiyati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Kupon / İndirim Uygula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-= indirim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Vergi &amp; Bahşiş Ekle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*= 1.25 (%25 ekler)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Hesabı Misafirlere Böl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kisiBasi = hesap / kisiSayisi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7" name="Rounded Rectangle 97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ounded Rectangle 98"/>
          <p:cNvSpPr/>
          <p:nvPr/>
        </p:nvSpPr>
        <p:spPr>
          <a:xfrm>
            <a:off x="8001000" y="2514600"/>
            <a:ext cx="3420360" cy="387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RestoranHesabi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Başlangıç Durumu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hesap = 0.0;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int kisi = 3;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2. Sipariş Ekle (Bileşik Toplama)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25.50; // Pizza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14.00; // Makarna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10.50; // İçecekler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Ara toplam şu an 50.00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3. 5 TL'lik Kupon Uygula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-= 5.00;  // Ara toplam: 45.00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4. %25 Vergi ve Bahşiş Ekle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Mevcut hesabı 1.25 ile çarparız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*= 1.25;  // Son toplam: 56.25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5. Hesabı kişiler arasında böl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kisiBasi = hesap / kisi;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hesap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System.out.println("Kişi Başı: " + kisiBasi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Rectangle 209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210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211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212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213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214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215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216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217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218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219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220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21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22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23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24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ounded Rectangle 99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" name="TextBox 43"/>
          <p:cNvSpPr/>
          <p:nvPr/>
        </p:nvSpPr>
        <p:spPr>
          <a:xfrm>
            <a:off x="2174400" y="732600"/>
            <a:ext cx="6617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Genel Özet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TextBox 44"/>
          <p:cNvSpPr/>
          <p:nvPr/>
        </p:nvSpPr>
        <p:spPr>
          <a:xfrm>
            <a:off x="1950480" y="1600200"/>
            <a:ext cx="76654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Java'daki veri manipülasyonunun ve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(business logic) temel taşıdır. Doğru operatörü seçmek,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veri tiplerine dikkat etmek ve işlem önceliğini bilmek hatasız kod yazmanın altın kurallarıdır.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Rounded Rectangle 100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ounded Rectangle 101"/>
          <p:cNvSpPr/>
          <p:nvPr/>
        </p:nvSpPr>
        <p:spPr>
          <a:xfrm>
            <a:off x="685800" y="2971800"/>
            <a:ext cx="3192840" cy="342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Unutulmaması Gereken Altın Kurallar: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5'li: +, -, *, / ve % (Mod).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Önceliği: Çarpma, bölme ve mod işlemleri daima toplama ve çıkarmadan önce yapılır. Parantezler () tüm kuralları ezer.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Bölme Kuralı: İki tam sayının (int) bölümü daima tam sayı çıkar (küsurat atılır). Hassas sonuç için en az biri double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Kısa Yollar: ++/-- (1 artır/azalt) ve +=/*= (işlemle atamayı birleştir) ifadeleri kodu daha okunabilir kılar.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" name="Rounded Rectangle 102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ounded Rectangle 103"/>
          <p:cNvSpPr/>
          <p:nvPr/>
        </p:nvSpPr>
        <p:spPr>
          <a:xfrm>
            <a:off x="4257360" y="2971800"/>
            <a:ext cx="3278880" cy="341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Geliştirici Kontrol Listesi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Çift/Tek sayı kontrolü mü yapacaksın?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Kesinlikle % 2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Bölme işleminde küsurat lazım mı?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Sayılardan birini double (Örn: 2.0) yap!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İşlem sırasını değiştirmek mi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parantez () içine al!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Bir değişkenin değerini güncelleyecek misin?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 = x + 5 yerine x += 5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3" name="Rounded Rectangle 104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ounded Rectangle 105"/>
          <p:cNvSpPr/>
          <p:nvPr/>
        </p:nvSpPr>
        <p:spPr>
          <a:xfrm>
            <a:off x="8001000" y="2514600"/>
            <a:ext cx="3420360" cy="387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AritmetikOzet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İşlem Önceliği ve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15'in 4'e bölümünden kalan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(sayi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Ondalıklı Bölme (Hassasiyet)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4.0 yazarak int tuzağından kaçtık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bolme = sayi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Bileşik Atama ve Artırma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 += 5; // 15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sayi++;    // 16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Sonucu: " + sonuc);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System.out.println("Bölme: " + bolme);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Durum: " + sayi);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Rectangle 225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226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227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228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229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230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231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232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233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234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235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236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37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38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39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40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ounded Rectangle 106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" name="TextBox 46"/>
          <p:cNvSpPr/>
          <p:nvPr/>
        </p:nvSpPr>
        <p:spPr>
          <a:xfrm>
            <a:off x="2807280" y="732600"/>
            <a:ext cx="5350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Atama Operatörleri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TextBox 47"/>
          <p:cNvSpPr/>
          <p:nvPr/>
        </p:nvSpPr>
        <p:spPr>
          <a:xfrm>
            <a:off x="2300040" y="1451520"/>
            <a:ext cx="696600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operatörleri, hesaplanan değerleri değişkenlerde saklamak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işlemlerin aksine, atama işlemleri kesinlikle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Sağdan Sola doğru çalışır. Java ayrıca matematik ve atamayı tek adımda birleştiren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"bileşik" (compound) operatörler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Rounded Rectangle 107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ounded Rectangle 108"/>
          <p:cNvSpPr/>
          <p:nvPr/>
        </p:nvSpPr>
        <p:spPr>
          <a:xfrm>
            <a:off x="685800" y="2971800"/>
            <a:ext cx="3192840" cy="342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Temel Atama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Sağdaki değeri soldaki değişkene aktarır. Sol taraf kesinlikle bir değer değil, değişken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Zincirleme: Birden fazla değişkene tek satırda aynı değer atanabilir (Örn: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Bileşik Atama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ifadesi, x = x + 5 ile tamamen aynıdır.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Önemli İpucu (Gizli Dönüşüm): Bileşik operatörler arka planda otomatik tip dönüşümü (casting) yapar. Normalde byte tipine int eklemek hata verirken, += kullanıldığında hata vermez!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7" name="Rounded Rectangle 109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ounded Rectangle 110"/>
          <p:cNvSpPr/>
          <p:nvPr/>
        </p:nvSpPr>
        <p:spPr>
          <a:xfrm>
            <a:off x="4257360" y="2971800"/>
            <a:ext cx="3278880" cy="341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Sağdan Sola Çalışma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Standart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Sağ tarafı hesapla (15)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15'i sol tarafa (x)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Bileşik (Compound)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 = x + 5 olarak aç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 + 5 hesapla (20)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3. Adım: 20'yi tekrar x'e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9" name="Rounded Rectangle 111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ounded Rectangle 112"/>
          <p:cNvSpPr/>
          <p:nvPr/>
        </p:nvSpPr>
        <p:spPr>
          <a:xfrm>
            <a:off x="8001000" y="2514600"/>
            <a:ext cx="3420360" cy="387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AtamaOperatorleri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VE ZİNCİRLEME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Sağdan Sola çalışır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BİLEŞİK (COMPOUND)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60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-= 20; // skor = 40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20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DÖNÜŞÜM BÜYÜSÜ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kucukSayi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kucukSayi = kucukSayi + 5;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kucukSayi += 5; // Hatasız çalışır (10)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ve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Değer: " + kucukSayi);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Rectangle 241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242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243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244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245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246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247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248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249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250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251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252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53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54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255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256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ounded Rectangle 113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" name="TextBox 49"/>
          <p:cNvSpPr/>
          <p:nvPr/>
        </p:nvSpPr>
        <p:spPr>
          <a:xfrm>
            <a:off x="1452240" y="732600"/>
            <a:ext cx="8060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2: Tuzaklar ve İleri Seviye)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TextBox 50"/>
          <p:cNvSpPr/>
          <p:nvPr/>
        </p:nvSpPr>
        <p:spPr>
          <a:xfrm>
            <a:off x="1226160" y="1451520"/>
            <a:ext cx="9113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işlemlerinde en büyük hatalar, atama (=) ile eşitlik kontrolünün (==) birbirine karıştırılmasından doğar.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atama operatörleri, sadece dört işlemle kalmaz; bit düzeyinde (binary)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işlemlerle de birleştirilerek ileri seviye hesaplamalarda kullanılabilir.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Rounded Rectangle 114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ounded Rectangle 115"/>
          <p:cNvSpPr/>
          <p:nvPr/>
        </p:nvSpPr>
        <p:spPr>
          <a:xfrm>
            <a:off x="685800" y="2743200"/>
            <a:ext cx="3192840" cy="365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En Büyük Tuzak (= vs ==):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 (Tek Eşittir): Atama yapar. Sağdaki değeri sola kopyalar.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== (Çift Eşittir): Kontrol eder. İki değer eşit mi diye bakar, true veya false döner.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Tehlike: if koşulu içine yanlışlıkla boolean bir atama yaparsanız Java hata vermez, atamayı yapar ve koşulu hep true sayar!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(Bit Düzeyinde) Atamalar: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Sayıları arka planda 1 ve 0'lara (ikilik sisteme) çevirip işlem yapar.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VE), |= (Bitwise VEYA), ^= (Bitwise XOR).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(Sola Kaydır): Sayıyı 2 ile çarpmak için hızlı bir yoldur.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" name="Rounded Rectangle 116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ounded Rectangle 117"/>
          <p:cNvSpPr/>
          <p:nvPr/>
        </p:nvSpPr>
        <p:spPr>
          <a:xfrm>
            <a:off x="4257360" y="2743200"/>
            <a:ext cx="3278880" cy="364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= ve == Mantık Tuzağı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Yanlış Kullanım (Atama)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 true) ➔ DEĞERİ DEĞİŞTİRİR!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acik artık true olur ve blok ÇALIŞIR.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Doğru Kullanım (Kontrol)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== true) ➔ SADECE KONTROL EDER!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Değer false olduğu için blok ÇALIŞMAZ.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5" name="Rounded Rectangle 118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ounded Rectangle 119"/>
          <p:cNvSpPr/>
          <p:nvPr/>
        </p:nvSpPr>
        <p:spPr>
          <a:xfrm>
            <a:off x="8001000" y="2514600"/>
            <a:ext cx="3420360" cy="387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AtamaIleriSeviye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= ve == TUZAĞI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adminMi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EĞER == yerine = yazarsak: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(adminMi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adminMi değeri true'ya dönüştü!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System.out.println("Sisteme girildi!");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(BIT DÜZEYİ) ATAMA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İkilik sistemde: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3 (0011) ile VE işlemi yap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Sonuç: 0001 olur (Yani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SOLA KAYDIRMA (SHIFT) ATAMASI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Sola 1 bit kaydır (2 ile çarp)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System.out.println("Kaydırma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Rectangle 257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258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259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260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261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262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263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264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265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266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267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268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69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70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271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272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ounded Rectangle 120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TextBox 52"/>
          <p:cNvSpPr/>
          <p:nvPr/>
        </p:nvSpPr>
        <p:spPr>
          <a:xfrm>
            <a:off x="1573200" y="732600"/>
            <a:ext cx="78177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3: Referanslar ve Bellek)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TextBox 53"/>
          <p:cNvSpPr/>
          <p:nvPr/>
        </p:nvSpPr>
        <p:spPr>
          <a:xfrm>
            <a:off x="1683720" y="1451520"/>
            <a:ext cx="81975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operatörü (=) ilkel veri tiplerinde (int, double) değerin birebir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kopyasını oluştururken; Diziler (Arrays) ve Nesneler (Objects) gibi gelişmiş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tiplerde veriyi kopyalamaz, bellekteki adresini (referansını) kopyalar. İkisi artık aynı veriye bağlanır.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Rounded Rectangle 121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ounded Rectangle 122"/>
          <p:cNvSpPr/>
          <p:nvPr/>
        </p:nvSpPr>
        <p:spPr>
          <a:xfrm>
            <a:off x="685800" y="2514600"/>
            <a:ext cx="3192840" cy="387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Değer vs. Referans Ataması: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 (Değer Kopyalama): int a = b; dediğinizde b'nin içindeki sayı a'ya kopyalanır. Biri değişirse diğeri etkilenmez (Bağımsızdırlar).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 (Adres Paylaşma): Dizi a = b; dediğinizde her ikisi de bellekte aynı kutuyu işaret eder. Birindeki değişiklik, diğerini de anında etkiler!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Atamanın Dönüş Değeri: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atama işlemi aslında atadığı değeri geriye döndürür.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System.out.println(x = 5); kodu hem x'e 5 atar, hem de ekrana 5 yazar. Zincirleme atamalar (a = b = 5) bu mantıkla çalışır.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Rounded Rectangle 123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ounded Rectangle 124"/>
          <p:cNvSpPr/>
          <p:nvPr/>
        </p:nvSpPr>
        <p:spPr>
          <a:xfrm>
            <a:off x="4257360" y="2743200"/>
            <a:ext cx="3278880" cy="364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İlkel vs Referans Ataması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İlkel Tip (Bağımsız Kopya)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Sadece y değişir. (x hala 10'dur)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Referans Tip (Adres/Kumanda Paylaşımı)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İKİSİ DE DEĞİŞİR! (a[0] da 99 olur)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1" name="Rounded Rectangle 125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ounded Rectangle 126"/>
          <p:cNvSpPr/>
          <p:nvPr/>
        </p:nvSpPr>
        <p:spPr>
          <a:xfrm>
            <a:off x="8001000" y="2514600"/>
            <a:ext cx="3420360" cy="387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AtamaReferans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(PRIMITIVE)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sayi2 = sayi1; // Değer kopyalandı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sayi2 = 50;        // sayi1 ETKİLENMEZ!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REFERANS (NESNE/DİZİ)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dizi2 = dizi1; // Hafıza adresi paylaşıldı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dizi2'de yapılan değişiklik dizi1'i vurur!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dizi2[0]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ATAMANIN DÖNÜŞ DEĞERİ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Hem atar, hem ekrana basar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değeri: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System.out.println("sayi1: " + sayi1);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System.out.println("dizi1[0]: " + dizi1[0]);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Rectangle 273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274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275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276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277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278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279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280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281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282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283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284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285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286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287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288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ounded Rectangle 127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" name="TextBox 55"/>
          <p:cNvSpPr/>
          <p:nvPr/>
        </p:nvSpPr>
        <p:spPr>
          <a:xfrm>
            <a:off x="1919520" y="732600"/>
            <a:ext cx="7124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Operatörleri: Bellek ve Nesne Durumları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TextBox 56"/>
          <p:cNvSpPr/>
          <p:nvPr/>
        </p:nvSpPr>
        <p:spPr>
          <a:xfrm>
            <a:off x="1604880" y="1451520"/>
            <a:ext cx="8354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Nesnelerle çalışırken atama operatörü (=), değişkenin bellekte hangi adresi işaret edeceğini belirler.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Etkili bellek yönetimi için değişkeni nesneden ayırmayı (null)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bellek adresini kilitlemeyi (final) anlamak çok önemlidir.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Rounded Rectangle 128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ounded Rectangle 129"/>
          <p:cNvSpPr/>
          <p:nvPr/>
        </p:nvSpPr>
        <p:spPr>
          <a:xfrm>
            <a:off x="685800" y="2514600"/>
            <a:ext cx="3192840" cy="387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Değiştirmek vs Yeniden Atamak: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Değiştirmek (Mutating): Nesnenin iç verisini değiştirir, bellek adresi aynı kalır.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Yeniden Atamak (Reassigning): Değişkeni yepyeni bir nesneye bağlar, eski adres terk edilir.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Null Ataması: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Değişkene null atamak, onun nesneyle bağını tamamen koparır.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Bellekteki bir nesneyi hiçbir değişken işaret etmiyorsa, Çöp Toplayıcı (GC) onu silerek RAM'i temizler.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3. Final Referans Tuzağı: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referans final işaretlendiyse, = ile yeni bir bellek adresine atanamaz.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Ancak, içindeki verileri (durumunu) hala değiştirebilirsiniz!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" name="Rounded Rectangle 130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ounded Rectangle 131"/>
          <p:cNvSpPr/>
          <p:nvPr/>
        </p:nvSpPr>
        <p:spPr>
          <a:xfrm>
            <a:off x="4257360" y="2743200"/>
            <a:ext cx="3278880" cy="364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HAFIZA DURUM TAKİBİ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1: int[] x = {100};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2: int[]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[y] Değişkeni ----/ (Aynı adresi tutar)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3: x = null;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[ BOŞ / NULL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[y]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Veri silinmez, 'y' hala tutuyor!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" name="Rounded Rectangle 132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ounded Rectangle 133"/>
          <p:cNvSpPr/>
          <p:nvPr/>
        </p:nvSpPr>
        <p:spPr>
          <a:xfrm>
            <a:off x="8001000" y="2514600"/>
            <a:ext cx="3420360" cy="387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1: NULL'DAN KURTULAN VERİ 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int[] veriA = { 50 };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int[] veriB = veriA; // Adresi paylaş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veriA = null; // A'nın bağını tamamen kopar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Çöker mi? Hayır! B hala onu tutuyor.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System.out.println("VeriB: " + veriB[0]);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Çıktı: 50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2: FINAL REFERANS TUZAĞI 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kilitli = { 5 };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HATA: Yeni bellek adresi atanamaz!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kilitli = new int[]{ 9 };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BAŞARI: İçindeki veri değiştirilebilir!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kilitli[0] = 99;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System.out.println("Kilitli: " + kilitli[0]);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Çıktı: 99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Rectangle 289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290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291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292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293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294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295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296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297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298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299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300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01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302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303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304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ounded Rectangle 134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" name="TextBox 58"/>
          <p:cNvSpPr/>
          <p:nvPr/>
        </p:nvSpPr>
        <p:spPr>
          <a:xfrm>
            <a:off x="1839240" y="732600"/>
            <a:ext cx="72860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Operatörleri: Bellek ve Referans Yönetimi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TextBox 59"/>
          <p:cNvSpPr/>
          <p:nvPr/>
        </p:nvSpPr>
        <p:spPr>
          <a:xfrm>
            <a:off x="1604880" y="1451520"/>
            <a:ext cx="8354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Nesnelerle çalışırken atama operatörü (=), değişkenin bellekte hangi adresi işaret edeceğini belirler.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Etkili bellek yönetimi için değişkeni nesneden ayırmayı (null)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bellek adresini kilitlemeyi (final) anlamak çok önemlidir.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Rounded Rectangle 135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ounded Rectangle 136"/>
          <p:cNvSpPr/>
          <p:nvPr/>
        </p:nvSpPr>
        <p:spPr>
          <a:xfrm>
            <a:off x="685800" y="2743200"/>
            <a:ext cx="3192840" cy="365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QUICK BITE (Kısa Özet)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tiplerde (int, double) = operatörü değeri kopyalar. Ancak nesnelerde (Object, Array) = operatörü sadece bellekteki "adresi" (referansı) kopyalar. Bir nesneyi bellekte yönetmek için = operatörünün davranışını bilmek şarttır.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KEY CONCEPTS (Kritik Kavramlar)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Değer Kopyalama (İlkel Tip): Tamamen bağımsız kopyalar oluşur. Birinin değişmesi diğerini etkilemez.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Paylaşımı (Nesne/Dizi): İki değişken aynı hafıza kutusuna bağlanır. Birindeki değişiklik anında diğerini de vurur!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Bağı Koparma (null): Değişkenin bellek adresiyle bağını keser. Hiçbir değişkenin tutmadığı nesneyi Çöp Toplayıcı (GC) anında siler.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Adresi Kilitleme (final): Değişkenin başka bir bellek adresine atanmasını yasaklar. Ama dikkat: Nesnenin içindeki veriler hâlâ değiştirilebilir.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" name="Rounded Rectangle 137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ounded Rectangle 138"/>
          <p:cNvSpPr/>
          <p:nvPr/>
        </p:nvSpPr>
        <p:spPr>
          <a:xfrm>
            <a:off x="4257360" y="2743200"/>
            <a:ext cx="3278880" cy="364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Referansların Paylaşılması ve Değişimi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{5};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(Hafıza Kutusu: { 5 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b = a;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(Hafıza Kutusu: { 5 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[b] -----/ (İkisi de aynı yere bakar)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a[0] = 9;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(Hafıza Kutusu artık { 9 } oldu)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b[0] yazdırılırsa ekrana 9 çıkar!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3" name="Rounded Rectangle 139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ounded Rectangle 140"/>
          <p:cNvSpPr/>
          <p:nvPr/>
        </p:nvSpPr>
        <p:spPr>
          <a:xfrm>
            <a:off x="8001000" y="2286000"/>
            <a:ext cx="3652200" cy="4107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BellekYonetimi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TİP (Bağımsız Kopya)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y = 99; // x etkilenmez, x hala 10'dur!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REFERANS TİP (Ortak Hafıza Adresi)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diziA = { 10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diziB = diziA;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diziB[0] = 99; // diziA'nın da içi 99 oldu!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BAĞ KOPARMA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diziA = null; // A'nın bağını kopardık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diziB hala veriyi tuttuğu için silinmez.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KİLİTLİ ADRES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kilitli = { 5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kilitli = new int[]{ 1 }; // HATA VERİR!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kilitli[0] = 7; // BAŞARILI! İçerik değişti.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Rectangle 305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306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307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308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309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310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311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312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313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314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315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316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17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318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319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320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ounded Rectangle 141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3" name="TextBox 61"/>
          <p:cNvSpPr/>
          <p:nvPr/>
        </p:nvSpPr>
        <p:spPr>
          <a:xfrm>
            <a:off x="2144880" y="732600"/>
            <a:ext cx="66733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Ortak Banka Hesapları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TextBox 62"/>
          <p:cNvSpPr/>
          <p:nvPr/>
        </p:nvSpPr>
        <p:spPr>
          <a:xfrm>
            <a:off x="2081520" y="1371600"/>
            <a:ext cx="7400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Bellek referanslarını anlamak için günlük bankacılık işlemlerini düşünün.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(primitives) ayrı cüzdanlardaki nakit para gibidir.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tipler ise tam olarak aynı ortak banka kasasına bağlı iki farklı banka kartı gibidir.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Rounded Rectangle 142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ounded Rectangle 143"/>
          <p:cNvSpPr/>
          <p:nvPr/>
        </p:nvSpPr>
        <p:spPr>
          <a:xfrm>
            <a:off x="685800" y="2743200"/>
            <a:ext cx="319536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BANKACILIK ANALOJİSİ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Nakit Para (İlkel Tip): Sizin ve arkadaşınızın cebinde 100 TL var. Arkadaşınız kahve alırsa sizin paranız azalmaz. (Bağımsız kopyalar).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Ortak Hesap (Referans Tip): Eşlerin tek bir hesaba bağlı iki farklı kartı vardır. Biri 50 TL çekerse, diğerinin bakiyesi de anında düşer!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Kartı Kaybetmek (null): Eşlerden biri kartını kırıp atarsa (null), bankadaki kasa silinmez. Diğer eş paraya hâlâ ulaşabilir.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Sabit Hesap (final): Sadece belirli bir kasaya kilitlenmiş karttır. Kartı başka bankaya bağlayamazsınız ama kasanın içine hâlâ para ekleyip çıkarabilirsiniz.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7" name="Rounded Rectangle 144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ounded Rectangle 145"/>
          <p:cNvSpPr/>
          <p:nvPr/>
        </p:nvSpPr>
        <p:spPr>
          <a:xfrm>
            <a:off x="4267800" y="2971800"/>
            <a:ext cx="3052800" cy="2966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Ortak Hesap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double[] esKart1 = { 500 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[1. Kart] -----&gt; (Kasa: 500 TL)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double[] esKart2 = esKart1;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[2. Kart] -----/ (Aynı Kasa)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esKart2[0] -= 100;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(Kasa 400 TL'ye düşer)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Birinci eş bakiyesine baktığında 400 TL görür. Harcama ikisini de etkilemiştir!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9" name="Rounded Rectangle 146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ounded Rectangle 147"/>
          <p:cNvSpPr/>
          <p:nvPr/>
        </p:nvSpPr>
        <p:spPr>
          <a:xfrm>
            <a:off x="7772400" y="2286000"/>
            <a:ext cx="3881160" cy="4109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BankaUygulamasi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NAKİT PARA (İlkel - Bağımsız)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cuzdanim = 100;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arkadasCuzdani = cuzdanim;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arkadasCuzdani -= 20; // Benimki hala 100!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ORTAK HESAP (Referans - Paylaşımlı)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ortakKasa = { 1000.0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kartA = ortakKasa;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kartB = ortakKasa;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kartB[0] -= 200; // B harcama yaptı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KAYIP KART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kartB = null; // Kart iptal edildi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Kasa güvende! A kartı hala 800.0 görür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System.out.println("Kart A: " + kartA[0] + " TL");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SABİT KART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double[] sirketKasasi = { 5000.0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sirketKasasi = new double[]{ 0 };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sirketKasasi[0] += 500; // BAŞARILI! (Para yattı)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1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Rectangle 321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322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323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324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325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326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327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328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329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330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331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332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333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334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335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336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ounded Rectangle 148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9" name="TextBox 64"/>
          <p:cNvSpPr/>
          <p:nvPr/>
        </p:nvSpPr>
        <p:spPr>
          <a:xfrm>
            <a:off x="2431080" y="732600"/>
            <a:ext cx="61005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ve Referans Yönetimi: Genel Özet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TextBox 65"/>
          <p:cNvSpPr/>
          <p:nvPr/>
        </p:nvSpPr>
        <p:spPr>
          <a:xfrm>
            <a:off x="1833840" y="1371600"/>
            <a:ext cx="7895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operatörleri (=), verileri değişkenlere kaydetmenin ve belleği yönetmenin temelidir.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tiplerdeki değer kopyalama ile nesnelerdeki adres paylaşımı arasındaki kritik farkı bilmek,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hatasız kod yazmanın altın kuralıdır.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Rounded Rectangle 149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ounded Rectangle 150"/>
          <p:cNvSpPr/>
          <p:nvPr/>
        </p:nvSpPr>
        <p:spPr>
          <a:xfrm>
            <a:off x="685800" y="2743200"/>
            <a:ext cx="3195360" cy="319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GELİŞTİRİCİ KONTROL LİSTESİ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Sağdan Sola Akar: Atama işlemi her zaman önce sağ tarafı hesaplar, sonra sola yazar (a = 5 + 2;).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 Ölümcül Hata: if bloğu içinde == (kıyaslama) yerine yanlışlıkla = (atama) kullanmak, kodu çökertmez ama mantığı tamamen bozar.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Bileşik Güç: +=, -= operatörleri kodu kısaltır ve arka planda hayat kurtaran otomatik tip dönüşümleri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 vs Adres: İlkel tipler (int) tamamen bağımsızdır. Nesneler (dizi, sınıf) ise hafıza adresini (kumandayı) paylaşır.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3" name="Rounded Rectangle 151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ounded Rectangle 152"/>
          <p:cNvSpPr/>
          <p:nvPr/>
        </p:nvSpPr>
        <p:spPr>
          <a:xfrm>
            <a:off x="4267800" y="2971800"/>
            <a:ext cx="3052800" cy="2966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Hata Ayıklama (Debugging) Haritası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diziyi diğerine kopyaladın, birini değiştirince diğeri de mi bozuldu?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Sebep: = sadece adresi kopyalar. Ortak kasaya bağlandılar!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tipine sayı eklerken derleme hatası mı alıyorsun?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x = x + 5 yerine x += 5 kullan, Java tip dönüşümünü halletsin!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Belleği şişiren bir nesneden kurtulmak mı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Değişkene null ata. Çöp Toplayıcı (GC) onu RAM'den silsin.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5" name="Rounded Rectangle 153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ounded Rectangle 154"/>
          <p:cNvSpPr/>
          <p:nvPr/>
        </p:nvSpPr>
        <p:spPr>
          <a:xfrm>
            <a:off x="7772400" y="2286000"/>
            <a:ext cx="3195720" cy="4110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AtamaOzet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 (Tip Dönüşümü)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byte b = 10;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 += 5; // b = b + 5 yazsak HATA verirdi!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2. KONTROL TUZAĞI (= vs ==)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aktif = false;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if(aktif = true) -&gt; YANLIŞ KULLANIM!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if (aktif == true) { /* Doğrusu */ 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REFERANS PAYLAŞIMI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diziA = { 1 };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diziB = diziA; // Adres paylaşıldı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diziB[0] = 9; // diziA[0] da 9 oldu!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4. TEMİZLİK VE SABİTLEME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diziA = null; // A'nın bağını kopardık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sabit = { 5 };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sabit = new int[]{1}; // HATA! (Adres kilitli)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sabit[0] = 8; // BAŞARILI! (İçerik değişebilir)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7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Rectangle 337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338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339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340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341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342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343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344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345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346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347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348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349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350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351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352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ounded Rectangle 155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5" name="TextBox 67"/>
          <p:cNvSpPr/>
          <p:nvPr/>
        </p:nvSpPr>
        <p:spPr>
          <a:xfrm>
            <a:off x="2220840" y="732600"/>
            <a:ext cx="65224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İlişkisel (Karşılaştırma) Operatörleri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TextBox 68"/>
          <p:cNvSpPr/>
          <p:nvPr/>
        </p:nvSpPr>
        <p:spPr>
          <a:xfrm>
            <a:off x="1467360" y="1371600"/>
            <a:ext cx="86302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İlişkisel operatörler, iki değeri birbiriyle kıyaslamak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Operandlar arasındaki ilişkiyi değerlendirir ve her zaman mantıksal bir sonuç (true veya false) dönerler.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Bu yapı, programlamadaki karar mekanizmalarının (if-else blokları ve döngüler) temelini oluşturur.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Rounded Rectangle 156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ounded Rectangle 157"/>
          <p:cNvSpPr/>
          <p:nvPr/>
        </p:nvSpPr>
        <p:spPr>
          <a:xfrm>
            <a:off x="685800" y="2743200"/>
            <a:ext cx="3195360" cy="342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KARŞILAŞTIRMA KURALLARI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İlkel (Primitive) Değer Kuralları: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Tüm sayısal tiplerde (int, double, char) doğal olarak çalışır.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== (eşittir) ve != (eşit değildir).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&gt;, &lt;, &gt;=, &lt;= (sınır kontrolleri).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 tamamen matematiksel değere göre yapılır.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Referans / Nesne (Object) Kuralları: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Nesnelerde (String gibi), == sadece aynı bellek adresini paylaşıp paylaşmadıklarını kontrol eder (kimlik kontrolü).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nesnenin içeriklerinin aynı olup olmadığını kontrol etmek için == yerine kesinlikle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9" name="Rounded Rectangle 158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ounded Rectangle 159"/>
          <p:cNvSpPr/>
          <p:nvPr/>
        </p:nvSpPr>
        <p:spPr>
          <a:xfrm>
            <a:off x="4267800" y="2971800"/>
            <a:ext cx="3052800" cy="2966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KOD ÇALIŞMA İZİ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Koşul: int x = 10; int y = 20;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İZLEME: x !=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10 != 20 ➔ true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Güvenli. Değerler gerçekten farklı.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İZLEME: x &gt;=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10 &gt;= 20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Güvenli. 10, 20'den büyük değil.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3. İZLEME: str1 == str2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AdresA == AdresB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TUZAK! İçerikler aynı, adresler farklı.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1" name="Rounded Rectangle 160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ounded Rectangle 161"/>
          <p:cNvSpPr/>
          <p:nvPr/>
        </p:nvSpPr>
        <p:spPr>
          <a:xfrm>
            <a:off x="7772400" y="2286000"/>
            <a:ext cx="3195720" cy="4110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Karsilastirma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20;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KARŞILAŞTIRMALAR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 // false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farkliMi = (a != b); // true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kucukMu = (a &lt;= b);  // true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2. KONTROL BLOKLARI (IF-ELSE)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if (a &gt;= 10)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System.out.println("A, 10 veya daha buyuk");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3. STRING (METİN) TUZAĞI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s2 = new String("Java");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False! Farklı bellek adresleri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hatali = (s1 == s2);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True! Doğru karşılaştırma yöntemi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 = s1.equals(s2);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System.out.println("Dogru Match: " + dogru);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3" name="TextBox 6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Rectangle 353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354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355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356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357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358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359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360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361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362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363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364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365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366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367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368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ounded Rectangle 162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1" name="TextBox 70"/>
          <p:cNvSpPr/>
          <p:nvPr/>
        </p:nvSpPr>
        <p:spPr>
          <a:xfrm>
            <a:off x="1652400" y="626040"/>
            <a:ext cx="76593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İlişkisel Operatörler (Bölüm 2: İleri Seviye Tuzaklar)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TextBox 71"/>
          <p:cNvSpPr/>
          <p:nvPr/>
        </p:nvSpPr>
        <p:spPr>
          <a:xfrm>
            <a:off x="2426760" y="1222920"/>
            <a:ext cx="672516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ilişkisel operatörler sadece sayılarla sınırlı değildir.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arka plandaki sayısal değerlerini kıyaslayabilirler.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Ancak nesne tabanlı sayılarda (Integer) ve çoklu koşullarda (zincirleme işlemler)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tehlikeli derleme ve mantık hatalarına yol açabilirler.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Rounded Rectangle 163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ounded Rectangle 164"/>
          <p:cNvSpPr/>
          <p:nvPr/>
        </p:nvSpPr>
        <p:spPr>
          <a:xfrm>
            <a:off x="685800" y="2514600"/>
            <a:ext cx="3195360" cy="4110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CRITICAL TRAPS (Kritik Tuzaklar)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(Char) Kıyaslaması: Karakterler ('a', 'b') karşılaştırılırken arka plandaki ASCII sayısal değerleri kıyaslanır. (Örn: 'a' &lt; 'b' ifadesi arka planda 97 &lt; 98 olarak değerlendirilir ve true döner).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Zincirleme Hatası: Java'da matematiksel olarak 10 &lt; x &lt; 20 yazamazsınız (derleme hatası verir). Doğrusu mantıksal operatörle bağlamaktır: 10 &lt; x &amp;&amp; x &lt; 20.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Integer Önbellek (Caching) Tuzağı: Integer nesnelerini == ile kıyaslarken, sayılar sadece -128 ile 127 arasındaysa doğru çalışır. Bu sınırın dışındaki sayılarda nesne referansları farklı olduğu için == yanlış sonuç verir. Her zaman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5" name="Rounded Rectangle 165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ounded Rectangle 166"/>
          <p:cNvSpPr/>
          <p:nvPr/>
        </p:nvSpPr>
        <p:spPr>
          <a:xfrm>
            <a:off x="4267800" y="2971800"/>
            <a:ext cx="3052800" cy="2966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DECISION MATRIX (Karar Matrisi)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Doğru Karşılaştırma Yöntemi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int, double (İlkel Sayılar)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== veya != (Tamamen güvenli)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char (Karakter)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&lt; veya &gt; (ASCII değerlerini kıyaslar)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String veya Integer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(Nesneler)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Kesinlikle .equals() kullan! (Tuzaklardan kaçar)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7" name="Rounded Rectangle 167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ounded Rectangle 168"/>
          <p:cNvSpPr/>
          <p:nvPr/>
        </p:nvSpPr>
        <p:spPr>
          <a:xfrm>
            <a:off x="7772400" y="2286000"/>
            <a:ext cx="3195720" cy="4110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IleriKarsilastirma {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1. KARAKTER (CHAR) KIYASLAMASI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char c1 = 'a'; // ASCII: 97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char c2 = 'b'; // ASCII: 98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charKiyas = (c1 &lt; c2); // true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2. ZİNCİRLEME KARŞILAŞTIRMA TUZAĞI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15;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boolean hata = 10 &lt; x &lt; 20; // DERLEME HATASI!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 = (10 &lt; x) &amp;&amp; (x &lt; 20); // true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ÖNBELLEK TUZAĞI (Integer Caching)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n1 = 127;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n2 = 127;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esitSınır = (n1 == n2); // true (Önbellekte)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n3 = 128;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n4 = 128;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esitTuzak = (n3 == n4); // false! (Bellek referansı)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dogruEsit = n3.equals(n4); // true (İçerik kıyası)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System.out.println("128 == 128: " + esitTuzak);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Eşitlik: " + dogruEsit);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9" name="TextBox 7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ectangle 369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370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371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372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373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374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375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376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377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378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379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380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381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382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383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384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ounded Rectangle 169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7" name="TextBox 73"/>
          <p:cNvSpPr/>
          <p:nvPr/>
        </p:nvSpPr>
        <p:spPr>
          <a:xfrm>
            <a:off x="1324800" y="626040"/>
            <a:ext cx="83131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İlişkisel Operatörler (Bölüm 3: Tip Kontrolleri ve Hassasiyet)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TextBox 74"/>
          <p:cNvSpPr/>
          <p:nvPr/>
        </p:nvSpPr>
        <p:spPr>
          <a:xfrm>
            <a:off x="2891160" y="1222920"/>
            <a:ext cx="5795640" cy="9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ilişkisel operatörler basit matematiğin ötesine geçer.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instanceof operatörü bir nesnenin tipini bir sınıfla karşılaştırmamızı sağlarken,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ondalıklı sayıları (double/float) karşılaştırmak ikilik sistemdeki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hassasiyet sınırları nedeniyle katı "hata payı" (delta/eşik) kontrolleri gerektirir.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Rounded Rectangle 170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ounded Rectangle 171"/>
          <p:cNvSpPr/>
          <p:nvPr/>
        </p:nvSpPr>
        <p:spPr>
          <a:xfrm>
            <a:off x="685800" y="2514600"/>
            <a:ext cx="3195360" cy="4110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Tip Karşılaştırma (instanceof):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Bir nesne referansını bir sınıf tipiyle kıyaslar. Eğer nesne o sınıfın, alt sınıfının veya arayüzünün (interface) bir örneğiyse true döner.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Hassasiyet Tuzağı (Precision Trap):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Bilgisayarlar ondalıklı sayıları ikilik sistemde (IEEE 754) saklar. Bu durum yuvarlama hatalarına yol açar. Örneğin 0.1 + 0.2 işlemi tam olarak 0.3'e eşit değildir (arka planda 0.30000000000000004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Delta Kontrolü Çözümü: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Ondalıklı değerleri asla == ile karşılaştırmayın. Bunun yerine, iki sayı arasındaki mutlak farkın çok küçük bir eşik değerinden (tolerans payı, örn: 0.00001) küçük olup olmadığını kontrol edin.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1" name="Rounded Rectangle 172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2" name="Rounded Rectangle 173"/>
          <p:cNvSpPr/>
          <p:nvPr/>
        </p:nvSpPr>
        <p:spPr>
          <a:xfrm>
            <a:off x="4267800" y="3200400"/>
            <a:ext cx="3052800" cy="2511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Hassasiyet vs Tip Kontrolü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Görev 1: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Bir nesnenin String olup olmadığını kontrol et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obj instanceof String (Güvenle boolean döner)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Görev 2: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double değerini karşılaştır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Yanlış: a == b (Yuvarlama hatalarına açıktır)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Doğru: Math.abs(a - b) &lt; 0.00001 (Eşik değer kontrolü)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3" name="Rounded Rectangle 174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ounded Rectangle 175"/>
          <p:cNvSpPr/>
          <p:nvPr/>
        </p:nvSpPr>
        <p:spPr>
          <a:xfrm>
            <a:off x="7772400" y="2743200"/>
            <a:ext cx="319680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HassasKarsilastirma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TİP KARŞILAŞTIRMA (instanceof)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Object metin = "Merhaba Dunya";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stringMi = metin instanceof String;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sayiMi = metin instanceof Number;   // false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ONDALIKLI SAYI HASSASİYET TUZAĞI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hataliKiyas = (d1 == d2); // false! (Tuzak)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DELTA (EŞİK) KONTROLÜ ÇÖZÜMÜ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epsilon = 0.00001; // tolerans payı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dogruKiyas = Math.abs(d1 - d2) &lt; epsilon;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System.out.println("0.1 + 0.2 == 0.3: " + hataliKiyas);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System.out.println("Dogru Karsilastirma: " + dogruKiyas);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5" name="TextBox 7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Rectangle 385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386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387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388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389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390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391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392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393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394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395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396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397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398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399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400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ounded Rectangle 176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3" name="TextBox 76"/>
          <p:cNvSpPr/>
          <p:nvPr/>
        </p:nvSpPr>
        <p:spPr>
          <a:xfrm>
            <a:off x="2232000" y="626040"/>
            <a:ext cx="64980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Kullanıcı Erişim Kontrolü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TextBox 77"/>
          <p:cNvSpPr/>
          <p:nvPr/>
        </p:nvSpPr>
        <p:spPr>
          <a:xfrm>
            <a:off x="2929680" y="1222920"/>
            <a:ext cx="5717880" cy="9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Gerçek dünya uygulamalarında ilişkisel operatörler; kullanıcı kayıt süreçlerini,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güvenlik sınırlarını ve rol tabanlı erişim yetkilerini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(Role-based access control) doğrulamak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için yazılan tüm iş kurallarının (business rules) temelini oluşturur.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Rounded Rectangle 177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ounded Rectangle 178"/>
          <p:cNvSpPr/>
          <p:nvPr/>
        </p:nvSpPr>
        <p:spPr>
          <a:xfrm>
            <a:off x="685800" y="2971800"/>
            <a:ext cx="3197160" cy="319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Yaş Sınırı Doğrulama (&gt;=):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Kullanıcının sisteme kayıt olabilmesi için yasal yaş sınırında (örn: 18) olup olmadığını doğrular.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Şifre Eşleştirme (.equals()):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Kullanıcının girdiği şifreyi, bellekteki adresine göre değil, karakter karakter doğruluğuna göre güvenli bir şekilde eşleştirir.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Yetki Rolü Kontrolü (instanceof):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Sisteme giriş yapan nesnenin "Yönetici (Admin)" rolüne veya sınıfına ait olup olmadığını çalışma zamanında doğrular.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7" name="Rounded Rectangle 179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8" name="Rounded Rectangle 180"/>
          <p:cNvSpPr/>
          <p:nvPr/>
        </p:nvSpPr>
        <p:spPr>
          <a:xfrm>
            <a:off x="4267800" y="2743200"/>
            <a:ext cx="305280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Kullanıcı Giriş Akışı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Girdiler: yas = 20, sifre = "Sifre123", Kullanıcı Nesnesi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1. Yaş Kontrolü: yas &gt;= 18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 true (Yaş Sınırı Geçildi)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2. Şifre Kontrolü: girilen.equals(kayitli)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 true (Şifre Eşleşti)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3. Yetki Rolü Kontrolü: kullanici instanceof Admin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Evet (true) ➔ Yönetici Paneline Yönlendir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Hayır (false) ➔ Standart Kullanıcı Arayüzünü Aç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9" name="Rounded Rectangle 181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ounded Rectangle 182"/>
          <p:cNvSpPr/>
          <p:nvPr/>
        </p:nvSpPr>
        <p:spPr>
          <a:xfrm>
            <a:off x="7772400" y="2743200"/>
            <a:ext cx="365436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ErisimKontrolu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KULLANICI GİRDİLERİ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20;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girilenSifre = new String("Sifre123");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kayitliSifre = new String("Sifre123");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Object aktifKullanici = "YoneticiNesnesi"; // Örnek nesne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YAŞ VE ŞİFRE DOĞRULAMA (İlişkisel)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yasBasarili = (yas &gt;= 18);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sifreBasarili = girilenSifre.equals(kayitliSifre);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ROL / TİP KONTROLÜ (Type Check)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Aktif kullanıcı bir String (Yönetici) mi?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adminMi = aktifKullanici instanceof String;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(yasBasarili &amp;&amp; sifreBasarili)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System.out.println("Giris Basarili!");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(adminMi)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System.out.println("Yonetici paneli aktif.");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1" name="TextBox 7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Rectangle 401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402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403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404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405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406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407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408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409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410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411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412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413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ectangle 414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ectangle 415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ectangle 416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ounded Rectangle 183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9" name="TextBox 79"/>
          <p:cNvSpPr/>
          <p:nvPr/>
        </p:nvSpPr>
        <p:spPr>
          <a:xfrm>
            <a:off x="2057400" y="457200"/>
            <a:ext cx="686700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İlişkisel Operatörler: Genel Özet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TextBox 80"/>
          <p:cNvSpPr/>
          <p:nvPr/>
        </p:nvSpPr>
        <p:spPr>
          <a:xfrm>
            <a:off x="1630080" y="1495800"/>
            <a:ext cx="82126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İlişkisel operatörler, programın karar alma ve akış kontrol mekanizmalarını yönetir.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sayılarda doğrudan değer kıyaslaması yaparken;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nesnelerde, metinlerde ve ondalıklı sayılarda (float/double)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Java'nın arka plandaki çalışma mantığına dikkat edilmelidir.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Rounded Rectangle 184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ounded Rectangle 185"/>
          <p:cNvSpPr/>
          <p:nvPr/>
        </p:nvSpPr>
        <p:spPr>
          <a:xfrm>
            <a:off x="685800" y="2853360"/>
            <a:ext cx="351648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 vs Adres: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Sayılarda == değeri kontrol ederken, nesnelerde (String, Integer vb.) bellek adresini kontrol eder. İçerik kıyaslaması için her zaman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Hassasiyet Sınırı: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Ondalıklı sayılar (float/double) == ile kıyaslanmamalıdır; aralarındaki mutlak farkın çok küçük bir tolerans payından (epsilon) küçük olup olmadığı ölçülmelidir.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Tip Doğrulama: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Çalışma zamanında (runtime) nesnelerin hangi sınıfa veya arayüze ait olduğunu kontrol etmek için instanceof operatöründen yararlanılır.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Integer Önbelleği: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Integer nesnelerinde == kıyaslaması sadece -128 ile 127 arasında güvenlidir, bu sınırın dışında referans kontrolü nedeniyle patlar.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3" name="Rounded Rectangle 186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4" name="Rounded Rectangle 187"/>
          <p:cNvSpPr/>
          <p:nvPr/>
        </p:nvSpPr>
        <p:spPr>
          <a:xfrm>
            <a:off x="4572000" y="3108960"/>
            <a:ext cx="3426120" cy="306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Hızlı Karşılaştırma Karar Haritası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İki ilkel sayıyı kıyaslayacaksın?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 == b veya a &lt; b (Hızlı ve güvenli)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İki metni (String) kıyaslayacaksın?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Kesinlikle s1.equals(s2) kullan!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Ondalıklı sayı (double/float) kıyaslayacaksın?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Math.abs(a - b) &lt; 0.00001 (Tolerans kontrolü)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 nesnenin sınıf tipini bulacaksın?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obj instanceof SinifAdi (Güvenli tip kontrolü)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5" name="Rounded Rectangle 188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ounded Rectangle 189"/>
          <p:cNvSpPr/>
          <p:nvPr/>
        </p:nvSpPr>
        <p:spPr>
          <a:xfrm>
            <a:off x="8246880" y="2286000"/>
            <a:ext cx="3654720" cy="4111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KarsilastirmaOzet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KIYAS (Primitive)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kucuk = (x &lt; 20); // true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METİN VE NESNE KIYASI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s1.equals("Java") -&gt; DOĞRU YÖNTEM!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s1 == "Java"      -&gt; YANLIŞ / RİSKLİ!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TİP KONTROLÜ (instanceof)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Object nesne = "Deneme";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strMi = nesne instanceof String; // true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4. ONDALIKLI SAYI DUYARLILIĞI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dogruKiyas = Math.abs(d1 - d2) &lt; 1e-5; // true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mu: " + dogruKiyas);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7" name="TextBox 8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Rectangle 433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434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ectangle 435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ectangle 436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ectangle 437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ectangle 438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439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440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441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442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443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444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445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ectangle 446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2" name="Rectangle 447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3" name="Rectangle 448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4" name="Rounded Rectangle 197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5" name="TextBox 85"/>
          <p:cNvSpPr/>
          <p:nvPr/>
        </p:nvSpPr>
        <p:spPr>
          <a:xfrm>
            <a:off x="1396440" y="457200"/>
            <a:ext cx="81882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Karşılaştırma: Nesneleri Kıyaslama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TextBox 86"/>
          <p:cNvSpPr/>
          <p:nvPr/>
        </p:nvSpPr>
        <p:spPr>
          <a:xfrm>
            <a:off x="381960" y="1143000"/>
            <a:ext cx="1070748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ilkel sayıları kıyaslamak için &lt; veya &gt; operatörleri yeterlidir.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Ancak özel nesneleri (örn: Öğrenci, Ürün sınıfı nesneleri) büyüklük/küçüklük durumuna göre kıyaslamak için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Comparable arayüzü (interface) ve compareTo() metodu kullanılır.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Rounded Rectangle 198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8" name="Rounded Rectangle 199"/>
          <p:cNvSpPr/>
          <p:nvPr/>
        </p:nvSpPr>
        <p:spPr>
          <a:xfrm>
            <a:off x="457200" y="2971800"/>
            <a:ext cx="3426480" cy="2859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Neden İhtiyacımız Var?: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ogrenci1 &gt; ogrenci2 yazmak Java'da derleme hatası verir. Nesnelerin hangi özelliğe (yaş, fiyat vb.) göre kıyaslanacağını belirtmeliyiz.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compareTo()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Metodunun Çalışma Mantığı: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&gt; 0 ➔ A, B'den büyüktür (Pozitif değer döner).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&lt; 0 ➔ A, B'den küçüktür (Negatif değer döner).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== 0 ➔ İki nesne kıyaslama kriterine göre eşittir (Sıfır döner).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9" name="Rounded Rectangle 200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0" name="Rounded Rectangle 201"/>
          <p:cNvSpPr/>
          <p:nvPr/>
        </p:nvSpPr>
        <p:spPr>
          <a:xfrm>
            <a:off x="4343400" y="2971800"/>
            <a:ext cx="3426120" cy="306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Nesne Kıyaslama (compareTo) Mantığı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İşlem: A.compareTo(B)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Dönüş Değeri Pozitif (&gt;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A &gt; B (A nesnesi B'den büyüktür)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Dönüş Değeri Negatif (&lt;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A &lt; B (A nesnesi B'den küçüktür)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Dönüş Değeri Sıfır (==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A == B (İki nesne eşittir)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1" name="Rounded Rectangle 202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ounded Rectangle 203"/>
          <p:cNvSpPr/>
          <p:nvPr/>
        </p:nvSpPr>
        <p:spPr>
          <a:xfrm>
            <a:off x="8263800" y="2514600"/>
            <a:ext cx="3637800" cy="3884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NesneKarsilastirma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Sayı Nesnelerini Kıyaslama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sayi1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sayi2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sayi1 &gt; sayi2 olduğu için pozitif (1) döner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sayiSonuc = sayi1.compareTo(sayi2);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Metin Nesnelerini Kıyaslama (Alfabetik)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metin1 = "Ahmet";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metin2 = "Mehmet";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"Ahmet" alfabetik olarak önce geldiği için negatif döner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metinSonuc = metin1.compareTo(metin2);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System.out.println("Sayı Kıyas: " + sayiSonuc); // 1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System.out.println("Metin Kıyas: " + metinSonuc); // Negatif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3" name="TextBox 8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Rectangle 449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450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ectangle 451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ectangle 452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ectangle 453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ectangle 454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455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456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457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458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ectangle 459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460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ectangle 461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ectangle 462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8" name="Rectangle 463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9" name="Rectangle 464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0" name="Rounded Rectangle 204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1" name="TextBox 88"/>
          <p:cNvSpPr/>
          <p:nvPr/>
        </p:nvSpPr>
        <p:spPr>
          <a:xfrm>
            <a:off x="692280" y="457200"/>
            <a:ext cx="890784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f5f5f5"/>
                </a:solidFill>
                <a:latin typeface="Calibri"/>
                <a:ea typeface="DejaVu Sans"/>
              </a:rPr>
              <a:t>Nesneleri Kıyaslama: Esneklik Motoru (Comparator)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TextBox 89"/>
          <p:cNvSpPr/>
          <p:nvPr/>
        </p:nvSpPr>
        <p:spPr>
          <a:xfrm>
            <a:off x="702360" y="1143000"/>
            <a:ext cx="100663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Comparable sınıfın "doğal" sıralamasını belirlerken, Comparator dışarıdan müdahale ile çoklu ve esnek sıralama kuralları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(yaş, fiyat, isim vb.) oluşturmamızı sağlar.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Sınıf koduna dokunmadan sıralama mantığını değiştirmek için en güçlü araçtır.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Rounded Rectangle 205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4" name="Rounded Rectangle 206"/>
          <p:cNvSpPr/>
          <p:nvPr/>
        </p:nvSpPr>
        <p:spPr>
          <a:xfrm>
            <a:off x="458640" y="2514600"/>
            <a:ext cx="342648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Comparable vs Comparator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Comparable (Dahili):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Sınıfın içine gömülüdür. Tek bir "doğal" sıralama sunar (Örn: Öğrenci ID'ye göre sıralanır).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Comparator (Harici):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Dışarıdan atanan bir "hakem"dir. Aynı nesne için farklı kurallar (yaşa göre, isme göre) tanımlamanıza olanak tanır.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5" name="Rounded Rectangle 207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6" name="Rounded Rectangle 208"/>
          <p:cNvSpPr/>
          <p:nvPr/>
        </p:nvSpPr>
        <p:spPr>
          <a:xfrm>
            <a:off x="4343400" y="2514600"/>
            <a:ext cx="3426120" cy="3406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[ Esneklik Motoru ]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Amaç: Listeyi farklı diz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Fiyata göre? ➔ PriceComp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İsme göre? ➔ NameComp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İş Akışı: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1. Comparator kuralını yaz.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2. Kuralı sort() içine ver.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3. Java senin kuralına göre dizer.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7" name="Rounded Rectangle 209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8" name="Rounded Rectangle 210"/>
          <p:cNvSpPr/>
          <p:nvPr/>
        </p:nvSpPr>
        <p:spPr>
          <a:xfrm>
            <a:off x="8263800" y="2057400"/>
            <a:ext cx="3393720" cy="4113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java.util.*;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EsnekSiralama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List&lt;String&gt; list =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Arrays.asList("Zebra", "Apple");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1. DOĞAL (Comparable)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Collections.sort(list);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2. ESNEK (Comparator)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Comparator&lt;String&gt; lenComp = (s1, s2) -&gt;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Integer.compare(s1.length(),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s2.length());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Collections.sort(list, lenComp);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9" name="TextBox 9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Rectangle 465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1" name="Rectangle 466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2" name="Rectangle 467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3" name="Rectangle 468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4" name="Rectangle 469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5" name="Rectangle 470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ectangle 471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7" name="Rectangle 472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ectangle 473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9" name="Rectangle 474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ectangle 475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1" name="Rectangle 476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2" name="Rectangle 477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ectangle 478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4" name="Rectangle 479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5" name="Rectangle 480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6" name="Rounded Rectangle 211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7" name="TextBox 91"/>
          <p:cNvSpPr/>
          <p:nvPr/>
        </p:nvSpPr>
        <p:spPr>
          <a:xfrm>
            <a:off x="2580120" y="457200"/>
            <a:ext cx="5132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Karşılaştırma Stratejileri: Genel Özet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TextBox 92"/>
          <p:cNvSpPr/>
          <p:nvPr/>
        </p:nvSpPr>
        <p:spPr>
          <a:xfrm>
            <a:off x="1388520" y="1009080"/>
            <a:ext cx="8713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nesne karşılaştırmada uzmanlaşmak, işe en uygun aracı seçmek demektir.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Basit ilkel kontrollerden, doğal sıralamaya veya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dinamik özel sıralamalara kadar; doğru stratejiyi seçmek kodunuzun dayanıklılığını ve esnekliğini belirler.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Rounded Rectangle 212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0" name="Rounded Rectangle 213"/>
          <p:cNvSpPr/>
          <p:nvPr/>
        </p:nvSpPr>
        <p:spPr>
          <a:xfrm>
            <a:off x="458640" y="2514600"/>
            <a:ext cx="3426840" cy="319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KARŞILAŞTIRMA KOPYA KAĞIDI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Tipler: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&lt;, &gt;, == operatörlerini doğrudan kullanın. Hızlı, dahili ve güvenlidir.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String'ler: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Asla == kullanmayın. İçerik için her zaman .equals(), sıralama için compareTo() kullanın.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Comparable: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Kalıcı olarak sabitlenmiş "Doğal Sıralama" için kullanın (Örn: ID bazlı sıralama).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Comparator: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"Özel Sıralamalar" için kullanın (Örn: Bugün fiyata göre, yarın isme göre sırala).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1" name="Rounded Rectangle 214"/>
          <p:cNvSpPr/>
          <p:nvPr/>
        </p:nvSpPr>
        <p:spPr>
          <a:xfrm>
            <a:off x="448164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2" name="Rounded Rectangle 215"/>
          <p:cNvSpPr/>
          <p:nvPr/>
        </p:nvSpPr>
        <p:spPr>
          <a:xfrm>
            <a:off x="4343400" y="2514600"/>
            <a:ext cx="3425760" cy="319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Karşılaştırma Karar Haritası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Hızlı bir mantıksal test mi lazım?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Operatörleri kullan (==, !=, &lt;, &gt;)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Listeyi doğal sırasına göre mi dizeceksin?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Comparable arayüzünü uygula.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Çoklu/dinamik sıralama mı lazım?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Comparator stratejisini kullan.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Metin içeriğini mi kıyaslayacaksın?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Her zaman .equals() kullan.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3" name="Rounded Rectangle 216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4" name="Rounded Rectangle 217"/>
          <p:cNvSpPr/>
          <p:nvPr/>
        </p:nvSpPr>
        <p:spPr>
          <a:xfrm>
            <a:off x="8278200" y="1938240"/>
            <a:ext cx="3623040" cy="446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SON GENEL BAKIŞ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FinalSummary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Tip: Hızlı &amp; Güvenli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5, y = 10;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if (x &lt; y) { /* Mantık */ 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2. String: İçerik Kontrolü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"Hi";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if (s1.equals("Hi")) { /* Güvenli */ 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3. Sıralama Stratejisi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List&lt;Integer&gt; list = Arrays.asList(3, 1, 2);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Doğal (Comparable)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Collections.sort(list);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Özel (Comparator)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Collections.sort(list,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(a, b) -&gt; b.compareTo(a)); // Tersten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5" name="TextBox 9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576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2026-06-30T17:42:09Z</dcterms:modified>
  <cp:revision>53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