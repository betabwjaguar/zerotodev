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96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B60CFE-C9FA-4B7B-AEA8-07D0357E82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8ED49A-2018-4E6B-B5F3-07EA4BFC24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66FC63-1AAA-40F6-AFA5-F74DCA6A1F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6322AB-78E0-4B10-ABEC-2145137AA1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3B7955-0B12-425B-9D52-AA233CECAD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75B322-5368-4F7E-87A8-6D8F412B82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9136B2-8760-4451-A539-6D7AD52030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2EB559-1394-4590-AB11-505CECFF2B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91862B-CCD1-4739-AAC4-8842A058CD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30063B-F0BA-4887-BB4B-94BDE294B7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995E36-0179-45EB-B988-1B3A536418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7136FF-1136-4F90-BCE1-09A9F196CC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6E4650E-12EA-420B-8E3C-35D96A72BD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3088B82-E707-4F96-B038-D7DCD1A56D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3BAEDDC-5FDD-4D14-BCAC-E586670022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73AC7EC-69F0-48E4-B81B-5568A30808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B4A8968-931E-4EF7-ADBB-2D98D49A92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1C3E73-0427-43DE-B1A4-8842E2E9FE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DB297C5-595D-419B-A60E-EF2ED30D4C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D8DDCC-C20E-4F45-92E2-BB24C2AA40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12FAF5-5120-4AE5-8805-211ECA0D14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6901175-E22C-4979-91C4-FE5DB94AD9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430ED8E-E640-49B4-B55B-2994CA2854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A67798F-5112-42B7-8A60-B98AD7B322A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CC16835-CDD0-4ED0-B7D2-4275801B0F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69B9333-CF52-46E0-8BB9-C271EDCF00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7EAABD2-D78E-4642-8F86-F431BB25B9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2AE2536-1008-4E15-99E9-F3AAD16AB1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BD84AAE-9A53-4486-80AA-D25238D36A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420CF98-D6B2-44F6-9D9D-DB7AA0B168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C950127-F0D5-4754-AED9-D4375BD218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449F6A7-6CF2-4202-BFE8-0270D8C4CA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889F0D2-6E9D-4D49-BC98-9497E432C5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BB8C18D-9D0F-4425-BBDA-7310867EEA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46BC6AA-1CE1-4E3A-85CC-07BF4D4001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E282F7D-E547-459E-BAC8-9D58DF3DF37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CE01A63-C945-4B84-88EF-129335003D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F3B8A62-6E75-43B1-8BEE-476CF6C8DF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626EA6E-57CC-40BF-8DDF-A8088B5857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71500B0-11C3-4005-8F4A-092BBB3F45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016EB85-4CD2-4736-83C8-93D387ED33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8FDBF9A-0A29-4F89-A941-DDA20D8FF5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E86F118-C09A-41D4-A0AB-D200FEE3C9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FBD950D-2D1D-49AA-B330-58DAB67937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D3924C3-E5C0-432A-AA24-D5E5D1CF18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7FDE16E-3B92-4A99-9A92-5C9FAB3AA1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940C232-4B89-4FB5-B1F5-0EEF4FD626F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5A65856-FCE2-472C-B2DE-CCCDD27621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490144F-D1F6-4B80-881B-0271039F9A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6A2DD54-9C7F-48C6-8D11-8239F08511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D4AA054-E5FF-47DF-A93B-C2DDC592C1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6A7A14F-4061-4255-B5AB-12302D1360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77902EF-0E78-479D-8AE3-9BF52EF3B7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E36E610-A9DB-448B-B497-17506ADEE1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3A42A1E-7A9B-4FF2-80FB-4703CDE01E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F9ABB94-AE00-4BFA-A85C-0DD24EB6D2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0CBF9DE-A82E-46D0-821E-B30A393B0A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36F32E2-B410-4BF2-A21D-A9CB6A458E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8F89B29-8748-4E15-8366-2993C856A18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7F1B65B-B249-454C-AD87-8F075DBEB94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75E7265-6140-48DB-84FD-2A75605C94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ED036D4-3443-406D-BA6A-1150A9C563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659855C-08BD-40D8-ADF7-25B1F268D5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84390C5-A1EB-45EE-B461-ABAA33DC19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DBE13A0-8FE1-4E65-BDB5-977690B58E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81F354F-4CF0-4C88-8AEC-C4B46B1C52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17498B3-F11D-4DD6-80EC-3E1E9B975C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2DA249F-DF53-4E26-9D42-8EB0C2CB0D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5A8C15D-0533-4311-A19B-D3933FD3AE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BDBB809-99CD-46DA-A069-3807AA48EF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AA0FDF2-C70C-4D30-B77E-82357AF2C9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9D5B121-4D47-4B8D-AF39-81EAD06190F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B12F98D-CE40-4B1A-BCB9-F87B3789E3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C6EA90C-2165-42D7-ACC1-3D1CD8EF85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EAE3016-A53C-4A0D-8D9D-F24180531C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83C00D6-D2AB-472A-99D7-99FD5ED7B1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19AEF9C-D6F2-4FD6-99B7-A834612724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97C4A7D-1156-4F18-9CEB-BD2A34B8CC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E4EADEA-7E60-4E28-91BC-0A8753E121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7F0F7A5-92E1-49FB-BB07-DE990E68A6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A9B81FC-8ECF-43DA-B3ED-D9D404FEB1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A03BBDC-13F4-41A9-BC48-A4828BF99A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C532769-EF4F-4BA2-9D57-49F1F798D5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65B6EFD-6065-4B39-BE79-0A2F8AB2F95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9703FA5-3C0D-478A-A321-D3839A6547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5940795-D021-41E5-AFC4-013F2AC681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36D69E7-B4C4-49B4-B471-B93D3E9271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4AF69FC-F64E-4E46-91EB-FC19ED8E08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E5CAC58-4792-4CC6-B214-CBEA32CBD5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F71C528-D904-4052-96EA-229E46E8D7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F4391C7-1199-41F6-A03B-16EDFA8B6B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1C379C3-0766-4B0C-8E7B-71E146393E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51A92F1-E243-4614-9020-FED91E8A83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BD75073-4C7D-44F0-8A83-120D9FEB41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81BED50-B6A5-45F7-95C6-20962606A23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3C764E0-7564-4912-9D50-AA6388647D1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42F1C0-4A99-4182-8C7D-32010B9F810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8936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8030AB-159D-45EA-AE14-77B8DD59530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276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8972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2F701A-B1DE-4B2B-9C9E-0EB089D1B93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27960" cy="3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0080" cy="3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28320" cy="3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265C06-EDE9-4E56-817D-EA91041EF79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28320" cy="3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0800" cy="36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29040" cy="36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09530D-B723-4E4F-A6C7-09AF9721827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29040" cy="36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928B7C-255C-4916-90B4-2542671FE5D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8B027A-6F83-4962-B851-59675018983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D0CE7A-8978-4280-8743-FDDC599DFF6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angle 1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7" name="Rectangle 2"/>
          <p:cNvSpPr/>
          <p:nvPr/>
        </p:nvSpPr>
        <p:spPr>
          <a:xfrm>
            <a:off x="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8" name="Rectangle 3"/>
          <p:cNvSpPr/>
          <p:nvPr/>
        </p:nvSpPr>
        <p:spPr>
          <a:xfrm>
            <a:off x="914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9" name="Rectangle 4"/>
          <p:cNvSpPr/>
          <p:nvPr/>
        </p:nvSpPr>
        <p:spPr>
          <a:xfrm>
            <a:off x="1828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0" name="Rectangle 5"/>
          <p:cNvSpPr/>
          <p:nvPr/>
        </p:nvSpPr>
        <p:spPr>
          <a:xfrm>
            <a:off x="2743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1" name="Rectangle 6"/>
          <p:cNvSpPr/>
          <p:nvPr/>
        </p:nvSpPr>
        <p:spPr>
          <a:xfrm>
            <a:off x="36576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2" name="Rectangle 7"/>
          <p:cNvSpPr/>
          <p:nvPr/>
        </p:nvSpPr>
        <p:spPr>
          <a:xfrm>
            <a:off x="45720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3" name="Rectangle 8"/>
          <p:cNvSpPr/>
          <p:nvPr/>
        </p:nvSpPr>
        <p:spPr>
          <a:xfrm>
            <a:off x="5486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4" name="Rectangle 9"/>
          <p:cNvSpPr/>
          <p:nvPr/>
        </p:nvSpPr>
        <p:spPr>
          <a:xfrm>
            <a:off x="6400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5" name="Rectangle 10"/>
          <p:cNvSpPr/>
          <p:nvPr/>
        </p:nvSpPr>
        <p:spPr>
          <a:xfrm>
            <a:off x="7315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6" name="Rectangle 11"/>
          <p:cNvSpPr/>
          <p:nvPr/>
        </p:nvSpPr>
        <p:spPr>
          <a:xfrm>
            <a:off x="82296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7" name="Rectangle 12"/>
          <p:cNvSpPr/>
          <p:nvPr/>
        </p:nvSpPr>
        <p:spPr>
          <a:xfrm>
            <a:off x="91440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8" name="Rectangle 13"/>
          <p:cNvSpPr/>
          <p:nvPr/>
        </p:nvSpPr>
        <p:spPr>
          <a:xfrm>
            <a:off x="10058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9" name="Rectangle 14"/>
          <p:cNvSpPr/>
          <p:nvPr/>
        </p:nvSpPr>
        <p:spPr>
          <a:xfrm>
            <a:off x="10972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0" name="Rectangle 15"/>
          <p:cNvSpPr/>
          <p:nvPr/>
        </p:nvSpPr>
        <p:spPr>
          <a:xfrm>
            <a:off x="11887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1" name="Rectangle 16"/>
          <p:cNvSpPr/>
          <p:nvPr/>
        </p:nvSpPr>
        <p:spPr>
          <a:xfrm>
            <a:off x="0" y="0"/>
            <a:ext cx="313920" cy="68518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2" name="Rounded Rectangle 17"/>
          <p:cNvSpPr/>
          <p:nvPr/>
        </p:nvSpPr>
        <p:spPr>
          <a:xfrm>
            <a:off x="9875520" y="365760"/>
            <a:ext cx="2005560" cy="4968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Box 18"/>
          <p:cNvSpPr/>
          <p:nvPr/>
        </p:nvSpPr>
        <p:spPr>
          <a:xfrm>
            <a:off x="1522800" y="1005840"/>
            <a:ext cx="79261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VIRTUAL MACHINE (JVM)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Box 19"/>
          <p:cNvSpPr/>
          <p:nvPr/>
        </p:nvSpPr>
        <p:spPr>
          <a:xfrm>
            <a:off x="3661920" y="2057400"/>
            <a:ext cx="3648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The engine that runs Java programs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Rounded Rectangle 20"/>
          <p:cNvSpPr/>
          <p:nvPr/>
        </p:nvSpPr>
        <p:spPr>
          <a:xfrm>
            <a:off x="98748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6" name="Rounded Rectangle 21"/>
          <p:cNvSpPr/>
          <p:nvPr/>
        </p:nvSpPr>
        <p:spPr>
          <a:xfrm>
            <a:off x="685800" y="2521440"/>
            <a:ext cx="3423960" cy="33246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The Java Virtual Machine (JVM) is a virtual runtime engine that executes Java bytecode.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It allows Java programs to run on any platform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Java code is compiled into bytecode, not machine code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The JVM translates bytecode into machine-specific instructions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JVM Responsibilities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Platform independence (Write Once, Run Anywhere)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Bytecode execution (Interpreter + JIT Compiler)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Automatic memory management (Garbage Collection)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Security through a controlled runtime environment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👉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The JVM acts as a bridge between Java programs and the operating system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Rounded Rectangle 22"/>
          <p:cNvSpPr/>
          <p:nvPr/>
        </p:nvSpPr>
        <p:spPr>
          <a:xfrm>
            <a:off x="450792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8" name="Rounded Rectangle 23"/>
          <p:cNvSpPr/>
          <p:nvPr/>
        </p:nvSpPr>
        <p:spPr>
          <a:xfrm>
            <a:off x="4434840" y="310896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Source Code (.java)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Compiler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JVM (Interpreter + JIT)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Machine Code for OS/CPU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Rounded Rectangle 24"/>
          <p:cNvSpPr/>
          <p:nvPr/>
        </p:nvSpPr>
        <p:spPr>
          <a:xfrm>
            <a:off x="802836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0" name="Rounded Rectangle 25"/>
          <p:cNvSpPr/>
          <p:nvPr/>
        </p:nvSpPr>
        <p:spPr>
          <a:xfrm>
            <a:off x="7955280" y="310896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Main {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System.out.println("Hello, JVM!");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Box 2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Rectangle 32"/>
          <p:cNvSpPr/>
          <p:nvPr/>
        </p:nvSpPr>
        <p:spPr>
          <a:xfrm>
            <a:off x="0" y="0"/>
            <a:ext cx="12182760" cy="68518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3" name="Rectangle 33"/>
          <p:cNvSpPr/>
          <p:nvPr/>
        </p:nvSpPr>
        <p:spPr>
          <a:xfrm>
            <a:off x="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4" name="Rectangle 34"/>
          <p:cNvSpPr/>
          <p:nvPr/>
        </p:nvSpPr>
        <p:spPr>
          <a:xfrm>
            <a:off x="914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5" name="Rectangle 35"/>
          <p:cNvSpPr/>
          <p:nvPr/>
        </p:nvSpPr>
        <p:spPr>
          <a:xfrm>
            <a:off x="1828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6" name="Rectangle 36"/>
          <p:cNvSpPr/>
          <p:nvPr/>
        </p:nvSpPr>
        <p:spPr>
          <a:xfrm>
            <a:off x="2743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7" name="Rectangle 37"/>
          <p:cNvSpPr/>
          <p:nvPr/>
        </p:nvSpPr>
        <p:spPr>
          <a:xfrm>
            <a:off x="36576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8" name="Rectangle 38"/>
          <p:cNvSpPr/>
          <p:nvPr/>
        </p:nvSpPr>
        <p:spPr>
          <a:xfrm>
            <a:off x="45720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9" name="Rectangle 39"/>
          <p:cNvSpPr/>
          <p:nvPr/>
        </p:nvSpPr>
        <p:spPr>
          <a:xfrm>
            <a:off x="5486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0" name="Rectangle 40"/>
          <p:cNvSpPr/>
          <p:nvPr/>
        </p:nvSpPr>
        <p:spPr>
          <a:xfrm>
            <a:off x="6400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1" name="Rectangle 41"/>
          <p:cNvSpPr/>
          <p:nvPr/>
        </p:nvSpPr>
        <p:spPr>
          <a:xfrm>
            <a:off x="7315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2" name="Rectangle 42"/>
          <p:cNvSpPr/>
          <p:nvPr/>
        </p:nvSpPr>
        <p:spPr>
          <a:xfrm>
            <a:off x="82296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3" name="Rectangle 43"/>
          <p:cNvSpPr/>
          <p:nvPr/>
        </p:nvSpPr>
        <p:spPr>
          <a:xfrm>
            <a:off x="91440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4" name="Rectangle 44"/>
          <p:cNvSpPr/>
          <p:nvPr/>
        </p:nvSpPr>
        <p:spPr>
          <a:xfrm>
            <a:off x="100584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5" name="Rectangle 45"/>
          <p:cNvSpPr/>
          <p:nvPr/>
        </p:nvSpPr>
        <p:spPr>
          <a:xfrm>
            <a:off x="109728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6" name="Rectangle 46"/>
          <p:cNvSpPr/>
          <p:nvPr/>
        </p:nvSpPr>
        <p:spPr>
          <a:xfrm>
            <a:off x="11887200" y="0"/>
            <a:ext cx="12240" cy="68518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7" name="Rectangle 47"/>
          <p:cNvSpPr/>
          <p:nvPr/>
        </p:nvSpPr>
        <p:spPr>
          <a:xfrm>
            <a:off x="0" y="0"/>
            <a:ext cx="313920" cy="68518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8" name="Rounded Rectangle 8"/>
          <p:cNvSpPr/>
          <p:nvPr/>
        </p:nvSpPr>
        <p:spPr>
          <a:xfrm>
            <a:off x="9875520" y="365760"/>
            <a:ext cx="2005560" cy="4968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Box 4"/>
          <p:cNvSpPr/>
          <p:nvPr/>
        </p:nvSpPr>
        <p:spPr>
          <a:xfrm>
            <a:off x="3214440" y="1005840"/>
            <a:ext cx="45428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JVM Architecture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5"/>
          <p:cNvSpPr/>
          <p:nvPr/>
        </p:nvSpPr>
        <p:spPr>
          <a:xfrm>
            <a:off x="3641400" y="2194560"/>
            <a:ext cx="36892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INSIDE THE JAVA VIRTUAL MACHINE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Rounded Rectangle 9"/>
          <p:cNvSpPr/>
          <p:nvPr/>
        </p:nvSpPr>
        <p:spPr>
          <a:xfrm>
            <a:off x="98748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2" name="Rounded Rectangle 10"/>
          <p:cNvSpPr/>
          <p:nvPr/>
        </p:nvSpPr>
        <p:spPr>
          <a:xfrm>
            <a:off x="914400" y="310896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The JVM architecture is built from core components that work together to execute Java programs.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Class Loader loads class files into memory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Runtime Data Areas store data during execution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Execution Engine runs bytecode (Interpreter + JIT)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Garbage Collector removes unused objects automatically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These parts allow Java programs to run securely, efficiently, and independently of the operating system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Rounded Rectangle 11"/>
          <p:cNvSpPr/>
          <p:nvPr/>
        </p:nvSpPr>
        <p:spPr>
          <a:xfrm>
            <a:off x="450792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4" name="Rounded Rectangle 12"/>
          <p:cNvSpPr/>
          <p:nvPr/>
        </p:nvSpPr>
        <p:spPr>
          <a:xfrm>
            <a:off x="4434840" y="310896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Class Loader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Runtime Data Areas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Execution Engine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(Interpreter + JIT)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Garbage Collector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Rounded Rectangle 13"/>
          <p:cNvSpPr/>
          <p:nvPr/>
        </p:nvSpPr>
        <p:spPr>
          <a:xfrm>
            <a:off x="8028360" y="318204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6" name="Rounded Rectangle 14"/>
          <p:cNvSpPr/>
          <p:nvPr/>
        </p:nvSpPr>
        <p:spPr>
          <a:xfrm>
            <a:off x="7955280" y="3108960"/>
            <a:ext cx="3285720" cy="2737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class Demo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System.out.println("JVM Running");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br>
              <a:rPr sz="1500"/>
            </a:br>
            <a:br>
              <a:rPr sz="1500"/>
            </a:b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Process: Load =&gt; Store In Memory =&gt; Execute =&gt; Clean Memory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Box 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angle 48"/>
          <p:cNvSpPr/>
          <p:nvPr/>
        </p:nvSpPr>
        <p:spPr>
          <a:xfrm>
            <a:off x="0" y="0"/>
            <a:ext cx="12183120" cy="685224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9" name="Rectangle 49"/>
          <p:cNvSpPr/>
          <p:nvPr/>
        </p:nvSpPr>
        <p:spPr>
          <a:xfrm>
            <a:off x="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0" name="Rectangle 50"/>
          <p:cNvSpPr/>
          <p:nvPr/>
        </p:nvSpPr>
        <p:spPr>
          <a:xfrm>
            <a:off x="9144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1" name="Rectangle 51"/>
          <p:cNvSpPr/>
          <p:nvPr/>
        </p:nvSpPr>
        <p:spPr>
          <a:xfrm>
            <a:off x="18288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2" name="Rectangle 52"/>
          <p:cNvSpPr/>
          <p:nvPr/>
        </p:nvSpPr>
        <p:spPr>
          <a:xfrm>
            <a:off x="27432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3" name="Rectangle 53"/>
          <p:cNvSpPr/>
          <p:nvPr/>
        </p:nvSpPr>
        <p:spPr>
          <a:xfrm>
            <a:off x="36576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4" name="Rectangle 54"/>
          <p:cNvSpPr/>
          <p:nvPr/>
        </p:nvSpPr>
        <p:spPr>
          <a:xfrm>
            <a:off x="45720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5" name="Rectangle 55"/>
          <p:cNvSpPr/>
          <p:nvPr/>
        </p:nvSpPr>
        <p:spPr>
          <a:xfrm>
            <a:off x="54864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6" name="Rectangle 56"/>
          <p:cNvSpPr/>
          <p:nvPr/>
        </p:nvSpPr>
        <p:spPr>
          <a:xfrm>
            <a:off x="64008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7" name="Rectangle 57"/>
          <p:cNvSpPr/>
          <p:nvPr/>
        </p:nvSpPr>
        <p:spPr>
          <a:xfrm>
            <a:off x="73152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8" name="Rectangle 58"/>
          <p:cNvSpPr/>
          <p:nvPr/>
        </p:nvSpPr>
        <p:spPr>
          <a:xfrm>
            <a:off x="82296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89" name="Rectangle 59"/>
          <p:cNvSpPr/>
          <p:nvPr/>
        </p:nvSpPr>
        <p:spPr>
          <a:xfrm>
            <a:off x="91440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0" name="Rectangle 60"/>
          <p:cNvSpPr/>
          <p:nvPr/>
        </p:nvSpPr>
        <p:spPr>
          <a:xfrm>
            <a:off x="100584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1" name="Rectangle 61"/>
          <p:cNvSpPr/>
          <p:nvPr/>
        </p:nvSpPr>
        <p:spPr>
          <a:xfrm>
            <a:off x="109728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2" name="Rectangle 62"/>
          <p:cNvSpPr/>
          <p:nvPr/>
        </p:nvSpPr>
        <p:spPr>
          <a:xfrm>
            <a:off x="11887200" y="0"/>
            <a:ext cx="12600" cy="685224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3" name="Rectangle 63"/>
          <p:cNvSpPr/>
          <p:nvPr/>
        </p:nvSpPr>
        <p:spPr>
          <a:xfrm>
            <a:off x="0" y="0"/>
            <a:ext cx="314280" cy="685224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4" name="Rounded Rectangle 15"/>
          <p:cNvSpPr/>
          <p:nvPr/>
        </p:nvSpPr>
        <p:spPr>
          <a:xfrm>
            <a:off x="9875520" y="365760"/>
            <a:ext cx="2005920" cy="49716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Box 7"/>
          <p:cNvSpPr/>
          <p:nvPr/>
        </p:nvSpPr>
        <p:spPr>
          <a:xfrm>
            <a:off x="1896840" y="1005840"/>
            <a:ext cx="71776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JVM PROGRAM EXECUTION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Box 8"/>
          <p:cNvSpPr/>
          <p:nvPr/>
        </p:nvSpPr>
        <p:spPr>
          <a:xfrm>
            <a:off x="2177280" y="2194560"/>
            <a:ext cx="66171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How the JVM runs a Java program step by step behind the scenes.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Rounded Rectangle 16"/>
          <p:cNvSpPr/>
          <p:nvPr/>
        </p:nvSpPr>
        <p:spPr>
          <a:xfrm>
            <a:off x="987480" y="3182040"/>
            <a:ext cx="3286080" cy="27374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98" name="Rounded Rectangle 18"/>
          <p:cNvSpPr/>
          <p:nvPr/>
        </p:nvSpPr>
        <p:spPr>
          <a:xfrm>
            <a:off x="475560" y="2743200"/>
            <a:ext cx="3724920" cy="31032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When a Java program starts, the JVM follows a smart execution process.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First, the Class Loader loads compiled .class files into memory and checks them for security.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Next, memory is organized into areas like the Heap (for objects) and Stack (for method calls and variables).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Then, the Execution Engine runs the program.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The Interpreter reads bytecode line by line, while the JIT Compiler converts frequently used code into faster machine code.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Finally, the Garbage Collector removes unused objects from memory automatically.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Thanks to this process, Java programs run safely, efficiently, and on any system with a JVM.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Rounded Rectangle 19"/>
          <p:cNvSpPr/>
          <p:nvPr/>
        </p:nvSpPr>
        <p:spPr>
          <a:xfrm>
            <a:off x="4507920" y="3182040"/>
            <a:ext cx="3286080" cy="27374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0" name="Rounded Rectangle 26"/>
          <p:cNvSpPr/>
          <p:nvPr/>
        </p:nvSpPr>
        <p:spPr>
          <a:xfrm>
            <a:off x="4343400" y="2918520"/>
            <a:ext cx="3514680" cy="292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Source Code (.java)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Compiler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Class Loader loads classes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Memory Allocation (Heap / Stack)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Execution Engine (Interpreter + JIT)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Native Machine Code Execution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Garbage Collector frees memory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Rounded Rectangle 27"/>
          <p:cNvSpPr/>
          <p:nvPr/>
        </p:nvSpPr>
        <p:spPr>
          <a:xfrm>
            <a:off x="8028360" y="3182040"/>
            <a:ext cx="3286080" cy="273744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2" name="Rounded Rectangle 28"/>
          <p:cNvSpPr/>
          <p:nvPr/>
        </p:nvSpPr>
        <p:spPr>
          <a:xfrm>
            <a:off x="8023680" y="2743200"/>
            <a:ext cx="3836160" cy="31957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ExecutionDemo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String message = "JVM Execution Started";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System.out.println(message);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int result = addNumbers(5, 7);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System.out.println("Result: " + result);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int addNumbers(int a, int b) {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return a + b;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Box 9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ctangle 64"/>
          <p:cNvSpPr/>
          <p:nvPr/>
        </p:nvSpPr>
        <p:spPr>
          <a:xfrm>
            <a:off x="0" y="0"/>
            <a:ext cx="12183480" cy="685260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5" name="Rectangle 65"/>
          <p:cNvSpPr/>
          <p:nvPr/>
        </p:nvSpPr>
        <p:spPr>
          <a:xfrm>
            <a:off x="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6" name="Rectangle 66"/>
          <p:cNvSpPr/>
          <p:nvPr/>
        </p:nvSpPr>
        <p:spPr>
          <a:xfrm>
            <a:off x="914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7" name="Rectangle 67"/>
          <p:cNvSpPr/>
          <p:nvPr/>
        </p:nvSpPr>
        <p:spPr>
          <a:xfrm>
            <a:off x="1828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8" name="Rectangle 68"/>
          <p:cNvSpPr/>
          <p:nvPr/>
        </p:nvSpPr>
        <p:spPr>
          <a:xfrm>
            <a:off x="2743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9" name="Rectangle 69"/>
          <p:cNvSpPr/>
          <p:nvPr/>
        </p:nvSpPr>
        <p:spPr>
          <a:xfrm>
            <a:off x="3657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0" name="Rectangle 70"/>
          <p:cNvSpPr/>
          <p:nvPr/>
        </p:nvSpPr>
        <p:spPr>
          <a:xfrm>
            <a:off x="4572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1" name="Rectangle 71"/>
          <p:cNvSpPr/>
          <p:nvPr/>
        </p:nvSpPr>
        <p:spPr>
          <a:xfrm>
            <a:off x="5486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2" name="Rectangle 72"/>
          <p:cNvSpPr/>
          <p:nvPr/>
        </p:nvSpPr>
        <p:spPr>
          <a:xfrm>
            <a:off x="6400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3" name="Rectangle 73"/>
          <p:cNvSpPr/>
          <p:nvPr/>
        </p:nvSpPr>
        <p:spPr>
          <a:xfrm>
            <a:off x="7315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4" name="Rectangle 74"/>
          <p:cNvSpPr/>
          <p:nvPr/>
        </p:nvSpPr>
        <p:spPr>
          <a:xfrm>
            <a:off x="82296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5" name="Rectangle 75"/>
          <p:cNvSpPr/>
          <p:nvPr/>
        </p:nvSpPr>
        <p:spPr>
          <a:xfrm>
            <a:off x="91440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6" name="Rectangle 76"/>
          <p:cNvSpPr/>
          <p:nvPr/>
        </p:nvSpPr>
        <p:spPr>
          <a:xfrm>
            <a:off x="100584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7" name="Rectangle 77"/>
          <p:cNvSpPr/>
          <p:nvPr/>
        </p:nvSpPr>
        <p:spPr>
          <a:xfrm>
            <a:off x="109728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8" name="Rectangle 78"/>
          <p:cNvSpPr/>
          <p:nvPr/>
        </p:nvSpPr>
        <p:spPr>
          <a:xfrm>
            <a:off x="11887200" y="0"/>
            <a:ext cx="12960" cy="685260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9" name="Rectangle 79"/>
          <p:cNvSpPr/>
          <p:nvPr/>
        </p:nvSpPr>
        <p:spPr>
          <a:xfrm>
            <a:off x="0" y="0"/>
            <a:ext cx="314640" cy="685260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0" name="Rounded Rectangle 29"/>
          <p:cNvSpPr/>
          <p:nvPr/>
        </p:nvSpPr>
        <p:spPr>
          <a:xfrm>
            <a:off x="9875520" y="365760"/>
            <a:ext cx="2006280" cy="49752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Box 10"/>
          <p:cNvSpPr/>
          <p:nvPr/>
        </p:nvSpPr>
        <p:spPr>
          <a:xfrm>
            <a:off x="3163320" y="1005840"/>
            <a:ext cx="46450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JRE vs JDK vs JVM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11"/>
          <p:cNvSpPr/>
          <p:nvPr/>
        </p:nvSpPr>
        <p:spPr>
          <a:xfrm>
            <a:off x="3468960" y="2194560"/>
            <a:ext cx="4033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Understanding Java’s Core Components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Rounded Rectangle 30"/>
          <p:cNvSpPr/>
          <p:nvPr/>
        </p:nvSpPr>
        <p:spPr>
          <a:xfrm>
            <a:off x="98748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4" name="Rounded Rectangle 31"/>
          <p:cNvSpPr/>
          <p:nvPr/>
        </p:nvSpPr>
        <p:spPr>
          <a:xfrm>
            <a:off x="685800" y="3108960"/>
            <a:ext cx="3515040" cy="30589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Java is built on three key layers that work together to develop and run applications.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JVM (Java Virtual Machine)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Runs Java bytecode and makes Java platform-independent.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JRE (Java Runtime Environment)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Provides everything needed to run Java applications.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JDK (Java Development Kit)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Provides tools needed to develop Java applications.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Think of it like this: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JVM = Engine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JRE = Engine + Fuel System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chemeClr val="lt1"/>
                </a:solidFill>
                <a:latin typeface="Calibri"/>
                <a:ea typeface="DejaVu Sans"/>
              </a:rPr>
              <a:t>JDK = Full Car Factory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Rounded Rectangle 32"/>
          <p:cNvSpPr/>
          <p:nvPr/>
        </p:nvSpPr>
        <p:spPr>
          <a:xfrm>
            <a:off x="450792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6" name="Rounded Rectangle 33"/>
          <p:cNvSpPr/>
          <p:nvPr/>
        </p:nvSpPr>
        <p:spPr>
          <a:xfrm>
            <a:off x="443484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Source Code (.java)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JDK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(Compiler + Dev Tools)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 files)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(Libraries + JVM)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JVM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(Execution Engine)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  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Machine Code (OS/CPU)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Rounded Rectangle 34"/>
          <p:cNvSpPr/>
          <p:nvPr/>
        </p:nvSpPr>
        <p:spPr>
          <a:xfrm>
            <a:off x="8028360" y="318204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8" name="Rounded Rectangle 35"/>
          <p:cNvSpPr/>
          <p:nvPr/>
        </p:nvSpPr>
        <p:spPr>
          <a:xfrm>
            <a:off x="7955280" y="3108960"/>
            <a:ext cx="3286440" cy="2737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# Compile using JDK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javac Main.java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# Run using JRE (which uses JVM internally)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java Main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Main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System.out.println("Understanding JDK, JRE, and JVM!");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Box 12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Rectangle 80"/>
          <p:cNvSpPr/>
          <p:nvPr/>
        </p:nvSpPr>
        <p:spPr>
          <a:xfrm>
            <a:off x="0" y="0"/>
            <a:ext cx="12184200" cy="68533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1" name="Rectangle 81"/>
          <p:cNvSpPr/>
          <p:nvPr/>
        </p:nvSpPr>
        <p:spPr>
          <a:xfrm>
            <a:off x="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2" name="Rectangle 82"/>
          <p:cNvSpPr/>
          <p:nvPr/>
        </p:nvSpPr>
        <p:spPr>
          <a:xfrm>
            <a:off x="914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3" name="Rectangle 83"/>
          <p:cNvSpPr/>
          <p:nvPr/>
        </p:nvSpPr>
        <p:spPr>
          <a:xfrm>
            <a:off x="1828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4" name="Rectangle 84"/>
          <p:cNvSpPr/>
          <p:nvPr/>
        </p:nvSpPr>
        <p:spPr>
          <a:xfrm>
            <a:off x="2743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5" name="Rectangle 85"/>
          <p:cNvSpPr/>
          <p:nvPr/>
        </p:nvSpPr>
        <p:spPr>
          <a:xfrm>
            <a:off x="3657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6" name="Rectangle 86"/>
          <p:cNvSpPr/>
          <p:nvPr/>
        </p:nvSpPr>
        <p:spPr>
          <a:xfrm>
            <a:off x="4572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7" name="Rectangle 87"/>
          <p:cNvSpPr/>
          <p:nvPr/>
        </p:nvSpPr>
        <p:spPr>
          <a:xfrm>
            <a:off x="5486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8" name="Rectangle 88"/>
          <p:cNvSpPr/>
          <p:nvPr/>
        </p:nvSpPr>
        <p:spPr>
          <a:xfrm>
            <a:off x="6400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9" name="Rectangle 89"/>
          <p:cNvSpPr/>
          <p:nvPr/>
        </p:nvSpPr>
        <p:spPr>
          <a:xfrm>
            <a:off x="7315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0" name="Rectangle 90"/>
          <p:cNvSpPr/>
          <p:nvPr/>
        </p:nvSpPr>
        <p:spPr>
          <a:xfrm>
            <a:off x="8229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1" name="Rectangle 91"/>
          <p:cNvSpPr/>
          <p:nvPr/>
        </p:nvSpPr>
        <p:spPr>
          <a:xfrm>
            <a:off x="9144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2" name="Rectangle 92"/>
          <p:cNvSpPr/>
          <p:nvPr/>
        </p:nvSpPr>
        <p:spPr>
          <a:xfrm>
            <a:off x="10058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3" name="Rectangle 93"/>
          <p:cNvSpPr/>
          <p:nvPr/>
        </p:nvSpPr>
        <p:spPr>
          <a:xfrm>
            <a:off x="10972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4" name="Rectangle 94"/>
          <p:cNvSpPr/>
          <p:nvPr/>
        </p:nvSpPr>
        <p:spPr>
          <a:xfrm>
            <a:off x="11887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5" name="Rectangle 95"/>
          <p:cNvSpPr/>
          <p:nvPr/>
        </p:nvSpPr>
        <p:spPr>
          <a:xfrm>
            <a:off x="0" y="0"/>
            <a:ext cx="315360" cy="68533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6" name="Rounded Rectangle 36"/>
          <p:cNvSpPr/>
          <p:nvPr/>
        </p:nvSpPr>
        <p:spPr>
          <a:xfrm>
            <a:off x="9875520" y="365760"/>
            <a:ext cx="2007000" cy="4982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Box 13"/>
          <p:cNvSpPr/>
          <p:nvPr/>
        </p:nvSpPr>
        <p:spPr>
          <a:xfrm>
            <a:off x="1889280" y="1005840"/>
            <a:ext cx="71931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ENVIRONMENT SETUP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Box 14"/>
          <p:cNvSpPr/>
          <p:nvPr/>
        </p:nvSpPr>
        <p:spPr>
          <a:xfrm>
            <a:off x="591840" y="2194560"/>
            <a:ext cx="97869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Sets up your system to compile and run Java by installing the JDK and configuring system variables.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Rounded Rectangle 37"/>
          <p:cNvSpPr/>
          <p:nvPr/>
        </p:nvSpPr>
        <p:spPr>
          <a:xfrm>
            <a:off x="98748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0" name="Rounded Rectangle 38"/>
          <p:cNvSpPr/>
          <p:nvPr/>
        </p:nvSpPr>
        <p:spPr>
          <a:xfrm>
            <a:off x="91440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JDK (Java Development Kit) includes compiler (javac) and runtime (java).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System variables like PATH and JAVA_HOME allow the command line to find Java.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Proper setup ensures Java programs can be compiled and executed anywhere on the system.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Rounded Rectangle 39"/>
          <p:cNvSpPr/>
          <p:nvPr/>
        </p:nvSpPr>
        <p:spPr>
          <a:xfrm>
            <a:off x="450792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2" name="Rounded Rectangle 40"/>
          <p:cNvSpPr/>
          <p:nvPr/>
        </p:nvSpPr>
        <p:spPr>
          <a:xfrm>
            <a:off x="443484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Download JDK 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Install on your computer 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Set JAVA_HOME 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Add JDK bin to PATH 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Verify with terminal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Rounded Rectangle 41"/>
          <p:cNvSpPr/>
          <p:nvPr/>
        </p:nvSpPr>
        <p:spPr>
          <a:xfrm>
            <a:off x="802836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4" name="Rounded Rectangle 42"/>
          <p:cNvSpPr/>
          <p:nvPr/>
        </p:nvSpPr>
        <p:spPr>
          <a:xfrm>
            <a:off x="795528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verify installation:</a:t>
            </a:r>
            <a:br>
              <a:rPr sz="1800"/>
            </a:b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Write the Command Prompt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java -version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javac -version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Box 15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Rectangle 17"/>
          <p:cNvSpPr/>
          <p:nvPr/>
        </p:nvSpPr>
        <p:spPr>
          <a:xfrm>
            <a:off x="0" y="0"/>
            <a:ext cx="12184200" cy="68533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7" name="Rectangle 18"/>
          <p:cNvSpPr/>
          <p:nvPr/>
        </p:nvSpPr>
        <p:spPr>
          <a:xfrm>
            <a:off x="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8" name="Rectangle 19"/>
          <p:cNvSpPr/>
          <p:nvPr/>
        </p:nvSpPr>
        <p:spPr>
          <a:xfrm>
            <a:off x="914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9" name="Rectangle 20"/>
          <p:cNvSpPr/>
          <p:nvPr/>
        </p:nvSpPr>
        <p:spPr>
          <a:xfrm>
            <a:off x="1828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0" name="Rectangle 21"/>
          <p:cNvSpPr/>
          <p:nvPr/>
        </p:nvSpPr>
        <p:spPr>
          <a:xfrm>
            <a:off x="2743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1" name="Rectangle 22"/>
          <p:cNvSpPr/>
          <p:nvPr/>
        </p:nvSpPr>
        <p:spPr>
          <a:xfrm>
            <a:off x="3657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2" name="Rectangle 23"/>
          <p:cNvSpPr/>
          <p:nvPr/>
        </p:nvSpPr>
        <p:spPr>
          <a:xfrm>
            <a:off x="4572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3" name="Rectangle 24"/>
          <p:cNvSpPr/>
          <p:nvPr/>
        </p:nvSpPr>
        <p:spPr>
          <a:xfrm>
            <a:off x="5486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4" name="Rectangle 25"/>
          <p:cNvSpPr/>
          <p:nvPr/>
        </p:nvSpPr>
        <p:spPr>
          <a:xfrm>
            <a:off x="6400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5" name="Rectangle 26"/>
          <p:cNvSpPr/>
          <p:nvPr/>
        </p:nvSpPr>
        <p:spPr>
          <a:xfrm>
            <a:off x="7315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6" name="Rectangle 27"/>
          <p:cNvSpPr/>
          <p:nvPr/>
        </p:nvSpPr>
        <p:spPr>
          <a:xfrm>
            <a:off x="8229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7" name="Rectangle 28"/>
          <p:cNvSpPr/>
          <p:nvPr/>
        </p:nvSpPr>
        <p:spPr>
          <a:xfrm>
            <a:off x="9144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8" name="Rectangle 29"/>
          <p:cNvSpPr/>
          <p:nvPr/>
        </p:nvSpPr>
        <p:spPr>
          <a:xfrm>
            <a:off x="10058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9" name="Rectangle 30"/>
          <p:cNvSpPr/>
          <p:nvPr/>
        </p:nvSpPr>
        <p:spPr>
          <a:xfrm>
            <a:off x="10972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0" name="Rectangle 31"/>
          <p:cNvSpPr/>
          <p:nvPr/>
        </p:nvSpPr>
        <p:spPr>
          <a:xfrm>
            <a:off x="11887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1" name="Rectangle 96"/>
          <p:cNvSpPr/>
          <p:nvPr/>
        </p:nvSpPr>
        <p:spPr>
          <a:xfrm>
            <a:off x="0" y="0"/>
            <a:ext cx="315360" cy="68533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2" name="Rounded Rectangle 43"/>
          <p:cNvSpPr/>
          <p:nvPr/>
        </p:nvSpPr>
        <p:spPr>
          <a:xfrm>
            <a:off x="9875520" y="365760"/>
            <a:ext cx="2007000" cy="4982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Box 16"/>
          <p:cNvSpPr/>
          <p:nvPr/>
        </p:nvSpPr>
        <p:spPr>
          <a:xfrm>
            <a:off x="911880" y="1005840"/>
            <a:ext cx="9146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CONFIGURING JAVA ENVIRONMENT VARIABLES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Box 17"/>
          <p:cNvSpPr/>
          <p:nvPr/>
        </p:nvSpPr>
        <p:spPr>
          <a:xfrm>
            <a:off x="-310680" y="2194560"/>
            <a:ext cx="115988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                   </a:t>
            </a: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Environment variables tell the system where Java is installed, allowing tools and commands to work correctly from any directory.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Rounded Rectangle 44"/>
          <p:cNvSpPr/>
          <p:nvPr/>
        </p:nvSpPr>
        <p:spPr>
          <a:xfrm>
            <a:off x="98748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6" name="Rounded Rectangle 45"/>
          <p:cNvSpPr/>
          <p:nvPr/>
        </p:nvSpPr>
        <p:spPr>
          <a:xfrm>
            <a:off x="91440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JAVA_HOME points to the JDK installation folder.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PATH includes the Java bin folder so Java tools run from terminal/command prompt.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Without these, Java commands may fail.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Rounded Rectangle 46"/>
          <p:cNvSpPr/>
          <p:nvPr/>
        </p:nvSpPr>
        <p:spPr>
          <a:xfrm>
            <a:off x="450792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8" name="Rounded Rectangle 47"/>
          <p:cNvSpPr/>
          <p:nvPr/>
        </p:nvSpPr>
        <p:spPr>
          <a:xfrm>
            <a:off x="443484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JDK Installed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Set JAVA_HOME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→  C:\              Program Files\Java\jdk-xx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</a:t>
            </a: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Append PATH →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  %JAVA_HOME%\bin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Run java &amp; javac commands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Rounded Rectangle 48"/>
          <p:cNvSpPr/>
          <p:nvPr/>
        </p:nvSpPr>
        <p:spPr>
          <a:xfrm>
            <a:off x="802836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0" name="Rounded Rectangle 49"/>
          <p:cNvSpPr/>
          <p:nvPr/>
        </p:nvSpPr>
        <p:spPr>
          <a:xfrm>
            <a:off x="795528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# Windows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setx JAVA_HOME "C:\Program Files\Java\jdk-xx"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setx PATH "%JAVA_HOME%\bin;%PATH%"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# Linux/Mac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export JAVA_HOME=/usr/lib/jvm/jdk-xx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export PATH=$JAVA_HOME/bin:$PATH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Box 2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 97"/>
          <p:cNvSpPr/>
          <p:nvPr/>
        </p:nvSpPr>
        <p:spPr>
          <a:xfrm>
            <a:off x="0" y="0"/>
            <a:ext cx="12184200" cy="68533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3" name="Rectangle 98"/>
          <p:cNvSpPr/>
          <p:nvPr/>
        </p:nvSpPr>
        <p:spPr>
          <a:xfrm>
            <a:off x="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4" name="Rectangle 99"/>
          <p:cNvSpPr/>
          <p:nvPr/>
        </p:nvSpPr>
        <p:spPr>
          <a:xfrm>
            <a:off x="914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5" name="Rectangle 100"/>
          <p:cNvSpPr/>
          <p:nvPr/>
        </p:nvSpPr>
        <p:spPr>
          <a:xfrm>
            <a:off x="1828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6" name="Rectangle 101"/>
          <p:cNvSpPr/>
          <p:nvPr/>
        </p:nvSpPr>
        <p:spPr>
          <a:xfrm>
            <a:off x="2743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7" name="Rectangle 102"/>
          <p:cNvSpPr/>
          <p:nvPr/>
        </p:nvSpPr>
        <p:spPr>
          <a:xfrm>
            <a:off x="3657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8" name="Rectangle 103"/>
          <p:cNvSpPr/>
          <p:nvPr/>
        </p:nvSpPr>
        <p:spPr>
          <a:xfrm>
            <a:off x="4572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9" name="Rectangle 104"/>
          <p:cNvSpPr/>
          <p:nvPr/>
        </p:nvSpPr>
        <p:spPr>
          <a:xfrm>
            <a:off x="5486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0" name="Rectangle 105"/>
          <p:cNvSpPr/>
          <p:nvPr/>
        </p:nvSpPr>
        <p:spPr>
          <a:xfrm>
            <a:off x="6400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1" name="Rectangle 106"/>
          <p:cNvSpPr/>
          <p:nvPr/>
        </p:nvSpPr>
        <p:spPr>
          <a:xfrm>
            <a:off x="7315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2" name="Rectangle 107"/>
          <p:cNvSpPr/>
          <p:nvPr/>
        </p:nvSpPr>
        <p:spPr>
          <a:xfrm>
            <a:off x="8229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3" name="Rectangle 108"/>
          <p:cNvSpPr/>
          <p:nvPr/>
        </p:nvSpPr>
        <p:spPr>
          <a:xfrm>
            <a:off x="9144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4" name="Rectangle 109"/>
          <p:cNvSpPr/>
          <p:nvPr/>
        </p:nvSpPr>
        <p:spPr>
          <a:xfrm>
            <a:off x="10058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5" name="Rectangle 110"/>
          <p:cNvSpPr/>
          <p:nvPr/>
        </p:nvSpPr>
        <p:spPr>
          <a:xfrm>
            <a:off x="10972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6" name="Rectangle 111"/>
          <p:cNvSpPr/>
          <p:nvPr/>
        </p:nvSpPr>
        <p:spPr>
          <a:xfrm>
            <a:off x="11887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7" name="Rectangle 112"/>
          <p:cNvSpPr/>
          <p:nvPr/>
        </p:nvSpPr>
        <p:spPr>
          <a:xfrm>
            <a:off x="0" y="0"/>
            <a:ext cx="315360" cy="68533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8" name="Rounded Rectangle 50"/>
          <p:cNvSpPr/>
          <p:nvPr/>
        </p:nvSpPr>
        <p:spPr>
          <a:xfrm>
            <a:off x="9875520" y="365760"/>
            <a:ext cx="2007000" cy="4982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Box 21"/>
          <p:cNvSpPr/>
          <p:nvPr/>
        </p:nvSpPr>
        <p:spPr>
          <a:xfrm>
            <a:off x="1666800" y="1005840"/>
            <a:ext cx="7636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WHAT HAPPENS AFTER JAVA IS SET UP?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Box 22"/>
          <p:cNvSpPr/>
          <p:nvPr/>
        </p:nvSpPr>
        <p:spPr>
          <a:xfrm>
            <a:off x="4382280" y="2194560"/>
            <a:ext cx="22125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aaaaaa"/>
                </a:solidFill>
                <a:latin typeface="Calibri"/>
                <a:ea typeface="DejaVu Sans"/>
              </a:rPr>
              <a:t>After Environment Setup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Rounded Rectangle 51"/>
          <p:cNvSpPr/>
          <p:nvPr/>
        </p:nvSpPr>
        <p:spPr>
          <a:xfrm>
            <a:off x="98748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2" name="Rounded Rectangle 52"/>
          <p:cNvSpPr/>
          <p:nvPr/>
        </p:nvSpPr>
        <p:spPr>
          <a:xfrm>
            <a:off x="91440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Once Java is installed and configured, your system is ready to compile and run Java programs.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You can create .java source files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The javac compiler turns source code into bytecode (.class)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The JVM executes this bytecode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Your program now runs on any system with a JVM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Setup is complete — now Java development can begin.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Rounded Rectangle 53"/>
          <p:cNvSpPr/>
          <p:nvPr/>
        </p:nvSpPr>
        <p:spPr>
          <a:xfrm>
            <a:off x="450792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4" name="Rounded Rectangle 54"/>
          <p:cNvSpPr/>
          <p:nvPr/>
        </p:nvSpPr>
        <p:spPr>
          <a:xfrm>
            <a:off x="443484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Write Java Code (.java)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Compile using javac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File Created (.class)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Run with java command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JVM Executes Program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Output Appears on Screen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Rounded Rectangle 55"/>
          <p:cNvSpPr/>
          <p:nvPr/>
        </p:nvSpPr>
        <p:spPr>
          <a:xfrm>
            <a:off x="802836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6" name="Rounded Rectangle 56"/>
          <p:cNvSpPr/>
          <p:nvPr/>
        </p:nvSpPr>
        <p:spPr>
          <a:xfrm>
            <a:off x="795528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HelloJava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System.out.println("Java environment is ready!");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Box 2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Rectangle 113"/>
          <p:cNvSpPr/>
          <p:nvPr/>
        </p:nvSpPr>
        <p:spPr>
          <a:xfrm>
            <a:off x="0" y="0"/>
            <a:ext cx="12184200" cy="68533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9" name="Rectangle 114"/>
          <p:cNvSpPr/>
          <p:nvPr/>
        </p:nvSpPr>
        <p:spPr>
          <a:xfrm>
            <a:off x="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0" name="Rectangle 115"/>
          <p:cNvSpPr/>
          <p:nvPr/>
        </p:nvSpPr>
        <p:spPr>
          <a:xfrm>
            <a:off x="914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1" name="Rectangle 116"/>
          <p:cNvSpPr/>
          <p:nvPr/>
        </p:nvSpPr>
        <p:spPr>
          <a:xfrm>
            <a:off x="1828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2" name="Rectangle 117"/>
          <p:cNvSpPr/>
          <p:nvPr/>
        </p:nvSpPr>
        <p:spPr>
          <a:xfrm>
            <a:off x="2743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3" name="Rectangle 118"/>
          <p:cNvSpPr/>
          <p:nvPr/>
        </p:nvSpPr>
        <p:spPr>
          <a:xfrm>
            <a:off x="3657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4" name="Rectangle 119"/>
          <p:cNvSpPr/>
          <p:nvPr/>
        </p:nvSpPr>
        <p:spPr>
          <a:xfrm>
            <a:off x="4572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5" name="Rectangle 120"/>
          <p:cNvSpPr/>
          <p:nvPr/>
        </p:nvSpPr>
        <p:spPr>
          <a:xfrm>
            <a:off x="5486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6" name="Rectangle 121"/>
          <p:cNvSpPr/>
          <p:nvPr/>
        </p:nvSpPr>
        <p:spPr>
          <a:xfrm>
            <a:off x="6400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7" name="Rectangle 122"/>
          <p:cNvSpPr/>
          <p:nvPr/>
        </p:nvSpPr>
        <p:spPr>
          <a:xfrm>
            <a:off x="7315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8" name="Rectangle 123"/>
          <p:cNvSpPr/>
          <p:nvPr/>
        </p:nvSpPr>
        <p:spPr>
          <a:xfrm>
            <a:off x="8229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9" name="Rectangle 124"/>
          <p:cNvSpPr/>
          <p:nvPr/>
        </p:nvSpPr>
        <p:spPr>
          <a:xfrm>
            <a:off x="9144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0" name="Rectangle 125"/>
          <p:cNvSpPr/>
          <p:nvPr/>
        </p:nvSpPr>
        <p:spPr>
          <a:xfrm>
            <a:off x="10058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1" name="Rectangle 126"/>
          <p:cNvSpPr/>
          <p:nvPr/>
        </p:nvSpPr>
        <p:spPr>
          <a:xfrm>
            <a:off x="10972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2" name="Rectangle 127"/>
          <p:cNvSpPr/>
          <p:nvPr/>
        </p:nvSpPr>
        <p:spPr>
          <a:xfrm>
            <a:off x="11887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3" name="Rectangle 128"/>
          <p:cNvSpPr/>
          <p:nvPr/>
        </p:nvSpPr>
        <p:spPr>
          <a:xfrm>
            <a:off x="0" y="0"/>
            <a:ext cx="315360" cy="68533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4" name="Rounded Rectangle 57"/>
          <p:cNvSpPr/>
          <p:nvPr/>
        </p:nvSpPr>
        <p:spPr>
          <a:xfrm>
            <a:off x="9875520" y="365760"/>
            <a:ext cx="2007000" cy="4982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TextBox 24"/>
          <p:cNvSpPr/>
          <p:nvPr/>
        </p:nvSpPr>
        <p:spPr>
          <a:xfrm>
            <a:off x="2216880" y="1005840"/>
            <a:ext cx="6536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 DEVELOPMENT WORKFLOW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Box 25"/>
          <p:cNvSpPr/>
          <p:nvPr/>
        </p:nvSpPr>
        <p:spPr>
          <a:xfrm>
            <a:off x="-1019160" y="2194560"/>
            <a:ext cx="130240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                                   </a:t>
            </a: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This slide explains the basic step-by-step process developers follow to create, test, and improve Java programs after the environment is fully set up.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Rounded Rectangle 58"/>
          <p:cNvSpPr/>
          <p:nvPr/>
        </p:nvSpPr>
        <p:spPr>
          <a:xfrm>
            <a:off x="98748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8" name="Rounded Rectangle 59"/>
          <p:cNvSpPr/>
          <p:nvPr/>
        </p:nvSpPr>
        <p:spPr>
          <a:xfrm>
            <a:off x="91440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After installation, Java programming follows a simple development cycle: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StarSymbol"/>
              <a:buAutoNum type="arabicParenR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Write the program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StarSymbol"/>
              <a:buAutoNum type="arabicParenR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Compile the program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StarSymbol"/>
              <a:buAutoNum type="arabicParenR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Run the program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StarSymbol"/>
              <a:buAutoNum type="arabicParenR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Fix errors if needed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StarSymbol"/>
              <a:buAutoNum type="arabicParenR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Repeat the process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This cycle is how real-world Java software is developed.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Rounded Rectangle 60"/>
          <p:cNvSpPr/>
          <p:nvPr/>
        </p:nvSpPr>
        <p:spPr>
          <a:xfrm>
            <a:off x="450792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0" name="Rounded Rectangle 61"/>
          <p:cNvSpPr/>
          <p:nvPr/>
        </p:nvSpPr>
        <p:spPr>
          <a:xfrm>
            <a:off x="443484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Write Code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Compile → javac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Run → java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Check Output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If Error → Fix Code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Recompile &amp; Run Again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Rounded Rectangle 62"/>
          <p:cNvSpPr/>
          <p:nvPr/>
        </p:nvSpPr>
        <p:spPr>
          <a:xfrm>
            <a:off x="802836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2" name="Rounded Rectangle 63"/>
          <p:cNvSpPr/>
          <p:nvPr/>
        </p:nvSpPr>
        <p:spPr>
          <a:xfrm>
            <a:off x="795528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Calculator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sum = 5 + 7;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System.out.println("Result: " + sum);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javac Calculator.java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 Calculator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Box 27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Rectangle 129"/>
          <p:cNvSpPr/>
          <p:nvPr/>
        </p:nvSpPr>
        <p:spPr>
          <a:xfrm>
            <a:off x="0" y="0"/>
            <a:ext cx="12184200" cy="68533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5" name="Rectangle 130"/>
          <p:cNvSpPr/>
          <p:nvPr/>
        </p:nvSpPr>
        <p:spPr>
          <a:xfrm>
            <a:off x="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6" name="Rectangle 131"/>
          <p:cNvSpPr/>
          <p:nvPr/>
        </p:nvSpPr>
        <p:spPr>
          <a:xfrm>
            <a:off x="914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7" name="Rectangle 132"/>
          <p:cNvSpPr/>
          <p:nvPr/>
        </p:nvSpPr>
        <p:spPr>
          <a:xfrm>
            <a:off x="1828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8" name="Rectangle 133"/>
          <p:cNvSpPr/>
          <p:nvPr/>
        </p:nvSpPr>
        <p:spPr>
          <a:xfrm>
            <a:off x="2743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9" name="Rectangle 134"/>
          <p:cNvSpPr/>
          <p:nvPr/>
        </p:nvSpPr>
        <p:spPr>
          <a:xfrm>
            <a:off x="3657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0" name="Rectangle 135"/>
          <p:cNvSpPr/>
          <p:nvPr/>
        </p:nvSpPr>
        <p:spPr>
          <a:xfrm>
            <a:off x="4572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1" name="Rectangle 136"/>
          <p:cNvSpPr/>
          <p:nvPr/>
        </p:nvSpPr>
        <p:spPr>
          <a:xfrm>
            <a:off x="5486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2" name="Rectangle 137"/>
          <p:cNvSpPr/>
          <p:nvPr/>
        </p:nvSpPr>
        <p:spPr>
          <a:xfrm>
            <a:off x="6400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3" name="Rectangle 138"/>
          <p:cNvSpPr/>
          <p:nvPr/>
        </p:nvSpPr>
        <p:spPr>
          <a:xfrm>
            <a:off x="7315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4" name="Rectangle 139"/>
          <p:cNvSpPr/>
          <p:nvPr/>
        </p:nvSpPr>
        <p:spPr>
          <a:xfrm>
            <a:off x="8229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5" name="Rectangle 140"/>
          <p:cNvSpPr/>
          <p:nvPr/>
        </p:nvSpPr>
        <p:spPr>
          <a:xfrm>
            <a:off x="9144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6" name="Rectangle 141"/>
          <p:cNvSpPr/>
          <p:nvPr/>
        </p:nvSpPr>
        <p:spPr>
          <a:xfrm>
            <a:off x="10058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7" name="Rectangle 142"/>
          <p:cNvSpPr/>
          <p:nvPr/>
        </p:nvSpPr>
        <p:spPr>
          <a:xfrm>
            <a:off x="10972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8" name="Rectangle 143"/>
          <p:cNvSpPr/>
          <p:nvPr/>
        </p:nvSpPr>
        <p:spPr>
          <a:xfrm>
            <a:off x="11887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9" name="Rectangle 144"/>
          <p:cNvSpPr/>
          <p:nvPr/>
        </p:nvSpPr>
        <p:spPr>
          <a:xfrm>
            <a:off x="0" y="0"/>
            <a:ext cx="315360" cy="68533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0" name="Rounded Rectangle 64"/>
          <p:cNvSpPr/>
          <p:nvPr/>
        </p:nvSpPr>
        <p:spPr>
          <a:xfrm>
            <a:off x="9875520" y="365760"/>
            <a:ext cx="2007000" cy="4982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Box 28"/>
          <p:cNvSpPr/>
          <p:nvPr/>
        </p:nvSpPr>
        <p:spPr>
          <a:xfrm>
            <a:off x="2915280" y="1005840"/>
            <a:ext cx="5138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 INSTALLATION TYPES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Box 29"/>
          <p:cNvSpPr/>
          <p:nvPr/>
        </p:nvSpPr>
        <p:spPr>
          <a:xfrm>
            <a:off x="907200" y="2194560"/>
            <a:ext cx="9169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Different Java distributions and installation types provide flexibility depending on development or production needs.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Rounded Rectangle 65"/>
          <p:cNvSpPr/>
          <p:nvPr/>
        </p:nvSpPr>
        <p:spPr>
          <a:xfrm>
            <a:off x="98748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4" name="Rounded Rectangle 66"/>
          <p:cNvSpPr/>
          <p:nvPr/>
        </p:nvSpPr>
        <p:spPr>
          <a:xfrm>
            <a:off x="91440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There are multiple ways to install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Oracle JDK (Official distribution)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OpenJDK (Open-source version)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LTS (Long Term Support) versions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Non-LTS versions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LTS versions (like Java 17, 21) are recommended for stability and long-term projects.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Choosing the correct distribution ensures compatibility, security updates, and long-term support.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Rounded Rectangle 67"/>
          <p:cNvSpPr/>
          <p:nvPr/>
        </p:nvSpPr>
        <p:spPr>
          <a:xfrm>
            <a:off x="450792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6" name="Rounded Rectangle 68"/>
          <p:cNvSpPr/>
          <p:nvPr/>
        </p:nvSpPr>
        <p:spPr>
          <a:xfrm>
            <a:off x="443484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Choose Version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Download Distribution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Install JDK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Set JAVA_HOME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Update PATH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Verify Installation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Rounded Rectangle 69"/>
          <p:cNvSpPr/>
          <p:nvPr/>
        </p:nvSpPr>
        <p:spPr>
          <a:xfrm>
            <a:off x="802836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8" name="Rounded Rectangle 70"/>
          <p:cNvSpPr/>
          <p:nvPr/>
        </p:nvSpPr>
        <p:spPr>
          <a:xfrm>
            <a:off x="795528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Windows:</a:t>
            </a:r>
            <a:br>
              <a:rPr sz="1500"/>
            </a:b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where java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where javac</a:t>
            </a:r>
            <a:br>
              <a:rPr sz="1500"/>
            </a:br>
            <a:br>
              <a:rPr sz="1500"/>
            </a:b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Linux:</a:t>
            </a:r>
            <a:br>
              <a:rPr sz="1500"/>
            </a:b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which java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which javac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br>
              <a:rPr sz="1500"/>
            </a:b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Check detailed version info:</a:t>
            </a:r>
            <a:br>
              <a:rPr sz="1500"/>
            </a:b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java -version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javac -version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Box 3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Rectangle 145"/>
          <p:cNvSpPr/>
          <p:nvPr/>
        </p:nvSpPr>
        <p:spPr>
          <a:xfrm>
            <a:off x="0" y="0"/>
            <a:ext cx="12184200" cy="68533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1" name="Rectangle 146"/>
          <p:cNvSpPr/>
          <p:nvPr/>
        </p:nvSpPr>
        <p:spPr>
          <a:xfrm>
            <a:off x="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2" name="Rectangle 147"/>
          <p:cNvSpPr/>
          <p:nvPr/>
        </p:nvSpPr>
        <p:spPr>
          <a:xfrm>
            <a:off x="914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3" name="Rectangle 148"/>
          <p:cNvSpPr/>
          <p:nvPr/>
        </p:nvSpPr>
        <p:spPr>
          <a:xfrm>
            <a:off x="1828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4" name="Rectangle 149"/>
          <p:cNvSpPr/>
          <p:nvPr/>
        </p:nvSpPr>
        <p:spPr>
          <a:xfrm>
            <a:off x="2743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5" name="Rectangle 150"/>
          <p:cNvSpPr/>
          <p:nvPr/>
        </p:nvSpPr>
        <p:spPr>
          <a:xfrm>
            <a:off x="3657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6" name="Rectangle 151"/>
          <p:cNvSpPr/>
          <p:nvPr/>
        </p:nvSpPr>
        <p:spPr>
          <a:xfrm>
            <a:off x="4572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7" name="Rectangle 152"/>
          <p:cNvSpPr/>
          <p:nvPr/>
        </p:nvSpPr>
        <p:spPr>
          <a:xfrm>
            <a:off x="5486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8" name="Rectangle 153"/>
          <p:cNvSpPr/>
          <p:nvPr/>
        </p:nvSpPr>
        <p:spPr>
          <a:xfrm>
            <a:off x="6400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69" name="Rectangle 154"/>
          <p:cNvSpPr/>
          <p:nvPr/>
        </p:nvSpPr>
        <p:spPr>
          <a:xfrm>
            <a:off x="7315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0" name="Rectangle 155"/>
          <p:cNvSpPr/>
          <p:nvPr/>
        </p:nvSpPr>
        <p:spPr>
          <a:xfrm>
            <a:off x="8229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1" name="Rectangle 156"/>
          <p:cNvSpPr/>
          <p:nvPr/>
        </p:nvSpPr>
        <p:spPr>
          <a:xfrm>
            <a:off x="9144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2" name="Rectangle 157"/>
          <p:cNvSpPr/>
          <p:nvPr/>
        </p:nvSpPr>
        <p:spPr>
          <a:xfrm>
            <a:off x="10058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3" name="Rectangle 158"/>
          <p:cNvSpPr/>
          <p:nvPr/>
        </p:nvSpPr>
        <p:spPr>
          <a:xfrm>
            <a:off x="10972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4" name="Rectangle 159"/>
          <p:cNvSpPr/>
          <p:nvPr/>
        </p:nvSpPr>
        <p:spPr>
          <a:xfrm>
            <a:off x="11887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5" name="Rectangle 160"/>
          <p:cNvSpPr/>
          <p:nvPr/>
        </p:nvSpPr>
        <p:spPr>
          <a:xfrm>
            <a:off x="0" y="0"/>
            <a:ext cx="315360" cy="68533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76" name="Rounded Rectangle 71"/>
          <p:cNvSpPr/>
          <p:nvPr/>
        </p:nvSpPr>
        <p:spPr>
          <a:xfrm>
            <a:off x="9875520" y="365760"/>
            <a:ext cx="2007000" cy="4982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Box 31"/>
          <p:cNvSpPr/>
          <p:nvPr/>
        </p:nvSpPr>
        <p:spPr>
          <a:xfrm>
            <a:off x="563760" y="1005840"/>
            <a:ext cx="9843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COMMON INSTALLATION PROBLEMS &amp; SOLUTIONS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Box 32"/>
          <p:cNvSpPr/>
          <p:nvPr/>
        </p:nvSpPr>
        <p:spPr>
          <a:xfrm>
            <a:off x="2434680" y="2194560"/>
            <a:ext cx="61142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Incorrect environment configuration can prevent Java from running properly.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Rounded Rectangle 72"/>
          <p:cNvSpPr/>
          <p:nvPr/>
        </p:nvSpPr>
        <p:spPr>
          <a:xfrm>
            <a:off x="98748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0" name="Rounded Rectangle 73"/>
          <p:cNvSpPr/>
          <p:nvPr/>
        </p:nvSpPr>
        <p:spPr>
          <a:xfrm>
            <a:off x="91440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Common Issues: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'java is not recognized as an internal or external command'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Incorrect JAVA_HOME path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PATH variable not updated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Multiple Java versions conflict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JRE installed instead of JDK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Most problems are caused by incorrect environment variables.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Rounded Rectangle 74"/>
          <p:cNvSpPr/>
          <p:nvPr/>
        </p:nvSpPr>
        <p:spPr>
          <a:xfrm>
            <a:off x="450792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2" name="Rounded Rectangle 75"/>
          <p:cNvSpPr/>
          <p:nvPr/>
        </p:nvSpPr>
        <p:spPr>
          <a:xfrm>
            <a:off x="4434840" y="310896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Error appears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Check java -version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Verify JAVA_HOME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Check PATH variable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Restart terminal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Problem solved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Rounded Rectangle 76"/>
          <p:cNvSpPr/>
          <p:nvPr/>
        </p:nvSpPr>
        <p:spPr>
          <a:xfrm>
            <a:off x="802836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4" name="Rounded Rectangle 77"/>
          <p:cNvSpPr/>
          <p:nvPr/>
        </p:nvSpPr>
        <p:spPr>
          <a:xfrm>
            <a:off x="7955280" y="3108960"/>
            <a:ext cx="3287160" cy="30603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check environment variable (Windows):</a:t>
            </a:r>
            <a:br>
              <a:rPr sz="1300"/>
            </a:b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echo %JAVA_HOME%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echo %PATH%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Linux / Mac:</a:t>
            </a:r>
            <a:br>
              <a:rPr sz="1300"/>
            </a:b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echo $JAVA_HOME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echo $PATH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Temporarily set JAVA_HOME (Linux/Mac):</a:t>
            </a:r>
            <a:br>
              <a:rPr sz="1300"/>
            </a:b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export JAVA_HOME=/usr/lib/jvm/jdk-xx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export PATH=$JAVA_HOME/bin:$PATH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Box 33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Rectangle 161"/>
          <p:cNvSpPr/>
          <p:nvPr/>
        </p:nvSpPr>
        <p:spPr>
          <a:xfrm>
            <a:off x="0" y="0"/>
            <a:ext cx="12184200" cy="685332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7" name="Rectangle 162"/>
          <p:cNvSpPr/>
          <p:nvPr/>
        </p:nvSpPr>
        <p:spPr>
          <a:xfrm>
            <a:off x="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8" name="Rectangle 163"/>
          <p:cNvSpPr/>
          <p:nvPr/>
        </p:nvSpPr>
        <p:spPr>
          <a:xfrm>
            <a:off x="914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9" name="Rectangle 164"/>
          <p:cNvSpPr/>
          <p:nvPr/>
        </p:nvSpPr>
        <p:spPr>
          <a:xfrm>
            <a:off x="1828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0" name="Rectangle 165"/>
          <p:cNvSpPr/>
          <p:nvPr/>
        </p:nvSpPr>
        <p:spPr>
          <a:xfrm>
            <a:off x="2743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1" name="Rectangle 166"/>
          <p:cNvSpPr/>
          <p:nvPr/>
        </p:nvSpPr>
        <p:spPr>
          <a:xfrm>
            <a:off x="3657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2" name="Rectangle 167"/>
          <p:cNvSpPr/>
          <p:nvPr/>
        </p:nvSpPr>
        <p:spPr>
          <a:xfrm>
            <a:off x="4572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3" name="Rectangle 168"/>
          <p:cNvSpPr/>
          <p:nvPr/>
        </p:nvSpPr>
        <p:spPr>
          <a:xfrm>
            <a:off x="5486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4" name="Rectangle 169"/>
          <p:cNvSpPr/>
          <p:nvPr/>
        </p:nvSpPr>
        <p:spPr>
          <a:xfrm>
            <a:off x="6400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5" name="Rectangle 170"/>
          <p:cNvSpPr/>
          <p:nvPr/>
        </p:nvSpPr>
        <p:spPr>
          <a:xfrm>
            <a:off x="7315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6" name="Rectangle 171"/>
          <p:cNvSpPr/>
          <p:nvPr/>
        </p:nvSpPr>
        <p:spPr>
          <a:xfrm>
            <a:off x="82296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7" name="Rectangle 172"/>
          <p:cNvSpPr/>
          <p:nvPr/>
        </p:nvSpPr>
        <p:spPr>
          <a:xfrm>
            <a:off x="91440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8" name="Rectangle 173"/>
          <p:cNvSpPr/>
          <p:nvPr/>
        </p:nvSpPr>
        <p:spPr>
          <a:xfrm>
            <a:off x="100584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9" name="Rectangle 174"/>
          <p:cNvSpPr/>
          <p:nvPr/>
        </p:nvSpPr>
        <p:spPr>
          <a:xfrm>
            <a:off x="109728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0" name="Rectangle 175"/>
          <p:cNvSpPr/>
          <p:nvPr/>
        </p:nvSpPr>
        <p:spPr>
          <a:xfrm>
            <a:off x="11887200" y="0"/>
            <a:ext cx="13680" cy="685332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1" name="Rectangle 176"/>
          <p:cNvSpPr/>
          <p:nvPr/>
        </p:nvSpPr>
        <p:spPr>
          <a:xfrm>
            <a:off x="0" y="0"/>
            <a:ext cx="315360" cy="685332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2" name="Rounded Rectangle 78"/>
          <p:cNvSpPr/>
          <p:nvPr/>
        </p:nvSpPr>
        <p:spPr>
          <a:xfrm>
            <a:off x="9875520" y="365760"/>
            <a:ext cx="2007000" cy="49824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Box 34"/>
          <p:cNvSpPr/>
          <p:nvPr/>
        </p:nvSpPr>
        <p:spPr>
          <a:xfrm>
            <a:off x="2528640" y="1005840"/>
            <a:ext cx="5913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5f5f5"/>
                </a:solidFill>
                <a:latin typeface="Calibri"/>
                <a:ea typeface="DejaVu Sans"/>
              </a:rPr>
              <a:t>JAVA VERSION MANAGEMENT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Box 35"/>
          <p:cNvSpPr/>
          <p:nvPr/>
        </p:nvSpPr>
        <p:spPr>
          <a:xfrm>
            <a:off x="2746440" y="2194560"/>
            <a:ext cx="5490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aaaaaa"/>
                </a:solidFill>
                <a:latin typeface="Calibri"/>
                <a:ea typeface="DejaVu Sans"/>
              </a:rPr>
              <a:t>Managing multiple Java versions and switching between them safely.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Rounded Rectangle 79"/>
          <p:cNvSpPr/>
          <p:nvPr/>
        </p:nvSpPr>
        <p:spPr>
          <a:xfrm>
            <a:off x="98748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6" name="Rounded Rectangle 80"/>
          <p:cNvSpPr/>
          <p:nvPr/>
        </p:nvSpPr>
        <p:spPr>
          <a:xfrm>
            <a:off x="457200" y="2971800"/>
            <a:ext cx="3782160" cy="31978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Sometimes multiple Java versions are installed on the same system.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For example: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17 (LTS)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21 (LTS)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Older legacy version (Java 8)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Different projects may require different versions.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If versions are not managed properly: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PATH conflicts occur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Wrong JDK compiles the project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Build tools fail (Maven / Gradle)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Proper version management prevents conflicts.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Rounded Rectangle 81"/>
          <p:cNvSpPr/>
          <p:nvPr/>
        </p:nvSpPr>
        <p:spPr>
          <a:xfrm>
            <a:off x="450792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8" name="Rounded Rectangle 82"/>
          <p:cNvSpPr/>
          <p:nvPr/>
        </p:nvSpPr>
        <p:spPr>
          <a:xfrm>
            <a:off x="4434840" y="3108960"/>
            <a:ext cx="3287160" cy="283212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Check installed versions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Locate JDK folders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Update JAVA_HOME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Update PATH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Restart terminal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Verify using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-version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javac -version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Rounded Rectangle 83"/>
          <p:cNvSpPr/>
          <p:nvPr/>
        </p:nvSpPr>
        <p:spPr>
          <a:xfrm>
            <a:off x="8028360" y="3182040"/>
            <a:ext cx="3287160" cy="273852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0" name="Rounded Rectangle 84"/>
          <p:cNvSpPr/>
          <p:nvPr/>
        </p:nvSpPr>
        <p:spPr>
          <a:xfrm>
            <a:off x="8001000" y="2971800"/>
            <a:ext cx="3426480" cy="30398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# Check current version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 -version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javac -version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# Show active JAVA_HOME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echo %JAVA_HOME%      (Windows)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echo $JAVA_HOME       (Linux/Mac)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# Example version paths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 17 → /jdk-17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 21 → /jdk-21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# After switching version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java -version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Box 36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Rectangle 177"/>
          <p:cNvSpPr/>
          <p:nvPr/>
        </p:nvSpPr>
        <p:spPr>
          <a:xfrm>
            <a:off x="0" y="0"/>
            <a:ext cx="12185640" cy="68547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3" name="Rectangle 178"/>
          <p:cNvSpPr/>
          <p:nvPr/>
        </p:nvSpPr>
        <p:spPr>
          <a:xfrm>
            <a:off x="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4" name="Rectangle 179"/>
          <p:cNvSpPr/>
          <p:nvPr/>
        </p:nvSpPr>
        <p:spPr>
          <a:xfrm>
            <a:off x="914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5" name="Rectangle 180"/>
          <p:cNvSpPr/>
          <p:nvPr/>
        </p:nvSpPr>
        <p:spPr>
          <a:xfrm>
            <a:off x="1828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6" name="Rectangle 181"/>
          <p:cNvSpPr/>
          <p:nvPr/>
        </p:nvSpPr>
        <p:spPr>
          <a:xfrm>
            <a:off x="2743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7" name="Rectangle 182"/>
          <p:cNvSpPr/>
          <p:nvPr/>
        </p:nvSpPr>
        <p:spPr>
          <a:xfrm>
            <a:off x="3657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8" name="Rectangle 183"/>
          <p:cNvSpPr/>
          <p:nvPr/>
        </p:nvSpPr>
        <p:spPr>
          <a:xfrm>
            <a:off x="4572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9" name="Rectangle 184"/>
          <p:cNvSpPr/>
          <p:nvPr/>
        </p:nvSpPr>
        <p:spPr>
          <a:xfrm>
            <a:off x="5486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0" name="Rectangle 185"/>
          <p:cNvSpPr/>
          <p:nvPr/>
        </p:nvSpPr>
        <p:spPr>
          <a:xfrm>
            <a:off x="6400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1" name="Rectangle 186"/>
          <p:cNvSpPr/>
          <p:nvPr/>
        </p:nvSpPr>
        <p:spPr>
          <a:xfrm>
            <a:off x="7315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2" name="Rectangle 187"/>
          <p:cNvSpPr/>
          <p:nvPr/>
        </p:nvSpPr>
        <p:spPr>
          <a:xfrm>
            <a:off x="8229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3" name="Rectangle 188"/>
          <p:cNvSpPr/>
          <p:nvPr/>
        </p:nvSpPr>
        <p:spPr>
          <a:xfrm>
            <a:off x="9144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4" name="Rectangle 189"/>
          <p:cNvSpPr/>
          <p:nvPr/>
        </p:nvSpPr>
        <p:spPr>
          <a:xfrm>
            <a:off x="10058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5" name="Rectangle 190"/>
          <p:cNvSpPr/>
          <p:nvPr/>
        </p:nvSpPr>
        <p:spPr>
          <a:xfrm>
            <a:off x="10972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6" name="Rectangle 191"/>
          <p:cNvSpPr/>
          <p:nvPr/>
        </p:nvSpPr>
        <p:spPr>
          <a:xfrm>
            <a:off x="11887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7" name="Rectangle 192"/>
          <p:cNvSpPr/>
          <p:nvPr/>
        </p:nvSpPr>
        <p:spPr>
          <a:xfrm>
            <a:off x="0" y="0"/>
            <a:ext cx="316800" cy="68547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28" name="Rounded Rectangle 85"/>
          <p:cNvSpPr/>
          <p:nvPr/>
        </p:nvSpPr>
        <p:spPr>
          <a:xfrm>
            <a:off x="9875520" y="365760"/>
            <a:ext cx="2008440" cy="4996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Box 37"/>
          <p:cNvSpPr/>
          <p:nvPr/>
        </p:nvSpPr>
        <p:spPr>
          <a:xfrm>
            <a:off x="2876040" y="1005840"/>
            <a:ext cx="52196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HELLO WORLD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Box 38"/>
          <p:cNvSpPr/>
          <p:nvPr/>
        </p:nvSpPr>
        <p:spPr>
          <a:xfrm>
            <a:off x="429480" y="2194560"/>
            <a:ext cx="101131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The first program every Java developer writes.It introduces the basic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structure of a Java application and shows how code is executed inside the Java Virtual Machine (JVM).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Rounded Rectangle 86"/>
          <p:cNvSpPr/>
          <p:nvPr/>
        </p:nvSpPr>
        <p:spPr>
          <a:xfrm>
            <a:off x="98748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2" name="Rounded Rectangle 87"/>
          <p:cNvSpPr/>
          <p:nvPr/>
        </p:nvSpPr>
        <p:spPr>
          <a:xfrm>
            <a:off x="91440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Every Java program starts from a class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Execution begins from the main() method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System.out.println() prints output to the console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code is compiled into bytecode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runs inside the JVM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Key Idea: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Hello World demonstrates how Java source code turns into running output.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Rounded Rectangle 88"/>
          <p:cNvSpPr/>
          <p:nvPr/>
        </p:nvSpPr>
        <p:spPr>
          <a:xfrm>
            <a:off x="450792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4" name="Rounded Rectangle 89"/>
          <p:cNvSpPr/>
          <p:nvPr/>
        </p:nvSpPr>
        <p:spPr>
          <a:xfrm>
            <a:off x="443484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Write Java Code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Compile (javac)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Run with JVM (java)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Console Output → Hello World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Rounded Rectangle 90"/>
          <p:cNvSpPr/>
          <p:nvPr/>
        </p:nvSpPr>
        <p:spPr>
          <a:xfrm>
            <a:off x="802836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6" name="Rounded Rectangle 91"/>
          <p:cNvSpPr/>
          <p:nvPr/>
        </p:nvSpPr>
        <p:spPr>
          <a:xfrm>
            <a:off x="795528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HelloWorld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System.out.println("Hello World");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TextBox 39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Rectangle 193"/>
          <p:cNvSpPr/>
          <p:nvPr/>
        </p:nvSpPr>
        <p:spPr>
          <a:xfrm>
            <a:off x="0" y="0"/>
            <a:ext cx="12185640" cy="68547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9" name="Rectangle 194"/>
          <p:cNvSpPr/>
          <p:nvPr/>
        </p:nvSpPr>
        <p:spPr>
          <a:xfrm>
            <a:off x="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0" name="Rectangle 195"/>
          <p:cNvSpPr/>
          <p:nvPr/>
        </p:nvSpPr>
        <p:spPr>
          <a:xfrm>
            <a:off x="914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1" name="Rectangle 196"/>
          <p:cNvSpPr/>
          <p:nvPr/>
        </p:nvSpPr>
        <p:spPr>
          <a:xfrm>
            <a:off x="1828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2" name="Rectangle 197"/>
          <p:cNvSpPr/>
          <p:nvPr/>
        </p:nvSpPr>
        <p:spPr>
          <a:xfrm>
            <a:off x="2743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3" name="Rectangle 198"/>
          <p:cNvSpPr/>
          <p:nvPr/>
        </p:nvSpPr>
        <p:spPr>
          <a:xfrm>
            <a:off x="3657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4" name="Rectangle 199"/>
          <p:cNvSpPr/>
          <p:nvPr/>
        </p:nvSpPr>
        <p:spPr>
          <a:xfrm>
            <a:off x="4572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5" name="Rectangle 200"/>
          <p:cNvSpPr/>
          <p:nvPr/>
        </p:nvSpPr>
        <p:spPr>
          <a:xfrm>
            <a:off x="5486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6" name="Rectangle 201"/>
          <p:cNvSpPr/>
          <p:nvPr/>
        </p:nvSpPr>
        <p:spPr>
          <a:xfrm>
            <a:off x="6400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7" name="Rectangle 202"/>
          <p:cNvSpPr/>
          <p:nvPr/>
        </p:nvSpPr>
        <p:spPr>
          <a:xfrm>
            <a:off x="7315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8" name="Rectangle 203"/>
          <p:cNvSpPr/>
          <p:nvPr/>
        </p:nvSpPr>
        <p:spPr>
          <a:xfrm>
            <a:off x="82296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9" name="Rectangle 204"/>
          <p:cNvSpPr/>
          <p:nvPr/>
        </p:nvSpPr>
        <p:spPr>
          <a:xfrm>
            <a:off x="91440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0" name="Rectangle 205"/>
          <p:cNvSpPr/>
          <p:nvPr/>
        </p:nvSpPr>
        <p:spPr>
          <a:xfrm>
            <a:off x="100584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1" name="Rectangle 206"/>
          <p:cNvSpPr/>
          <p:nvPr/>
        </p:nvSpPr>
        <p:spPr>
          <a:xfrm>
            <a:off x="109728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2" name="Rectangle 207"/>
          <p:cNvSpPr/>
          <p:nvPr/>
        </p:nvSpPr>
        <p:spPr>
          <a:xfrm>
            <a:off x="11887200" y="0"/>
            <a:ext cx="15120" cy="68547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3" name="Rectangle 208"/>
          <p:cNvSpPr/>
          <p:nvPr/>
        </p:nvSpPr>
        <p:spPr>
          <a:xfrm>
            <a:off x="0" y="0"/>
            <a:ext cx="316800" cy="68547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4" name="Rounded Rectangle 92"/>
          <p:cNvSpPr/>
          <p:nvPr/>
        </p:nvSpPr>
        <p:spPr>
          <a:xfrm>
            <a:off x="9875520" y="365760"/>
            <a:ext cx="2008440" cy="4996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Box 40"/>
          <p:cNvSpPr/>
          <p:nvPr/>
        </p:nvSpPr>
        <p:spPr>
          <a:xfrm>
            <a:off x="578160" y="1005840"/>
            <a:ext cx="98157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UNDERSTANDING JAVA HELLO WORLD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TextBox 41"/>
          <p:cNvSpPr/>
          <p:nvPr/>
        </p:nvSpPr>
        <p:spPr>
          <a:xfrm>
            <a:off x="1653840" y="2194560"/>
            <a:ext cx="76626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The Hello World program may look simple, but it contains the core structure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that every Java application follows.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Rounded Rectangle 93"/>
          <p:cNvSpPr/>
          <p:nvPr/>
        </p:nvSpPr>
        <p:spPr>
          <a:xfrm>
            <a:off x="98748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58" name="Rounded Rectangle 94"/>
          <p:cNvSpPr/>
          <p:nvPr/>
        </p:nvSpPr>
        <p:spPr>
          <a:xfrm>
            <a:off x="91440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Java program execution starts from main()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public → accessible from anywhere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static → runs without creating an object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void → method returns nothing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String[] args → command-line parameters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Key Idea: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DejaVu Sans"/>
              </a:rPr>
              <a:t>The main() method is the entry point of every Java application.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Rounded Rectangle 95"/>
          <p:cNvSpPr/>
          <p:nvPr/>
        </p:nvSpPr>
        <p:spPr>
          <a:xfrm>
            <a:off x="450792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0" name="Rounded Rectangle 96"/>
          <p:cNvSpPr/>
          <p:nvPr/>
        </p:nvSpPr>
        <p:spPr>
          <a:xfrm>
            <a:off x="443484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Program Start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JVM searches for main() method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main() executes instructions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System.out.println() runs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DejaVu Sans"/>
              </a:rPr>
              <a:t>Text appears on console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Rounded Rectangle 97"/>
          <p:cNvSpPr/>
          <p:nvPr/>
        </p:nvSpPr>
        <p:spPr>
          <a:xfrm>
            <a:off x="8028360" y="318204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2" name="Rounded Rectangle 98"/>
          <p:cNvSpPr/>
          <p:nvPr/>
        </p:nvSpPr>
        <p:spPr>
          <a:xfrm>
            <a:off x="7955280" y="3108960"/>
            <a:ext cx="3288600" cy="27399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HelloWorld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System.out.println("Hello World");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Box 42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Rectangle 225"/>
          <p:cNvSpPr/>
          <p:nvPr/>
        </p:nvSpPr>
        <p:spPr>
          <a:xfrm>
            <a:off x="0" y="0"/>
            <a:ext cx="12186360" cy="68554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5" name="Rectangle 226"/>
          <p:cNvSpPr/>
          <p:nvPr/>
        </p:nvSpPr>
        <p:spPr>
          <a:xfrm>
            <a:off x="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6" name="Rectangle 227"/>
          <p:cNvSpPr/>
          <p:nvPr/>
        </p:nvSpPr>
        <p:spPr>
          <a:xfrm>
            <a:off x="914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7" name="Rectangle 228"/>
          <p:cNvSpPr/>
          <p:nvPr/>
        </p:nvSpPr>
        <p:spPr>
          <a:xfrm>
            <a:off x="1828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8" name="Rectangle 229"/>
          <p:cNvSpPr/>
          <p:nvPr/>
        </p:nvSpPr>
        <p:spPr>
          <a:xfrm>
            <a:off x="2743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69" name="Rectangle 230"/>
          <p:cNvSpPr/>
          <p:nvPr/>
        </p:nvSpPr>
        <p:spPr>
          <a:xfrm>
            <a:off x="36576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0" name="Rectangle 231"/>
          <p:cNvSpPr/>
          <p:nvPr/>
        </p:nvSpPr>
        <p:spPr>
          <a:xfrm>
            <a:off x="45720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1" name="Rectangle 232"/>
          <p:cNvSpPr/>
          <p:nvPr/>
        </p:nvSpPr>
        <p:spPr>
          <a:xfrm>
            <a:off x="5486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2" name="Rectangle 233"/>
          <p:cNvSpPr/>
          <p:nvPr/>
        </p:nvSpPr>
        <p:spPr>
          <a:xfrm>
            <a:off x="6400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3" name="Rectangle 234"/>
          <p:cNvSpPr/>
          <p:nvPr/>
        </p:nvSpPr>
        <p:spPr>
          <a:xfrm>
            <a:off x="7315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4" name="Rectangle 235"/>
          <p:cNvSpPr/>
          <p:nvPr/>
        </p:nvSpPr>
        <p:spPr>
          <a:xfrm>
            <a:off x="82296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5" name="Rectangle 236"/>
          <p:cNvSpPr/>
          <p:nvPr/>
        </p:nvSpPr>
        <p:spPr>
          <a:xfrm>
            <a:off x="91440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6" name="Rectangle 237"/>
          <p:cNvSpPr/>
          <p:nvPr/>
        </p:nvSpPr>
        <p:spPr>
          <a:xfrm>
            <a:off x="10058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7" name="Rectangle 238"/>
          <p:cNvSpPr/>
          <p:nvPr/>
        </p:nvSpPr>
        <p:spPr>
          <a:xfrm>
            <a:off x="10972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8" name="Rectangle 239"/>
          <p:cNvSpPr/>
          <p:nvPr/>
        </p:nvSpPr>
        <p:spPr>
          <a:xfrm>
            <a:off x="11887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9" name="Rectangle 240"/>
          <p:cNvSpPr/>
          <p:nvPr/>
        </p:nvSpPr>
        <p:spPr>
          <a:xfrm>
            <a:off x="0" y="0"/>
            <a:ext cx="317520" cy="68554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0" name="Rounded Rectangle 106"/>
          <p:cNvSpPr/>
          <p:nvPr/>
        </p:nvSpPr>
        <p:spPr>
          <a:xfrm>
            <a:off x="9875520" y="365760"/>
            <a:ext cx="2009160" cy="5004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Box 46"/>
          <p:cNvSpPr/>
          <p:nvPr/>
        </p:nvSpPr>
        <p:spPr>
          <a:xfrm>
            <a:off x="2931480" y="1005840"/>
            <a:ext cx="51084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BASIC SYNTAX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Box 47"/>
          <p:cNvSpPr/>
          <p:nvPr/>
        </p:nvSpPr>
        <p:spPr>
          <a:xfrm>
            <a:off x="2680560" y="2194560"/>
            <a:ext cx="56095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Basic Syntax defines the fundamental rules and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structure required to write and execute a Java program.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Rounded Rectangle 107"/>
          <p:cNvSpPr/>
          <p:nvPr/>
        </p:nvSpPr>
        <p:spPr>
          <a:xfrm>
            <a:off x="98748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4" name="Rounded Rectangle 108"/>
          <p:cNvSpPr/>
          <p:nvPr/>
        </p:nvSpPr>
        <p:spPr>
          <a:xfrm>
            <a:off x="914400" y="310896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 Basic Syntax refers to the core writing rules of Java programs.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Everything is written inside a class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Execution starts from the main() method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Statements end with semicolon ( ; 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Curly braces { } define code blocks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 is case-sensitive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Rounded Rectangle 109"/>
          <p:cNvSpPr/>
          <p:nvPr/>
        </p:nvSpPr>
        <p:spPr>
          <a:xfrm>
            <a:off x="450792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6" name="Rounded Rectangle 110"/>
          <p:cNvSpPr/>
          <p:nvPr/>
        </p:nvSpPr>
        <p:spPr>
          <a:xfrm>
            <a:off x="4434840" y="310896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Program Start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Class Loaded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main() Method Executes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Statements Run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Program End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Rounded Rectangle 111"/>
          <p:cNvSpPr/>
          <p:nvPr/>
        </p:nvSpPr>
        <p:spPr>
          <a:xfrm>
            <a:off x="802836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88" name="Rounded Rectangle 112"/>
          <p:cNvSpPr/>
          <p:nvPr/>
        </p:nvSpPr>
        <p:spPr>
          <a:xfrm>
            <a:off x="7955280" y="310896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BasicSyntax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System.out.println("Hello Java!");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TextBox 48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Rectangle 209"/>
          <p:cNvSpPr/>
          <p:nvPr/>
        </p:nvSpPr>
        <p:spPr>
          <a:xfrm>
            <a:off x="0" y="0"/>
            <a:ext cx="12186360" cy="68554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1" name="Rectangle 210"/>
          <p:cNvSpPr/>
          <p:nvPr/>
        </p:nvSpPr>
        <p:spPr>
          <a:xfrm>
            <a:off x="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2" name="Rectangle 211"/>
          <p:cNvSpPr/>
          <p:nvPr/>
        </p:nvSpPr>
        <p:spPr>
          <a:xfrm>
            <a:off x="914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3" name="Rectangle 212"/>
          <p:cNvSpPr/>
          <p:nvPr/>
        </p:nvSpPr>
        <p:spPr>
          <a:xfrm>
            <a:off x="1828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4" name="Rectangle 213"/>
          <p:cNvSpPr/>
          <p:nvPr/>
        </p:nvSpPr>
        <p:spPr>
          <a:xfrm>
            <a:off x="2743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5" name="Rectangle 214"/>
          <p:cNvSpPr/>
          <p:nvPr/>
        </p:nvSpPr>
        <p:spPr>
          <a:xfrm>
            <a:off x="36576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6" name="Rectangle 215"/>
          <p:cNvSpPr/>
          <p:nvPr/>
        </p:nvSpPr>
        <p:spPr>
          <a:xfrm>
            <a:off x="45720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7" name="Rectangle 216"/>
          <p:cNvSpPr/>
          <p:nvPr/>
        </p:nvSpPr>
        <p:spPr>
          <a:xfrm>
            <a:off x="5486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8" name="Rectangle 217"/>
          <p:cNvSpPr/>
          <p:nvPr/>
        </p:nvSpPr>
        <p:spPr>
          <a:xfrm>
            <a:off x="6400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99" name="Rectangle 218"/>
          <p:cNvSpPr/>
          <p:nvPr/>
        </p:nvSpPr>
        <p:spPr>
          <a:xfrm>
            <a:off x="7315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0" name="Rectangle 219"/>
          <p:cNvSpPr/>
          <p:nvPr/>
        </p:nvSpPr>
        <p:spPr>
          <a:xfrm>
            <a:off x="82296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1" name="Rectangle 220"/>
          <p:cNvSpPr/>
          <p:nvPr/>
        </p:nvSpPr>
        <p:spPr>
          <a:xfrm>
            <a:off x="91440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2" name="Rectangle 221"/>
          <p:cNvSpPr/>
          <p:nvPr/>
        </p:nvSpPr>
        <p:spPr>
          <a:xfrm>
            <a:off x="10058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3" name="Rectangle 222"/>
          <p:cNvSpPr/>
          <p:nvPr/>
        </p:nvSpPr>
        <p:spPr>
          <a:xfrm>
            <a:off x="10972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4" name="Rectangle 223"/>
          <p:cNvSpPr/>
          <p:nvPr/>
        </p:nvSpPr>
        <p:spPr>
          <a:xfrm>
            <a:off x="11887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5" name="Rectangle 224"/>
          <p:cNvSpPr/>
          <p:nvPr/>
        </p:nvSpPr>
        <p:spPr>
          <a:xfrm>
            <a:off x="0" y="0"/>
            <a:ext cx="317520" cy="68554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6" name="Rounded Rectangle 99"/>
          <p:cNvSpPr/>
          <p:nvPr/>
        </p:nvSpPr>
        <p:spPr>
          <a:xfrm>
            <a:off x="9875520" y="365760"/>
            <a:ext cx="2009160" cy="5004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Box 43"/>
          <p:cNvSpPr/>
          <p:nvPr/>
        </p:nvSpPr>
        <p:spPr>
          <a:xfrm>
            <a:off x="3177000" y="1005840"/>
            <a:ext cx="46162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IDENTIFIERS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Box 44"/>
          <p:cNvSpPr/>
          <p:nvPr/>
        </p:nvSpPr>
        <p:spPr>
          <a:xfrm>
            <a:off x="1739880" y="2194560"/>
            <a:ext cx="74905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Identifiers are the names given to Java elements such as classes, variables,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and methods.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Rounded Rectangle 100"/>
          <p:cNvSpPr/>
          <p:nvPr/>
        </p:nvSpPr>
        <p:spPr>
          <a:xfrm>
            <a:off x="98748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0" name="Rounded Rectangle 101"/>
          <p:cNvSpPr/>
          <p:nvPr/>
        </p:nvSpPr>
        <p:spPr>
          <a:xfrm>
            <a:off x="914400" y="310896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Rules for Java Identifiers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Must start with a letter, $ or _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After first character, any combination is allowed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Keywords cannot be used as identifiers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Java identifiers are case-sensitive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● </a:t>
            </a:r>
            <a:r>
              <a:rPr b="0" lang="en-US" sz="1500" spc="-1" strike="noStrike">
                <a:solidFill>
                  <a:schemeClr val="lt1"/>
                </a:solidFill>
                <a:latin typeface="Calibri"/>
                <a:ea typeface="DejaVu Sans"/>
              </a:rPr>
              <a:t>Names should be meaningful and readable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Rounded Rectangle 102"/>
          <p:cNvSpPr/>
          <p:nvPr/>
        </p:nvSpPr>
        <p:spPr>
          <a:xfrm>
            <a:off x="450792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2" name="Rounded Rectangle 103"/>
          <p:cNvSpPr/>
          <p:nvPr/>
        </p:nvSpPr>
        <p:spPr>
          <a:xfrm>
            <a:off x="4434840" y="310896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Name Declared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Checks First Character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Checks Reserved Keywords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Valid Identifier Created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Used in Program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Rounded Rectangle 104"/>
          <p:cNvSpPr/>
          <p:nvPr/>
        </p:nvSpPr>
        <p:spPr>
          <a:xfrm>
            <a:off x="802836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4" name="Rounded Rectangle 105"/>
          <p:cNvSpPr/>
          <p:nvPr/>
        </p:nvSpPr>
        <p:spPr>
          <a:xfrm>
            <a:off x="7955280" y="310896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int age = 25;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double $salary = 5000;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int _value = 10;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int __1_value = 20;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// Illegal examples: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// int 123abc;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78ffc8"/>
                </a:solidFill>
                <a:latin typeface="Consolas"/>
                <a:ea typeface="DejaVu Sans"/>
              </a:rPr>
              <a:t>// int -salary;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TextBox 45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Rectangle 257"/>
          <p:cNvSpPr/>
          <p:nvPr/>
        </p:nvSpPr>
        <p:spPr>
          <a:xfrm>
            <a:off x="0" y="0"/>
            <a:ext cx="12186360" cy="68554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7" name="Rectangle 258"/>
          <p:cNvSpPr/>
          <p:nvPr/>
        </p:nvSpPr>
        <p:spPr>
          <a:xfrm>
            <a:off x="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8" name="Rectangle 259"/>
          <p:cNvSpPr/>
          <p:nvPr/>
        </p:nvSpPr>
        <p:spPr>
          <a:xfrm>
            <a:off x="914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19" name="Rectangle 260"/>
          <p:cNvSpPr/>
          <p:nvPr/>
        </p:nvSpPr>
        <p:spPr>
          <a:xfrm>
            <a:off x="1828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0" name="Rectangle 261"/>
          <p:cNvSpPr/>
          <p:nvPr/>
        </p:nvSpPr>
        <p:spPr>
          <a:xfrm>
            <a:off x="2743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1" name="Rectangle 262"/>
          <p:cNvSpPr/>
          <p:nvPr/>
        </p:nvSpPr>
        <p:spPr>
          <a:xfrm>
            <a:off x="36576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2" name="Rectangle 263"/>
          <p:cNvSpPr/>
          <p:nvPr/>
        </p:nvSpPr>
        <p:spPr>
          <a:xfrm>
            <a:off x="45720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3" name="Rectangle 264"/>
          <p:cNvSpPr/>
          <p:nvPr/>
        </p:nvSpPr>
        <p:spPr>
          <a:xfrm>
            <a:off x="5486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4" name="Rectangle 265"/>
          <p:cNvSpPr/>
          <p:nvPr/>
        </p:nvSpPr>
        <p:spPr>
          <a:xfrm>
            <a:off x="6400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5" name="Rectangle 266"/>
          <p:cNvSpPr/>
          <p:nvPr/>
        </p:nvSpPr>
        <p:spPr>
          <a:xfrm>
            <a:off x="7315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6" name="Rectangle 267"/>
          <p:cNvSpPr/>
          <p:nvPr/>
        </p:nvSpPr>
        <p:spPr>
          <a:xfrm>
            <a:off x="82296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7" name="Rectangle 268"/>
          <p:cNvSpPr/>
          <p:nvPr/>
        </p:nvSpPr>
        <p:spPr>
          <a:xfrm>
            <a:off x="91440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8" name="Rectangle 269"/>
          <p:cNvSpPr/>
          <p:nvPr/>
        </p:nvSpPr>
        <p:spPr>
          <a:xfrm>
            <a:off x="10058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29" name="Rectangle 270"/>
          <p:cNvSpPr/>
          <p:nvPr/>
        </p:nvSpPr>
        <p:spPr>
          <a:xfrm>
            <a:off x="10972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0" name="Rectangle 271"/>
          <p:cNvSpPr/>
          <p:nvPr/>
        </p:nvSpPr>
        <p:spPr>
          <a:xfrm>
            <a:off x="11887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1" name="Rectangle 272"/>
          <p:cNvSpPr/>
          <p:nvPr/>
        </p:nvSpPr>
        <p:spPr>
          <a:xfrm>
            <a:off x="0" y="0"/>
            <a:ext cx="317520" cy="68554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2" name="Rounded Rectangle 120"/>
          <p:cNvSpPr/>
          <p:nvPr/>
        </p:nvSpPr>
        <p:spPr>
          <a:xfrm>
            <a:off x="9875520" y="365760"/>
            <a:ext cx="2009160" cy="5004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TextBox 52"/>
          <p:cNvSpPr/>
          <p:nvPr/>
        </p:nvSpPr>
        <p:spPr>
          <a:xfrm>
            <a:off x="3572280" y="550800"/>
            <a:ext cx="38257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Modifiers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TextBox 53"/>
          <p:cNvSpPr/>
          <p:nvPr/>
        </p:nvSpPr>
        <p:spPr>
          <a:xfrm>
            <a:off x="1828800" y="1388880"/>
            <a:ext cx="74905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Identifiers are the names given to Java elements such as classes, variables,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and methods.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Rounded Rectangle 121"/>
          <p:cNvSpPr/>
          <p:nvPr/>
        </p:nvSpPr>
        <p:spPr>
          <a:xfrm>
            <a:off x="98748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6" name="Rounded Rectangle 122"/>
          <p:cNvSpPr/>
          <p:nvPr/>
        </p:nvSpPr>
        <p:spPr>
          <a:xfrm>
            <a:off x="685800" y="2286000"/>
            <a:ext cx="3517920" cy="4342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Java Modifiers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Modifiers define access level and behavior of classes, methods, and variables.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They control: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Visibility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Inheritance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Mutability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Method overriding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Access Modifiers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public → Accessible everywhere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private → Only inside the class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protected → Package + subclasses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default → Same package only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Non-Access Modifiers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final → Cannot be changed / overridden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abstract → Must be implemented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static → Belongs to the class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volatile → Ensures memory visibility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Rounded Rectangle 123"/>
          <p:cNvSpPr/>
          <p:nvPr/>
        </p:nvSpPr>
        <p:spPr>
          <a:xfrm>
            <a:off x="450792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8" name="Rounded Rectangle 124"/>
          <p:cNvSpPr/>
          <p:nvPr/>
        </p:nvSpPr>
        <p:spPr>
          <a:xfrm>
            <a:off x="4434840" y="2286000"/>
            <a:ext cx="3289320" cy="41140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Modifiers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ACCESS MODIFIERS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public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private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protected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default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NON-ACCESS MODIFIERS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final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abstract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static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volatile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Rounded Rectangle 125"/>
          <p:cNvSpPr/>
          <p:nvPr/>
        </p:nvSpPr>
        <p:spPr>
          <a:xfrm>
            <a:off x="802836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0" name="Rounded Rectangle 126"/>
          <p:cNvSpPr/>
          <p:nvPr/>
        </p:nvSpPr>
        <p:spPr>
          <a:xfrm>
            <a:off x="7955280" y="2743200"/>
            <a:ext cx="3289320" cy="3428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Car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private String brand;     // Access modifier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int count;  // Non-access modifier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Car(String brand)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this.brand = brand;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count++;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final void displayBrand() {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System.out.println("Brand: " + brand);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TextBox 54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Rectangle 241"/>
          <p:cNvSpPr/>
          <p:nvPr/>
        </p:nvSpPr>
        <p:spPr>
          <a:xfrm>
            <a:off x="0" y="0"/>
            <a:ext cx="12186360" cy="68554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3" name="Rectangle 242"/>
          <p:cNvSpPr/>
          <p:nvPr/>
        </p:nvSpPr>
        <p:spPr>
          <a:xfrm>
            <a:off x="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4" name="Rectangle 243"/>
          <p:cNvSpPr/>
          <p:nvPr/>
        </p:nvSpPr>
        <p:spPr>
          <a:xfrm>
            <a:off x="914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5" name="Rectangle 244"/>
          <p:cNvSpPr/>
          <p:nvPr/>
        </p:nvSpPr>
        <p:spPr>
          <a:xfrm>
            <a:off x="1828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6" name="Rectangle 245"/>
          <p:cNvSpPr/>
          <p:nvPr/>
        </p:nvSpPr>
        <p:spPr>
          <a:xfrm>
            <a:off x="2743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7" name="Rectangle 246"/>
          <p:cNvSpPr/>
          <p:nvPr/>
        </p:nvSpPr>
        <p:spPr>
          <a:xfrm>
            <a:off x="36576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8" name="Rectangle 247"/>
          <p:cNvSpPr/>
          <p:nvPr/>
        </p:nvSpPr>
        <p:spPr>
          <a:xfrm>
            <a:off x="45720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49" name="Rectangle 248"/>
          <p:cNvSpPr/>
          <p:nvPr/>
        </p:nvSpPr>
        <p:spPr>
          <a:xfrm>
            <a:off x="5486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0" name="Rectangle 249"/>
          <p:cNvSpPr/>
          <p:nvPr/>
        </p:nvSpPr>
        <p:spPr>
          <a:xfrm>
            <a:off x="6400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1" name="Rectangle 250"/>
          <p:cNvSpPr/>
          <p:nvPr/>
        </p:nvSpPr>
        <p:spPr>
          <a:xfrm>
            <a:off x="7315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2" name="Rectangle 251"/>
          <p:cNvSpPr/>
          <p:nvPr/>
        </p:nvSpPr>
        <p:spPr>
          <a:xfrm>
            <a:off x="82296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3" name="Rectangle 252"/>
          <p:cNvSpPr/>
          <p:nvPr/>
        </p:nvSpPr>
        <p:spPr>
          <a:xfrm>
            <a:off x="91440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4" name="Rectangle 253"/>
          <p:cNvSpPr/>
          <p:nvPr/>
        </p:nvSpPr>
        <p:spPr>
          <a:xfrm>
            <a:off x="10058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5" name="Rectangle 254"/>
          <p:cNvSpPr/>
          <p:nvPr/>
        </p:nvSpPr>
        <p:spPr>
          <a:xfrm>
            <a:off x="10972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6" name="Rectangle 255"/>
          <p:cNvSpPr/>
          <p:nvPr/>
        </p:nvSpPr>
        <p:spPr>
          <a:xfrm>
            <a:off x="11887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7" name="Rectangle 256"/>
          <p:cNvSpPr/>
          <p:nvPr/>
        </p:nvSpPr>
        <p:spPr>
          <a:xfrm>
            <a:off x="0" y="0"/>
            <a:ext cx="317520" cy="68554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58" name="Rounded Rectangle 113"/>
          <p:cNvSpPr/>
          <p:nvPr/>
        </p:nvSpPr>
        <p:spPr>
          <a:xfrm>
            <a:off x="9875520" y="365760"/>
            <a:ext cx="2009160" cy="5004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TextBox 49"/>
          <p:cNvSpPr/>
          <p:nvPr/>
        </p:nvSpPr>
        <p:spPr>
          <a:xfrm>
            <a:off x="3630240" y="1005840"/>
            <a:ext cx="37098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Variables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Box 50"/>
          <p:cNvSpPr/>
          <p:nvPr/>
        </p:nvSpPr>
        <p:spPr>
          <a:xfrm>
            <a:off x="2311200" y="2013840"/>
            <a:ext cx="634788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 Variables are named memory locations used to store data.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Each variable has a data type and determines how information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is stored, accessed, and manipulated within a program.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Rounded Rectangle 114"/>
          <p:cNvSpPr/>
          <p:nvPr/>
        </p:nvSpPr>
        <p:spPr>
          <a:xfrm>
            <a:off x="98748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2" name="Rounded Rectangle 115"/>
          <p:cNvSpPr/>
          <p:nvPr/>
        </p:nvSpPr>
        <p:spPr>
          <a:xfrm>
            <a:off x="914400" y="310896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Types of Variables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Local Variable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Declared inside methods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Exists only during method execution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Instance Variable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Declared inside class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Belongs to each object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Static Variable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Declared with static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Shared among all objects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Rounded Rectangle 116"/>
          <p:cNvSpPr/>
          <p:nvPr/>
        </p:nvSpPr>
        <p:spPr>
          <a:xfrm>
            <a:off x="450792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4" name="Rounded Rectangle 117"/>
          <p:cNvSpPr/>
          <p:nvPr/>
        </p:nvSpPr>
        <p:spPr>
          <a:xfrm>
            <a:off x="4434840" y="310896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Data Type Categories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Primitive Types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int, double, char, boolean, long, float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Reference Types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String, Arrays, Objects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Rounded Rectangle 118"/>
          <p:cNvSpPr/>
          <p:nvPr/>
        </p:nvSpPr>
        <p:spPr>
          <a:xfrm>
            <a:off x="802836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6" name="Rounded Rectangle 119"/>
          <p:cNvSpPr/>
          <p:nvPr/>
        </p:nvSpPr>
        <p:spPr>
          <a:xfrm>
            <a:off x="7955280" y="2971800"/>
            <a:ext cx="3289320" cy="3428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Student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String name;                 // Instance variable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static String school = "Tech University";  // Static variable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void display() 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int age = 20;            // Local variable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System.out.println(name + " - " + age + " - " + school);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TextBox 51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Rectangle 273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9" name="Rectangle 274"/>
          <p:cNvSpPr/>
          <p:nvPr/>
        </p:nvSpPr>
        <p:spPr>
          <a:xfrm>
            <a:off x="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0" name="Rectangle 275"/>
          <p:cNvSpPr/>
          <p:nvPr/>
        </p:nvSpPr>
        <p:spPr>
          <a:xfrm>
            <a:off x="9144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1" name="Rectangle 276"/>
          <p:cNvSpPr/>
          <p:nvPr/>
        </p:nvSpPr>
        <p:spPr>
          <a:xfrm>
            <a:off x="18288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2" name="Rectangle 277"/>
          <p:cNvSpPr/>
          <p:nvPr/>
        </p:nvSpPr>
        <p:spPr>
          <a:xfrm>
            <a:off x="27432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3" name="Rectangle 278"/>
          <p:cNvSpPr/>
          <p:nvPr/>
        </p:nvSpPr>
        <p:spPr>
          <a:xfrm>
            <a:off x="36576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4" name="Rectangle 279"/>
          <p:cNvSpPr/>
          <p:nvPr/>
        </p:nvSpPr>
        <p:spPr>
          <a:xfrm>
            <a:off x="45720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5" name="Rectangle 280"/>
          <p:cNvSpPr/>
          <p:nvPr/>
        </p:nvSpPr>
        <p:spPr>
          <a:xfrm>
            <a:off x="54864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6" name="Rectangle 281"/>
          <p:cNvSpPr/>
          <p:nvPr/>
        </p:nvSpPr>
        <p:spPr>
          <a:xfrm>
            <a:off x="64008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7" name="Rectangle 282"/>
          <p:cNvSpPr/>
          <p:nvPr/>
        </p:nvSpPr>
        <p:spPr>
          <a:xfrm>
            <a:off x="73152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8" name="Rectangle 283"/>
          <p:cNvSpPr/>
          <p:nvPr/>
        </p:nvSpPr>
        <p:spPr>
          <a:xfrm>
            <a:off x="82296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79" name="Rectangle 284"/>
          <p:cNvSpPr/>
          <p:nvPr/>
        </p:nvSpPr>
        <p:spPr>
          <a:xfrm>
            <a:off x="91440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0" name="Rectangle 285"/>
          <p:cNvSpPr/>
          <p:nvPr/>
        </p:nvSpPr>
        <p:spPr>
          <a:xfrm>
            <a:off x="100584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1" name="Rectangle 286"/>
          <p:cNvSpPr/>
          <p:nvPr/>
        </p:nvSpPr>
        <p:spPr>
          <a:xfrm>
            <a:off x="109728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2" name="Rectangle 287"/>
          <p:cNvSpPr/>
          <p:nvPr/>
        </p:nvSpPr>
        <p:spPr>
          <a:xfrm>
            <a:off x="118872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3" name="Rectangle 288"/>
          <p:cNvSpPr/>
          <p:nvPr/>
        </p:nvSpPr>
        <p:spPr>
          <a:xfrm>
            <a:off x="0" y="0"/>
            <a:ext cx="318600" cy="68565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4" name="Rounded Rectangle 127"/>
          <p:cNvSpPr/>
          <p:nvPr/>
        </p:nvSpPr>
        <p:spPr>
          <a:xfrm>
            <a:off x="9875520" y="365760"/>
            <a:ext cx="2010240" cy="5014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TextBox 55"/>
          <p:cNvSpPr/>
          <p:nvPr/>
        </p:nvSpPr>
        <p:spPr>
          <a:xfrm>
            <a:off x="3756960" y="1005840"/>
            <a:ext cx="34578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ENUMS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TextBox 56"/>
          <p:cNvSpPr/>
          <p:nvPr/>
        </p:nvSpPr>
        <p:spPr>
          <a:xfrm>
            <a:off x="955800" y="1828800"/>
            <a:ext cx="10017000" cy="9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An enum (short for Enumeration) is a special data type in Java used to define a fixed set of constants.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It is part of Java syntax because it defines a new type, just like class, int, or String.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Enums help make programs safer and more readable by restricting values to predefined constants.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Rounded Rectangle 128"/>
          <p:cNvSpPr/>
          <p:nvPr/>
        </p:nvSpPr>
        <p:spPr>
          <a:xfrm>
            <a:off x="987480" y="318204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88" name="Rounded Rectangle 129"/>
          <p:cNvSpPr/>
          <p:nvPr/>
        </p:nvSpPr>
        <p:spPr>
          <a:xfrm>
            <a:off x="685800" y="2971800"/>
            <a:ext cx="3519000" cy="3657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What is an Enum?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A special reference type.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Used to represent a group of fixed constants.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Defined using the enum keyword.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Provides type safety.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Why Do We Use Enums?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Using a normal String: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String day = "MONDA";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This compiles, but it is wrong.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200"/>
            </a:b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Day day = Day.MONDAY;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200"/>
            </a:b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If you write </a:t>
            </a: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MONDA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, the compiler gives an error.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That means enums prevent invalid values at compile time.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Rounded Rectangle 130"/>
          <p:cNvSpPr/>
          <p:nvPr/>
        </p:nvSpPr>
        <p:spPr>
          <a:xfrm>
            <a:off x="4507920" y="318204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0" name="Rounded Rectangle 131"/>
          <p:cNvSpPr/>
          <p:nvPr/>
        </p:nvSpPr>
        <p:spPr>
          <a:xfrm>
            <a:off x="4434840" y="310896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1. enum is defined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2. Java creates constant objects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3. Access using EnumName.VALUE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4. Only defined values are allowed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Rounded Rectangle 132"/>
          <p:cNvSpPr/>
          <p:nvPr/>
        </p:nvSpPr>
        <p:spPr>
          <a:xfrm>
            <a:off x="8028360" y="318204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2" name="Rounded Rectangle 133"/>
          <p:cNvSpPr/>
          <p:nvPr/>
        </p:nvSpPr>
        <p:spPr>
          <a:xfrm>
            <a:off x="7955280" y="310896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enum Level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LOW,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MEDIUM,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HIGH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Test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Level myLevel = Level.MEDIUM;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System.out.println(myLevel);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Box 57"/>
          <p:cNvSpPr/>
          <p:nvPr/>
        </p:nvSpPr>
        <p:spPr>
          <a:xfrm>
            <a:off x="4600080" y="6446520"/>
            <a:ext cx="3051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Rectangle 289"/>
          <p:cNvSpPr/>
          <p:nvPr/>
        </p:nvSpPr>
        <p:spPr>
          <a:xfrm>
            <a:off x="0" y="0"/>
            <a:ext cx="12186360" cy="68554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5" name="Rectangle 290"/>
          <p:cNvSpPr/>
          <p:nvPr/>
        </p:nvSpPr>
        <p:spPr>
          <a:xfrm>
            <a:off x="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6" name="Rectangle 291"/>
          <p:cNvSpPr/>
          <p:nvPr/>
        </p:nvSpPr>
        <p:spPr>
          <a:xfrm>
            <a:off x="914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7" name="Rectangle 292"/>
          <p:cNvSpPr/>
          <p:nvPr/>
        </p:nvSpPr>
        <p:spPr>
          <a:xfrm>
            <a:off x="1828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8" name="Rectangle 293"/>
          <p:cNvSpPr/>
          <p:nvPr/>
        </p:nvSpPr>
        <p:spPr>
          <a:xfrm>
            <a:off x="2743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99" name="Rectangle 294"/>
          <p:cNvSpPr/>
          <p:nvPr/>
        </p:nvSpPr>
        <p:spPr>
          <a:xfrm>
            <a:off x="36576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0" name="Rectangle 295"/>
          <p:cNvSpPr/>
          <p:nvPr/>
        </p:nvSpPr>
        <p:spPr>
          <a:xfrm>
            <a:off x="45720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1" name="Rectangle 296"/>
          <p:cNvSpPr/>
          <p:nvPr/>
        </p:nvSpPr>
        <p:spPr>
          <a:xfrm>
            <a:off x="5486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2" name="Rectangle 297"/>
          <p:cNvSpPr/>
          <p:nvPr/>
        </p:nvSpPr>
        <p:spPr>
          <a:xfrm>
            <a:off x="6400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3" name="Rectangle 298"/>
          <p:cNvSpPr/>
          <p:nvPr/>
        </p:nvSpPr>
        <p:spPr>
          <a:xfrm>
            <a:off x="7315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4" name="Rectangle 299"/>
          <p:cNvSpPr/>
          <p:nvPr/>
        </p:nvSpPr>
        <p:spPr>
          <a:xfrm>
            <a:off x="82296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5" name="Rectangle 300"/>
          <p:cNvSpPr/>
          <p:nvPr/>
        </p:nvSpPr>
        <p:spPr>
          <a:xfrm>
            <a:off x="91440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6" name="Rectangle 301"/>
          <p:cNvSpPr/>
          <p:nvPr/>
        </p:nvSpPr>
        <p:spPr>
          <a:xfrm>
            <a:off x="100584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7" name="Rectangle 302"/>
          <p:cNvSpPr/>
          <p:nvPr/>
        </p:nvSpPr>
        <p:spPr>
          <a:xfrm>
            <a:off x="109728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8" name="Rectangle 303"/>
          <p:cNvSpPr/>
          <p:nvPr/>
        </p:nvSpPr>
        <p:spPr>
          <a:xfrm>
            <a:off x="11887200" y="0"/>
            <a:ext cx="15840" cy="68554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09" name="Rectangle 304"/>
          <p:cNvSpPr/>
          <p:nvPr/>
        </p:nvSpPr>
        <p:spPr>
          <a:xfrm>
            <a:off x="0" y="0"/>
            <a:ext cx="317520" cy="68554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0" name="Rounded Rectangle 134"/>
          <p:cNvSpPr/>
          <p:nvPr/>
        </p:nvSpPr>
        <p:spPr>
          <a:xfrm>
            <a:off x="9875520" y="365760"/>
            <a:ext cx="2009160" cy="5004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TextBox 58"/>
          <p:cNvSpPr/>
          <p:nvPr/>
        </p:nvSpPr>
        <p:spPr>
          <a:xfrm>
            <a:off x="3253680" y="1005840"/>
            <a:ext cx="44636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KEYWORDS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TextBox 59"/>
          <p:cNvSpPr/>
          <p:nvPr/>
        </p:nvSpPr>
        <p:spPr>
          <a:xfrm>
            <a:off x="3926160" y="1906200"/>
            <a:ext cx="316044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Reserved Words &amp; Description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Rounded Rectangle 135"/>
          <p:cNvSpPr/>
          <p:nvPr/>
        </p:nvSpPr>
        <p:spPr>
          <a:xfrm>
            <a:off x="98748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4" name="Rounded Rectangle 136"/>
          <p:cNvSpPr/>
          <p:nvPr/>
        </p:nvSpPr>
        <p:spPr>
          <a:xfrm>
            <a:off x="685800" y="2286000"/>
            <a:ext cx="3517920" cy="41148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What Are Java Keywords?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Keywords are reserved words that have a predefined meaning in the Java language.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These words: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Cannot be used as variable names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Cannot be used as class names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Cannot be redefined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Have special meaning for the compiler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They define: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Data types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Access levels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Control flow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Class structure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1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Object behavior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alibri"/>
                <a:ea typeface="DejaVu Sans"/>
              </a:rPr>
              <a:t>Java currently has 50+ reserved keywords.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Rounded Rectangle 137"/>
          <p:cNvSpPr/>
          <p:nvPr/>
        </p:nvSpPr>
        <p:spPr>
          <a:xfrm>
            <a:off x="450792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6" name="Rounded Rectangle 138"/>
          <p:cNvSpPr/>
          <p:nvPr/>
        </p:nvSpPr>
        <p:spPr>
          <a:xfrm>
            <a:off x="4434840" y="3108960"/>
            <a:ext cx="3289320" cy="306324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ACCESS        TYPES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public        int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private       double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protected     boolean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CONTROL       OOP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if            class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else          extends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for           new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while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Rounded Rectangle 139"/>
          <p:cNvSpPr/>
          <p:nvPr/>
        </p:nvSpPr>
        <p:spPr>
          <a:xfrm>
            <a:off x="8028360" y="3182040"/>
            <a:ext cx="3289320" cy="27406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8" name="Rounded Rectangle 140"/>
          <p:cNvSpPr/>
          <p:nvPr/>
        </p:nvSpPr>
        <p:spPr>
          <a:xfrm>
            <a:off x="8001000" y="2057400"/>
            <a:ext cx="3657600" cy="457200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Student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private String name;      // private keyword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protected int age;        // protected keyword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Student(String name, int age)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this.name = name;     // this keyword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this.age = age;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void printInfo()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if(age &gt; 18) {        // if keyword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System.out.println("Adult");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 else 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System.out.println("Minor");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TextBox 60"/>
          <p:cNvSpPr/>
          <p:nvPr/>
        </p:nvSpPr>
        <p:spPr>
          <a:xfrm>
            <a:off x="4600080" y="6446520"/>
            <a:ext cx="305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</TotalTime>
  <Application>LibreOffice/7.4.2.3$Windows_X86_64 LibreOffice_project/382eef1f22670f7f4118c8c2dd222ec7ad009daf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2026-02-23T22:27:09Z</dcterms:modified>
  <cp:revision>35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