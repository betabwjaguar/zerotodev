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5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_rels/slideLayout31.xml.rels" ContentType="application/vnd.openxmlformats-package.relationships+xml"/>
  <Override PartName="/ppt/slideLayouts/_rels/slideLayout53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54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55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6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57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58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59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39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48.xml.rels" ContentType="application/vnd.openxmlformats-package.relationships+xml"/>
  <Override PartName="/ppt/slideLayouts/_rels/slideLayout49.xml.rels" ContentType="application/vnd.openxmlformats-package.relationships+xml"/>
  <Override PartName="/ppt/slideLayouts/_rels/slideLayout50.xml.rels" ContentType="application/vnd.openxmlformats-package.relationships+xml"/>
  <Override PartName="/ppt/slideLayouts/_rels/slideLayout51.xml.rels" ContentType="application/vnd.openxmlformats-package.relationships+xml"/>
  <Override PartName="/ppt/slideLayouts/_rels/slideLayout52.xml.rels" ContentType="application/vnd.openxmlformats-package.relationships+xml"/>
  <Override PartName="/ppt/slideLayouts/_rels/slideLayout60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  <p:sldMasterId id="2147483700" r:id="rId6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4DE9142-8A36-451E-BDE9-322E60AA132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6222531-DEC3-4E71-B9B2-72DA910D451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A707C47-9DE9-4A5B-86D3-ABC143F7818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EFD9EA5-E1E4-420F-8E8E-EE8CBA516A1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810CD9A-B235-49AF-A56D-38CEF8066BD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FA8BC90-DA87-4439-9206-6F6E1670679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7D82CCF-7E95-45C6-B85D-360D828A0B5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3CCC746-50E8-4295-A004-D8F8B8C55D0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45709BA-67A8-4001-B239-3FBE5B67A8A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8EAC6F3-13E5-4237-A43D-74E1A231F4D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8FA498D-5F28-498E-AE45-949789567664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26992BC-A0AD-4C24-A393-99CE8222DE62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725D8EA0-C311-4C34-A76D-877C68BA6B9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0BF887EA-E77D-4CC0-AB36-94B7F170D43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B6DABD1B-3021-447B-8BC8-F73839C2BC3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3FD10D14-1618-4ED8-86F5-82C86427A48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9D553E53-F16F-4122-85FB-5C315ACC743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DA7A415-7E63-4078-93D9-05236381A81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FBA71FA-62F0-4A52-9B3D-E7BD72A84C2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DAC0218-C97E-40E0-BD7F-F7E7C101904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A3AE893-A461-4C74-9ED8-2CFE37F936B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29E034A5-E40C-4D23-895A-0E3869203CF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821E657-C2EF-41EF-8E0B-CCAC45461B35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F96F4E3-2F2D-4439-AE14-19466681529B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226FB255-4E57-4B51-A8E3-3AD189D74CA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9D9C7890-E639-437A-BFF5-4951A4853AB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071D7ADA-2189-446C-9736-C7457F92D01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57E0510E-ACA1-4D9F-87FA-579DB6B5889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671493BB-1860-4696-AD02-ED7CB5E9D3D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016A3E6C-BBBF-48B1-85F7-FAB4CE7202B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7F7800C6-2366-4DEB-8942-F267CD53586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69A63457-4272-4164-AA9C-E799F2FB188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CF309757-D6B8-491C-9FC4-4ADF4F3E06D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341610AF-F2FE-4106-BED1-DD542D65BB7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92F138CB-35C6-4EA8-8D55-E818CF31F4B6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50B11006-1204-42B6-950D-34A3B34D192C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9EFF5084-9E42-42E9-B05E-4A3BCDF581F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E29DC7CF-D48A-454E-A46F-9AC65C4669E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655398A3-7C5A-4FFA-9F01-6AA1ABF346B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E174C8E5-F55F-4778-96CC-D1CC8EE9167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A93670E2-3772-4D65-99AD-1E6C17622CD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A63FDB95-FBCB-4956-B304-4F492C37356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3CB052C0-A1DA-43D9-B6D8-5A901807EA6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4228782F-2429-4C3A-B532-1B97EFBECB5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DB7A5C4B-34EF-4E6E-A03A-F0DCDAB630C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DF298583-88D2-4A82-8741-3CDA76EC687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9D8B1598-A87E-4D35-8B4C-B7783F1ED6A2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F86E381B-6920-4C3A-B1EB-DED03B95BCDF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9.xml"/><Relationship Id="rId5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48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49.xml"/><Relationship Id="rId3" Type="http://schemas.openxmlformats.org/officeDocument/2006/relationships/slideLayout" Target="../slideLayouts/slideLayout50.xml"/><Relationship Id="rId4" Type="http://schemas.openxmlformats.org/officeDocument/2006/relationships/slideLayout" Target="../slideLayouts/slideLayout51.xml"/><Relationship Id="rId5" Type="http://schemas.openxmlformats.org/officeDocument/2006/relationships/slideLayout" Target="../slideLayouts/slideLayout52.xml"/><Relationship Id="rId6" Type="http://schemas.openxmlformats.org/officeDocument/2006/relationships/slideLayout" Target="../slideLayouts/slideLayout53.xml"/><Relationship Id="rId7" Type="http://schemas.openxmlformats.org/officeDocument/2006/relationships/slideLayout" Target="../slideLayouts/slideLayout54.xml"/><Relationship Id="rId8" Type="http://schemas.openxmlformats.org/officeDocument/2006/relationships/slideLayout" Target="../slideLayouts/slideLayout55.xml"/><Relationship Id="rId9" Type="http://schemas.openxmlformats.org/officeDocument/2006/relationships/slideLayout" Target="../slideLayouts/slideLayout56.xml"/><Relationship Id="rId10" Type="http://schemas.openxmlformats.org/officeDocument/2006/relationships/slideLayout" Target="../slideLayouts/slideLayout57.xml"/><Relationship Id="rId11" Type="http://schemas.openxmlformats.org/officeDocument/2006/relationships/slideLayout" Target="../slideLayouts/slideLayout58.xml"/><Relationship Id="rId12" Type="http://schemas.openxmlformats.org/officeDocument/2006/relationships/slideLayout" Target="../slideLayouts/slideLayout59.xml"/><Relationship Id="rId13" Type="http://schemas.openxmlformats.org/officeDocument/2006/relationships/slideLayout" Target="../slideLayouts/slideLayout60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260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C7079D2-1C3F-4C50-A091-616245002A45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9332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7AEA8ED-2824-4864-98A6-7AE54AD9342D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1"/>
          <p:cNvSpPr>
            <a:spLocks noGrp="1"/>
          </p:cNvSpPr>
          <p:nvPr>
            <p:ph type="ftr" idx="7"/>
          </p:nvPr>
        </p:nvSpPr>
        <p:spPr>
          <a:xfrm>
            <a:off x="3124080" y="6356520"/>
            <a:ext cx="289332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" name="PlaceHolder 2"/>
          <p:cNvSpPr>
            <a:spLocks noGrp="1"/>
          </p:cNvSpPr>
          <p:nvPr>
            <p:ph type="sldNum" idx="8"/>
          </p:nvPr>
        </p:nvSpPr>
        <p:spPr>
          <a:xfrm>
            <a:off x="655308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17B2354-4BDC-4850-A1C1-5ABE482FD8D8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" name="PlaceHolder 3"/>
          <p:cNvSpPr>
            <a:spLocks noGrp="1"/>
          </p:cNvSpPr>
          <p:nvPr>
            <p:ph type="dt" idx="9"/>
          </p:nvPr>
        </p:nvSpPr>
        <p:spPr>
          <a:xfrm>
            <a:off x="45720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PlaceHolder 1"/>
          <p:cNvSpPr>
            <a:spLocks noGrp="1"/>
          </p:cNvSpPr>
          <p:nvPr>
            <p:ph type="ftr" idx="10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" name="PlaceHolder 2"/>
          <p:cNvSpPr>
            <a:spLocks noGrp="1"/>
          </p:cNvSpPr>
          <p:nvPr>
            <p:ph type="sldNum" idx="11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07DF149-796C-4740-828A-7EE0DCAE27F7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" name="PlaceHolder 3"/>
          <p:cNvSpPr>
            <a:spLocks noGrp="1"/>
          </p:cNvSpPr>
          <p:nvPr>
            <p:ph type="dt" idx="12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Rectangle 32"/>
          <p:cNvSpPr/>
          <p:nvPr/>
        </p:nvSpPr>
        <p:spPr>
          <a:xfrm>
            <a:off x="0" y="0"/>
            <a:ext cx="12186000" cy="6855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3" name="Rectangle 33"/>
          <p:cNvSpPr/>
          <p:nvPr/>
        </p:nvSpPr>
        <p:spPr>
          <a:xfrm>
            <a:off x="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4" name="Rectangle 34"/>
          <p:cNvSpPr/>
          <p:nvPr/>
        </p:nvSpPr>
        <p:spPr>
          <a:xfrm>
            <a:off x="914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5" name="Rectangle 35"/>
          <p:cNvSpPr/>
          <p:nvPr/>
        </p:nvSpPr>
        <p:spPr>
          <a:xfrm>
            <a:off x="1828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6" name="Rectangle 36"/>
          <p:cNvSpPr/>
          <p:nvPr/>
        </p:nvSpPr>
        <p:spPr>
          <a:xfrm>
            <a:off x="2743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7" name="Rectangle 37"/>
          <p:cNvSpPr/>
          <p:nvPr/>
        </p:nvSpPr>
        <p:spPr>
          <a:xfrm>
            <a:off x="3657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8" name="Rectangle 38"/>
          <p:cNvSpPr/>
          <p:nvPr/>
        </p:nvSpPr>
        <p:spPr>
          <a:xfrm>
            <a:off x="4572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9" name="Rectangle 39"/>
          <p:cNvSpPr/>
          <p:nvPr/>
        </p:nvSpPr>
        <p:spPr>
          <a:xfrm>
            <a:off x="5486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0" name="Rectangle 40"/>
          <p:cNvSpPr/>
          <p:nvPr/>
        </p:nvSpPr>
        <p:spPr>
          <a:xfrm>
            <a:off x="6400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1" name="Rectangle 41"/>
          <p:cNvSpPr/>
          <p:nvPr/>
        </p:nvSpPr>
        <p:spPr>
          <a:xfrm>
            <a:off x="7315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2" name="Rectangle 42"/>
          <p:cNvSpPr/>
          <p:nvPr/>
        </p:nvSpPr>
        <p:spPr>
          <a:xfrm>
            <a:off x="8229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3" name="Rectangle 43"/>
          <p:cNvSpPr/>
          <p:nvPr/>
        </p:nvSpPr>
        <p:spPr>
          <a:xfrm>
            <a:off x="9144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4" name="Rectangle 44"/>
          <p:cNvSpPr/>
          <p:nvPr/>
        </p:nvSpPr>
        <p:spPr>
          <a:xfrm>
            <a:off x="10058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5" name="Rectangle 45"/>
          <p:cNvSpPr/>
          <p:nvPr/>
        </p:nvSpPr>
        <p:spPr>
          <a:xfrm>
            <a:off x="10972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6" name="Rectangle 46"/>
          <p:cNvSpPr/>
          <p:nvPr/>
        </p:nvSpPr>
        <p:spPr>
          <a:xfrm>
            <a:off x="11887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7" name="Rectangle 47"/>
          <p:cNvSpPr/>
          <p:nvPr/>
        </p:nvSpPr>
        <p:spPr>
          <a:xfrm>
            <a:off x="0" y="0"/>
            <a:ext cx="317160" cy="6855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8" name="Rounded Rectangle 8"/>
          <p:cNvSpPr/>
          <p:nvPr/>
        </p:nvSpPr>
        <p:spPr>
          <a:xfrm>
            <a:off x="9875520" y="365760"/>
            <a:ext cx="2008800" cy="500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9" name="TextBox 4"/>
          <p:cNvSpPr/>
          <p:nvPr/>
        </p:nvSpPr>
        <p:spPr>
          <a:xfrm>
            <a:off x="2913480" y="1005840"/>
            <a:ext cx="51447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DEĞİŞKENLERİ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TextBox 5"/>
          <p:cNvSpPr/>
          <p:nvPr/>
        </p:nvSpPr>
        <p:spPr>
          <a:xfrm>
            <a:off x="1237680" y="2057400"/>
            <a:ext cx="996840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Değişkenler, bir programda verileri saklamak için kullanılan isimlendirilmiş bellek konumlarıdır.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her değişken, hangi tür veriyi saklayabileceğini belirleyen belirli bir veri tipine sahip olmalıdır.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Rounded Rectangle 9"/>
          <p:cNvSpPr/>
          <p:nvPr/>
        </p:nvSpPr>
        <p:spPr>
          <a:xfrm>
            <a:off x="98748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2" name="Rounded Rectangle 10"/>
          <p:cNvSpPr/>
          <p:nvPr/>
        </p:nvSpPr>
        <p:spPr>
          <a:xfrm>
            <a:off x="914400" y="3108960"/>
            <a:ext cx="3288960" cy="3290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Tanımı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Bir değişken, veriyi saklamak için kullanılan isimlendirilmiş bir bellek konumudur.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Veri Tipi Gerekliliği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Java'da her değişken belirli bir veri tipi ile tanımlanmalıdır.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Bellek Tahsisi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Veri tipi, değişkenin hangi tür değeri tutacağını ve bellekte ne kadar yer kaplayacağını belirler.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Veri Tipi Örnekleri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Örneğin, int tam sayıları saklar, double ondalık sayıları saklar ve String metin verilerini saklar.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Program Esnekliği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Değişkenler, programların çalışma sırasında veri saklamasına ve değiştirmesine olanak tanır.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3" name="Rounded Rectangle 11"/>
          <p:cNvSpPr/>
          <p:nvPr/>
        </p:nvSpPr>
        <p:spPr>
          <a:xfrm>
            <a:off x="450792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4" name="Rounded Rectangle 12"/>
          <p:cNvSpPr/>
          <p:nvPr/>
        </p:nvSpPr>
        <p:spPr>
          <a:xfrm>
            <a:off x="4434840" y="310896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Tanımla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(veri tipi + isim)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Değer Ata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Değişkeni Kullan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(yazdır / hesapla)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5" name="Rounded Rectangle 13"/>
          <p:cNvSpPr/>
          <p:nvPr/>
        </p:nvSpPr>
        <p:spPr>
          <a:xfrm>
            <a:off x="802836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6" name="Rounded Rectangle 14"/>
          <p:cNvSpPr/>
          <p:nvPr/>
        </p:nvSpPr>
        <p:spPr>
          <a:xfrm>
            <a:off x="7955280" y="3108960"/>
            <a:ext cx="3472920" cy="3290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DegiskenOrnegi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 = 21;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fiyat = 49.99;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isim = "Java";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System.out.println(yas);       System.out.println(fiyat);        System.out.println(isim);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7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Rectangle 16"/>
          <p:cNvSpPr/>
          <p:nvPr/>
        </p:nvSpPr>
        <p:spPr>
          <a:xfrm>
            <a:off x="0" y="0"/>
            <a:ext cx="12186000" cy="6855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9" name="Rectangle 17"/>
          <p:cNvSpPr/>
          <p:nvPr/>
        </p:nvSpPr>
        <p:spPr>
          <a:xfrm>
            <a:off x="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0" name="Rectangle 18"/>
          <p:cNvSpPr/>
          <p:nvPr/>
        </p:nvSpPr>
        <p:spPr>
          <a:xfrm>
            <a:off x="914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1" name="Rectangle 19"/>
          <p:cNvSpPr/>
          <p:nvPr/>
        </p:nvSpPr>
        <p:spPr>
          <a:xfrm>
            <a:off x="1828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2" name="Rectangle 20"/>
          <p:cNvSpPr/>
          <p:nvPr/>
        </p:nvSpPr>
        <p:spPr>
          <a:xfrm>
            <a:off x="2743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3" name="Rectangle 21"/>
          <p:cNvSpPr/>
          <p:nvPr/>
        </p:nvSpPr>
        <p:spPr>
          <a:xfrm>
            <a:off x="3657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4" name="Rectangle 22"/>
          <p:cNvSpPr/>
          <p:nvPr/>
        </p:nvSpPr>
        <p:spPr>
          <a:xfrm>
            <a:off x="4572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5" name="Rectangle 23"/>
          <p:cNvSpPr/>
          <p:nvPr/>
        </p:nvSpPr>
        <p:spPr>
          <a:xfrm>
            <a:off x="5486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6" name="Rectangle 24"/>
          <p:cNvSpPr/>
          <p:nvPr/>
        </p:nvSpPr>
        <p:spPr>
          <a:xfrm>
            <a:off x="6400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7" name="Rectangle 25"/>
          <p:cNvSpPr/>
          <p:nvPr/>
        </p:nvSpPr>
        <p:spPr>
          <a:xfrm>
            <a:off x="7315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8" name="Rectangle 26"/>
          <p:cNvSpPr/>
          <p:nvPr/>
        </p:nvSpPr>
        <p:spPr>
          <a:xfrm>
            <a:off x="8229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9" name="Rectangle 27"/>
          <p:cNvSpPr/>
          <p:nvPr/>
        </p:nvSpPr>
        <p:spPr>
          <a:xfrm>
            <a:off x="9144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0" name="Rectangle 28"/>
          <p:cNvSpPr/>
          <p:nvPr/>
        </p:nvSpPr>
        <p:spPr>
          <a:xfrm>
            <a:off x="10058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1" name="Rectangle 29"/>
          <p:cNvSpPr/>
          <p:nvPr/>
        </p:nvSpPr>
        <p:spPr>
          <a:xfrm>
            <a:off x="10972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2" name="Rectangle 30"/>
          <p:cNvSpPr/>
          <p:nvPr/>
        </p:nvSpPr>
        <p:spPr>
          <a:xfrm>
            <a:off x="11887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3" name="Rectangle 31"/>
          <p:cNvSpPr/>
          <p:nvPr/>
        </p:nvSpPr>
        <p:spPr>
          <a:xfrm>
            <a:off x="0" y="0"/>
            <a:ext cx="317160" cy="6855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4" name="Rounded Rectangle 15"/>
          <p:cNvSpPr/>
          <p:nvPr/>
        </p:nvSpPr>
        <p:spPr>
          <a:xfrm>
            <a:off x="9875520" y="365760"/>
            <a:ext cx="2008800" cy="500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5" name="TextBox 7"/>
          <p:cNvSpPr/>
          <p:nvPr/>
        </p:nvSpPr>
        <p:spPr>
          <a:xfrm>
            <a:off x="2323800" y="1005840"/>
            <a:ext cx="63244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DEĞİŞKEN TÜRLERİ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" name="TextBox 8"/>
          <p:cNvSpPr/>
          <p:nvPr/>
        </p:nvSpPr>
        <p:spPr>
          <a:xfrm>
            <a:off x="655560" y="2057400"/>
            <a:ext cx="1113264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değişkenleri, nerede tanımlandıklarına ve bir sınıf veya metot içinde nasıl kullanıldıklarına göre sınıflandırılır.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" name="Rounded Rectangle 16"/>
          <p:cNvSpPr/>
          <p:nvPr/>
        </p:nvSpPr>
        <p:spPr>
          <a:xfrm>
            <a:off x="98748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8" name="Rounded Rectangle 17"/>
          <p:cNvSpPr/>
          <p:nvPr/>
        </p:nvSpPr>
        <p:spPr>
          <a:xfrm>
            <a:off x="931680" y="2925720"/>
            <a:ext cx="3181680" cy="3702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Değişkenler (Local Variables)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değişkenler bir metot, yapıcı metot (constructor) veya kod bloğu içinde tanımlanır.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Sadece oluşturuldukları metot veya blok içerisinde erişilebilirler.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Nesne Değişkenleri (Instance Variables)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Nesne değişkenleri bir sınıf içinde fakat metotların dışında tanımlanır.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Sınıfın oluşturulan her nesnesi bu değişkenlerin kendi kopyasına sahip olur.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Statik Değişkenler (Static Variables)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Statik değişkenler static anahtar kelimesi kullanılarak tanımlanır.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Bu değişkenler sınıfa aittir ve o sınıftan oluşturulan tüm nesneler tarafından ortak olarak kullanılır.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9" name="Rounded Rectangle 18"/>
          <p:cNvSpPr/>
          <p:nvPr/>
        </p:nvSpPr>
        <p:spPr>
          <a:xfrm>
            <a:off x="450792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0" name="Rounded Rectangle 19"/>
          <p:cNvSpPr/>
          <p:nvPr/>
        </p:nvSpPr>
        <p:spPr>
          <a:xfrm>
            <a:off x="4434840" y="3108960"/>
            <a:ext cx="3288960" cy="3061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Sınıf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Statik Değişken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Nesne Değişkeni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Metot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1" name="Rounded Rectangle 20"/>
          <p:cNvSpPr/>
          <p:nvPr/>
        </p:nvSpPr>
        <p:spPr>
          <a:xfrm>
            <a:off x="802836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2" name="Rounded Rectangle 21"/>
          <p:cNvSpPr/>
          <p:nvPr/>
        </p:nvSpPr>
        <p:spPr>
          <a:xfrm>
            <a:off x="7955280" y="2971800"/>
            <a:ext cx="3701880" cy="3427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DegiskenTurleri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nesneDegiskeni = 10;        // nesne değişkeni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static int statikDegisken = 20; // statik değişken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void degiskenleriGoster()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yerelDegisken = 30;     // yerel değişken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System.out.println(yerelDegisken);        System.out.println(nesneDegiskeni);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System.out.println(statikDegisken);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3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Rectangle 48"/>
          <p:cNvSpPr/>
          <p:nvPr/>
        </p:nvSpPr>
        <p:spPr>
          <a:xfrm>
            <a:off x="0" y="0"/>
            <a:ext cx="12186000" cy="6855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5" name="Rectangle 49"/>
          <p:cNvSpPr/>
          <p:nvPr/>
        </p:nvSpPr>
        <p:spPr>
          <a:xfrm>
            <a:off x="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6" name="Rectangle 50"/>
          <p:cNvSpPr/>
          <p:nvPr/>
        </p:nvSpPr>
        <p:spPr>
          <a:xfrm>
            <a:off x="914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7" name="Rectangle 51"/>
          <p:cNvSpPr/>
          <p:nvPr/>
        </p:nvSpPr>
        <p:spPr>
          <a:xfrm>
            <a:off x="1828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8" name="Rectangle 52"/>
          <p:cNvSpPr/>
          <p:nvPr/>
        </p:nvSpPr>
        <p:spPr>
          <a:xfrm>
            <a:off x="2743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9" name="Rectangle 53"/>
          <p:cNvSpPr/>
          <p:nvPr/>
        </p:nvSpPr>
        <p:spPr>
          <a:xfrm>
            <a:off x="3657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0" name="Rectangle 54"/>
          <p:cNvSpPr/>
          <p:nvPr/>
        </p:nvSpPr>
        <p:spPr>
          <a:xfrm>
            <a:off x="4572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1" name="Rectangle 55"/>
          <p:cNvSpPr/>
          <p:nvPr/>
        </p:nvSpPr>
        <p:spPr>
          <a:xfrm>
            <a:off x="5486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2" name="Rectangle 56"/>
          <p:cNvSpPr/>
          <p:nvPr/>
        </p:nvSpPr>
        <p:spPr>
          <a:xfrm>
            <a:off x="6400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3" name="Rectangle 57"/>
          <p:cNvSpPr/>
          <p:nvPr/>
        </p:nvSpPr>
        <p:spPr>
          <a:xfrm>
            <a:off x="7315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4" name="Rectangle 58"/>
          <p:cNvSpPr/>
          <p:nvPr/>
        </p:nvSpPr>
        <p:spPr>
          <a:xfrm>
            <a:off x="8229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5" name="Rectangle 59"/>
          <p:cNvSpPr/>
          <p:nvPr/>
        </p:nvSpPr>
        <p:spPr>
          <a:xfrm>
            <a:off x="9144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6" name="Rectangle 60"/>
          <p:cNvSpPr/>
          <p:nvPr/>
        </p:nvSpPr>
        <p:spPr>
          <a:xfrm>
            <a:off x="10058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7" name="Rectangle 61"/>
          <p:cNvSpPr/>
          <p:nvPr/>
        </p:nvSpPr>
        <p:spPr>
          <a:xfrm>
            <a:off x="10972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8" name="Rectangle 62"/>
          <p:cNvSpPr/>
          <p:nvPr/>
        </p:nvSpPr>
        <p:spPr>
          <a:xfrm>
            <a:off x="11887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9" name="Rectangle 63"/>
          <p:cNvSpPr/>
          <p:nvPr/>
        </p:nvSpPr>
        <p:spPr>
          <a:xfrm>
            <a:off x="0" y="0"/>
            <a:ext cx="317160" cy="6855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0" name="Rounded Rectangle 22"/>
          <p:cNvSpPr/>
          <p:nvPr/>
        </p:nvSpPr>
        <p:spPr>
          <a:xfrm>
            <a:off x="9875520" y="365760"/>
            <a:ext cx="2008800" cy="500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1" name="TextBox 10"/>
          <p:cNvSpPr/>
          <p:nvPr/>
        </p:nvSpPr>
        <p:spPr>
          <a:xfrm>
            <a:off x="1357920" y="1005840"/>
            <a:ext cx="825516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JAVA İLKESEL (PRIMITIVE) VERİ TİPLERİ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" name="TextBox 11"/>
          <p:cNvSpPr/>
          <p:nvPr/>
        </p:nvSpPr>
        <p:spPr>
          <a:xfrm>
            <a:off x="1810800" y="1846080"/>
            <a:ext cx="740808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İlkel veri tipleri, Java’da sayılar, karakterler ve mantıksal değerler gibi basit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verileri saklamak için kullanılan temel veri tipleridir.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Rounded Rectangle 23"/>
          <p:cNvSpPr/>
          <p:nvPr/>
        </p:nvSpPr>
        <p:spPr>
          <a:xfrm>
            <a:off x="98748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4" name="Rounded Rectangle 24"/>
          <p:cNvSpPr/>
          <p:nvPr/>
        </p:nvSpPr>
        <p:spPr>
          <a:xfrm>
            <a:off x="685800" y="2743200"/>
            <a:ext cx="3517560" cy="3656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Sayısal Veri Tipleri (Numeric Types)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Java, farklı türde sayıları saklamak için byte, short, int, long, float ve double gibi sayısal veri tipleri sağlar.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Karakter Veri Tipi (Character Type)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char veri tipi, Unicode sistemine göre tek bir karakter saklamak için kullanılır.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Mantıksal Veri Tipi (Boolean Type)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boolean veri tipi mantıksal değerleri temsil eder ve yalnızca true veya false değerlerini alabilir.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Bellek Verimliliği (Memory Efficiency)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İlkel veri tipleri doğrudan bellekte saklanır ve referans veri tiplerine göre daha hızlı ve daha verimli çalışırlar.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5" name="Rounded Rectangle 25"/>
          <p:cNvSpPr/>
          <p:nvPr/>
        </p:nvSpPr>
        <p:spPr>
          <a:xfrm>
            <a:off x="450792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6" name="Rounded Rectangle 26"/>
          <p:cNvSpPr/>
          <p:nvPr/>
        </p:nvSpPr>
        <p:spPr>
          <a:xfrm>
            <a:off x="4343400" y="2743200"/>
            <a:ext cx="3380400" cy="3655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İlkel Veri Tipleri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├──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Sayısal Tipler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short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float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├──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Karakter Tipi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Mantıksal Tip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7" name="Rounded Rectangle 27"/>
          <p:cNvSpPr/>
          <p:nvPr/>
        </p:nvSpPr>
        <p:spPr>
          <a:xfrm>
            <a:off x="802836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8" name="Rounded Rectangle 28"/>
          <p:cNvSpPr/>
          <p:nvPr/>
        </p:nvSpPr>
        <p:spPr>
          <a:xfrm>
            <a:off x="7955280" y="2971800"/>
            <a:ext cx="3701520" cy="319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IlkelVeriOrnegi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fiyat = 19.99;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char not = 'A';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ogrenciMi = true;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System.out.println(yas);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System.out.println(fiyat);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System.out.println(not);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System.out.println(ogrenciMi);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9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Rectangle 80"/>
          <p:cNvSpPr/>
          <p:nvPr/>
        </p:nvSpPr>
        <p:spPr>
          <a:xfrm>
            <a:off x="0" y="0"/>
            <a:ext cx="12186720" cy="6855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1" name="Rectangle 64"/>
          <p:cNvSpPr/>
          <p:nvPr/>
        </p:nvSpPr>
        <p:spPr>
          <a:xfrm>
            <a:off x="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2" name="Rectangle 65"/>
          <p:cNvSpPr/>
          <p:nvPr/>
        </p:nvSpPr>
        <p:spPr>
          <a:xfrm>
            <a:off x="914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3" name="Rectangle 66"/>
          <p:cNvSpPr/>
          <p:nvPr/>
        </p:nvSpPr>
        <p:spPr>
          <a:xfrm>
            <a:off x="1828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4" name="Rectangle 67"/>
          <p:cNvSpPr/>
          <p:nvPr/>
        </p:nvSpPr>
        <p:spPr>
          <a:xfrm>
            <a:off x="2743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5" name="Rectangle 68"/>
          <p:cNvSpPr/>
          <p:nvPr/>
        </p:nvSpPr>
        <p:spPr>
          <a:xfrm>
            <a:off x="3657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6" name="Rectangle 69"/>
          <p:cNvSpPr/>
          <p:nvPr/>
        </p:nvSpPr>
        <p:spPr>
          <a:xfrm>
            <a:off x="4572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7" name="Rectangle 70"/>
          <p:cNvSpPr/>
          <p:nvPr/>
        </p:nvSpPr>
        <p:spPr>
          <a:xfrm>
            <a:off x="5486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8" name="Rectangle 71"/>
          <p:cNvSpPr/>
          <p:nvPr/>
        </p:nvSpPr>
        <p:spPr>
          <a:xfrm>
            <a:off x="6400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9" name="Rectangle 72"/>
          <p:cNvSpPr/>
          <p:nvPr/>
        </p:nvSpPr>
        <p:spPr>
          <a:xfrm>
            <a:off x="7315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0" name="Rectangle 73"/>
          <p:cNvSpPr/>
          <p:nvPr/>
        </p:nvSpPr>
        <p:spPr>
          <a:xfrm>
            <a:off x="8229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1" name="Rectangle 74"/>
          <p:cNvSpPr/>
          <p:nvPr/>
        </p:nvSpPr>
        <p:spPr>
          <a:xfrm>
            <a:off x="9144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2" name="Rectangle 75"/>
          <p:cNvSpPr/>
          <p:nvPr/>
        </p:nvSpPr>
        <p:spPr>
          <a:xfrm>
            <a:off x="10058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3" name="Rectangle 76"/>
          <p:cNvSpPr/>
          <p:nvPr/>
        </p:nvSpPr>
        <p:spPr>
          <a:xfrm>
            <a:off x="10972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4" name="Rectangle 77"/>
          <p:cNvSpPr/>
          <p:nvPr/>
        </p:nvSpPr>
        <p:spPr>
          <a:xfrm>
            <a:off x="11887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5" name="Rectangle 78"/>
          <p:cNvSpPr/>
          <p:nvPr/>
        </p:nvSpPr>
        <p:spPr>
          <a:xfrm>
            <a:off x="0" y="0"/>
            <a:ext cx="317880" cy="6855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6" name="Rounded Rectangle 29"/>
          <p:cNvSpPr/>
          <p:nvPr/>
        </p:nvSpPr>
        <p:spPr>
          <a:xfrm>
            <a:off x="9875520" y="365760"/>
            <a:ext cx="2009520" cy="500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7" name="TextBox 13"/>
          <p:cNvSpPr/>
          <p:nvPr/>
        </p:nvSpPr>
        <p:spPr>
          <a:xfrm>
            <a:off x="2441520" y="1005840"/>
            <a:ext cx="60868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REFERANS VERİ TİPLERİ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" name="TextBox 14"/>
          <p:cNvSpPr/>
          <p:nvPr/>
        </p:nvSpPr>
        <p:spPr>
          <a:xfrm>
            <a:off x="2802600" y="2074680"/>
            <a:ext cx="536616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Referans veri tipleri, gerçek değerleri değil nesnelere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ait referansları (bellek adreslerini) saklar.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" name="Rounded Rectangle 30"/>
          <p:cNvSpPr/>
          <p:nvPr/>
        </p:nvSpPr>
        <p:spPr>
          <a:xfrm>
            <a:off x="98748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0" name="Rounded Rectangle 31"/>
          <p:cNvSpPr/>
          <p:nvPr/>
        </p:nvSpPr>
        <p:spPr>
          <a:xfrm>
            <a:off x="685800" y="2971800"/>
            <a:ext cx="3518280" cy="3656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Nesne Tabanlı Tipler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tipleri, sınıflardan oluşturulan nesneleri temsil eder.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Bellek Referansı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Gerçek verinin kendisi yerine nesnenin bellekteki adresi saklanır.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Yaygın Örnekler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 arasında String, diziler (arrays), sınıflar (classes) ve nesneler (objects) bulunur.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Esnek Yapı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tipleri, karmaşık veri yapılarının ve birden fazla değerin saklanmasına olanak tanır.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1" name="Rounded Rectangle 32"/>
          <p:cNvSpPr/>
          <p:nvPr/>
        </p:nvSpPr>
        <p:spPr>
          <a:xfrm>
            <a:off x="450792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2" name="Rounded Rectangle 33"/>
          <p:cNvSpPr/>
          <p:nvPr/>
        </p:nvSpPr>
        <p:spPr>
          <a:xfrm>
            <a:off x="443484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String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Diziler (Arrays)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Sınıflar (Classes)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Nesneler (Objects)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3" name="Rounded Rectangle 34"/>
          <p:cNvSpPr/>
          <p:nvPr/>
        </p:nvSpPr>
        <p:spPr>
          <a:xfrm>
            <a:off x="802836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4" name="Rounded Rectangle 35"/>
          <p:cNvSpPr/>
          <p:nvPr/>
        </p:nvSpPr>
        <p:spPr>
          <a:xfrm>
            <a:off x="7955280" y="3108960"/>
            <a:ext cx="3702240" cy="3062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ReferansOrnegi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isim = "Java";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int[] sayilar = {10, 20, 30};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System.out.println(isim);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System.out.println(sayilar[0]);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5" name="TextBox 1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Rectangle 79"/>
          <p:cNvSpPr/>
          <p:nvPr/>
        </p:nvSpPr>
        <p:spPr>
          <a:xfrm>
            <a:off x="0" y="0"/>
            <a:ext cx="12186720" cy="6855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7" name="Rectangle 81"/>
          <p:cNvSpPr/>
          <p:nvPr/>
        </p:nvSpPr>
        <p:spPr>
          <a:xfrm>
            <a:off x="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8" name="Rectangle 82"/>
          <p:cNvSpPr/>
          <p:nvPr/>
        </p:nvSpPr>
        <p:spPr>
          <a:xfrm>
            <a:off x="914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9" name="Rectangle 83"/>
          <p:cNvSpPr/>
          <p:nvPr/>
        </p:nvSpPr>
        <p:spPr>
          <a:xfrm>
            <a:off x="1828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0" name="Rectangle 84"/>
          <p:cNvSpPr/>
          <p:nvPr/>
        </p:nvSpPr>
        <p:spPr>
          <a:xfrm>
            <a:off x="2743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1" name="Rectangle 85"/>
          <p:cNvSpPr/>
          <p:nvPr/>
        </p:nvSpPr>
        <p:spPr>
          <a:xfrm>
            <a:off x="3657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2" name="Rectangle 86"/>
          <p:cNvSpPr/>
          <p:nvPr/>
        </p:nvSpPr>
        <p:spPr>
          <a:xfrm>
            <a:off x="4572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3" name="Rectangle 87"/>
          <p:cNvSpPr/>
          <p:nvPr/>
        </p:nvSpPr>
        <p:spPr>
          <a:xfrm>
            <a:off x="5486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4" name="Rectangle 88"/>
          <p:cNvSpPr/>
          <p:nvPr/>
        </p:nvSpPr>
        <p:spPr>
          <a:xfrm>
            <a:off x="6400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5" name="Rectangle 89"/>
          <p:cNvSpPr/>
          <p:nvPr/>
        </p:nvSpPr>
        <p:spPr>
          <a:xfrm>
            <a:off x="7315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6" name="Rectangle 90"/>
          <p:cNvSpPr/>
          <p:nvPr/>
        </p:nvSpPr>
        <p:spPr>
          <a:xfrm>
            <a:off x="8229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7" name="Rectangle 91"/>
          <p:cNvSpPr/>
          <p:nvPr/>
        </p:nvSpPr>
        <p:spPr>
          <a:xfrm>
            <a:off x="9144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8" name="Rectangle 92"/>
          <p:cNvSpPr/>
          <p:nvPr/>
        </p:nvSpPr>
        <p:spPr>
          <a:xfrm>
            <a:off x="10058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9" name="Rectangle 93"/>
          <p:cNvSpPr/>
          <p:nvPr/>
        </p:nvSpPr>
        <p:spPr>
          <a:xfrm>
            <a:off x="10972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0" name="Rectangle 94"/>
          <p:cNvSpPr/>
          <p:nvPr/>
        </p:nvSpPr>
        <p:spPr>
          <a:xfrm>
            <a:off x="11887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1" name="Rectangle 95"/>
          <p:cNvSpPr/>
          <p:nvPr/>
        </p:nvSpPr>
        <p:spPr>
          <a:xfrm>
            <a:off x="0" y="0"/>
            <a:ext cx="317880" cy="6855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2" name="Rounded Rectangle 36"/>
          <p:cNvSpPr/>
          <p:nvPr/>
        </p:nvSpPr>
        <p:spPr>
          <a:xfrm>
            <a:off x="9875520" y="365760"/>
            <a:ext cx="2009520" cy="500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3" name="TextBox 16"/>
          <p:cNvSpPr/>
          <p:nvPr/>
        </p:nvSpPr>
        <p:spPr>
          <a:xfrm>
            <a:off x="1422000" y="1005840"/>
            <a:ext cx="81262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İLKESEL (PRIMITIVE) VE REFERANS TİPLERİ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TextBox 17"/>
          <p:cNvSpPr/>
          <p:nvPr/>
        </p:nvSpPr>
        <p:spPr>
          <a:xfrm>
            <a:off x="1388160" y="2057400"/>
            <a:ext cx="878148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veri tipleri iki ana kategoriye ayrılır: ilkel (primitive) tipler ve referans tipleri.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İlkel tipler gerçek değerleri saklarken, referans tipleri nesnelerin bellek adreslerini saklar.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" name="Rounded Rectangle 37"/>
          <p:cNvSpPr/>
          <p:nvPr/>
        </p:nvSpPr>
        <p:spPr>
          <a:xfrm>
            <a:off x="98748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6" name="Rounded Rectangle 38"/>
          <p:cNvSpPr/>
          <p:nvPr/>
        </p:nvSpPr>
        <p:spPr>
          <a:xfrm>
            <a:off x="457200" y="2971800"/>
            <a:ext cx="3746880" cy="3427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İlkel Tipler (Primitive Types)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İlkel veri tipleri gerçek değeri doğrudan bellekte saklar.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Örnekler: int, double, char, boolean.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 (Reference Types)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 nesnenin kendisini değil, bellekteki adresini saklar.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Örnekler: String, diziler (arrays) ve sınıf nesneleri.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Bellek Saklama (Memory Storage)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İlkel değerler doğrudan bellekte tutulur, referans tipleri ise bellekteki nesnelere işaret eder.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Kullanım Farkı (Usage Difference)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İlkel tipler basit değerler için kullanılırken, referans tipleri daha karmaşık veri yapıları ve nesneler için kullanılır.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7" name="Rounded Rectangle 39"/>
          <p:cNvSpPr/>
          <p:nvPr/>
        </p:nvSpPr>
        <p:spPr>
          <a:xfrm>
            <a:off x="450792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8" name="Rounded Rectangle 40"/>
          <p:cNvSpPr/>
          <p:nvPr/>
        </p:nvSpPr>
        <p:spPr>
          <a:xfrm>
            <a:off x="4343400" y="2971800"/>
            <a:ext cx="3427920" cy="3290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Veri Tipleri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İlkel Tipler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└─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String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Diziler (Arrays)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└─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Nesneler (Objects)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9" name="Rounded Rectangle 41"/>
          <p:cNvSpPr/>
          <p:nvPr/>
        </p:nvSpPr>
        <p:spPr>
          <a:xfrm>
            <a:off x="802836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0" name="Rounded Rectangle 42"/>
          <p:cNvSpPr/>
          <p:nvPr/>
        </p:nvSpPr>
        <p:spPr>
          <a:xfrm>
            <a:off x="7955280" y="3108960"/>
            <a:ext cx="3702240" cy="3062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PrimitiveVsReference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 sayi = 10;           // ilkel tip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fiyat = 19.99;    // ilkel tip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metin = "Java";   // referans tip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int[] sayilar = {1, 2, 3}; // referans tip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System.out.println(sayi);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System.out.println(fiyat);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System.out.println(metin);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System.out.println(sayilar[0]);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1" name="TextBox 18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Rectangle 96"/>
          <p:cNvSpPr/>
          <p:nvPr/>
        </p:nvSpPr>
        <p:spPr>
          <a:xfrm>
            <a:off x="0" y="0"/>
            <a:ext cx="12186720" cy="6855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3" name="Rectangle 97"/>
          <p:cNvSpPr/>
          <p:nvPr/>
        </p:nvSpPr>
        <p:spPr>
          <a:xfrm>
            <a:off x="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4" name="Rectangle 98"/>
          <p:cNvSpPr/>
          <p:nvPr/>
        </p:nvSpPr>
        <p:spPr>
          <a:xfrm>
            <a:off x="914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5" name="Rectangle 99"/>
          <p:cNvSpPr/>
          <p:nvPr/>
        </p:nvSpPr>
        <p:spPr>
          <a:xfrm>
            <a:off x="1828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6" name="Rectangle 100"/>
          <p:cNvSpPr/>
          <p:nvPr/>
        </p:nvSpPr>
        <p:spPr>
          <a:xfrm>
            <a:off x="2743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7" name="Rectangle 101"/>
          <p:cNvSpPr/>
          <p:nvPr/>
        </p:nvSpPr>
        <p:spPr>
          <a:xfrm>
            <a:off x="3657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8" name="Rectangle 102"/>
          <p:cNvSpPr/>
          <p:nvPr/>
        </p:nvSpPr>
        <p:spPr>
          <a:xfrm>
            <a:off x="4572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9" name="Rectangle 103"/>
          <p:cNvSpPr/>
          <p:nvPr/>
        </p:nvSpPr>
        <p:spPr>
          <a:xfrm>
            <a:off x="5486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0" name="Rectangle 104"/>
          <p:cNvSpPr/>
          <p:nvPr/>
        </p:nvSpPr>
        <p:spPr>
          <a:xfrm>
            <a:off x="6400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1" name="Rectangle 105"/>
          <p:cNvSpPr/>
          <p:nvPr/>
        </p:nvSpPr>
        <p:spPr>
          <a:xfrm>
            <a:off x="7315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2" name="Rectangle 106"/>
          <p:cNvSpPr/>
          <p:nvPr/>
        </p:nvSpPr>
        <p:spPr>
          <a:xfrm>
            <a:off x="8229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3" name="Rectangle 107"/>
          <p:cNvSpPr/>
          <p:nvPr/>
        </p:nvSpPr>
        <p:spPr>
          <a:xfrm>
            <a:off x="9144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4" name="Rectangle 108"/>
          <p:cNvSpPr/>
          <p:nvPr/>
        </p:nvSpPr>
        <p:spPr>
          <a:xfrm>
            <a:off x="10058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5" name="Rectangle 109"/>
          <p:cNvSpPr/>
          <p:nvPr/>
        </p:nvSpPr>
        <p:spPr>
          <a:xfrm>
            <a:off x="10972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6" name="Rectangle 110"/>
          <p:cNvSpPr/>
          <p:nvPr/>
        </p:nvSpPr>
        <p:spPr>
          <a:xfrm>
            <a:off x="11887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7" name="Rectangle 111"/>
          <p:cNvSpPr/>
          <p:nvPr/>
        </p:nvSpPr>
        <p:spPr>
          <a:xfrm>
            <a:off x="0" y="0"/>
            <a:ext cx="317880" cy="6855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8" name="Rounded Rectangle 43"/>
          <p:cNvSpPr/>
          <p:nvPr/>
        </p:nvSpPr>
        <p:spPr>
          <a:xfrm>
            <a:off x="9875520" y="365760"/>
            <a:ext cx="2009520" cy="500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9" name="TextBox 19"/>
          <p:cNvSpPr/>
          <p:nvPr/>
        </p:nvSpPr>
        <p:spPr>
          <a:xfrm>
            <a:off x="1252800" y="1005840"/>
            <a:ext cx="846468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DEĞİŞKEN İSİMLENDİRME KURALLARI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0" name="TextBox 20"/>
          <p:cNvSpPr/>
          <p:nvPr/>
        </p:nvSpPr>
        <p:spPr>
          <a:xfrm>
            <a:off x="1866960" y="1828800"/>
            <a:ext cx="72367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Değişken isimlendirme kuralları, Java’da değişkenlerin doğru, anlaşılır ve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okunabilir şekilde yazılmasını sağlayan kurallardır.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1" name="Rounded Rectangle 44"/>
          <p:cNvSpPr/>
          <p:nvPr/>
        </p:nvSpPr>
        <p:spPr>
          <a:xfrm>
            <a:off x="98748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2" name="Rounded Rectangle 45"/>
          <p:cNvSpPr/>
          <p:nvPr/>
        </p:nvSpPr>
        <p:spPr>
          <a:xfrm>
            <a:off x="475560" y="2514600"/>
            <a:ext cx="3728520" cy="3885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Harf, _ veya $ ile Başlamalı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Bir değişken adı bir harf, alt çizgi (_) veya dolar işareti ($) ile başlamalıdır.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Boşluk Kullanılamaz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isimleri boşluk içeremez.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Büyük/Küçük Harf Duyarlılığı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Java'da değişken isimleri büyük-küçük harfe duyarlıdır.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Örneğin age ve Age farklı değişkenlerdir.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Anahtar Kelimeler Kullanılamaz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Java'nın rezerv anahtar kelimeleri (örneğin int, class, public) değişken adı olarak kullanılamaz.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Anlamlı İsimler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isimleri anlamlı ve açıklayıcı olmalıdır.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Bu, kodun okunabilirliğini artırır.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3" name="Rounded Rectangle 46"/>
          <p:cNvSpPr/>
          <p:nvPr/>
        </p:nvSpPr>
        <p:spPr>
          <a:xfrm>
            <a:off x="450792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4" name="Rounded Rectangle 47"/>
          <p:cNvSpPr/>
          <p:nvPr/>
        </p:nvSpPr>
        <p:spPr>
          <a:xfrm>
            <a:off x="443484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İsim Kuralları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Harf / _ / $ ile başlar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Boşluk içermez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Büyük-küçük harf duyarlıdır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Anahtar kelime olamaz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Anlamlı isimler kullanılmalıdır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5" name="Rounded Rectangle 48"/>
          <p:cNvSpPr/>
          <p:nvPr/>
        </p:nvSpPr>
        <p:spPr>
          <a:xfrm>
            <a:off x="802836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6" name="Rounded Rectangle 49"/>
          <p:cNvSpPr/>
          <p:nvPr/>
        </p:nvSpPr>
        <p:spPr>
          <a:xfrm>
            <a:off x="7955280" y="2304000"/>
            <a:ext cx="3931200" cy="3619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DegiskenIsimlendirme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 = 25;                 // geçerli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ogrenciSayisi = 30;       // geçerli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2yas = 20;             // geçersiz (sayı ile başlayamaz)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ogrenci sayisi = 5;    // geçersiz (boşluk kullanılamaz)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class = 10;            // geçersiz (anahtar kelime)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System.out.println(yas);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System.out.println(ogrenciSayisi);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7" name="TextBox 21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Rectangle 112"/>
          <p:cNvSpPr/>
          <p:nvPr/>
        </p:nvSpPr>
        <p:spPr>
          <a:xfrm>
            <a:off x="0" y="0"/>
            <a:ext cx="12186720" cy="6855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9" name="Rectangle 113"/>
          <p:cNvSpPr/>
          <p:nvPr/>
        </p:nvSpPr>
        <p:spPr>
          <a:xfrm>
            <a:off x="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0" name="Rectangle 114"/>
          <p:cNvSpPr/>
          <p:nvPr/>
        </p:nvSpPr>
        <p:spPr>
          <a:xfrm>
            <a:off x="914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1" name="Rectangle 115"/>
          <p:cNvSpPr/>
          <p:nvPr/>
        </p:nvSpPr>
        <p:spPr>
          <a:xfrm>
            <a:off x="1828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2" name="Rectangle 116"/>
          <p:cNvSpPr/>
          <p:nvPr/>
        </p:nvSpPr>
        <p:spPr>
          <a:xfrm>
            <a:off x="2743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3" name="Rectangle 117"/>
          <p:cNvSpPr/>
          <p:nvPr/>
        </p:nvSpPr>
        <p:spPr>
          <a:xfrm>
            <a:off x="3657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4" name="Rectangle 118"/>
          <p:cNvSpPr/>
          <p:nvPr/>
        </p:nvSpPr>
        <p:spPr>
          <a:xfrm>
            <a:off x="4572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5" name="Rectangle 119"/>
          <p:cNvSpPr/>
          <p:nvPr/>
        </p:nvSpPr>
        <p:spPr>
          <a:xfrm>
            <a:off x="5486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6" name="Rectangle 120"/>
          <p:cNvSpPr/>
          <p:nvPr/>
        </p:nvSpPr>
        <p:spPr>
          <a:xfrm>
            <a:off x="6400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7" name="Rectangle 121"/>
          <p:cNvSpPr/>
          <p:nvPr/>
        </p:nvSpPr>
        <p:spPr>
          <a:xfrm>
            <a:off x="7315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8" name="Rectangle 122"/>
          <p:cNvSpPr/>
          <p:nvPr/>
        </p:nvSpPr>
        <p:spPr>
          <a:xfrm>
            <a:off x="8229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9" name="Rectangle 123"/>
          <p:cNvSpPr/>
          <p:nvPr/>
        </p:nvSpPr>
        <p:spPr>
          <a:xfrm>
            <a:off x="9144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0" name="Rectangle 124"/>
          <p:cNvSpPr/>
          <p:nvPr/>
        </p:nvSpPr>
        <p:spPr>
          <a:xfrm>
            <a:off x="10058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1" name="Rectangle 125"/>
          <p:cNvSpPr/>
          <p:nvPr/>
        </p:nvSpPr>
        <p:spPr>
          <a:xfrm>
            <a:off x="10972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2" name="Rectangle 126"/>
          <p:cNvSpPr/>
          <p:nvPr/>
        </p:nvSpPr>
        <p:spPr>
          <a:xfrm>
            <a:off x="11887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3" name="Rectangle 127"/>
          <p:cNvSpPr/>
          <p:nvPr/>
        </p:nvSpPr>
        <p:spPr>
          <a:xfrm>
            <a:off x="0" y="0"/>
            <a:ext cx="317880" cy="6855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4" name="Rounded Rectangle 50"/>
          <p:cNvSpPr/>
          <p:nvPr/>
        </p:nvSpPr>
        <p:spPr>
          <a:xfrm>
            <a:off x="9875520" y="365760"/>
            <a:ext cx="2009520" cy="500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5" name="TextBox 22"/>
          <p:cNvSpPr/>
          <p:nvPr/>
        </p:nvSpPr>
        <p:spPr>
          <a:xfrm>
            <a:off x="2667240" y="1005840"/>
            <a:ext cx="56361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DEĞİŞKEN BAŞLATMA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6" name="TextBox 23"/>
          <p:cNvSpPr/>
          <p:nvPr/>
        </p:nvSpPr>
        <p:spPr>
          <a:xfrm>
            <a:off x="2033640" y="2074680"/>
            <a:ext cx="691956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Değişken başlatma, bir değişken tanımlandığında veya kullanılmadan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önce ona bir değer atanması işlemidir.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7" name="Rounded Rectangle 51"/>
          <p:cNvSpPr/>
          <p:nvPr/>
        </p:nvSpPr>
        <p:spPr>
          <a:xfrm>
            <a:off x="98748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8" name="Rounded Rectangle 52"/>
          <p:cNvSpPr/>
          <p:nvPr/>
        </p:nvSpPr>
        <p:spPr>
          <a:xfrm>
            <a:off x="685800" y="2971800"/>
            <a:ext cx="3518280" cy="3428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Tanımlama (Declaration)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Bir değişken önce veri tipi ve adı ile tanımlanmalıdır.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Başlatma (Initialization)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Başlatma, değişkene ilk değerin atanması anlamına gelir.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Varsayılan Değerler (Default Values)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Bazı değişkenler, veri tiplerine bağlı olarak otomatik olarak varsayılan değerler alabilir.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Kullanımdan Önce (Before Usage)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değişkenler, program içinde kullanılmadan önce başlatılmış olmalıdır.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9" name="Rounded Rectangle 53"/>
          <p:cNvSpPr/>
          <p:nvPr/>
        </p:nvSpPr>
        <p:spPr>
          <a:xfrm>
            <a:off x="450792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0" name="Rounded Rectangle 54"/>
          <p:cNvSpPr/>
          <p:nvPr/>
        </p:nvSpPr>
        <p:spPr>
          <a:xfrm>
            <a:off x="443484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Başlatma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Tanımla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     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 yas;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Değer Ata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     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yas = 20;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Değişkeni Kullan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System.out.println(yas);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1" name="Rounded Rectangle 55"/>
          <p:cNvSpPr/>
          <p:nvPr/>
        </p:nvSpPr>
        <p:spPr>
          <a:xfrm>
            <a:off x="802836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2" name="Rounded Rectangle 56"/>
          <p:cNvSpPr/>
          <p:nvPr/>
        </p:nvSpPr>
        <p:spPr>
          <a:xfrm>
            <a:off x="7955280" y="2971800"/>
            <a:ext cx="3473640" cy="2970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DegiskenBaslatma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yas;        // tanımlama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yas = 20;       // başlatma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fiyat = 19.99;   // tanımlama + başlatma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System.out.println(yas);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System.out.println(fiyat);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3" name="TextBox 24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Rectangle 128"/>
          <p:cNvSpPr/>
          <p:nvPr/>
        </p:nvSpPr>
        <p:spPr>
          <a:xfrm>
            <a:off x="0" y="0"/>
            <a:ext cx="12187800" cy="6856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5" name="Rectangle 129"/>
          <p:cNvSpPr/>
          <p:nvPr/>
        </p:nvSpPr>
        <p:spPr>
          <a:xfrm>
            <a:off x="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6" name="Rectangle 130"/>
          <p:cNvSpPr/>
          <p:nvPr/>
        </p:nvSpPr>
        <p:spPr>
          <a:xfrm>
            <a:off x="914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7" name="Rectangle 131"/>
          <p:cNvSpPr/>
          <p:nvPr/>
        </p:nvSpPr>
        <p:spPr>
          <a:xfrm>
            <a:off x="1828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8" name="Rectangle 132"/>
          <p:cNvSpPr/>
          <p:nvPr/>
        </p:nvSpPr>
        <p:spPr>
          <a:xfrm>
            <a:off x="2743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9" name="Rectangle 133"/>
          <p:cNvSpPr/>
          <p:nvPr/>
        </p:nvSpPr>
        <p:spPr>
          <a:xfrm>
            <a:off x="36576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0" name="Rectangle 134"/>
          <p:cNvSpPr/>
          <p:nvPr/>
        </p:nvSpPr>
        <p:spPr>
          <a:xfrm>
            <a:off x="45720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1" name="Rectangle 135"/>
          <p:cNvSpPr/>
          <p:nvPr/>
        </p:nvSpPr>
        <p:spPr>
          <a:xfrm>
            <a:off x="5486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2" name="Rectangle 136"/>
          <p:cNvSpPr/>
          <p:nvPr/>
        </p:nvSpPr>
        <p:spPr>
          <a:xfrm>
            <a:off x="6400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3" name="Rectangle 137"/>
          <p:cNvSpPr/>
          <p:nvPr/>
        </p:nvSpPr>
        <p:spPr>
          <a:xfrm>
            <a:off x="7315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4" name="Rectangle 138"/>
          <p:cNvSpPr/>
          <p:nvPr/>
        </p:nvSpPr>
        <p:spPr>
          <a:xfrm>
            <a:off x="82296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5" name="Rectangle 139"/>
          <p:cNvSpPr/>
          <p:nvPr/>
        </p:nvSpPr>
        <p:spPr>
          <a:xfrm>
            <a:off x="91440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6" name="Rectangle 140"/>
          <p:cNvSpPr/>
          <p:nvPr/>
        </p:nvSpPr>
        <p:spPr>
          <a:xfrm>
            <a:off x="10058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7" name="Rectangle 141"/>
          <p:cNvSpPr/>
          <p:nvPr/>
        </p:nvSpPr>
        <p:spPr>
          <a:xfrm>
            <a:off x="10972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8" name="Rectangle 142"/>
          <p:cNvSpPr/>
          <p:nvPr/>
        </p:nvSpPr>
        <p:spPr>
          <a:xfrm>
            <a:off x="11887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9" name="Rectangle 143"/>
          <p:cNvSpPr/>
          <p:nvPr/>
        </p:nvSpPr>
        <p:spPr>
          <a:xfrm>
            <a:off x="0" y="0"/>
            <a:ext cx="318960" cy="6856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0" name="Rounded Rectangle 57"/>
          <p:cNvSpPr/>
          <p:nvPr/>
        </p:nvSpPr>
        <p:spPr>
          <a:xfrm>
            <a:off x="9875520" y="365760"/>
            <a:ext cx="2010600" cy="501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1" name="TextBox 25"/>
          <p:cNvSpPr/>
          <p:nvPr/>
        </p:nvSpPr>
        <p:spPr>
          <a:xfrm>
            <a:off x="2837520" y="1005840"/>
            <a:ext cx="52988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WRAPPER SINIFLARI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2" name="TextBox 26"/>
          <p:cNvSpPr/>
          <p:nvPr/>
        </p:nvSpPr>
        <p:spPr>
          <a:xfrm>
            <a:off x="3007440" y="2194560"/>
            <a:ext cx="495720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Wrapper sınıfları, Java’da primitive veri tiplerinin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nesne (object) olarak kullanılmasını sağlar.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3" name="Rounded Rectangle 58"/>
          <p:cNvSpPr/>
          <p:nvPr/>
        </p:nvSpPr>
        <p:spPr>
          <a:xfrm>
            <a:off x="98748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4" name="Rounded Rectangle 59"/>
          <p:cNvSpPr/>
          <p:nvPr/>
        </p:nvSpPr>
        <p:spPr>
          <a:xfrm>
            <a:off x="685800" y="3108960"/>
            <a:ext cx="3519360" cy="3291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Wrapper sınıfları primitive değerleri nesnelere dönüştürür.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Genellikle koleksiyonlarda ve nesne tabanlı işlemlerde kullanılır.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Wrapper örnekleri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Integer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Double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Character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Boolean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Wrapper sınıfları dönüşüm ve veri işleme için kullanışlı metodlar sağlar.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5" name="Rounded Rectangle 60"/>
          <p:cNvSpPr/>
          <p:nvPr/>
        </p:nvSpPr>
        <p:spPr>
          <a:xfrm>
            <a:off x="450792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6" name="Rounded Rectangle 61"/>
          <p:cNvSpPr/>
          <p:nvPr/>
        </p:nvSpPr>
        <p:spPr>
          <a:xfrm>
            <a:off x="4434840" y="310896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Değer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Wrapper Sınıfına Dönüştürme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Nesne Temsili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Koleksiyonlarda / Metotlarda Kullanım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 → Integer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boolean → Boolean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7" name="Rounded Rectangle 62"/>
          <p:cNvSpPr/>
          <p:nvPr/>
        </p:nvSpPr>
        <p:spPr>
          <a:xfrm>
            <a:off x="802836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8" name="Rounded Rectangle 63"/>
          <p:cNvSpPr/>
          <p:nvPr/>
        </p:nvSpPr>
        <p:spPr>
          <a:xfrm>
            <a:off x="7955280" y="2743200"/>
            <a:ext cx="3474720" cy="3657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WrapperOrnek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wrapperNumber = number;   // otomatik kutulama (autoboxing)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19.99;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wrapperPrice = price;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System.out.println(wrapperNumber);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System.out.println(wrapperPrice);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9" name="TextBox 27"/>
          <p:cNvSpPr/>
          <p:nvPr/>
        </p:nvSpPr>
        <p:spPr>
          <a:xfrm>
            <a:off x="4600080" y="6446520"/>
            <a:ext cx="3051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45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2026-03-12T19:27:25Z</dcterms:modified>
  <cp:revision>11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