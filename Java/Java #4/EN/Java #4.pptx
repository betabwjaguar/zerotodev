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12AC72B-727B-4BFD-85F8-23C474DC4F6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7A13331-B85D-418D-BD1C-5098075702C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04579F1-4313-4365-AEFD-DB7088B37D0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F91DAA8-73FE-45D7-A23C-6FA0B4C5905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745421F-0D34-4056-9F5E-30D041E1881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A7945CF-0E77-4E2E-AB38-CB89B34F9C9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8447E07-6035-44BA-9B0A-3227A326FB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E29264-B8FB-499A-9C09-0268D587DBB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EC3799B-30C7-495F-BBBE-74192E3EBDF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D738263-6C67-4AC5-84A4-B3F15A69619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3716022-F49F-4F57-BBB1-17559D0DF47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AD701E2-4E48-488A-89CE-7DF58C58CC3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576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6D66582-27E5-4F63-823B-4136FDA151CD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4000" cy="355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3280" cy="364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17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18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19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20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21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22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23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24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25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26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27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28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9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0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31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2480" cy="3054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2971800"/>
            <a:ext cx="328248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5040" cy="3054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33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34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35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36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37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38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39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40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41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42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43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44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45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46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47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685800" y="2971800"/>
            <a:ext cx="3511080" cy="319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2971800"/>
            <a:ext cx="328248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5040" cy="3054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685800" y="2971800"/>
            <a:ext cx="3511080" cy="319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2971800"/>
            <a:ext cx="328248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92436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743200"/>
            <a:ext cx="3739680" cy="387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248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67520" cy="2736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39320" cy="410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2120" cy="387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286000"/>
            <a:ext cx="3650760" cy="4107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79520" cy="68486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9000" cy="68486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0680" cy="68486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2320" cy="4935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466280" y="914400"/>
            <a:ext cx="8035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767600" y="1694880"/>
            <a:ext cx="7950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79720" cy="387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25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2480" cy="27338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1120" cy="4108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1964160" y="1664640"/>
            <a:ext cx="7572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2743200"/>
            <a:ext cx="32821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743200"/>
            <a:ext cx="32821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46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699280" y="914400"/>
            <a:ext cx="5568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148480" y="1694880"/>
            <a:ext cx="7270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1760" cy="3285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3200400"/>
            <a:ext cx="3281760" cy="3193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0000" cy="3420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1072440" y="914400"/>
            <a:ext cx="8822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2043720" y="1694880"/>
            <a:ext cx="7481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07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212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1000" y="2743200"/>
            <a:ext cx="342360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705600" y="914400"/>
            <a:ext cx="955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3: Shortcuts &amp; Strings)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482480" y="1694880"/>
            <a:ext cx="8602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offers shortcut operators to combine math and assignment into a single step, keeping code clean.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the + operator has a dual identity: it performs mathematical addition for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numbers, but acts as a "glue" (concatenation) for Strings.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07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Compound Assignment: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Combines arithmetic with assignment: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Ex: x += 5 is the exact shorthand for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Pro-Tip: They automatically handle type casting behind the scenes (e.g., adding an int to a byte without errors).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The Dual Role of +: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Number + Number = Math (Addition).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Anything = Text (Concatenation).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flows strictly from Left to Right. If a String appears first, everything after it turns into text!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212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Left-to-Right Execution of +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1: 10 + 5 + "A"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Math! 10 + 5 = 15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15 + "A" =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2: "A" + 10 + 5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Text! "A" + 10 = "A10"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"A10" + 5 = "A105"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"A105" (Not A15!)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743200"/>
            <a:ext cx="342360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ArithmeticTricks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score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score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CONCATENATION TRAPS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numbers -&gt;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String -&gt; All Text!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Brackets force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68400" y="914400"/>
            <a:ext cx="54298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Tricky Details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1257120" y="1694880"/>
            <a:ext cx="90522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data types behave behind the scenes during math operations prevents critical bugs.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Division by zero rules, character arithmetic, and implicit type promotion are the most common traps in Java.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07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Zero Division (The Crash Trap):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an integer (int) by 0 crashes the app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 decimal (double) by 0 does not crash; it safely returns Infinity or NaN (Not a Number).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Char Arithmetic: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types hold numeric values (ASCII) behind the scenes. Adding chars performs math, it does not concatenate text. (Ex: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Implicit Type Promotion: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When adding two byte or short values, Java automatically promotes the result to an int. Assigning the result directly back to a byte causes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212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Behind the Scenes Data Conversions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Division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ERROR!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Result: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Result: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Math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Addition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ERROR! (Result is int)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292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ArithmeticNuances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1. ZERO DIVISION TRAP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crash = 5 / 0; // Throws Exception!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infinity = 5.0 / 0;   // Infinity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undefined = 0.0 / 0.0;// NaN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MATH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 // ASCII value is 65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charSum = letter + 5; // Result: 70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nextLetter = (char) (letter + 1); // 'B'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3. IMPLICIT INT PROMOTION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Compile Error!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total = b1 + b2; // Correct way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infinity);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undefined);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 + 5 = " + charSum);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34680" y="914400"/>
            <a:ext cx="7897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Math: Restaurant Bill Splitter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296000" y="1694880"/>
            <a:ext cx="8974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arithmetic operators are the engine of business logic. Let's build a mini-app that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calculates a restaurant bill, applies a discount, adds tax/tip using compound operators,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and safely splits the final cost among friends.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19608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Mapping Operators to Business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Accumulation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add multiple items to a shopping cart or a digital bill.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Discounts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subtract coupons or promotional deductions.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Tax &amp; Tip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apply percentages. Multiplying by 1.25 instantly adds a 25% increase to the existing total.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Fair Split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divide the final double amount by the number of guests.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212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Billing Workflow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Open Table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Add Orders (Accumulate)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+= itemPrice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Apply Promo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-= discount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Tax &amp;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*= 1.25 (adds 25%)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Split the Bill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perPerson = bill / guests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360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RestaurantBill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Initial State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bill = 0.0;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guests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Add Items (Compound Addition)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25.50; // Pizza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14.00; // Pasta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10.50; // Drinks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Subtotal is now 50.00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Apply a $5 Coupon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-= 5.00;  // Subtotal is 45.00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Apply 25% Tax &amp; Tip together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Multiplies current bill by 1.25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*= 1.25;  // Final total: 56.25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5. Split among guests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perPerson = bill / guests;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System.out.println("Total: $" + bill);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System.out.println("Each pays: $" + perPerson);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9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1859040" y="732600"/>
            <a:ext cx="724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Final Summary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876240" y="1600200"/>
            <a:ext cx="98143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the foundation of data manipulation and business logic in Java. Choosing the right operator,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watching your data types, and understanding execution precedence are the golden rules for bug-free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00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1"/>
          <p:cNvSpPr/>
          <p:nvPr/>
        </p:nvSpPr>
        <p:spPr>
          <a:xfrm>
            <a:off x="685800" y="2971800"/>
            <a:ext cx="319608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Golden Rules to Remember: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5: +, -, *, /, and % (Modulo).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Precedence: Multiplication, division, and modulo always run before addition/subtraction. Parentheses () override all rules.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Division Trap: Dividing two integers (int) always drops the decimal. For precision, at least one operand must be a double.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Shortcuts: ++/-- (increment/decrement) and +=/*= (compound assignments) make code much cleaner and easier to read.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2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3"/>
          <p:cNvSpPr/>
          <p:nvPr/>
        </p:nvSpPr>
        <p:spPr>
          <a:xfrm>
            <a:off x="4257360" y="2971800"/>
            <a:ext cx="328212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Developer's Checklist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Checking for Odd or Even?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% 2!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Need decimals in a division?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Make one number a double (e.g., 2.0)!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Want to force execution order?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 the math in parentheses ()!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Updating an existing variable?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 x += 5 instead of x = x + 5!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ounded Rectangle 104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105"/>
          <p:cNvSpPr/>
          <p:nvPr/>
        </p:nvSpPr>
        <p:spPr>
          <a:xfrm>
            <a:off x="8001000" y="2514600"/>
            <a:ext cx="342360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ArithmeticSummary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Precedence &amp;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Remainder of 15 / 4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(num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Decimal Division (Precision)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Using 4.0 prevents int truncation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div = num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Compound &amp; Increment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 += 5; // Becomes 15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num++;    // Becomes 16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result);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Num: " + num);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6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2597400" y="732600"/>
            <a:ext cx="5771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522720" y="1600200"/>
            <a:ext cx="10521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are used to store values into variables. Unlike arithmetic operations, assignment evaluates strictly from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Right to Left. Java also provides "compound" operators that merge math and assignment into a single step.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7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8"/>
          <p:cNvSpPr/>
          <p:nvPr/>
        </p:nvSpPr>
        <p:spPr>
          <a:xfrm>
            <a:off x="685800" y="2971800"/>
            <a:ext cx="319608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Basic Assignment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Assigns the right-side value to the left-side variable. The left side must be a variable, not a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Chaining: You can assign multiple variables at once (e.g.,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Compound Assignment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is exactly the same as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 (Implicit Casting): Compound operators automatically convert data types behind the scenes. Adding an int to a byte using += will not throw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9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10"/>
          <p:cNvSpPr/>
          <p:nvPr/>
        </p:nvSpPr>
        <p:spPr>
          <a:xfrm>
            <a:off x="4257360" y="2971800"/>
            <a:ext cx="328212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Right-to-Left Execution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Calculate right side (15)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Store 15 into left side (x)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Compound Assignment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Expand to x = x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Calculate 15 + 5 (20)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3: Store 20 back into x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Rounded Rectangle 111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112"/>
          <p:cNvSpPr/>
          <p:nvPr/>
        </p:nvSpPr>
        <p:spPr>
          <a:xfrm>
            <a:off x="8001000" y="2514600"/>
            <a:ext cx="342360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&amp; CHAINED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Evaluates Right-to-Left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60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-= 20; // score = 40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20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CASTING MAGIC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tinyNum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tinyNum = tinyNum + 5; // Compile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tinyNum += 5; // Works perfectly! (Becomes 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and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value: " + tinyNum);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3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756800" y="732600"/>
            <a:ext cx="7452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2: Traps &amp; Advanced)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926280" y="1466280"/>
            <a:ext cx="9729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critical bugs in assignments arise from confusing the assignment operator (=) with the equality check (==).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compound assignments aren't limited to basic math; they can also be combined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bitwise operators for advanced binary calculations.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4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5"/>
          <p:cNvSpPr/>
          <p:nvPr/>
        </p:nvSpPr>
        <p:spPr>
          <a:xfrm>
            <a:off x="685800" y="2743200"/>
            <a:ext cx="319608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The Ultimate Trap (= vs ==):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 (Single Equals): Assigns a value. Copies the right side to the left.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(Double Equals): Compares values. Evaluates to true or false.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Danger: If you accidentally assign a boolean inside an if statement, Java won't crash; it performs the assignment and automatically executes the block!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Assignments: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Operates on numbers at the raw binary level (1s and 0s).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AND), |= (Bitwise OR), ^= (Bitwise XOR).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(Left Shift): A highly optimized, fast way to multiply a number by powers of 2.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6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7"/>
          <p:cNvSpPr/>
          <p:nvPr/>
        </p:nvSpPr>
        <p:spPr>
          <a:xfrm>
            <a:off x="4257360" y="2743200"/>
            <a:ext cx="32821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= vs == Logic Trap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Wrong (Assignment inside if)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 true) ➔ CHANGES VALUE!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isOpen becomes true, block RUNS.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Correct (Comparison)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boolean isOpen = false;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(isOpen == true) ➔ ONLY CHECKS!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Condition is false, block SKIPS.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Rounded Rectangle 118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119"/>
          <p:cNvSpPr/>
          <p:nvPr/>
        </p:nvSpPr>
        <p:spPr>
          <a:xfrm>
            <a:off x="8001000" y="2514600"/>
            <a:ext cx="342360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AdvancedAssignments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THE = vs == TRAP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Accidental assignment instead of ==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isAdmin is now true!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System.out.println("Access Granted!");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Binary: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AND operation with 3 (0011)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Result becomes 0001 (Which is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SHIFT ASSIGNMENT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Shift left by 1 (Multiply by 2)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System.out.println("Shifted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20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1433520" y="732600"/>
            <a:ext cx="81000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 (Part 3: References &amp; Memory)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921960" y="1466280"/>
            <a:ext cx="9736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the assignment operator (=) creates a perfect, independent copy of the value for primitive types (int, double),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it behaves differently for Arrays and Objects. For these complex types, it only copies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memory address (reference), meaning both variables will point to the exact same data.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1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2"/>
          <p:cNvSpPr/>
          <p:nvPr/>
        </p:nvSpPr>
        <p:spPr>
          <a:xfrm>
            <a:off x="685800" y="2743200"/>
            <a:ext cx="319608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Value vs. Reference Assignment: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Primitives (Value Copy): int a = b; copies the actual number. Changing one does not affect the other. They are fully independent.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References (Shared Address): int[] a = b; shares the same memory box. Modifying one variable instantly modifies the other!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Assignment Evaluates to a Value: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Every assignment in Java evaluates to the value being assigned.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Ex: System.out.println(x = 5); assigns 5 to x AND prints 5 to the console. This rule is what makes chained assignments (a = b = 5) possible.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3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4"/>
          <p:cNvSpPr/>
          <p:nvPr/>
        </p:nvSpPr>
        <p:spPr>
          <a:xfrm>
            <a:off x="4257360" y="2743200"/>
            <a:ext cx="32821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Primitive vs Reference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Primitive Type (Independent)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Only y changes. (x remains 10)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Reference Type (Shared Memory)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BOTH CHANGE! (a[0] becomes 99 too)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Rounded Rectangle 125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ounded Rectangle 126"/>
          <p:cNvSpPr/>
          <p:nvPr/>
        </p:nvSpPr>
        <p:spPr>
          <a:xfrm>
            <a:off x="8001000" y="2514600"/>
            <a:ext cx="342360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AssignReferences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num2 = num1; // Value is copied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(ARRAY)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arr2 = arr1; // Address is shared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Modifying arr2 also modifies arr1!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arr2[0]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RETURN VALUE OF ASSIGNMENT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Assigns 5 to x AND prints it directly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is: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System.out.println("num1: " + num1);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System.out.println("arr1[0]: " + arr1[0]);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273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74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75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76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77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278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279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280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281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282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283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284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285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86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87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88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7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55"/>
          <p:cNvSpPr/>
          <p:nvPr/>
        </p:nvSpPr>
        <p:spPr>
          <a:xfrm>
            <a:off x="1849680" y="732600"/>
            <a:ext cx="72662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Object States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6"/>
          <p:cNvSpPr/>
          <p:nvPr/>
        </p:nvSpPr>
        <p:spPr>
          <a:xfrm>
            <a:off x="1215000" y="1466280"/>
            <a:ext cx="91497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dictates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to detach a variable from an object (using 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or lock its memory address (using final) is crucial for effective memory management.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128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129"/>
          <p:cNvSpPr/>
          <p:nvPr/>
        </p:nvSpPr>
        <p:spPr>
          <a:xfrm>
            <a:off x="685800" y="2514600"/>
            <a:ext cx="3196080" cy="4112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1. Mutating vs. Reassigning: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Mutating: Changing the internal data of an existing object (e.g., arr[0] = 5;). The memory address stays the same.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Reassigning: Pointing the variable to a completely new object (e.g., arr = new int[]{1, 2};). The old memory address is abandoned.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2. The null Assignment: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Assigning null to a reference variable completely disconnects it from the object.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an object in memory has zero variables pointing to it, the Garbage Collector (GC) automatically deletes it to free up RAM.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3. The final Reference Trap: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a reference variable is marked final, you cannot reassign it to a new memory address using =.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However, you can still mutate (modify) its internal data!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130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131"/>
          <p:cNvSpPr/>
          <p:nvPr/>
        </p:nvSpPr>
        <p:spPr>
          <a:xfrm>
            <a:off x="4257360" y="2743200"/>
            <a:ext cx="32821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MEMORY STATE TRACKER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1: int[] x = {100};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2: int[] y = 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ACTION 3: x = null;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[x] ----&gt; [ NULL / EMPTY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[y] ----&gt; (Heap Memory: {100})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Data survives because 'y' still holds it!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Rounded Rectangle 132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ounded Rectangle 133"/>
          <p:cNvSpPr/>
          <p:nvPr/>
        </p:nvSpPr>
        <p:spPr>
          <a:xfrm>
            <a:off x="8001000" y="2514600"/>
            <a:ext cx="342360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1: SURVIVING NULL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dataA = { 50 };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dataB = dataA; // Share address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dataA = null; // Cut connection for A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Will this crash? No! B still has it.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System.out.println("DataB: " + dataB[0]);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50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CASE 2: FINAL REFERENCE ---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final StringBuilder text = new StringBuilder("A");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ERROR: Cannot assign new memory!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text = new StringBuilder("B");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SUCCESS: Can mutate internal state!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text.append("B"); 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System.out.println("Text: " + text);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Output: AB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289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90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91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92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93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294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295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296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297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298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299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300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301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302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303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304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134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Box 58"/>
          <p:cNvSpPr/>
          <p:nvPr/>
        </p:nvSpPr>
        <p:spPr>
          <a:xfrm>
            <a:off x="1361880" y="732600"/>
            <a:ext cx="8241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Operators: Memory &amp; Reference Management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59"/>
          <p:cNvSpPr/>
          <p:nvPr/>
        </p:nvSpPr>
        <p:spPr>
          <a:xfrm>
            <a:off x="1068120" y="1466280"/>
            <a:ext cx="9442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When working with objects, the assignment operator (=) determines which memory address a variable points to.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effective memory management, understanding how to detach 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variable from an object (null) or lock its memory address (final) is crucial.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Rounded Rectangle 135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ounded Rectangle 136"/>
          <p:cNvSpPr/>
          <p:nvPr/>
        </p:nvSpPr>
        <p:spPr>
          <a:xfrm>
            <a:off x="685800" y="2514600"/>
            <a:ext cx="3196080" cy="4112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For primitive types (int, double), the = operator copies the value. However, for objects (Object, Array), it only copies the "address" (reference) in memory. Knowing this behavior is essential to manage objects in memory properly.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Copy (Primitives): Creates fully independent copies. Changing one doesn't affect the other.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Sharing (Objects): Two variables link to the same memory box. A change in one instantly hits the other!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Detaching (null): Cuts the variable's link to the memory address. Objects with no variables holding them are deleted by the Garbage Collector (GC).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Locking Address (final): Forbids assigning the variable to a new memory address. But beware: Data inside the object can still be modified.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Rounded Rectangle 137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ounded Rectangle 138"/>
          <p:cNvSpPr/>
          <p:nvPr/>
        </p:nvSpPr>
        <p:spPr>
          <a:xfrm>
            <a:off x="4485960" y="2976120"/>
            <a:ext cx="2827080" cy="2965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Reference Sharing &amp; Mutation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(Memory Box: { 5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(Both point to same)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(Memory Box is now { 9 })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Printing b[0] outputs 9!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Rounded Rectangle 139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ounded Rectangle 140"/>
          <p:cNvSpPr/>
          <p:nvPr/>
        </p:nvSpPr>
        <p:spPr>
          <a:xfrm>
            <a:off x="8001000" y="2514600"/>
            <a:ext cx="342360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MemoryManagement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PRIMITIVE (Independent Copy)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is unaffected, still 10!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REFERENCE (Shared Address)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99; // arrA's content is also 99!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DETACHING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the link for 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arrB still holds data, so it survives.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ADDRESS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 1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7; // SUCCESS! Content changed.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Rectangle 305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306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307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308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309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310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311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312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313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314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315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316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317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318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319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320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141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Box 61"/>
          <p:cNvSpPr/>
          <p:nvPr/>
        </p:nvSpPr>
        <p:spPr>
          <a:xfrm>
            <a:off x="2553480" y="732600"/>
            <a:ext cx="58579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Joint Bank Accounts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62"/>
          <p:cNvSpPr/>
          <p:nvPr/>
        </p:nvSpPr>
        <p:spPr>
          <a:xfrm>
            <a:off x="2229120" y="1466280"/>
            <a:ext cx="71200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To understand memory references, think of everyday banking. Primitives are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like cash in separate wallets; spending from one doesn't affect the other.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Reference types are like two debit cards linked to the exact same joint bank account.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ounded Rectangle 142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ounded Rectangle 143"/>
          <p:cNvSpPr/>
          <p:nvPr/>
        </p:nvSpPr>
        <p:spPr>
          <a:xfrm>
            <a:off x="688320" y="2743920"/>
            <a:ext cx="31960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BANKING ANALOGY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Cash (Primitives): You and a friend both have a $100 bill. If your friend buys a coffee, your $100 is perfectly safe. (Independent copies).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Joint Account (References): A husband and wife have different debit cards pointing to one account. If the husband withdraws $50, the wife's balance instantly drops too!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Losing a Card (null): If the husband destroys his card (null), the actual bank vault isn't deleted. The wife can still access the money.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Fixed Account (final): A card strictly locked to one specific vault. You can't link it to a new bank, but you can still add/remove money from that vault.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Rounded Rectangle 144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ounded Rectangle 145"/>
          <p:cNvSpPr/>
          <p:nvPr/>
        </p:nvSpPr>
        <p:spPr>
          <a:xfrm>
            <a:off x="4485960" y="2976120"/>
            <a:ext cx="2827080" cy="319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The Joint Account Logic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wifeCard = { 500 };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[Wife's Card] -----&gt; (Vault: $500)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double[] husbandCard = wifeCard;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[Husband's Card] --/ (Same Vault)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husbandCard[0] -= 100;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(Vault drops to $400)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The wife checks her balance and sees $400. The spending affected both!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Rounded Rectangle 146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ounded Rectangle 147"/>
          <p:cNvSpPr/>
          <p:nvPr/>
        </p:nvSpPr>
        <p:spPr>
          <a:xfrm>
            <a:off x="7772400" y="2514600"/>
            <a:ext cx="388440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BankingApp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CASH (Primitive - Independent)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myWallet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friendWallet = myWallet;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friendWallet -= 20; // My wallet is still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JOINT ACCOUNT (Reference - Shared)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jointAccount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wifeCard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husbandCard = jointAccount;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husbandCard[0] -= 200; // Husband spends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LOST CARD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husbandCard = null; // Card destroyed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Vault is safe! Wife still sees 800.0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System.out.println("Wife: $" + wifeCard[0]);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LOCKED CARD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businessVault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businessVault = new double[]{ 0 }; // ERROR!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businessVault[0] += 500; // SUCCESS! (Deposit)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Rectangle 321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22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23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24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25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326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327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328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329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330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331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332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333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34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35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36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ounded Rectangle 148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Box 64"/>
          <p:cNvSpPr/>
          <p:nvPr/>
        </p:nvSpPr>
        <p:spPr>
          <a:xfrm>
            <a:off x="1654920" y="732600"/>
            <a:ext cx="765648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Assignment &amp; Reference Management: Final Summary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Box 65"/>
          <p:cNvSpPr/>
          <p:nvPr/>
        </p:nvSpPr>
        <p:spPr>
          <a:xfrm>
            <a:off x="2430360" y="1371600"/>
            <a:ext cx="672228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Assignment operators (=) are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storing data and managing memory. Knowing the critical difference between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value copying in primitives and address sharing in objects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is the golden rule of bug-free Java coding.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Rounded Rectangle 149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ounded Rectangle 150"/>
          <p:cNvSpPr/>
          <p:nvPr/>
        </p:nvSpPr>
        <p:spPr>
          <a:xfrm>
            <a:off x="688680" y="2820240"/>
            <a:ext cx="31960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DEVELOPER CHECKLIST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Flows Right-to-Left: Assignment always calculates the right side first, then writes the result to the left (a = 5 + 2;).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Ultimate Trap: Using = (assignment) instead of == (comparison) inside if statements won't crash the code, but completely ruins the logic.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Compound Power: Operators like += shorten your code and perform crucial automatic type casting behind the scenes.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Value vs. Address: Primitives (int) are fully independent. Objects (arrays, classes) share the exact same memory address.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Rounded Rectangle 151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ounded Rectangle 152"/>
          <p:cNvSpPr/>
          <p:nvPr/>
        </p:nvSpPr>
        <p:spPr>
          <a:xfrm>
            <a:off x="4343400" y="2976120"/>
            <a:ext cx="2827080" cy="319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The Debugging Map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Did you copy an array, and changing one modified the other?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Cause: = only copies the address. They are linked to the same vault!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Getting a compile error when adding numbers to a byte?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Use x += 5 instead of x = x + 5. Java handles the casting!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Want to get rid of a memory-heavy object?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Assign null to the variable. Let the Garbage Collector (GC) erase it.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Rounded Rectangle 153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ounded Rectangle 154"/>
          <p:cNvSpPr/>
          <p:nvPr/>
        </p:nvSpPr>
        <p:spPr>
          <a:xfrm>
            <a:off x="7671960" y="2286360"/>
            <a:ext cx="352800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AssignmentSummary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 (Auto Casting)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would throw an ERROR!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THE LOGIC TRAP (= vs ==)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active = false;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if(active = true) -&gt; WRONG USE!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(active == true) { /* Correct */ 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REFERENCE SHARING (Shared Address)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arrA = { 1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int[] arrB = arrA; // Address shared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arrB[0] = 9; // arrA[0] becomes 9 too!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MEMORY CLEANUP &amp; LOCK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arrA = null; // Cut connection (ready for GC)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locked = { 5 };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locked = new int[]{1}; // ERROR! (Address locked)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locked[0] = 8; // SUCCESS! (Content mutable)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Rectangle 337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38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39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40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41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342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343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344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345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346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347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348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349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50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51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52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ounded Rectangle 155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TextBox 67"/>
          <p:cNvSpPr/>
          <p:nvPr/>
        </p:nvSpPr>
        <p:spPr>
          <a:xfrm>
            <a:off x="3484440" y="732600"/>
            <a:ext cx="39960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in Java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68"/>
          <p:cNvSpPr/>
          <p:nvPr/>
        </p:nvSpPr>
        <p:spPr>
          <a:xfrm>
            <a:off x="1586160" y="1371600"/>
            <a:ext cx="84110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are used to compare two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They evaluate the relationship between operands and always return a boolean result (true or false),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forming the backbone of decision-making (if-else blocks and loops) in programming.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Rounded Rectangle 156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ounded Rectangle 157"/>
          <p:cNvSpPr/>
          <p:nvPr/>
        </p:nvSpPr>
        <p:spPr>
          <a:xfrm>
            <a:off x="688680" y="2820240"/>
            <a:ext cx="31960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COMPARISON RULES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Primitive Value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Works natively on all numeric types (int, double, char).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(is equal) and != (not equal).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(boundary checks).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Evaluates purely based on the mathematical value.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Reference / Object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 Objects (like Strings), == only checks if they share the same memory address (identity).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check if the actual text content of two objects is identical, you must bypass == and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Rounded Rectangle 158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ounded Rectangle 159"/>
          <p:cNvSpPr/>
          <p:nvPr/>
        </p:nvSpPr>
        <p:spPr>
          <a:xfrm>
            <a:off x="4343400" y="2976120"/>
            <a:ext cx="2827080" cy="319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LOGIC EVALUATION TRACE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Context: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1: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They are indeed different.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2: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Safe. 10 is not greater than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TRACE 3: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Evaluation: AddressA == AddressB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Verdict: TRAP! Contents match, but pointers differ.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0" name="Rounded Rectangle 160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ounded Rectangle 161"/>
          <p:cNvSpPr/>
          <p:nvPr/>
        </p:nvSpPr>
        <p:spPr>
          <a:xfrm>
            <a:off x="7671960" y="2286000"/>
            <a:ext cx="352836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RelationalOps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BASIC COMPARISONS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 // false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isNotEqual = (a != b);//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isLess = (a &lt;= b);    // true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CONDITIONAL BLOCKS (IF-ELSE)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is 10 or more");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STRING TRAP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Different memory addresses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(s1 == 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Correct way to compare text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s1.equals(s2);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System.out.println("Good Match: " + goodCompare);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2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Rectangle 353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54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55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56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57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358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359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360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361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362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363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364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365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366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367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368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ounded Rectangle 162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TextBox 70"/>
          <p:cNvSpPr/>
          <p:nvPr/>
        </p:nvSpPr>
        <p:spPr>
          <a:xfrm>
            <a:off x="2286000" y="656640"/>
            <a:ext cx="641124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2: Advanced Traps)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Box 71"/>
          <p:cNvSpPr/>
          <p:nvPr/>
        </p:nvSpPr>
        <p:spPr>
          <a:xfrm>
            <a:off x="1828800" y="1222920"/>
            <a:ext cx="816012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relational operators are not limited to numbers; they can also compare characters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using their underlying ASCII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However, using these operators on object-based numbers (Integer) or writing chained conditions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mathematically can lead to critical compile-time or logic errors.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Rounded Rectangle 163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ounded Rectangle 164"/>
          <p:cNvSpPr/>
          <p:nvPr/>
        </p:nvSpPr>
        <p:spPr>
          <a:xfrm>
            <a:off x="688680" y="2514600"/>
            <a:ext cx="3425400" cy="388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Comparison: Comparing characters (like 'a', 'b') actually compares their underlying ASCII decimal values. (Ex: 'a' &lt; 'b' evaluates to 97 &lt; 98, returning true).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Chaining Error: In Java, you cannot write 10 &lt; x &lt; 20 mathematically (causes a compile error). You must combine individual boundaries using logical operators: 10 &lt; x &amp;&amp; x &lt; 20.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Integer Caching Trap: When comparing Integer objects with ==, it only works for values between -128 and 127 due to caching. Outside this range, == compares memory references and fails. Always use .equals().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Rounded Rectangle 165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ounded Rectangle 166"/>
          <p:cNvSpPr/>
          <p:nvPr/>
        </p:nvSpPr>
        <p:spPr>
          <a:xfrm>
            <a:off x="4441680" y="2967120"/>
            <a:ext cx="2827080" cy="319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Safe Comparison Methods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int, double (Primitives)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== or != (Always 100% safe)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char (Characters)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&lt; or &gt; (Compares ASCII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Type: String or Integer (Objects)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Method: Always use .equals()! (Avoids memory traps)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Rounded Rectangle 167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ounded Rectangle 168"/>
          <p:cNvSpPr/>
          <p:nvPr/>
        </p:nvSpPr>
        <p:spPr>
          <a:xfrm>
            <a:off x="7671960" y="2286000"/>
            <a:ext cx="352836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AdvancedRelational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CHAR COMPARISON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charComp = (c1 &lt; c2);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CHAINING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error = 10 &lt; x &lt; 20; // COMPILE ERROR!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correct = (10 &lt; x) &amp;&amp; (x &lt; 20);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CACHING TRAP (-128 to 127)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equalCached = (n1 == n2);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equalTrap = (n3 == n4);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properEqual = n3.equals(n4);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equalTrap);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properEqual);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8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Rectangle 369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70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371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372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373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374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375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376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377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378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ectangle 379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380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381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382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383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384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ounded Rectangle 169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6" name="TextBox 73"/>
          <p:cNvSpPr/>
          <p:nvPr/>
        </p:nvSpPr>
        <p:spPr>
          <a:xfrm>
            <a:off x="1711440" y="656640"/>
            <a:ext cx="756036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Relational Operators (Part 3: Type Checks &amp; Precision)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TextBox 74"/>
          <p:cNvSpPr/>
          <p:nvPr/>
        </p:nvSpPr>
        <p:spPr>
          <a:xfrm>
            <a:off x="991800" y="1222920"/>
            <a:ext cx="98337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Relational operators in Java extend beyond simple math.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instanceof operator allows us to compare an object's type against a class,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while comparing floating-point numbers (double/float) requires strict delta checks due to binary precision limitations.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Rounded Rectangle 170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ounded Rectangle 171"/>
          <p:cNvSpPr/>
          <p:nvPr/>
        </p:nvSpPr>
        <p:spPr>
          <a:xfrm>
            <a:off x="688680" y="2514600"/>
            <a:ext cx="3425400" cy="3885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Type Comparison (instanceof):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Compares an object reference to a class type. Returns true if the object is an instance of that class, subclass, or interface.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Floating-Point Precision Trap: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Computers store decimals in binary (IEEE 754). This causes rounding issues. For example, 0.1 + 0.2 does not exactly equal 0.3 (it equals 0.30000000000000004).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Delta Check Solution: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Never compare floats/doubles with ==. Instead, check if the absolute difference between them is smaller than a tiny threshold (epsilon, e.g., 0.00001).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0" name="Rounded Rectangle 172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ounded Rectangle 173"/>
          <p:cNvSpPr/>
          <p:nvPr/>
        </p:nvSpPr>
        <p:spPr>
          <a:xfrm>
            <a:off x="4581000" y="2967120"/>
            <a:ext cx="2827080" cy="274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Precision vs Type Checks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ask 1: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Check if a generic object is a String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Solution: obj instanceof String (Safely returns boolean)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Task 2: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Compare double values a and b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Wrong: a == b (Vulnerable to binary rounding errors)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Right: Math.abs(a - b) &lt; 0.00001 (Delta threshold check)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2" name="Rounded Rectangle 174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ounded Rectangle 175"/>
          <p:cNvSpPr/>
          <p:nvPr/>
        </p:nvSpPr>
        <p:spPr>
          <a:xfrm>
            <a:off x="7900560" y="2286000"/>
            <a:ext cx="2843280" cy="3885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PrecisionInstanceof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TYPE COMPARISON (instanceof)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Object text = "Hello World";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isString = text instanceof String;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isNumber = text instanceof Number; // false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FLOATING-POINT PRECISION TRAP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badCompare = (d1 == d2); // false! (Trap)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THE DELTA CHECK SOLUTION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double epsilon = 0.00001; // tolerance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goodCompare = Math.abs(d1 - d2) &lt; epsilon;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System.out.println("0.1 + 0.2 == 0.3: " + badCompare);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Match: " + goodCompare);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4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Rectangle 385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86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387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388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389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390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391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392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ectangle 393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ectangle 394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ectangle 395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ectangle 396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ectangle 397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398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399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400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ounded Rectangle 176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TextBox 76"/>
          <p:cNvSpPr/>
          <p:nvPr/>
        </p:nvSpPr>
        <p:spPr>
          <a:xfrm>
            <a:off x="2580840" y="656640"/>
            <a:ext cx="582156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Example: User Access Control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TextBox 77"/>
          <p:cNvSpPr/>
          <p:nvPr/>
        </p:nvSpPr>
        <p:spPr>
          <a:xfrm>
            <a:off x="2959560" y="1222920"/>
            <a:ext cx="5897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relational operators form the foundation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of business rules writtento validate user registration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processes, security boundaries, and role-based access control (RBAC).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Rounded Rectangle 177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ounded Rectangle 178"/>
          <p:cNvSpPr/>
          <p:nvPr/>
        </p:nvSpPr>
        <p:spPr>
          <a:xfrm>
            <a:off x="685800" y="2743200"/>
            <a:ext cx="3426120" cy="320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Age Verification (&gt;=):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Validates whether a user meets the legal age limit (e.g., 18) required to register or access restricted areas.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Password Matching (.equals()):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Securely matches the entered password character-by-character, rather than comparing its volatile memory address.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Role Validation (instanceof):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Dynamically verifies at runtime whether the logged-in user object belongs to the "Admin" class or role.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Rounded Rectangle 179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ounded Rectangle 180"/>
          <p:cNvSpPr/>
          <p:nvPr/>
        </p:nvSpPr>
        <p:spPr>
          <a:xfrm>
            <a:off x="4580640" y="2743200"/>
            <a:ext cx="2743200" cy="320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[ User Login Workflow ]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Inputs: age = 20, password = "Pass123", User Object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1. Age Check: age &gt;= 18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(Age Limit Passed)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2. Password Check: entered.equals(stored)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Result: true (Password Matches)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&gt; 3. Role Check: user instanceof Admin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Yes (true) ➔ Redirect to Admin Panel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No (false) ➔ Load Standard UI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8" name="Rounded Rectangle 181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ounded Rectangle 182"/>
          <p:cNvSpPr/>
          <p:nvPr/>
        </p:nvSpPr>
        <p:spPr>
          <a:xfrm>
            <a:off x="7790040" y="2514600"/>
            <a:ext cx="363996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AccessControl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1. USER DATA INPUTS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20;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String enteredPass = new String("Pass123");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storedPass = new String("Pass123");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Object activeUser = "AdminObject"; // Mock object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2. VALIDATION (Relational &amp; Content check)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agePassed = (age &gt;= 18);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passPassed = enteredPass.equals(storedPass);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3. ROLE CHECK (Type Check)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// Is activeUser a String (representing Admin)?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isAdmin = activeUser instanceof String; // true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if (agePassed &amp;&amp; passPassed)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System.out.println("Login Successful!");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if (isAdmin) {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System.out.println("Admin panel unlocked.");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2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2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0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288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2026-05-31T02:08:42Z</dcterms:modified>
  <cp:revision>45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