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2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08EB9DD-1CD5-4A2E-8414-20828BA59C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55E2C07-9AA7-4132-82CE-BE1AE5C8936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4989FEB-C3D6-4877-8A16-E444D7CFC39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56C3F57-5843-4730-849A-A0EABCB1DF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533E9E4-678C-4640-ADE1-8A6B08E6CC1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74B751-9976-4812-A37B-8F5B675C772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6E7295D-DBE9-4FCB-8FAE-D6A5F861846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543A22E-30F1-412E-B934-E5400B491BF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F4736E5-3795-4F81-8D9F-1F44CCC5926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DDF0FDA-AE86-495B-AB7A-6C50143B409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517751-55A2-46B4-8BEE-61BEBAC7AF3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C87043D-81B4-4C70-8914-8FCD169071E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5242AC6-B056-4C61-9E79-53705EF6CB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E9912DB-5B11-4235-BCFB-A9FF752E938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F0F8FC9-B214-4816-83F2-7A8FA22C976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DE705DA-622C-4B05-B333-124451F19B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DB1797F7-6284-4376-B58A-5EE27D9199B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457200" y="273600"/>
            <a:ext cx="82292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F678BB1-F4ED-49EE-9B52-EB9EF0B3E5A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AFEF441-68D1-4DC3-88BE-32B9387C3C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84A69F7-B001-488D-90CD-43A1CA4BF54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3DFAA480-9910-4FC6-88C0-91C37155F9B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C4BEB85-DAA4-47FE-8EED-F0622850276E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1881E882-7704-445B-A95A-80349D162E6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0D9B411E-8A92-4D0C-98BD-80C731C6A91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9315CC5-199A-4AF1-AACF-F66AD6CE37C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ftr" idx="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ldNum" idx="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92D5868-33E8-42C0-88C2-8E53857692AD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ctr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title"/>
          </p:nvPr>
        </p:nvSpPr>
        <p:spPr>
          <a:xfrm>
            <a:off x="457200" y="273600"/>
            <a:ext cx="82292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ectangle 1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3" name="Rectangle 2"/>
          <p:cNvSpPr/>
          <p:nvPr/>
        </p:nvSpPr>
        <p:spPr>
          <a:xfrm>
            <a:off x="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4" name="Rectangle 3"/>
          <p:cNvSpPr/>
          <p:nvPr/>
        </p:nvSpPr>
        <p:spPr>
          <a:xfrm>
            <a:off x="914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5" name="Rectangle 4"/>
          <p:cNvSpPr/>
          <p:nvPr/>
        </p:nvSpPr>
        <p:spPr>
          <a:xfrm>
            <a:off x="1828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6" name="Rectangle 5"/>
          <p:cNvSpPr/>
          <p:nvPr/>
        </p:nvSpPr>
        <p:spPr>
          <a:xfrm>
            <a:off x="2743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7" name="Rectangle 6"/>
          <p:cNvSpPr/>
          <p:nvPr/>
        </p:nvSpPr>
        <p:spPr>
          <a:xfrm>
            <a:off x="3657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8" name="Rectangle 7"/>
          <p:cNvSpPr/>
          <p:nvPr/>
        </p:nvSpPr>
        <p:spPr>
          <a:xfrm>
            <a:off x="4572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89" name="Rectangle 8"/>
          <p:cNvSpPr/>
          <p:nvPr/>
        </p:nvSpPr>
        <p:spPr>
          <a:xfrm>
            <a:off x="5486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0" name="Rectangle 9"/>
          <p:cNvSpPr/>
          <p:nvPr/>
        </p:nvSpPr>
        <p:spPr>
          <a:xfrm>
            <a:off x="6400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1" name="Rectangle 10"/>
          <p:cNvSpPr/>
          <p:nvPr/>
        </p:nvSpPr>
        <p:spPr>
          <a:xfrm>
            <a:off x="7315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2" name="Rectangle 11"/>
          <p:cNvSpPr/>
          <p:nvPr/>
        </p:nvSpPr>
        <p:spPr>
          <a:xfrm>
            <a:off x="8229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3" name="Rectangle 12"/>
          <p:cNvSpPr/>
          <p:nvPr/>
        </p:nvSpPr>
        <p:spPr>
          <a:xfrm>
            <a:off x="9144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4" name="Rectangle 13"/>
          <p:cNvSpPr/>
          <p:nvPr/>
        </p:nvSpPr>
        <p:spPr>
          <a:xfrm>
            <a:off x="10058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5" name="Rectangle 14"/>
          <p:cNvSpPr/>
          <p:nvPr/>
        </p:nvSpPr>
        <p:spPr>
          <a:xfrm>
            <a:off x="10972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6" name="Rectangle 15"/>
          <p:cNvSpPr/>
          <p:nvPr/>
        </p:nvSpPr>
        <p:spPr>
          <a:xfrm>
            <a:off x="11887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7" name="Rectangle 16"/>
          <p:cNvSpPr/>
          <p:nvPr/>
        </p:nvSpPr>
        <p:spPr>
          <a:xfrm>
            <a:off x="0" y="0"/>
            <a:ext cx="318600" cy="68565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98" name="Rounded Rectangle 17"/>
          <p:cNvSpPr/>
          <p:nvPr/>
        </p:nvSpPr>
        <p:spPr>
          <a:xfrm>
            <a:off x="9875520" y="365760"/>
            <a:ext cx="2010240" cy="5014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18"/>
          <p:cNvSpPr/>
          <p:nvPr/>
        </p:nvSpPr>
        <p:spPr>
          <a:xfrm>
            <a:off x="1730160" y="1005840"/>
            <a:ext cx="751140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JAVA SANAL MAKİNESİ (JVM)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9"/>
          <p:cNvSpPr/>
          <p:nvPr/>
        </p:nvSpPr>
        <p:spPr>
          <a:xfrm>
            <a:off x="3707640" y="2057400"/>
            <a:ext cx="35568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programlarını çalıştıran motor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Rounded Rectangle 20"/>
          <p:cNvSpPr/>
          <p:nvPr/>
        </p:nvSpPr>
        <p:spPr>
          <a:xfrm>
            <a:off x="98748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2" name="Rounded Rectangle 21"/>
          <p:cNvSpPr/>
          <p:nvPr/>
        </p:nvSpPr>
        <p:spPr>
          <a:xfrm>
            <a:off x="685800" y="2521440"/>
            <a:ext cx="3428640" cy="332928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Sanal Makinesi (JVM), Java bytecode’unu çalıştıran sanal bir çalışma zamanı motorudur.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programlarının herhangi bir platformda çalışmasına olanak sağlar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Java kodu makine koduna değil, bytecode’a derlenir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✔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JVM, bytecode’u makineye özgü talimatlara çevirir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JVM’in Sorumlulukları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Platform bağımsızlığı (Bir Kez Yaz, Her Yerde Çalıştır)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Bytecode’un çalıştırılması (Yorumlayıcı + JIT Derleyici)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Otomatik bellek yönetimi (Çöp Toplama / Garbage Collection)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Kontrollü bir çalışma ortamı sayesinde güvenlik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👉 </a:t>
            </a:r>
            <a:r>
              <a:rPr b="0" lang="en-US" sz="1050" spc="-1" strike="noStrike">
                <a:solidFill>
                  <a:schemeClr val="lt1"/>
                </a:solidFill>
                <a:latin typeface="Calibri"/>
                <a:ea typeface="DejaVu Sans"/>
              </a:rPr>
              <a:t>JVM, Java programları ile işletim sistemi arasında bir köprü görevi görür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Rounded Rectangle 22"/>
          <p:cNvSpPr/>
          <p:nvPr/>
        </p:nvSpPr>
        <p:spPr>
          <a:xfrm>
            <a:off x="450792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4" name="Rounded Rectangle 23"/>
          <p:cNvSpPr/>
          <p:nvPr/>
        </p:nvSpPr>
        <p:spPr>
          <a:xfrm>
            <a:off x="443484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Kaynak Kodu (.java)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Java Derleyicisi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Bytecode (.class)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</a:t>
            </a: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JVM (Yorumlayıcı + JIT)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            ⬇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İşletim Sistemi / CPU için Makine Kodu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ounded Rectangle 24"/>
          <p:cNvSpPr/>
          <p:nvPr/>
        </p:nvSpPr>
        <p:spPr>
          <a:xfrm>
            <a:off x="802836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6" name="Rounded Rectangle 25"/>
          <p:cNvSpPr/>
          <p:nvPr/>
        </p:nvSpPr>
        <p:spPr>
          <a:xfrm>
            <a:off x="795528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class Main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System.out.println("Merhaba, JVM!");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8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26"/>
          <p:cNvSpPr/>
          <p:nvPr/>
        </p:nvSpPr>
        <p:spPr>
          <a:xfrm>
            <a:off x="4600080" y="6446520"/>
            <a:ext cx="305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32"/>
          <p:cNvSpPr/>
          <p:nvPr/>
        </p:nvSpPr>
        <p:spPr>
          <a:xfrm>
            <a:off x="0" y="0"/>
            <a:ext cx="12187440" cy="6856560"/>
          </a:xfrm>
          <a:prstGeom prst="rect">
            <a:avLst/>
          </a:prstGeom>
          <a:solidFill>
            <a:srgbClr val="0b0b0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09" name="Rectangle 33"/>
          <p:cNvSpPr/>
          <p:nvPr/>
        </p:nvSpPr>
        <p:spPr>
          <a:xfrm>
            <a:off x="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0" name="Rectangle 34"/>
          <p:cNvSpPr/>
          <p:nvPr/>
        </p:nvSpPr>
        <p:spPr>
          <a:xfrm>
            <a:off x="914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1" name="Rectangle 35"/>
          <p:cNvSpPr/>
          <p:nvPr/>
        </p:nvSpPr>
        <p:spPr>
          <a:xfrm>
            <a:off x="1828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2" name="Rectangle 36"/>
          <p:cNvSpPr/>
          <p:nvPr/>
        </p:nvSpPr>
        <p:spPr>
          <a:xfrm>
            <a:off x="2743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3" name="Rectangle 37"/>
          <p:cNvSpPr/>
          <p:nvPr/>
        </p:nvSpPr>
        <p:spPr>
          <a:xfrm>
            <a:off x="3657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4" name="Rectangle 38"/>
          <p:cNvSpPr/>
          <p:nvPr/>
        </p:nvSpPr>
        <p:spPr>
          <a:xfrm>
            <a:off x="4572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5" name="Rectangle 39"/>
          <p:cNvSpPr/>
          <p:nvPr/>
        </p:nvSpPr>
        <p:spPr>
          <a:xfrm>
            <a:off x="5486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6" name="Rectangle 40"/>
          <p:cNvSpPr/>
          <p:nvPr/>
        </p:nvSpPr>
        <p:spPr>
          <a:xfrm>
            <a:off x="6400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7" name="Rectangle 41"/>
          <p:cNvSpPr/>
          <p:nvPr/>
        </p:nvSpPr>
        <p:spPr>
          <a:xfrm>
            <a:off x="7315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8" name="Rectangle 42"/>
          <p:cNvSpPr/>
          <p:nvPr/>
        </p:nvSpPr>
        <p:spPr>
          <a:xfrm>
            <a:off x="82296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19" name="Rectangle 43"/>
          <p:cNvSpPr/>
          <p:nvPr/>
        </p:nvSpPr>
        <p:spPr>
          <a:xfrm>
            <a:off x="91440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0" name="Rectangle 44"/>
          <p:cNvSpPr/>
          <p:nvPr/>
        </p:nvSpPr>
        <p:spPr>
          <a:xfrm>
            <a:off x="100584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1" name="Rectangle 45"/>
          <p:cNvSpPr/>
          <p:nvPr/>
        </p:nvSpPr>
        <p:spPr>
          <a:xfrm>
            <a:off x="109728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2" name="Rectangle 46"/>
          <p:cNvSpPr/>
          <p:nvPr/>
        </p:nvSpPr>
        <p:spPr>
          <a:xfrm>
            <a:off x="11887200" y="0"/>
            <a:ext cx="16920" cy="6856560"/>
          </a:xfrm>
          <a:prstGeom prst="rect">
            <a:avLst/>
          </a:prstGeom>
          <a:solidFill>
            <a:srgbClr val="121216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3" name="Rectangle 47"/>
          <p:cNvSpPr/>
          <p:nvPr/>
        </p:nvSpPr>
        <p:spPr>
          <a:xfrm>
            <a:off x="0" y="0"/>
            <a:ext cx="318600" cy="6856560"/>
          </a:xfrm>
          <a:prstGeom prst="rect">
            <a:avLst/>
          </a:prstGeom>
          <a:solidFill>
            <a:srgbClr val="ff8c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4" name="Rounded Rectangle 8"/>
          <p:cNvSpPr/>
          <p:nvPr/>
        </p:nvSpPr>
        <p:spPr>
          <a:xfrm>
            <a:off x="9875520" y="365760"/>
            <a:ext cx="2010240" cy="501480"/>
          </a:xfrm>
          <a:prstGeom prst="roundRect">
            <a:avLst>
              <a:gd name="adj" fmla="val 16667"/>
            </a:avLst>
          </a:prstGeom>
          <a:solidFill>
            <a:srgbClr val="1e1e24"/>
          </a:solidFill>
          <a:ln>
            <a:solidFill>
              <a:srgbClr val="ff8c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r>
              <a:rPr b="1" lang="en-US" sz="1400" spc="-1" strike="noStrike">
                <a:solidFill>
                  <a:srgbClr val="ffb45a"/>
                </a:solidFill>
                <a:latin typeface="Calibri"/>
                <a:ea typeface="DejaVu Sans"/>
              </a:rPr>
              <a:t>JAVA TEMELLERİ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TextBox 4"/>
          <p:cNvSpPr/>
          <p:nvPr/>
        </p:nvSpPr>
        <p:spPr>
          <a:xfrm>
            <a:off x="3660120" y="1005840"/>
            <a:ext cx="365112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1" lang="en-US" sz="4800" spc="-1" strike="noStrike">
                <a:solidFill>
                  <a:srgbClr val="f5f5f5"/>
                </a:solidFill>
                <a:latin typeface="Calibri"/>
                <a:ea typeface="DejaVu Sans"/>
              </a:rPr>
              <a:t>JVM Mimarisi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3961440" y="2194560"/>
            <a:ext cx="3049200" cy="3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900" spc="-1" strike="noStrike">
                <a:solidFill>
                  <a:srgbClr val="aaaaaa"/>
                </a:solidFill>
                <a:latin typeface="Calibri"/>
                <a:ea typeface="DejaVu Sans"/>
              </a:rPr>
              <a:t>JAVA SANAL MAKİNESİNİN İÇİ</a:t>
            </a:r>
            <a:endParaRPr b="0" lang="en-US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Rounded Rectangle 9"/>
          <p:cNvSpPr/>
          <p:nvPr/>
        </p:nvSpPr>
        <p:spPr>
          <a:xfrm>
            <a:off x="98748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28" name="Rounded Rectangle 10"/>
          <p:cNvSpPr/>
          <p:nvPr/>
        </p:nvSpPr>
        <p:spPr>
          <a:xfrm>
            <a:off x="91440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JVM mimarisi, Java programlarını çalıştırmak için birlikte çalışan temel bileşenlerden oluşur.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Loader, sınıf dosyalarını belleğe yükler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Runtime Data Areas, çalışma sırasında verileri depolar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Execution Engine, bytecode’u çalıştırır (Yorumlayıcı + JIT)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• </a:t>
            </a:r>
            <a:r>
              <a:rPr b="0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Garbage Collector, kullanılmayan nesneleri otomatik olarak temizler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1" lang="en-US" sz="1200" spc="-1" strike="noStrike">
                <a:solidFill>
                  <a:schemeClr val="lt1"/>
                </a:solidFill>
                <a:latin typeface="Calibri"/>
                <a:ea typeface="DejaVu Sans"/>
              </a:rPr>
              <a:t>Bu bileşenler, Java programlarının işletim sisteminden bağımsız olarak güvenli, verimli ve kararlı şekilde çalışmasını sağlar.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ounded Rectangle 11"/>
          <p:cNvSpPr/>
          <p:nvPr/>
        </p:nvSpPr>
        <p:spPr>
          <a:xfrm>
            <a:off x="450792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0" name="Rounded Rectangle 12"/>
          <p:cNvSpPr/>
          <p:nvPr/>
        </p:nvSpPr>
        <p:spPr>
          <a:xfrm>
            <a:off x="443484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Class Loader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Çalışma Zamanı Veri Alanları (Runtime Data Areas)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Çalıştırma Motoru (Yorumlayıcı + JIT)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     ↓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chemeClr val="lt1"/>
                </a:solidFill>
                <a:latin typeface="Calibri"/>
                <a:ea typeface="DejaVu Sans"/>
              </a:rPr>
              <a:t>Çöp Toplayıcı (Garbage Collector)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ounded Rectangle 13"/>
          <p:cNvSpPr/>
          <p:nvPr/>
        </p:nvSpPr>
        <p:spPr>
          <a:xfrm>
            <a:off x="8028360" y="318204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0808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  <a:ea typeface="DejaVu Sans"/>
            </a:endParaRPr>
          </a:p>
        </p:txBody>
      </p:sp>
      <p:sp>
        <p:nvSpPr>
          <p:cNvPr id="132" name="Rounded Rectangle 14"/>
          <p:cNvSpPr/>
          <p:nvPr/>
        </p:nvSpPr>
        <p:spPr>
          <a:xfrm>
            <a:off x="7955280" y="3108960"/>
            <a:ext cx="3290400" cy="2741760"/>
          </a:xfrm>
          <a:prstGeom prst="roundRect">
            <a:avLst>
              <a:gd name="adj" fmla="val 16667"/>
            </a:avLst>
          </a:prstGeom>
          <a:solidFill>
            <a:srgbClr val="16161c"/>
          </a:solidFill>
          <a:ln>
            <a:solidFill>
              <a:srgbClr val="4646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class Demo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public static void main(String[] args) {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System.out.println("JVM Çalışıyor");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    </a:t>
            </a: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}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Süreç Akışı: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b="0" lang="en-US" sz="1500" spc="-1" strike="noStrike">
                <a:solidFill>
                  <a:srgbClr val="78ffc8"/>
                </a:solidFill>
                <a:latin typeface="Consolas"/>
                <a:ea typeface="DejaVu Sans"/>
              </a:rPr>
              <a:t>Yükle ⇒ Belleğe Kaydet ⇒ Çalıştır ⇒ Belleği Temizle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  <a:p>
            <a:pPr algn="ctr">
              <a:lnSpc>
                <a:spcPct val="100000"/>
              </a:lnSpc>
            </a:pP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TextBox 6"/>
          <p:cNvSpPr/>
          <p:nvPr/>
        </p:nvSpPr>
        <p:spPr>
          <a:xfrm>
            <a:off x="4600080" y="6446520"/>
            <a:ext cx="30513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DejaVu Sans"/>
              </a:rPr>
              <a:t>Java • Ultra Premium Template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2026-02-01T16:59:41Z</dcterms:modified>
  <cp:revision>10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