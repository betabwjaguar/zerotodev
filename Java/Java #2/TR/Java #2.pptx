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</p:sld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2864B04-B0BB-4E5D-B4C4-90D8F9BB4B1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0E32422-0714-41EC-995F-460A3CF4AF9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628423A-D57C-4B24-961A-B137ADC76A2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058563C-816E-40A3-9797-676CBAEF67D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4BBB870-D3FF-40C6-AACC-00DE73C27AB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65F0AF5-B61E-4401-9A11-DF1BE8DE876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D8FC860-66DC-4DE1-8A40-54243B45A49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1D81190-B2B0-4083-978E-F41B1A1FFDB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14DCAEB-4FB6-404A-B2CA-15BF8B2F59E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A537BB2-3880-4D85-B13D-B8A7F12632B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BCE74D2-C0FA-4775-85E7-9562167889E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FA91E57-9403-47ED-B0E3-774A1F09ED3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A1E57A4-788C-4E8F-A37C-C979F074A4A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3347639-1EB0-4168-9D98-1FD09C4BD1E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C070864-89F7-400A-BF46-77A798E8BED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D5EA386-9777-49C7-8CC3-3A7BFA0A56C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B2D91ED-CBC2-4252-B441-4F9E61CA3BA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CE0B8D6-CCFE-4736-A1CC-EC5F8C49A60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AE9EA1F-C643-4919-8C40-F930F2D4806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C012E63-A171-445B-B34A-C5A7FF138DB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D99305D-0D4C-44B5-B204-12C15D04C39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16354BA-88DF-4F54-9845-1CB0235B333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D451443-22C3-4293-9904-3A2806B1348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2543EAD-D468-4E24-B025-91EACE8769E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D3686E0-C85A-44EB-9B58-1265AF8D9BC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08EDBDE-F9E0-4E45-8A66-5BDEC103BD9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B24BD8F-01C7-469C-8861-6F7C242271B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4AE8CD3-03A3-457A-A6EF-39059A9DDF6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DE7F916-0A05-42CE-ACE4-0CA976F853D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DEEEC52-2E20-4760-9FCB-6BED72C8387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CAF3B0B-4DCE-4743-9080-B82F9D96780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C458070-0AF2-41EC-B15A-1268278E682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5560843-2A2B-42F7-B3BF-731D402D012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3F549F7-E6A6-44A7-ABDB-E81CF1D936D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1F538C7-91EF-4FEC-8BD1-FB8B1301044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4303DEB-69FB-4F62-9F49-53FEBCD6CC1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B54FC57-5D6A-466F-BC6C-C2D37E6CF74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A7F6015-B6AB-4092-A0CF-4A4A87B09F2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498CFF6-BDAB-4899-BED5-3E7C53295F5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7A11979-6B16-4554-AF58-BEA6E8D03CB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4D8BA6C-3301-4C17-A498-22E6F6C3FA3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24FFBD8-402B-4D35-A690-DD3C3E6F242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4E41B2E-5259-4EA3-88F2-66C2B6EDA9D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B425004-C00D-4B0F-B999-D368FA98EC9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49A4969-BF74-4870-8ADB-F918213026E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AE1102D-E57E-4852-8867-A1741518FFE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767A6A4-594E-40FD-81A5-E1DA80DACA7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054249A-9E26-416B-BC24-71D46D193EA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069B574-52E9-478F-8C90-921214F978E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0D5DE01-B396-4D45-9F9D-279771A3A21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4475CB1-9DE3-4CDD-BA32-FA39B11D324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FD65DC6-6DED-4DD9-82C5-86EA89E2186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C6675CF-3E95-402E-98D5-184750E42AE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9ECF712-1FF4-4223-9395-9728D3F60BF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7E7625C-8842-4262-818F-81969D2449B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674BEDF-9736-41A7-B0C1-13ABF8BB925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15B03B2-B79D-4A0D-B098-342ECEDDC11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42945FB-181E-4EF7-A9D8-DEA6150FBF6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928E69D-295E-4637-AA74-FF1BCB3BE16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5C556B8-B35C-4E6F-B393-624F2396DCD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BE063E8-87AD-488E-8606-17C0708F779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545DA9B-E21B-4D6C-9FF0-669E188C858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98E0417-1EEB-41AE-95BE-77FAF39B9D7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2EDC20A-C288-4B15-BF78-2B6895C8517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1D1D8C0-D06F-48AC-BB2D-B324166FD30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392093F-4305-4C51-A428-8D5903037BD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4994A0A-9988-40A2-84C5-B69EC1A77B1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63C8DB7-5EDD-42AC-B67F-7D431ABE7F9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E9DCCBC-95BF-4B7D-98EB-39EA7F74115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C07B4BF-FE48-4022-A237-12C17DE9DAA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83C5B1A-B16B-49D5-BC23-5308AD56369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898C507-3965-4E46-92A1-BD06DB202AD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9748436-DDEF-4ADB-A385-767A724C9F0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EAC54B3-C82F-4DA1-BAE3-C563EF34964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67CB31E3-FF65-4411-AA8B-529C57E08BC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4C8D2DC-BD31-4A88-849B-217D11DED70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B0F5FA3-8C97-43E3-81A4-FAE5E277FE1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6BCF54B-23C9-4A8C-8736-9CBFC741E31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6AADC4E-DAD1-4271-BBCA-FBE6C3B905A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FFF6DC5-6B46-4C08-A05A-6265F9DA960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B592EE9-30E2-438D-BF97-8ED43C4A13E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E527063-1D00-476D-8AFE-3D01A8B403C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0C65F04-675C-4807-AB0B-FF6C9AA2183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6B68204D-5C77-4FC5-92F7-F70F0123CFC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D10B420-7E2A-4E03-9D10-81EC7F23929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DBFA369-0D93-4366-8D8F-463A40FDBC2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3C80C10-8BC9-4463-A761-6AD54C08DBF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87AEDD8-6EA5-4346-A347-8A50AC5D058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E4B6B2A-7C72-42B9-AF24-98821362E17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3204FEF-FBFC-444F-AB75-6D90AE94EE3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C1BFC62-1E77-4D87-9821-A401B687CA0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Rectangle 1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2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3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4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5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6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7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8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9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10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11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2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3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4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5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ounded Rectangle 17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Box 18"/>
          <p:cNvSpPr/>
          <p:nvPr/>
        </p:nvSpPr>
        <p:spPr>
          <a:xfrm>
            <a:off x="1730160" y="1005840"/>
            <a:ext cx="75099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SANAL MAKİNESİ (JVM)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Box 19"/>
          <p:cNvSpPr/>
          <p:nvPr/>
        </p:nvSpPr>
        <p:spPr>
          <a:xfrm>
            <a:off x="3707640" y="2057400"/>
            <a:ext cx="35553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çalıştıran motor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Rounded Rectangle 20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ounded Rectangle 21"/>
          <p:cNvSpPr/>
          <p:nvPr/>
        </p:nvSpPr>
        <p:spPr>
          <a:xfrm>
            <a:off x="685800" y="2521440"/>
            <a:ext cx="3425400" cy="3326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Sanal Makinesi (JVM), Java bytecode’unu çalıştıran sanal bir çalışma zamanı motorudur.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programlarının herhangi bir platformda çalışmasına olanak sağlar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kodu makine koduna değil, bytecode’a derlenir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JVM, bytecode’u makineye özgü talimatlara çevirir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JVM’in Sorumlulukları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Platform bağımsızlığı (Bir Kez Yaz, Her Yerde Çalıştır)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Bytecode’un çalıştırılması (Yorumlayıcı + JIT Derleyici)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 (Çöp Toplama / Garbage Collection)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Kontrollü bir çalışma ortamı sayesinde güvenlik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👉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JVM, Java programları ile işletim sistemi arasında bir köprü görevi görür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Rounded Rectangle 22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ounded Rectangle 23"/>
          <p:cNvSpPr/>
          <p:nvPr/>
        </p:nvSpPr>
        <p:spPr>
          <a:xfrm>
            <a:off x="443484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(Yorumlayıcı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İşletim Sistemi / CPU için Makine Kodu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Rounded Rectangle 24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ounded Rectangle 25"/>
          <p:cNvSpPr/>
          <p:nvPr/>
        </p:nvSpPr>
        <p:spPr>
          <a:xfrm>
            <a:off x="795528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System.out.println("Merhaba, JVM!");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Rectangle 32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33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34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35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36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37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38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39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40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41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42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43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44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45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46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47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ounded Rectangle 8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Box 4"/>
          <p:cNvSpPr/>
          <p:nvPr/>
        </p:nvSpPr>
        <p:spPr>
          <a:xfrm>
            <a:off x="3660120" y="1005840"/>
            <a:ext cx="3649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Mimarisi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Box 5"/>
          <p:cNvSpPr/>
          <p:nvPr/>
        </p:nvSpPr>
        <p:spPr>
          <a:xfrm>
            <a:off x="3961440" y="2194560"/>
            <a:ext cx="30477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SANAL MAKİNESİNİN İÇİ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Rounded Rectangle 9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ounded Rectangle 10"/>
          <p:cNvSpPr/>
          <p:nvPr/>
        </p:nvSpPr>
        <p:spPr>
          <a:xfrm>
            <a:off x="91440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 mimarisi, Java programlarını çalıştırmak için birlikte çalışan temel bileşenlerden oluşur.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Loader, sınıf dosyalarını belleğe yükler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Areas, çalışma sırasında verileri depolar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Engine, bytecode’u çalıştırır (Yorumlayıcı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Collector, kullanılmayan nesneleri otomatik olarak temizler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bileşenler, Java programlarının işletim sisteminden bağımsız olarak güvenli, verimli ve kararlı şekilde çalışmasını sağlar.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Rounded Rectangle 11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ounded Rectangle 12"/>
          <p:cNvSpPr/>
          <p:nvPr/>
        </p:nvSpPr>
        <p:spPr>
          <a:xfrm>
            <a:off x="443484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Çalışma Zamanı Veri Alanları (Runtime Data Areas)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Çalıştırma Motoru (Yorumlayıcı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Çöp Toplayıcı (Garbage Collector)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Rounded Rectangle 13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ounded Rectangle 14"/>
          <p:cNvSpPr/>
          <p:nvPr/>
        </p:nvSpPr>
        <p:spPr>
          <a:xfrm>
            <a:off x="795528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class Demo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System.out.println("JVM Çalışıyor");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Süreç Akışı: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Yükle ⇒ Belleğe Kaydet ⇒ Çalıştır ⇒ Belleği Temizle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Rectangle 48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7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8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20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21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22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23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24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25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26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27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28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29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30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31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ounded Rectangle 15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TextBox 7"/>
          <p:cNvSpPr/>
          <p:nvPr/>
        </p:nvSpPr>
        <p:spPr>
          <a:xfrm>
            <a:off x="1713960" y="1005840"/>
            <a:ext cx="7543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Program Yürütme Süreci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Box 8"/>
          <p:cNvSpPr/>
          <p:nvPr/>
        </p:nvSpPr>
        <p:spPr>
          <a:xfrm>
            <a:off x="2170440" y="2194560"/>
            <a:ext cx="66308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JVM’in bir Java programını arka planda adım adım nasıl çalıştırdığı.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Rounded Rectangle 16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ounded Rectangle 18"/>
          <p:cNvSpPr/>
          <p:nvPr/>
        </p:nvSpPr>
        <p:spPr>
          <a:xfrm>
            <a:off x="475560" y="2743200"/>
            <a:ext cx="3726720" cy="310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Bir Java programı başladığında, JVM akıllı bir yürütme süreci izler.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İlk olarak Class Loader, derlenmiş .class dosyalarını belleğe yükler ve güvenlik açısından kontrol eder.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Daha sonra bellek, Heap (nesneler için) ve Stack (metot çağrıları ve değişkenler için) gibi alanlara ayrılır.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Ardından Execution Engine programı çalıştırır.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Interpreter bytecode’u satır satır okur, JIT Compiler ise sık kullanılan kodları daha hızlı çalışması için makine koduna çevirir.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Son olarak Garbage Collector, kullanılmayan nesneleri bellekten otomatik olarak temizler.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Bu süreç sayesinde Java programları güvenli, verimli bir şekilde ve JVM bulunan her sistemde çalışır.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Rounded Rectangle 19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ounded Rectangle 26"/>
          <p:cNvSpPr/>
          <p:nvPr/>
        </p:nvSpPr>
        <p:spPr>
          <a:xfrm>
            <a:off x="4343400" y="2918520"/>
            <a:ext cx="3516480" cy="292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sınıfları yükler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 (Heap / Stack)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Çalıştırma Motoru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Makine Kodu Çalıştırma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belleği temizler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Rounded Rectangle 27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ounded Rectangle 28"/>
          <p:cNvSpPr/>
          <p:nvPr/>
        </p:nvSpPr>
        <p:spPr>
          <a:xfrm>
            <a:off x="8023680" y="2743200"/>
            <a:ext cx="3837960" cy="319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ExecutionDemo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mesaj = "JVM Yürütme Başladı";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System.out.println(mesaj);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sayilariTopla(5, 7);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System.out.println("Sonuç: " + sonuc);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sayilariTopla(int sayi1, int sayi2)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return sayi1 + sayi2;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Rectangle 64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49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50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51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52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53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54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55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56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57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58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59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60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61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62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63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ounded Rectangle 29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TextBox 10"/>
          <p:cNvSpPr/>
          <p:nvPr/>
        </p:nvSpPr>
        <p:spPr>
          <a:xfrm>
            <a:off x="3163320" y="1005840"/>
            <a:ext cx="4645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JRE vs JDK vs JVM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Box 11"/>
          <p:cNvSpPr/>
          <p:nvPr/>
        </p:nvSpPr>
        <p:spPr>
          <a:xfrm>
            <a:off x="3609720" y="2194560"/>
            <a:ext cx="37504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Temel Bileşenlerini Anlamak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Rounded Rectangle 30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ounded Rectangle 31"/>
          <p:cNvSpPr/>
          <p:nvPr/>
        </p:nvSpPr>
        <p:spPr>
          <a:xfrm>
            <a:off x="685800" y="2971800"/>
            <a:ext cx="3516840" cy="319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Java, uygulamaları geliştirmek ve çalıştırmak için birlikte çalışan üç temel katmandan oluşur.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(Java Sanal Makinesi)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bytecode’u çalıştırır ve Java’yı platformdan bağımsız hale getirir.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(Java Çalışma Ortamı)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uygulamalarını çalıştırmak için gereken her şeyi sağlar.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Geliştirme Kiti)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uygulamaları geliştirmek için gerekli araçları sağlar.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Şöyle düşünebilirsin: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= Motor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= Motor + Yakıt Sistemi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= Tüm Arabanın Üretildiği Fabrika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Rounded Rectangle 32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ounded Rectangle 33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(Derleyici + Geliştirme Araçları)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 dosyaları)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(Kütüphaneler + JVM)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(Çalıştırma Motoru)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Makine Kodu (İşletim Sistemi / CPU)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Rounded Rectangle 34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ounded Rectangle 35"/>
          <p:cNvSpPr/>
          <p:nvPr/>
        </p:nvSpPr>
        <p:spPr>
          <a:xfrm>
            <a:off x="795528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JDK ile derleme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javac Main.java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JRE üzerinden çalıştırma (arka planda JVM kullanılır)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 Main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System.out.println("JDK, JRE ve JVM’i Anlıyoruz!");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Rectangle 80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65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66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67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68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69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70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71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72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73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74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75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76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77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78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79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ounded Rectangle 36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TextBox 13"/>
          <p:cNvSpPr/>
          <p:nvPr/>
        </p:nvSpPr>
        <p:spPr>
          <a:xfrm>
            <a:off x="2175120" y="1005840"/>
            <a:ext cx="662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ORTAM KURULUMU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Box 14"/>
          <p:cNvSpPr/>
          <p:nvPr/>
        </p:nvSpPr>
        <p:spPr>
          <a:xfrm>
            <a:off x="2093040" y="2194560"/>
            <a:ext cx="67845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derlemek ve çalıştırmak için sistemi hazırlar.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Bunu, JDK’yı kurarak ve sistem değişkenlerini yapılandırarak yaparız.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Rounded Rectangle 37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ounded Rectangle 38"/>
          <p:cNvSpPr/>
          <p:nvPr/>
        </p:nvSpPr>
        <p:spPr>
          <a:xfrm>
            <a:off x="91440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 derleyici (javac) ve çalıştırma ortamını (java) içerir.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ve JAVA_HOME gibi sistem değişkenleri, komut satırının Java’yı bulmasını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 kurulum sayesinde Java programları sistemin her yerinden derlenip çalıştırılabilir.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Rounded Rectangle 39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ounded Rectangle 40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JDK’yı indir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Bilgisayarına kur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bin klasörünü PATH değişkenine ekle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Terminalden doğrula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Rounded Rectangle 41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ounded Rectangle 42"/>
          <p:cNvSpPr/>
          <p:nvPr/>
        </p:nvSpPr>
        <p:spPr>
          <a:xfrm>
            <a:off x="795528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Komut İstemine şunları yaz: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Rectangle 81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82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83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84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85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86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87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88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89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90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91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92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93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94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95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96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ounded Rectangle 43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TextBox 16"/>
          <p:cNvSpPr/>
          <p:nvPr/>
        </p:nvSpPr>
        <p:spPr>
          <a:xfrm>
            <a:off x="1023840" y="1005840"/>
            <a:ext cx="8922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ORTAM DEĞİŞKENLERİNİ YAPILANDIRMA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Box 17"/>
          <p:cNvSpPr/>
          <p:nvPr/>
        </p:nvSpPr>
        <p:spPr>
          <a:xfrm>
            <a:off x="-904320" y="2194560"/>
            <a:ext cx="127936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            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Ortam değişkenleri, Java’nın sistemde nerede kurulu olduğunu belirtir ve araçların ile komutların herhangi bir klasörden düzgün çalışmasını sağlar.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Rounded Rectangle 44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ounded Rectangle 45"/>
          <p:cNvSpPr/>
          <p:nvPr/>
        </p:nvSpPr>
        <p:spPr>
          <a:xfrm>
            <a:off x="91440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JAVA_HOME, JDK’nın kurulu olduğu klasörü gösterir.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PATH, Java’nın bin klasörünü içerir, böylece Java araçları terminal/komut istemcisinden çalıştırılabilir.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Bunlar ayarlanmazsa Java komutları çalışmayabilir.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Rounded Rectangle 46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ounded Rectangle 47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Kuruldu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C:\Program Files\Java\jdk-xx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PATH’e ekle →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%JAVA_HOME%\bin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 javac komutlarını çalıştır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" name="Rounded Rectangle 48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ounded Rectangle 49"/>
          <p:cNvSpPr/>
          <p:nvPr/>
        </p:nvSpPr>
        <p:spPr>
          <a:xfrm>
            <a:off x="795528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Windows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JAVA_HOME "C:\Program Files\Java\jdk-xx"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PATH "%JAVA_HOME%\bin;%PATH%"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Linux/Mac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Rectangle 97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98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99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100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101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102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103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104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105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106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107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108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109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110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111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112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ounded Rectangle 50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TextBox 21"/>
          <p:cNvSpPr/>
          <p:nvPr/>
        </p:nvSpPr>
        <p:spPr>
          <a:xfrm>
            <a:off x="1706400" y="1005840"/>
            <a:ext cx="7557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KURULDUKTAN SONRA NE OLUR?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Box 22"/>
          <p:cNvSpPr/>
          <p:nvPr/>
        </p:nvSpPr>
        <p:spPr>
          <a:xfrm>
            <a:off x="4241160" y="2194560"/>
            <a:ext cx="24962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Ortam Kurulumundan Sonra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Rounded Rectangle 51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ounded Rectangle 52"/>
          <p:cNvSpPr/>
          <p:nvPr/>
        </p:nvSpPr>
        <p:spPr>
          <a:xfrm>
            <a:off x="91440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kurulduktan ve yapılandırıldıktan sonra, sisteminiz artık Java programlarını derleyip çalıştırmaya hazırdır.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.java uzantılı kaynak dosyalar oluşturabilirsiniz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javac derleyicisi, kaynak kodu bytecode (.class) dosyasına çevirir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JVM, bu bytecode'u çalıştırır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Programınız artık JVM bulunan herhangi bir sistemde çalışabilir.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Kurulum tamamlandı — artık Java geliştirmeye başlayabilirsiniz.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Rounded Rectangle 53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ounded Rectangle 54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Kodu Yaz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javac ile Derle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Dosyası Oluşur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komutu ile Çalıştır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Programı Çalıştırır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Çıktı Ekranda Görünür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" name="Rounded Rectangle 55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ounded Rectangle 56"/>
          <p:cNvSpPr/>
          <p:nvPr/>
        </p:nvSpPr>
        <p:spPr>
          <a:xfrm>
            <a:off x="795528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HelloJava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ortamı hazır!");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Rectangle 113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114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115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116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117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118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119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120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121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122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123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124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125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126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127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128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ounded Rectangle 57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TextBox 24"/>
          <p:cNvSpPr/>
          <p:nvPr/>
        </p:nvSpPr>
        <p:spPr>
          <a:xfrm>
            <a:off x="2983320" y="1005840"/>
            <a:ext cx="5003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GELİŞTİRME İŞ AKIŞI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TextBox 25"/>
          <p:cNvSpPr/>
          <p:nvPr/>
        </p:nvSpPr>
        <p:spPr>
          <a:xfrm>
            <a:off x="1775880" y="2057400"/>
            <a:ext cx="743400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Bu slayt, ortam kurulumu tamamlandıktan sonra geliştiricilerin Java programlarını oluşturmak,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test etmek ve geliştirmek için izlediği temel adım adım süreci açıklar.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Rounded Rectangle 58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ounded Rectangle 59"/>
          <p:cNvSpPr/>
          <p:nvPr/>
        </p:nvSpPr>
        <p:spPr>
          <a:xfrm>
            <a:off x="91440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Kurulumdan sonra Java programlama şu basit geliştirme döngüsünü izler: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 yaz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 derle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Gerekirse hataları düzelt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Süreci tekrarla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döngü, gerçek dünyadaki Java yazılımlarının nasıl geliştirildiğini gösterir.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Rounded Rectangle 60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ounded Rectangle 61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Kodu Yaz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Derle →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 → java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Çıktıyı Kontrol 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Hata Varsa → Kodu Düzelt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Tekrar Derle ve Çalıştır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Rounded Rectangle 62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ounded Rectangle 63"/>
          <p:cNvSpPr/>
          <p:nvPr/>
        </p:nvSpPr>
        <p:spPr>
          <a:xfrm>
            <a:off x="795528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5 + 7;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System.out.println("Sonuç: " + 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Calculator.java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Calculator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Rectangle 129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130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131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132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133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134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135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136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137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138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139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140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141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142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143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144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ounded Rectangle 64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TextBox 28"/>
          <p:cNvSpPr/>
          <p:nvPr/>
        </p:nvSpPr>
        <p:spPr>
          <a:xfrm>
            <a:off x="3053160" y="1005840"/>
            <a:ext cx="4862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KURULUM TÜRLERİ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TextBox 29"/>
          <p:cNvSpPr/>
          <p:nvPr/>
        </p:nvSpPr>
        <p:spPr>
          <a:xfrm>
            <a:off x="1154520" y="2194560"/>
            <a:ext cx="8674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Farklı Java dağıtımları ve kurulum türleri, geliştirme veya üretim (production) ihtiyaçlarına göre esneklik sağlar.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Rounded Rectangle 65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ounded Rectangle 66"/>
          <p:cNvSpPr/>
          <p:nvPr/>
        </p:nvSpPr>
        <p:spPr>
          <a:xfrm>
            <a:off x="91440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Java’yı kurmanın birden fazla yolu vardır: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Oracle JDK (Resmi dağıtım)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OpenJDK (Açık kaynak sürüm)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(Uzun Süreli Destek) sürümleri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olmayan sürümler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sürümleri (örneğin Java 17, 21) kararlılık ve uzun vadeli projeler için önerilir.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 dağıtımı seçmek; uyumluluk, güvenlik güncellemeleri ve uzun süreli destek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Rounded Rectangle 67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ounded Rectangle 68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Sürüm Seç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Dağıtımı İndir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JDK’yı Kur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PATH Güncelle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Kurulumu Doğrula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Rounded Rectangle 69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ounded Rectangle 70"/>
          <p:cNvSpPr/>
          <p:nvPr/>
        </p:nvSpPr>
        <p:spPr>
          <a:xfrm>
            <a:off x="795528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Windows: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javac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Linux: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Detaylı sürüm bilgisi kontrolü: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Rectangle 145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146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147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148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149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150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151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152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153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154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155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156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157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158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159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160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ounded Rectangle 71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" name="TextBox 31"/>
          <p:cNvSpPr/>
          <p:nvPr/>
        </p:nvSpPr>
        <p:spPr>
          <a:xfrm>
            <a:off x="1023120" y="1005840"/>
            <a:ext cx="8924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YAYGIN KURULUM SORUNLARI VE ÇÖZÜMLERİ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TextBox 32"/>
          <p:cNvSpPr/>
          <p:nvPr/>
        </p:nvSpPr>
        <p:spPr>
          <a:xfrm>
            <a:off x="2109960" y="2194560"/>
            <a:ext cx="67633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Yanlış ortam (environment) yapılandırması, Java’nın düzgün çalışmasını engelleyebilir.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Rounded Rectangle 72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ounded Rectangle 73"/>
          <p:cNvSpPr/>
          <p:nvPr/>
        </p:nvSpPr>
        <p:spPr>
          <a:xfrm>
            <a:off x="91440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Yaygın Sorunlar: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'java is not recognized as an internal or external command' hatası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Yanlış JAVA_HOME yolu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değişkeninin güncellenmemesi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Birden fazla Java sürümünün çakışması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yerine sadece JRE’nin kurulmuş olması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Çoğu sorun, ortam değişkenlerinin hatalı ayarlanmasından kaynaklanır.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" name="Rounded Rectangle 74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ounded Rectangle 75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Hata ortaya çıkar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-version kontrol 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doğrula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PATH değişkenini kontrol 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Terminali yeniden başlat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Sorun çözülür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" name="Rounded Rectangle 76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ounded Rectangle 77"/>
          <p:cNvSpPr/>
          <p:nvPr/>
        </p:nvSpPr>
        <p:spPr>
          <a:xfrm>
            <a:off x="7955280" y="3108960"/>
            <a:ext cx="328860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Windows: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%PATH%</a:t>
            </a:r>
            <a:br>
              <a:rPr sz="1400"/>
            </a:b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Linux / Mac: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$PATH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Geçici olarak JAVA_HOME ayarlama (Linux/Mac):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Rectangle 161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162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163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164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165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166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167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168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169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170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171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172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173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174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175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176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ounded Rectangle 78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" name="TextBox 34"/>
          <p:cNvSpPr/>
          <p:nvPr/>
        </p:nvSpPr>
        <p:spPr>
          <a:xfrm>
            <a:off x="3134520" y="1005840"/>
            <a:ext cx="4700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SÜRÜM YÖNETİMİ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TextBox 35"/>
          <p:cNvSpPr/>
          <p:nvPr/>
        </p:nvSpPr>
        <p:spPr>
          <a:xfrm>
            <a:off x="2258640" y="2194560"/>
            <a:ext cx="64677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Birden fazla Java sürümünü yönetmek ve aralarında güvenli şekilde geçiş yapmak.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Rounded Rectangle 79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ounded Rectangle 80"/>
          <p:cNvSpPr/>
          <p:nvPr/>
        </p:nvSpPr>
        <p:spPr>
          <a:xfrm>
            <a:off x="457200" y="2971800"/>
            <a:ext cx="3783600" cy="319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Bazen aynı sistemde birden fazla Java sürümü yüklü olabilir.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17 (LTS – Uzun Süreli Destek)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21 (LTS – Uzun Süreli Destek)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eski sürüm (Java 8)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Farklı projeler farklı sürümler gerektirebilir.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Sürümler doğru şekilde yönetilmezse: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PATH çakışmaları oluşur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Yanlış JDK proje derler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Build araçları (Maven / Gradle) hata verir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Doğru sürüm yönetimi çakışmaları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" name="Rounded Rectangle 81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ounded Rectangle 82"/>
          <p:cNvSpPr/>
          <p:nvPr/>
        </p:nvSpPr>
        <p:spPr>
          <a:xfrm>
            <a:off x="4434840" y="3108960"/>
            <a:ext cx="3288600" cy="2833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Yüklü sürümleri kontrol et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klasörlerini bul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değişkenini güncelle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değişkenini güncelle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Terminali yeniden başlat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Şu komutlarla doğrula: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javac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" name="Rounded Rectangle 83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ounded Rectangle 84"/>
          <p:cNvSpPr/>
          <p:nvPr/>
        </p:nvSpPr>
        <p:spPr>
          <a:xfrm>
            <a:off x="8001000" y="2743200"/>
            <a:ext cx="342792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Mevcut sürümü kontrol et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Aktif JAVA_HOME değişkenini göster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     (Windows)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      (Linux/Mac)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Örnek sürüm klasörleri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17 → /jdk-17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21 → /jdk-21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Sürüm değişiminden sonra kontrol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Rectangle 177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178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179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180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181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182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183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184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185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186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187"/>
          <p:cNvSpPr/>
          <p:nvPr/>
        </p:nvSpPr>
        <p:spPr>
          <a:xfrm>
            <a:off x="821232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188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189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190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191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192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ounded Rectangle 85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" name="TextBox 37"/>
          <p:cNvSpPr/>
          <p:nvPr/>
        </p:nvSpPr>
        <p:spPr>
          <a:xfrm>
            <a:off x="2876040" y="1005840"/>
            <a:ext cx="52196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HELLO WORLD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TextBox 38"/>
          <p:cNvSpPr/>
          <p:nvPr/>
        </p:nvSpPr>
        <p:spPr>
          <a:xfrm>
            <a:off x="1742040" y="2013840"/>
            <a:ext cx="76298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Java geliştiricisinin yazdığı ilk programdır.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 Java uygulamasının temel yapısını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tanıtır ve kodun Java Sanal Makinesi (JVM) içinde nasıl çalıştırıldığını gösterir.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Rounded Rectangle 86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ounded Rectangle 87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Java programı bir class ile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Programın çalışması main() metodundan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System.out.println() çıktıyı konsola yazdırır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kodu bytecode’a derlenir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Bytecode, JVM içerisinde çalıştırılır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Fikir: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Hello World, Java kaynak kodunun nasıl çalışabilir çıktıya dönüştüğünü gösterir.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" name="Rounded Rectangle 88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ounded Rectangle 89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Kodunu Yaz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Derle (javac)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ile Çalıştır (java)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Konsol Çıktısı → Hello World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6" name="Rounded Rectangle 90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ounded Rectangle 91"/>
          <p:cNvSpPr/>
          <p:nvPr/>
        </p:nvSpPr>
        <p:spPr>
          <a:xfrm>
            <a:off x="795528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HelloWorld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World");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Rectangle 193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194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195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196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197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198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199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200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201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202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203"/>
          <p:cNvSpPr/>
          <p:nvPr/>
        </p:nvSpPr>
        <p:spPr>
          <a:xfrm>
            <a:off x="821232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204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205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206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207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208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ounded Rectangle 92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6" name="TextBox 40"/>
          <p:cNvSpPr/>
          <p:nvPr/>
        </p:nvSpPr>
        <p:spPr>
          <a:xfrm>
            <a:off x="658080" y="1005840"/>
            <a:ext cx="96555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HELLO WORLD PROGRAMINI ANLAMAK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TextBox 41"/>
          <p:cNvSpPr/>
          <p:nvPr/>
        </p:nvSpPr>
        <p:spPr>
          <a:xfrm>
            <a:off x="2366640" y="2013840"/>
            <a:ext cx="63802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Hello World programı basit görünse de, her Java uygulamasının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temel yapısını ve çalışma mantığını içerir.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Rounded Rectangle 93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ounded Rectangle 94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programı çalışmaya main() metodundan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public → her yerden erişilebilir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→ nesne oluşturmadan çalışır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void → metod geriye değer döndürmez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String[] args → komut satırı parametreleri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Ana Fikir: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main() metodu, Java uygulamasının başlangıç noktasıdır.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0" name="Rounded Rectangle 95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ounded Rectangle 96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main() metodunu arar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main() içindeki komutlar çalışır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System.out.println() çalışır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Metin konsolda görüntülenir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2" name="Rounded Rectangle 97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ounded Rectangle 98"/>
          <p:cNvSpPr/>
          <p:nvPr/>
        </p:nvSpPr>
        <p:spPr>
          <a:xfrm>
            <a:off x="795528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HelloWorld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World");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Rectangle 225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209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210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211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212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213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214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215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216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217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218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219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220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221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222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223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ounded Rectangle 99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2" name="TextBox 43"/>
          <p:cNvSpPr/>
          <p:nvPr/>
        </p:nvSpPr>
        <p:spPr>
          <a:xfrm>
            <a:off x="2463840" y="1005840"/>
            <a:ext cx="6044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TEMEL SÖZDİZİMİ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Box 44"/>
          <p:cNvSpPr/>
          <p:nvPr/>
        </p:nvSpPr>
        <p:spPr>
          <a:xfrm>
            <a:off x="2525760" y="2194560"/>
            <a:ext cx="59205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Temel Sözdizimi, bir Java programını yazmak ve çalıştırmak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için gereken temel kuralları ve yapıyı ifade eder.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Rounded Rectangle 100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ounded Rectangle 101"/>
          <p:cNvSpPr/>
          <p:nvPr/>
        </p:nvSpPr>
        <p:spPr>
          <a:xfrm>
            <a:off x="91440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Temel Sözdizimi, Java programlarının temel yazım kurallarıdır.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Tüm kodlar bir class içinde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Program main() metodu ile başlar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Kod satırları noktalı virgül ( ; ) ile biter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{ } işaretleri kod bloklarını belirtir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büyük/küçük harfe duyarlıdır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6" name="Rounded Rectangle 102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ounded Rectangle 103"/>
          <p:cNvSpPr/>
          <p:nvPr/>
        </p:nvSpPr>
        <p:spPr>
          <a:xfrm>
            <a:off x="443484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Yüklenir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main() Metodu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Kod Satırları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Biter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8" name="Rounded Rectangle 104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ounded Rectangle 105"/>
          <p:cNvSpPr/>
          <p:nvPr/>
        </p:nvSpPr>
        <p:spPr>
          <a:xfrm>
            <a:off x="795528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BasicSyntax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System.out.println("Selam Java!");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0" name="TextBox 45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362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2026-02-16T22:52:13Z</dcterms:modified>
  <cp:revision>27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