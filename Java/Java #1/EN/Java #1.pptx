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A4B841-0F63-4712-AFEF-0A6807D71D8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EF7478-0904-4772-8BE4-7F8DE28CC8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FB89F4-2F12-4B33-8BD3-51E72FC759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FA2D1A-ABB1-4F35-8820-CBEE7B9154E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D5C66A-5978-4F2F-933F-55805EC38A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DB77B7-3CA1-45DE-AE0B-7BD57C2C50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464758-47C2-4844-B6CE-2D69258BB3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404EA3-B207-438E-BEA1-FABBF3C980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22BADD-AF98-4C44-9FD5-14BB003B17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EEC0F6-1207-47B4-BE8D-3EF3694558B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5A8797-6D78-43DE-AE76-0F8389C22F5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B6A1F9-2E60-48A2-8C0A-1AFCCFCB087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E205759-3D60-494A-AEA8-0C4CFF2F0C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6E8B365-6365-4959-A9F0-A15C63F4E4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817DE2C-C2F5-4A40-87CA-8DAAC828B8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A435925-F0CE-4ADC-85B2-211D445FC0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8F41C87-8449-4645-819D-04FECCB8912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E2666C6-0A3F-48DB-8A55-1E95136B35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080F8F3-FB7B-4DE8-A674-C6ACC1BF93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0AF6B22-D232-4ECD-B165-685FF17043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9981323-1326-4814-ADD1-70266D0E1B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89447F0-1536-4657-95D6-216984522E0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E199442-83B6-4B97-8B08-AB672C3B9BE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1B60E0-5A50-48E8-B2AC-C467913619D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24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85ACD9-5F68-4F6C-B88F-4921141BA8B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204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BB42BF-8A7F-4726-8599-ADF11C90401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144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1006560" y="34257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886640" y="34257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8767440" y="34257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144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100656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8866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8767440" y="34257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144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1006560" y="34257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88664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144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100656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8866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144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679680" y="3273840"/>
            <a:ext cx="4026960" cy="316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886640" y="34257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144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10065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8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ounded Rectangle 49"/>
          <p:cNvSpPr/>
          <p:nvPr/>
        </p:nvSpPr>
        <p:spPr>
          <a:xfrm>
            <a:off x="8767440" y="34257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ounded Rectangle 1"/>
          <p:cNvSpPr/>
          <p:nvPr/>
        </p:nvSpPr>
        <p:spPr>
          <a:xfrm>
            <a:off x="4941000" y="344988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144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47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0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1"/>
          <p:cNvSpPr/>
          <p:nvPr/>
        </p:nvSpPr>
        <p:spPr>
          <a:xfrm>
            <a:off x="100656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2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3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ounded Rectangle 54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ounded Rectangle 55"/>
          <p:cNvSpPr/>
          <p:nvPr/>
        </p:nvSpPr>
        <p:spPr>
          <a:xfrm>
            <a:off x="4941000" y="34495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144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6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7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8"/>
          <p:cNvSpPr/>
          <p:nvPr/>
        </p:nvSpPr>
        <p:spPr>
          <a:xfrm>
            <a:off x="100656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59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0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ounded Rectangle 61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Rounded Rectangle 62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3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4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5"/>
          <p:cNvSpPr/>
          <p:nvPr/>
        </p:nvSpPr>
        <p:spPr>
          <a:xfrm>
            <a:off x="100656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6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7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ounded Rectangle 68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Rounded Rectangle 69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0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1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2"/>
          <p:cNvSpPr/>
          <p:nvPr/>
        </p:nvSpPr>
        <p:spPr>
          <a:xfrm>
            <a:off x="10065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3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4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ounded Rectangle 75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Rounded Rectangle 76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7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8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79"/>
          <p:cNvSpPr/>
          <p:nvPr/>
        </p:nvSpPr>
        <p:spPr>
          <a:xfrm>
            <a:off x="10065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0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1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ounded Rectangle 82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Rounded Rectangle 83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4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5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6"/>
          <p:cNvSpPr/>
          <p:nvPr/>
        </p:nvSpPr>
        <p:spPr>
          <a:xfrm>
            <a:off x="10065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7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8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ounded Rectangle 89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Rounded Rectangle 90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1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2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3"/>
          <p:cNvSpPr/>
          <p:nvPr/>
        </p:nvSpPr>
        <p:spPr>
          <a:xfrm>
            <a:off x="10065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4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5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ounded Rectangle 96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Rounded Rectangle 97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8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99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0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1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2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ounded Rectangle 103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Rounded Rectangle 104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5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3785400" y="1107360"/>
            <a:ext cx="4542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6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7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8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09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ounded Rectangle 110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Rounded Rectangle 111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2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3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4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5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6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ounded Rectangle 117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ounded Rectangle 118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19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2773080" y="2266200"/>
            <a:ext cx="719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0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1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2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3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ounded Rectangle 124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Rounded Rectangle 125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6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2240640" y="1107360"/>
            <a:ext cx="7633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3222000" y="2266200"/>
            <a:ext cx="6295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7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8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29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0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ounded Rectangle 131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Rounded Rectangle 132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3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4180320" y="1107360"/>
            <a:ext cx="3753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2378880" y="2266200"/>
            <a:ext cx="7982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4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5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6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7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ounded Rectangle 138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Rounded Rectangle 139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0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5227200" y="1107360"/>
            <a:ext cx="1659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651600" y="2266200"/>
            <a:ext cx="11437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1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2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3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4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ounded Rectangle 145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Rounded Rectangle 146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7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4704480" y="1107360"/>
            <a:ext cx="270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2012400" y="2266200"/>
            <a:ext cx="8714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code is executed through an intermediate step instead of running directly on hardware.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8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49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is first compiled into Bytecode, not machine code.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Bytecode is translated on the fly into native machine instructions while the program runs.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translated instructions are not stored permanently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Because of this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Development is faster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 and linking are lightweight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Code analysis and debugging become easier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0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1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ounded Rectangle 152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runs through the JVM");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Rounded Rectangle 153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How Java Executes: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Instructions (runtime)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4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430720" y="1107360"/>
            <a:ext cx="7254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High Performance &amp; Distributed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3008160" y="2266200"/>
            <a:ext cx="6722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combines performance and networking support in its core design.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5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6"/>
          <p:cNvSpPr/>
          <p:nvPr/>
        </p:nvSpPr>
        <p:spPr>
          <a:xfrm>
            <a:off x="1020960" y="2971800"/>
            <a:ext cx="3619800" cy="346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achieves high performance using Just-In-Time (JIT) compilation.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JVM compiles frequently used Bytecode into optimized native code while the program is running.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JIT optimizations include: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 inlining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Dead code elimination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Constant folding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Optimized method calls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Faster execution over time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Near native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7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8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ounded Rectangle 159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System.out.println("Fast and distributed Java applications");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TextBox 6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Rounded Rectangle 160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is designed for distributed environments, especially the Internet.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It provides built-in support for: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Networking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Remote method calls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applications can easily communicate over networks and run on multiple machines.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1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30080" y="1107360"/>
            <a:ext cx="8855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Some Other Important Features of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1341720" y="226620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provides several unique features that help developers write clean, stable, and maintainable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2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3"/>
          <p:cNvSpPr/>
          <p:nvPr/>
        </p:nvSpPr>
        <p:spPr>
          <a:xfrm>
            <a:off x="1020960" y="2971800"/>
            <a:ext cx="3619800" cy="346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Simple &amp; Easy to Learn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a clear and readable syntax. Complex features like pointers are removed, making it easier for beginners.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Strongly Typed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Every variable has a defined type. This helps detect errors at compile time instead of runtime.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automatically manages memory using Garbage Collection, so developers do not need to free memory manually.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Multithreaded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supports multithreading, allowing programs to perform multiple tasks at the same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a large set of built-in libraries for collections, file handling, networking, and more.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4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5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166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easy and powerful");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Rounded Rectangle 167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Simple Syntax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Easy to Learn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Strong Typing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Automatic Memory Management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Multithreading Support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Rich Standard Library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Clean &amp; Maintainable Java Programs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8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3201840" y="1107360"/>
            <a:ext cx="5710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A High-Level Comparison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69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0"/>
          <p:cNvSpPr/>
          <p:nvPr/>
        </p:nvSpPr>
        <p:spPr>
          <a:xfrm>
            <a:off x="1020960" y="2971800"/>
            <a:ext cx="3619800" cy="346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Runs on the Java Virtual Machine (JVM)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safety, portability, and maintainability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enterprise, web, and cloud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Compiled directly to native machine code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(pointers, memory allocation)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performance and low-level control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system software, game engines,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1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2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173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hides complexity"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Rounded Rectangle 174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Source → Bytecode → JVM → Any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Source  → Native Code → Specific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5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6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7"/>
          <p:cNvSpPr/>
          <p:nvPr/>
        </p:nvSpPr>
        <p:spPr>
          <a:xfrm>
            <a:off x="1020960" y="3506040"/>
            <a:ext cx="3619800" cy="289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Safer execution (no pointers, JVM security checks)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Easier to learn and read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 and frameworks</a:t>
            </a:r>
            <a:br>
              <a:rPr sz="1180"/>
            </a:b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large, long-term, enterprise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Slightly slower than native C++ in some cases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Less control over hardware and memory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JVM overhead (startup time, memory usage)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8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79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ounded Rectangle 180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focuses on safety and portability");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Rounded Rectangle 181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Type?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runs everywhere)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(Low-level control)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 &amp; maintainability?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2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3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4"/>
          <p:cNvSpPr/>
          <p:nvPr/>
        </p:nvSpPr>
        <p:spPr>
          <a:xfrm>
            <a:off x="1020960" y="3506040"/>
            <a:ext cx="3619800" cy="289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Very high performance (native execution)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Full control over memory and hardware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No virtual machine overhead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system-level and performance-critical software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game engines and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(risk of memory leaks)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More complex syntax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Harder to learn and maintain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Higher chance of runtime errors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5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6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ounded Rectangle 187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#include &lt;iostream&gt;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using namespace std;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 main()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cout &lt;&lt; "C++ focuses on performance and control";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0;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Box 8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Rounded Rectangle 188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Application Requirement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low-level memory control?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System / Game / Embedded?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89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2846520" y="1107360"/>
            <a:ext cx="6421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When to Choose Java vs C++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1255680" y="2266200"/>
            <a:ext cx="10227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Making the right language choice depends on performance needs, portability, and long-term maintainability.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0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1"/>
          <p:cNvSpPr/>
          <p:nvPr/>
        </p:nvSpPr>
        <p:spPr>
          <a:xfrm>
            <a:off x="1020960" y="3506040"/>
            <a:ext cx="3619800" cy="289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Programming languages are designed for different goals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prioritizes portability, safety, and maintainability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C++ prioritizes performance and low-level control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correct choice depends on the problem domain, not popularity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There is no “best language” — only the right tool for the job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2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3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ounded Rectangle 194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Java: Focus on safety and portability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ChoiceExample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System.out.println("Choose Java for scalable and maintainable systems");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Box 8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Rounded Rectangle 195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What is your main goal?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 &amp; long-term maintenance?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 &amp; hardware control?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safety, scalability, enterprise support?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6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178280" y="1107360"/>
            <a:ext cx="9759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Abstraction Level: What Do Java and C++ Hide, What Do They Expose?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4612680" y="2266200"/>
            <a:ext cx="351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Same system, different perspectives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7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8"/>
          <p:cNvSpPr/>
          <p:nvPr/>
        </p:nvSpPr>
        <p:spPr>
          <a:xfrm>
            <a:off x="1020960" y="3506040"/>
            <a:ext cx="3619440" cy="289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What Is Abstraction?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Abstraction is the hiding of complexity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developer writes what is done, not how it is done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But not every language provides the same level of abstraction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critical difference here: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hides the system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C++ exposes the system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199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0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ounded Rectangle 201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JOR JAVA: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new int[5];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FOR C++: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int* numbers = new int[5];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// memory responsibility is on the developer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TextBox 8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Rounded Rectangle 202"/>
          <p:cNvSpPr/>
          <p:nvPr/>
        </p:nvSpPr>
        <p:spPr>
          <a:xfrm>
            <a:off x="4968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Developer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JVM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Operating System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Hardware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"/>
          <p:cNvSpPr/>
          <p:nvPr/>
        </p:nvSpPr>
        <p:spPr>
          <a:xfrm>
            <a:off x="6968880" y="3657600"/>
            <a:ext cx="1260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Developer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Operating System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Hardware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Rectangle 449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0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1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2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3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4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5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56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57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58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59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0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461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462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63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464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203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Box 88"/>
          <p:cNvSpPr/>
          <p:nvPr/>
        </p:nvSpPr>
        <p:spPr>
          <a:xfrm>
            <a:off x="1008000" y="1107360"/>
            <a:ext cx="10100880" cy="57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= Thinking with the Right Abstraction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89"/>
          <p:cNvSpPr/>
          <p:nvPr/>
        </p:nvSpPr>
        <p:spPr>
          <a:xfrm>
            <a:off x="4121280" y="2266200"/>
            <a:ext cx="44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Not learning a language, but gaining a mindset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ounded Rectangle 204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205"/>
          <p:cNvSpPr/>
          <p:nvPr/>
        </p:nvSpPr>
        <p:spPr>
          <a:xfrm>
            <a:off x="1020960" y="3506040"/>
            <a:ext cx="3619440" cy="289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What Did We Gain in This Section?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We saw why Java exists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We understood what problem Java is trying to solve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We learned the design philosophy behind the language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not just a “coding language”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It is a way of thinking about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Rounded Rectangle 206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207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208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exists to reduce complexity.");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9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Rounded Rectangle 209"/>
          <p:cNvSpPr/>
          <p:nvPr/>
        </p:nvSpPr>
        <p:spPr>
          <a:xfrm>
            <a:off x="4968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Problem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Abstraction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Class &amp; Object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Safe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Sustainable System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2026-01-23T15:35:39Z</dcterms:modified>
  <cp:revision>75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