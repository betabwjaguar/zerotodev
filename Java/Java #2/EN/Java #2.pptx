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</p:sld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6970581-32D0-43AD-A58A-211973CD285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E74C077-76FE-4EEB-AFA2-75C4537F9E1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009FDDC-4F58-4677-9AAD-2BBB75E3BAB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E5F468C-BC80-4C18-A34E-797906FC330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BE7747F-DC72-4E77-B408-B872A6BC8DF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1411D6D-66DA-47CC-A423-6FC5CC84CE6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E46881B-C03D-4378-904D-CFA8D07183C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A299CEF-092A-4CA2-8B3F-2B9C4AFAA81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BC78E0C-5F03-419A-82A9-06E02D5769C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5CE0761-1D51-4433-81E4-561134D8802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D2E4BB5-A42A-4E7E-AF56-68294198A10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4942A17-C09F-4D04-AA8B-74D15D119D7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8C84A07-D7BE-45E4-8F8A-593903B4262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4D1F1C6-E6B5-4B5C-9FF8-7F7C073877A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FDCCD1D-27A0-4ABD-BA9A-CC0764E1F41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17E4567-047C-426B-9CBD-7D605055599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7534BA6-5FA3-4CEF-A27E-D18A9E642A2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9AADC2D-1267-4D1B-BE6C-A34DA828991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5697AFA-2AE1-4DFD-AED4-33DB8CC0F3F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2AB7BAC-99B4-4F92-94BC-27001112E4E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C632252-D806-4BF9-BA83-F6847F0C6C0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1721462-348C-427A-83B1-F726A6D6F67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29B3EB2-C0DC-4325-AF8B-51200BC6FDE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862D356-34AC-4331-9FFA-95495F61593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221BFD4-1858-47D6-9FC5-871FAABF453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788AFC2-B9BC-486F-9AE5-BEA509A2333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CE5A6FF-61FA-43EC-BE41-EE4722E45A0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ACDE1C2-5CB7-4419-949E-2C5E10F0899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73A4EE8-94E5-4017-9859-A49B2564438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4597D42-0ED9-4EA6-9687-295DFB846ED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B3ABF1C-EE5E-4E9C-A08B-F3155C872A5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B831928-D1DF-406F-A769-A178A3499AD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F7A15CB-136E-4674-9801-D21D183D9BE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680D653-656D-4887-8556-5FC77F10DBA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CA86687-AC12-4587-9095-801508B91B2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B02F6D3-7DB3-40B7-A5FB-398E50BB810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2045C9D-4C31-487E-A57E-587816F08E7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52DF047-7AC7-47EA-AE1D-A03E7B4B421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DAB65D1-C9D2-4501-AD81-8332EDEE4C3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C756C41-5E10-41EB-94E6-86EC1A1BB48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BD3A449-D191-47F6-B5DD-1FEE49FB722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15094E2-0D9A-43CE-9C99-8B5AB7F8718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35DBE78-8918-446D-9B52-1CD5F271BC7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1D01DDD-597F-43EA-BB8D-A8CECE6F6BE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929ACC9-A254-4FE1-A09B-161381FDDC9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2E80BC0-6E17-4477-BBA8-80A0C52B0E2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B2C7A2D-4E62-4642-A569-3F27B0C771C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110C166-7E1F-4D4A-B1FD-7A1C13D5C20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CC57703-EB3E-4970-A7BE-6AEE034C651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5B701E4-552D-48BA-8D19-DB9E0E266B1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9D4B87D-C1FA-4431-B515-317F4D1CC9E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5BC8AE4-F46B-4D50-9EB3-524731245EB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7C26880-D330-499C-B2F4-44F63CE435E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DDF4FF8-F1CF-4219-A7E9-0F9C8F040E8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3AC3800-32C7-4C56-967C-1D6D38F1F40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C6D9E68-9582-4D80-B880-C787F246391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4D5F148-BFC9-4A84-AD99-B5DB502D6D7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6F1E510-762E-4F63-B706-BD63521278E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F11B039-430B-4280-9178-F0C7195FF75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F4EED20-CAD4-49D4-9330-8F8B07BEF6F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5111F28-9FCC-441D-BB78-DE60791660E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9FD00C7-FFA5-4A68-9A43-109E930EEB0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37EA50F-9104-4047-81C4-444B2E435EC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C5A2DF4-DF6F-4434-94BA-2A46D677070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82F6FCC-AA65-4925-9B5B-BB29FA0EEDB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9B474FD-DAD4-4101-96CE-461842317F0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4F8FDE3-5B5F-4326-958C-B807EB889AA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056AEB9-A9F1-4A81-A075-61E1303D047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FDF3A17-BFF3-4D16-86A5-F345B014B31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92F624B-DFA7-4EB7-975D-81B74A6A79A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4EFC790-96B3-4577-984A-378AC4A0AA7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5659458-FF2C-4345-AD04-0CC90DC3662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971F806-4C2B-4E5A-B85A-A7134B10E37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74ADB17-8C1F-4B34-9BCD-E617781C91A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9FD5BDC-88E7-454B-ACF3-0B64B12723F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568B834-DBA3-43C8-B44A-B6C28818A8C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01CA69B-3539-4BDE-B70F-F48F9D103B4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8FF6169-60B3-4C9D-96BE-F1EC3AD0373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BC4EE62-60CE-4F61-BD53-522E9A047A4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81B369C-CD6F-4C32-8DC3-3FE8895FAEC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D1E34C1-2096-49AD-90B5-1EAC92D324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350AF08-804A-42F1-A836-A696EECD5A0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ECF25F9-B396-4458-84AE-1D9F5EF7380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C92F3A2-568C-4417-B356-2C0A4709357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345F3D4-29CB-404F-9150-6610191168C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89D0D36-85DD-45B7-97F1-58AB6F0781B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22224E9-1562-4840-9528-7D7B9059519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C24157C-4234-47A3-8198-CCA78B7482B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D2AE05B-FED2-492B-994E-BA3BE257256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85B1C15-51CA-4C3B-88E9-94BF976644C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FA4F8D4-7596-4FCC-9264-499E8BA0F3D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73520F9-7BC8-4309-8BE3-3135D49A24F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34F1D19-2EB9-48E8-94B4-363778CBB01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0294963-93CD-4171-A2A0-FB2BF8A7C41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8C4908D-D011-43BF-B105-796BE79A3EA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603338D-A0C2-49A2-9A4B-510E701B461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A67CFE1-21E2-4EFF-861B-CD13DAA3D38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65B6372-F0D2-48A1-A3A3-D44E8C63E90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5280BE6-D232-445D-8857-6264B9FA63F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D98DE60-7B1B-4B6F-A482-5125FDAB5B7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1752B9C-3E81-46A0-B7C5-DC6E8287C6C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0ECE51A-C6AA-4517-A50D-DC040B09884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2C5CC0D-85C9-4798-8973-EF7F9B63F02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5A225C7-9DCE-4C1A-B4CB-91077F3516F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B16100A-FFA5-4759-A24B-2F7BC9A3166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D81299F-6F34-43BE-84DA-6841B2A4E0D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4F41379-5A8E-4F25-8AB2-7B188F4FC4B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8D9957A-DBAB-46B3-8376-A31C6BF3321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C807C29-83FA-4B07-B878-85A9E0B7342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59A9080-FE81-4453-BDF1-6CDBF535564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C0F1A44-735E-43AC-A2FE-D0EB784D367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00431A8-559F-4DCF-970F-94A1027EE7C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A1F22C3-1833-4C0A-880F-6F73C24A0D7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DE2F5D4-34C4-462E-8D86-40B02BE8D7B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30091D9-D62F-4D41-ACFB-D804B92E984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05CCB94-1AE4-4E70-8AAD-45B1DE25F41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44D72C5-E2CA-45A2-B634-1837743D46F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Rectangle 1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2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3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4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5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6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7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8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9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0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1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2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13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14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15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16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17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TextBox 18"/>
          <p:cNvSpPr/>
          <p:nvPr/>
        </p:nvSpPr>
        <p:spPr>
          <a:xfrm>
            <a:off x="1522800" y="1005840"/>
            <a:ext cx="7926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VIRTUAL MACHINE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TextBox 19"/>
          <p:cNvSpPr/>
          <p:nvPr/>
        </p:nvSpPr>
        <p:spPr>
          <a:xfrm>
            <a:off x="3661920" y="2057400"/>
            <a:ext cx="36482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engine that runs Java programs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Rounded Rectangle 20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ounded Rectangle 21"/>
          <p:cNvSpPr/>
          <p:nvPr/>
        </p:nvSpPr>
        <p:spPr>
          <a:xfrm>
            <a:off x="685800" y="2521440"/>
            <a:ext cx="3423240" cy="3323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Java Virtual Machine (JVM) is a virtual runtime engine that executes Java bytecode.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It allows Java programs to run on any platform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bytecode, not machine code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translates bytecode into machine-specific instructions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 Responsibilities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 (Write Once, Run Anywhere)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 execution (Interpreter + JIT Compiler)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Security through a controlled runtime environment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acts as a bridge between Java programs and the operating system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Rounded Rectangle 22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ounded Rectangle 23"/>
          <p:cNvSpPr/>
          <p:nvPr/>
        </p:nvSpPr>
        <p:spPr>
          <a:xfrm>
            <a:off x="4434840" y="310896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for OS/CPU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" name="Rounded Rectangle 24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ounded Rectangle 25"/>
          <p:cNvSpPr/>
          <p:nvPr/>
        </p:nvSpPr>
        <p:spPr>
          <a:xfrm>
            <a:off x="7955280" y="310896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Rectangle 32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33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34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35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36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37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38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39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40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41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42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43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44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45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46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47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8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TextBox 4"/>
          <p:cNvSpPr/>
          <p:nvPr/>
        </p:nvSpPr>
        <p:spPr>
          <a:xfrm>
            <a:off x="3214440" y="1005840"/>
            <a:ext cx="4542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Architecture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TextBox 5"/>
          <p:cNvSpPr/>
          <p:nvPr/>
        </p:nvSpPr>
        <p:spPr>
          <a:xfrm>
            <a:off x="3641400" y="2194560"/>
            <a:ext cx="36892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INSIDE THE JAVA VIRTUAL MACHINE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Rounded Rectangle 9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ounded Rectangle 10"/>
          <p:cNvSpPr/>
          <p:nvPr/>
        </p:nvSpPr>
        <p:spPr>
          <a:xfrm>
            <a:off x="914400" y="310896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architecture is built from core components that work together to execute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 files into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 store data during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runs bytecode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removes unused objects automatically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These parts allow Java programs to run securely, efficiently, and independently of the operating system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Rounded Rectangle 11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ounded Rectangle 12"/>
          <p:cNvSpPr/>
          <p:nvPr/>
        </p:nvSpPr>
        <p:spPr>
          <a:xfrm>
            <a:off x="4434840" y="310896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Rounded Rectangle 13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ounded Rectangle 14"/>
          <p:cNvSpPr/>
          <p:nvPr/>
        </p:nvSpPr>
        <p:spPr>
          <a:xfrm>
            <a:off x="7955280" y="310896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Running");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Process: Load =&gt; Store In Memory =&gt; Execute =&gt; Clean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Rectangle 48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49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50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51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52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53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54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55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56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57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58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59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60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61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62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63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ounded Rectangle 15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TextBox 7"/>
          <p:cNvSpPr/>
          <p:nvPr/>
        </p:nvSpPr>
        <p:spPr>
          <a:xfrm>
            <a:off x="1896840" y="1005840"/>
            <a:ext cx="7177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EXECUTION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TextBox 8"/>
          <p:cNvSpPr/>
          <p:nvPr/>
        </p:nvSpPr>
        <p:spPr>
          <a:xfrm>
            <a:off x="2177280" y="2194560"/>
            <a:ext cx="6617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the JVM runs a Java program step by step behind the scenes.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Rounded Rectangle 16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ounded Rectangle 18"/>
          <p:cNvSpPr/>
          <p:nvPr/>
        </p:nvSpPr>
        <p:spPr>
          <a:xfrm>
            <a:off x="475560" y="2743200"/>
            <a:ext cx="3724200" cy="3102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When a Java program starts, the JVM follows a smart execution process.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First, the Class Loader loads compiled .class files into memory and checks them for security.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Next, memory is organized into areas like the Heap (for objects) and Stack (for method calls and variables).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Then, the Execution Engine runs the program.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Interpreter reads bytecode line by line, while the JIT Compiler converts frequently used code into faster machine 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Finally, the Garbage Collector removes unused objects from memory automatically.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Thanks to this process, Java programs run safely, efficiently, and on any system with a JVM.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Rounded Rectangle 19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ounded Rectangle 26"/>
          <p:cNvSpPr/>
          <p:nvPr/>
        </p:nvSpPr>
        <p:spPr>
          <a:xfrm>
            <a:off x="4343400" y="2918520"/>
            <a:ext cx="3513960" cy="292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Native Machine Code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frees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" name="Rounded Rectangle 27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ounded Rectangle 28"/>
          <p:cNvSpPr/>
          <p:nvPr/>
        </p:nvSpPr>
        <p:spPr>
          <a:xfrm>
            <a:off x="8023680" y="2743200"/>
            <a:ext cx="3835440" cy="319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message = "JVM Execution Started";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System.out.println(message);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addNumbers(5,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result);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addNumbers(int a, int b)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Rectangle 64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65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66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67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68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69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70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71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72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73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74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75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76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77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78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79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ounded Rectangle 29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Box 11"/>
          <p:cNvSpPr/>
          <p:nvPr/>
        </p:nvSpPr>
        <p:spPr>
          <a:xfrm>
            <a:off x="3468960" y="2194560"/>
            <a:ext cx="40338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Java’s Core Components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Rounded Rectangle 30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ounded Rectangle 31"/>
          <p:cNvSpPr/>
          <p:nvPr/>
        </p:nvSpPr>
        <p:spPr>
          <a:xfrm>
            <a:off x="685800" y="3108960"/>
            <a:ext cx="3514320" cy="305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is built on three key layers that work together to develop and run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Virtual Machine)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Runs Java bytecode and makes Java platform-independent.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Runtime Environment)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everything needed to run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tools needed to develop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Think of it like this: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Engine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Engine + Fuel System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Full Car Factory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Rounded Rectangle 32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ounded Rectangle 33"/>
          <p:cNvSpPr/>
          <p:nvPr/>
        </p:nvSpPr>
        <p:spPr>
          <a:xfrm>
            <a:off x="443484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(Compiler + Dev Tools)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files)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(Libraries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(Execution Engine)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(OS/CPU)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" name="Rounded Rectangle 34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ounded Rectangle 35"/>
          <p:cNvSpPr/>
          <p:nvPr/>
        </p:nvSpPr>
        <p:spPr>
          <a:xfrm>
            <a:off x="795528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Compile using 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Run using JRE (which uses JVM internally)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System.out.println("Understanding JDK, JRE, and JVM!");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Rectangle 80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81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82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83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84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85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86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87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88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89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90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91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92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93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94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95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ounded Rectangle 36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TextBox 13"/>
          <p:cNvSpPr/>
          <p:nvPr/>
        </p:nvSpPr>
        <p:spPr>
          <a:xfrm>
            <a:off x="1889280" y="1005840"/>
            <a:ext cx="71931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ENVIRONMENT SETUP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TextBox 14"/>
          <p:cNvSpPr/>
          <p:nvPr/>
        </p:nvSpPr>
        <p:spPr>
          <a:xfrm>
            <a:off x="591840" y="2194560"/>
            <a:ext cx="97869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Sets up your system to compile and run Java by installing the JDK and configuring system variables.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Rounded Rectangle 37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ounded Rectangle 38"/>
          <p:cNvSpPr/>
          <p:nvPr/>
        </p:nvSpPr>
        <p:spPr>
          <a:xfrm>
            <a:off x="91440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 includes compiler (javac) and runtime (java).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 variables like PATH and JAVA_HOME allow the command line to find Java.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Proper setup ensures Java programs can be compiled and executed anywhere on the system.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Rounded Rectangle 39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ounded Rectangle 40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Download JDK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Install on your computer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Add JDK bin to PATH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Verify with terminal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" name="Rounded Rectangle 41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ounded Rectangle 42"/>
          <p:cNvSpPr/>
          <p:nvPr/>
        </p:nvSpPr>
        <p:spPr>
          <a:xfrm>
            <a:off x="795528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verify installation:</a:t>
            </a:r>
            <a:br>
              <a:rPr sz="1800"/>
            </a:b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Write the Command Prompt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Rectangle 17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18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19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20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21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22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23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4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5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6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7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8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9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30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31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96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ounded Rectangle 43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TextBox 16"/>
          <p:cNvSpPr/>
          <p:nvPr/>
        </p:nvSpPr>
        <p:spPr>
          <a:xfrm>
            <a:off x="911880" y="1005840"/>
            <a:ext cx="9146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CONFIGURING JAVA ENVIRONMENT VARIABLES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TextBox 17"/>
          <p:cNvSpPr/>
          <p:nvPr/>
        </p:nvSpPr>
        <p:spPr>
          <a:xfrm>
            <a:off x="-310680" y="2194560"/>
            <a:ext cx="115988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Environment variables tell the system where Java is installed, allowing tools and commands to work correctly from any directory.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Rounded Rectangle 44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ounded Rectangle 45"/>
          <p:cNvSpPr/>
          <p:nvPr/>
        </p:nvSpPr>
        <p:spPr>
          <a:xfrm>
            <a:off x="91440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points to the JDK installation folder.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includes the Java bin folder so Java tools run from terminal/command prompt.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Without these, Java commands may fail.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Rounded Rectangle 46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ounded Rectangle 47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Installed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→  C:\              Program Files\Java\jdk-xx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Append PATH →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%JAVA_HOME%\bin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 java &amp; javac commands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" name="Rounded Rectangle 48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ounded Rectangle 49"/>
          <p:cNvSpPr/>
          <p:nvPr/>
        </p:nvSpPr>
        <p:spPr>
          <a:xfrm>
            <a:off x="795528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Windows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JAVA_HOME "C:\Program Files\Java\jdk-xx"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PATH "%JAVA_HOME%\bin;%PATH%"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Linux/Mac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Rectangle 97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98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99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100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101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102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103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104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105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106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107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108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109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110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111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112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ounded Rectangle 50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TextBox 21"/>
          <p:cNvSpPr/>
          <p:nvPr/>
        </p:nvSpPr>
        <p:spPr>
          <a:xfrm>
            <a:off x="1666800" y="1005840"/>
            <a:ext cx="7636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WHAT HAPPENS AFTER JAVA IS SET UP?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TextBox 22"/>
          <p:cNvSpPr/>
          <p:nvPr/>
        </p:nvSpPr>
        <p:spPr>
          <a:xfrm>
            <a:off x="4382280" y="2194560"/>
            <a:ext cx="2212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After Environment Setup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Rounded Rectangle 51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ounded Rectangle 52"/>
          <p:cNvSpPr/>
          <p:nvPr/>
        </p:nvSpPr>
        <p:spPr>
          <a:xfrm>
            <a:off x="91440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Once Java is installed and configured, your system is ready to compile and run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You can create .java source files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javac compiler turns source code into 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executes this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Your program now runs on any system with a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Setup is complete — now Java development can begin.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Rounded Rectangle 53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ounded Rectangle 54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Java Code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using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File Created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with java command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Executes Program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Output Appears on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" name="Rounded Rectangle 55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ounded Rectangle 56"/>
          <p:cNvSpPr/>
          <p:nvPr/>
        </p:nvSpPr>
        <p:spPr>
          <a:xfrm>
            <a:off x="795528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HelloJava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environment is ready!");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Rectangle 113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114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115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116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117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118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119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120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121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122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123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124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125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126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127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128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ounded Rectangle 57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TextBox 24"/>
          <p:cNvSpPr/>
          <p:nvPr/>
        </p:nvSpPr>
        <p:spPr>
          <a:xfrm>
            <a:off x="2216880" y="1005840"/>
            <a:ext cx="6536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DEVELOPMENT WORKFLOW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TextBox 25"/>
          <p:cNvSpPr/>
          <p:nvPr/>
        </p:nvSpPr>
        <p:spPr>
          <a:xfrm>
            <a:off x="-1019160" y="2194560"/>
            <a:ext cx="130240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               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explains the basic step-by-step process developers follow to create, test, and improve Java programs after the environment is fully set up.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Rounded Rectangle 58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ounded Rectangle 59"/>
          <p:cNvSpPr/>
          <p:nvPr/>
        </p:nvSpPr>
        <p:spPr>
          <a:xfrm>
            <a:off x="91440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installation, Java programming follows a simple development cycle: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Compile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Fix errors if needed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Repeat the process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This cycle is how real-world Java software is developed.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Rounded Rectangle 60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ounded Rectangle 61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→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→ 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Output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Error → Fix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&amp; Run Again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" name="Rounded Rectangle 62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ounded Rectangle 63"/>
          <p:cNvSpPr/>
          <p:nvPr/>
        </p:nvSpPr>
        <p:spPr>
          <a:xfrm>
            <a:off x="795528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5 + 7;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Calculator.java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Calculator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Rectangle 129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130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131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132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133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134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135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136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137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138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139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140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141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142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143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144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ounded Rectangle 64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TextBox 28"/>
          <p:cNvSpPr/>
          <p:nvPr/>
        </p:nvSpPr>
        <p:spPr>
          <a:xfrm>
            <a:off x="2915280" y="1005840"/>
            <a:ext cx="5138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INSTALLATION TYPES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TextBox 29"/>
          <p:cNvSpPr/>
          <p:nvPr/>
        </p:nvSpPr>
        <p:spPr>
          <a:xfrm>
            <a:off x="907200" y="2194560"/>
            <a:ext cx="9169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Different Java distributions and installation types provide flexibility depending on development or production needs.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Rounded Rectangle 65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ounded Rectangle 66"/>
          <p:cNvSpPr/>
          <p:nvPr/>
        </p:nvSpPr>
        <p:spPr>
          <a:xfrm>
            <a:off x="91440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There are multiple ways to install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Oracle JDK (Official distribution)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OpenJDK (Open-source version)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(Long Term Support)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Non-LTS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versions (like Java 17, 21) are recommended for stability and long-term projects.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Choosing the correct distribution ensures compatibility, security updates, and long-term support.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Rounded Rectangle 67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ounded Rectangle 68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Choose Version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Download Distribution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Install JDK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Update PATH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Verify Installation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0" name="Rounded Rectangle 69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ounded Rectangle 70"/>
          <p:cNvSpPr/>
          <p:nvPr/>
        </p:nvSpPr>
        <p:spPr>
          <a:xfrm>
            <a:off x="795528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javac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Linux: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Check detailed version info: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2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ectangle 145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146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147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148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149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150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151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152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153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154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155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156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157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158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159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160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ounded Rectangle 71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TextBox 31"/>
          <p:cNvSpPr/>
          <p:nvPr/>
        </p:nvSpPr>
        <p:spPr>
          <a:xfrm>
            <a:off x="563760" y="1005840"/>
            <a:ext cx="9843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COMMON INSTALLATION PROBLEMS &amp; SOLUTIONS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TextBox 32"/>
          <p:cNvSpPr/>
          <p:nvPr/>
        </p:nvSpPr>
        <p:spPr>
          <a:xfrm>
            <a:off x="2434680" y="2194560"/>
            <a:ext cx="6114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Incorrect environment configuration can prevent Java from running properly.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Rounded Rectangle 72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ounded Rectangle 73"/>
          <p:cNvSpPr/>
          <p:nvPr/>
        </p:nvSpPr>
        <p:spPr>
          <a:xfrm>
            <a:off x="91440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Common Issues: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'java is not recognized as an internal or external command'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Incorrect JAVA_HOME path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variable not updated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Multiple Java versions conflict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JRE installed instead of JDK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Most problems are caused by incorrect environment variables.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Rounded Rectangle 74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ounded Rectangle 75"/>
          <p:cNvSpPr/>
          <p:nvPr/>
        </p:nvSpPr>
        <p:spPr>
          <a:xfrm>
            <a:off x="4434840" y="310896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Error appears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java -version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Verify JAVA_HOME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PATH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Restart terminal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solved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6" name="Rounded Rectangle 76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ounded Rectangle 77"/>
          <p:cNvSpPr/>
          <p:nvPr/>
        </p:nvSpPr>
        <p:spPr>
          <a:xfrm>
            <a:off x="7955280" y="3108960"/>
            <a:ext cx="328644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check environment variable (Windows):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%PATH%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Linux / Mac: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$PATH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Temporarily set JAVA_HOME (Linux/Mac):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8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Rectangle 161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162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163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164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165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166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167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168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169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170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171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172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173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174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175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176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ounded Rectangle 78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TextBox 34"/>
          <p:cNvSpPr/>
          <p:nvPr/>
        </p:nvSpPr>
        <p:spPr>
          <a:xfrm>
            <a:off x="2528640" y="1005840"/>
            <a:ext cx="5913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VERSION MANAGEMENT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TextBox 35"/>
          <p:cNvSpPr/>
          <p:nvPr/>
        </p:nvSpPr>
        <p:spPr>
          <a:xfrm>
            <a:off x="2746440" y="2194560"/>
            <a:ext cx="54907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Managing multiple Java versions and switching between them safely.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Rounded Rectangle 79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ounded Rectangle 80"/>
          <p:cNvSpPr/>
          <p:nvPr/>
        </p:nvSpPr>
        <p:spPr>
          <a:xfrm>
            <a:off x="457200" y="2971800"/>
            <a:ext cx="3781440" cy="319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Sometimes multiple Java versions are installed on the same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17 (LTS)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21 (LTS)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Older legacy version (Java 8)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projects may require different versions.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If versions are not managed properly: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PATH conflicts occur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Wrong JDK compiles the project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Build tools fail (Maven / Gradle)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Proper version management prevents conflicts.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Rounded Rectangle 81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ounded Rectangle 82"/>
          <p:cNvSpPr/>
          <p:nvPr/>
        </p:nvSpPr>
        <p:spPr>
          <a:xfrm>
            <a:off x="4434840" y="3108960"/>
            <a:ext cx="3286440" cy="283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Check installed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Locate JDK folders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Update JAVA_HOME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Update 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Restart terminal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Verify using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javac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2" name="Rounded Rectangle 83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ounded Rectangle 84"/>
          <p:cNvSpPr/>
          <p:nvPr/>
        </p:nvSpPr>
        <p:spPr>
          <a:xfrm>
            <a:off x="8001000" y="2971800"/>
            <a:ext cx="3425760" cy="3039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Check current 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Show active JAVA_HOME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      (Windows)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       (Linux/Mac)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Example version paths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17 → /jdk-17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21 → /jdk-21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After switching 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4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Rectangle 177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178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179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180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181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182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183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184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185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186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187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188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189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190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191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192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ounded Rectangle 85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TextBox 37"/>
          <p:cNvSpPr/>
          <p:nvPr/>
        </p:nvSpPr>
        <p:spPr>
          <a:xfrm>
            <a:off x="2876040" y="1005840"/>
            <a:ext cx="5219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HELLO WORLD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TextBox 38"/>
          <p:cNvSpPr/>
          <p:nvPr/>
        </p:nvSpPr>
        <p:spPr>
          <a:xfrm>
            <a:off x="429480" y="2194560"/>
            <a:ext cx="10113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first program every Java developer writes.It introduces the basic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structure of a Java application and shows how code is executed inside the Java Virtual Machine (JVM).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Rounded Rectangle 86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ounded Rectangle 87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Every Java program starts from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begins from the main()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prints output to the console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runs inside the JVM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Idea: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Hello World demonstrates how Java source code turns into running output.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Rounded Rectangle 88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ounded Rectangle 89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Java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with JVM (java)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Console Output → Hello World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8" name="Rounded Rectangle 90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ounded Rectangle 91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0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Rectangle 193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194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195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196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197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198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199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200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201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202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203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204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205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206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207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208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ounded Rectangle 92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TextBox 40"/>
          <p:cNvSpPr/>
          <p:nvPr/>
        </p:nvSpPr>
        <p:spPr>
          <a:xfrm>
            <a:off x="578160" y="1005840"/>
            <a:ext cx="981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UNDERSTANDING JAVA HELLO WORLD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TextBox 41"/>
          <p:cNvSpPr/>
          <p:nvPr/>
        </p:nvSpPr>
        <p:spPr>
          <a:xfrm>
            <a:off x="1653840" y="2194560"/>
            <a:ext cx="76626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Hello World program may look simple, but it contains the core structure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that every Java application follows.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Rounded Rectangle 93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ounded Rectangle 94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 execution starts from main()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public → accessible from anywhere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→ runs without creating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void → method returns nothing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String[] args → command-line parameters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Idea: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main() method is the entry point of every Java application.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Rounded Rectangle 95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ounded Rectangle 96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searches for main()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main() executes instructions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runs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Text appears on console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4" name="Rounded Rectangle 97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ounded Rectangle 98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6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Rectangle 225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226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227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228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229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230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231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232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233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234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235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236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237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238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239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ectangle 240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ounded Rectangle 106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TextBox 46"/>
          <p:cNvSpPr/>
          <p:nvPr/>
        </p:nvSpPr>
        <p:spPr>
          <a:xfrm>
            <a:off x="2931480" y="1005840"/>
            <a:ext cx="5108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BASIC SYNTAX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TextBox 47"/>
          <p:cNvSpPr/>
          <p:nvPr/>
        </p:nvSpPr>
        <p:spPr>
          <a:xfrm>
            <a:off x="2680560" y="2194560"/>
            <a:ext cx="56095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Basic Syntax defines the fundamental rules and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structure required to write and execute a Java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Rounded Rectangle 107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ounded Rectangle 108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Basic Syntax refers to the core writing rules of Java programs.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Everything is written inside a 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starts from the main() method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Statements end with semicolon ( ; 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Curly braces { } define code blocks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is case-sensitive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Rounded Rectangle 109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ounded Rectangle 110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main() Method Executes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Statements Run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End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0" name="Rounded Rectangle 111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ounded Rectangle 112"/>
          <p:cNvSpPr/>
          <p:nvPr/>
        </p:nvSpPr>
        <p:spPr>
          <a:xfrm>
            <a:off x="795528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BasicSyntax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Java!");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2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Rectangle 209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210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211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212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213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214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215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216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217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218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219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220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221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222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223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ectangle 224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ounded Rectangle 99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TextBox 43"/>
          <p:cNvSpPr/>
          <p:nvPr/>
        </p:nvSpPr>
        <p:spPr>
          <a:xfrm>
            <a:off x="3177000" y="1005840"/>
            <a:ext cx="46159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IDENTIFIERS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TextBox 44"/>
          <p:cNvSpPr/>
          <p:nvPr/>
        </p:nvSpPr>
        <p:spPr>
          <a:xfrm>
            <a:off x="1739880" y="2194560"/>
            <a:ext cx="74901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Identifiers are the names given to Java elements such as classes, variables,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and methods.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Rounded Rectangle 100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ounded Rectangle 101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Rules for Java Identifiers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Must start with a letter, $ or _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After first character, any combination is allowed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Keywords cannot be used as identifiers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identifiers are case-sensitive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Names should be meaningful and readable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Rounded Rectangle 102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ounded Rectangle 103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Name Declared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Checks First Character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Checks Reserved Keywords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Valid Identifier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Used in Program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6" name="Rounded Rectangle 104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ounded Rectangle 105"/>
          <p:cNvSpPr/>
          <p:nvPr/>
        </p:nvSpPr>
        <p:spPr>
          <a:xfrm>
            <a:off x="795528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$salary = 5000;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_value = 10;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__1_value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Illegal examples: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123abc;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-salary;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8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Rectangle 257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258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259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260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261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262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263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264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265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266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267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268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269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270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271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ectangle 272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ounded Rectangle 120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6" name="TextBox 52"/>
          <p:cNvSpPr/>
          <p:nvPr/>
        </p:nvSpPr>
        <p:spPr>
          <a:xfrm>
            <a:off x="3572280" y="550800"/>
            <a:ext cx="38250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Modifiers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TextBox 53"/>
          <p:cNvSpPr/>
          <p:nvPr/>
        </p:nvSpPr>
        <p:spPr>
          <a:xfrm>
            <a:off x="1828800" y="1388880"/>
            <a:ext cx="74901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Identifiers are the names given to Java elements such as classes, variables,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and methods.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Rounded Rectangle 121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ounded Rectangle 122"/>
          <p:cNvSpPr/>
          <p:nvPr/>
        </p:nvSpPr>
        <p:spPr>
          <a:xfrm>
            <a:off x="685800" y="2286000"/>
            <a:ext cx="3517200" cy="4341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Modifiers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Modifiers define access level and behavior of classes, methods, and variables.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They control: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Visibility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Inheritance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Mutability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Method overriding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Access Modifiers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public → Accessible everywhere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private → Only inside the class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protected → Package + subclasses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default → Same package only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Non-Access Modifiers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final → Cannot be changed / overridden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abstract → Must be implemented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static → Belongs to the class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volatile → Ensures memory visibility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Rounded Rectangle 123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1" name="Rounded Rectangle 124"/>
          <p:cNvSpPr/>
          <p:nvPr/>
        </p:nvSpPr>
        <p:spPr>
          <a:xfrm>
            <a:off x="4434840" y="2286000"/>
            <a:ext cx="328860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Modifiers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ACCESS MODIFIERS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public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private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protected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default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NON-ACCESS MODIFIERS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abstract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volatile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2" name="Rounded Rectangle 125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ounded Rectangle 126"/>
          <p:cNvSpPr/>
          <p:nvPr/>
        </p:nvSpPr>
        <p:spPr>
          <a:xfrm>
            <a:off x="7955280" y="2743200"/>
            <a:ext cx="328860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Car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String brand;     // Access modifier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count;  // Non-access modifier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Car(String brand)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this.brand = brand;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count++;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final void displayBrand()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System.out.println("Brand: " + brand);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4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Rectangle 241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242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243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244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245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246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247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248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249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250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251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252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253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254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255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ectangle 256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ounded Rectangle 113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TextBox 49"/>
          <p:cNvSpPr/>
          <p:nvPr/>
        </p:nvSpPr>
        <p:spPr>
          <a:xfrm>
            <a:off x="3630240" y="1005840"/>
            <a:ext cx="3709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TextBox 50"/>
          <p:cNvSpPr/>
          <p:nvPr/>
        </p:nvSpPr>
        <p:spPr>
          <a:xfrm>
            <a:off x="2311200" y="2013840"/>
            <a:ext cx="63471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Variables are named memory locations used to store data.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Each variable has a data type and determines how information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is stored, accessed, and manipulated within 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Rounded Rectangle 114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ounded Rectangle 115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Types of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Declared inside methods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Exists only during method execution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Declared inside class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each object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Declared with static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Shared among all objects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Rounded Rectangle 116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7" name="Rounded Rectangle 117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 Categories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boolean, long,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String, Arrays, 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8" name="Rounded Rectangle 118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ounded Rectangle 119"/>
          <p:cNvSpPr/>
          <p:nvPr/>
        </p:nvSpPr>
        <p:spPr>
          <a:xfrm>
            <a:off x="7955280" y="2971800"/>
            <a:ext cx="328860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Student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name;                 // Instance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school = "Tech University";  // Static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display()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20;            // Local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 + " - " + age + " - " + school);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0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Rectangle 273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274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275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276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277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278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279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280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281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282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283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284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285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286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287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ectangle 288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ounded Rectangle 127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8" name="TextBox 55"/>
          <p:cNvSpPr/>
          <p:nvPr/>
        </p:nvSpPr>
        <p:spPr>
          <a:xfrm>
            <a:off x="3756960" y="1005840"/>
            <a:ext cx="34578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ENUMS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TextBox 56"/>
          <p:cNvSpPr/>
          <p:nvPr/>
        </p:nvSpPr>
        <p:spPr>
          <a:xfrm>
            <a:off x="955800" y="1828800"/>
            <a:ext cx="1001700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enum (short for Enumeration) is a special data type in Java used to define a fixed set of constants.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It is part of Java syntax because it defines a new type, just like class, int, or String.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Enums help make programs safer and more readable by restricting values to predefined constants.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Rounded Rectangle 128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ounded Rectangle 129"/>
          <p:cNvSpPr/>
          <p:nvPr/>
        </p:nvSpPr>
        <p:spPr>
          <a:xfrm>
            <a:off x="685800" y="2971800"/>
            <a:ext cx="3518280" cy="365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What is an Enum?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 special reference type.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Used to represent a group of fixed constants.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Defined using the enum keyword.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type safety.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Why Do We Use Enums?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Using a normal String: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String day = "MONDA";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This compiles, but it is wrong.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200"/>
            </a:b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Day day = Day.MONDAY;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200"/>
            </a:b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you write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MONDA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, the compiler gives an error.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That means enums prevent invalid values at compile time.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Rounded Rectangle 130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3" name="Rounded Rectangle 131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1. enum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2. Java creates constant 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3. Access using EnumName.VALUE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4. Only defined values are allowed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4" name="Rounded Rectangle 132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5" name="Rounded Rectangle 133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enum Level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LOW,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MEDIUM,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HIGH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Test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Level myLevel = Level.MEDIUM;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System.out.println(myLevel);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6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Rectangle 289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ectangle 290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9" name="Rectangle 291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0" name="Rectangle 292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1" name="Rectangle 293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ectangle 294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3" name="Rectangle 295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ectangle 296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ectangle 297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ectangle 298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7" name="Rectangle 299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8" name="Rectangle 300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9" name="Rectangle 301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0" name="Rectangle 302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1" name="Rectangle 303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2" name="Rectangle 304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3" name="Rounded Rectangle 134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4" name="TextBox 58"/>
          <p:cNvSpPr/>
          <p:nvPr/>
        </p:nvSpPr>
        <p:spPr>
          <a:xfrm>
            <a:off x="3253680" y="1005840"/>
            <a:ext cx="44629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KEYWORDS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TextBox 59"/>
          <p:cNvSpPr/>
          <p:nvPr/>
        </p:nvSpPr>
        <p:spPr>
          <a:xfrm>
            <a:off x="3926160" y="1906200"/>
            <a:ext cx="31597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Reserved Words &amp; Description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Rounded Rectangle 135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7" name="Rounded Rectangle 136"/>
          <p:cNvSpPr/>
          <p:nvPr/>
        </p:nvSpPr>
        <p:spPr>
          <a:xfrm>
            <a:off x="685800" y="2286000"/>
            <a:ext cx="351720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What Are Java Keywords?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Keywords are reserved words that have a predefined meaning in the Java language.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These words: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Cannot be used as variable names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Cannot be used as class names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Cannot be redefined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Have special meaning for the compiler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define: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Access levels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Control flow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Class structure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Object behavior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currently has 50+ reserved keywords.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8" name="Rounded Rectangle 137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9" name="Rounded Rectangle 138"/>
          <p:cNvSpPr/>
          <p:nvPr/>
        </p:nvSpPr>
        <p:spPr>
          <a:xfrm>
            <a:off x="4434840" y="3108960"/>
            <a:ext cx="328860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ACCESS       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public       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private      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protected     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CONTROL       OOP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           class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else          extends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           new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while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0" name="Rounded Rectangle 139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1" name="Rounded Rectangle 140"/>
          <p:cNvSpPr/>
          <p:nvPr/>
        </p:nvSpPr>
        <p:spPr>
          <a:xfrm>
            <a:off x="8001000" y="2057400"/>
            <a:ext cx="3656880" cy="4571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Student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String name;      // private keyword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protected int age;        // protected keyword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Student(String name, int age)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this.name = name;     // this keyword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this.age = age;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printInfo()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if(age &gt; 18) {        // if keyword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System.out.println("Adult");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System.out.println("Minor");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2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Rectangle 305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4" name="Rectangle 306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5" name="Rectangle 307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6" name="Rectangle 308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7" name="Rectangle 309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8" name="Rectangle 310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9" name="Rectangle 311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0" name="Rectangle 312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1" name="Rectangle 313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2" name="Rectangle 314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3" name="Rectangle 315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4" name="Rectangle 316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5" name="Rectangle 317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6" name="Rectangle 318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7" name="Rectangle 319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8" name="Rectangle 320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9" name="Rounded Rectangle 141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0" name="TextBox 61"/>
          <p:cNvSpPr/>
          <p:nvPr/>
        </p:nvSpPr>
        <p:spPr>
          <a:xfrm>
            <a:off x="2823480" y="1005840"/>
            <a:ext cx="532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COMMENTS IN JAVA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TextBox 62"/>
          <p:cNvSpPr/>
          <p:nvPr/>
        </p:nvSpPr>
        <p:spPr>
          <a:xfrm>
            <a:off x="2652120" y="1828800"/>
            <a:ext cx="58057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Comments are non-executable lines used to explain code.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They improve readability and help developers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 logic without affecting program execution.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Rounded Rectangle 142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3" name="Rounded Rectangle 143"/>
          <p:cNvSpPr/>
          <p:nvPr/>
        </p:nvSpPr>
        <p:spPr>
          <a:xfrm>
            <a:off x="685800" y="2971800"/>
            <a:ext cx="3517200" cy="320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 Java, comments are ignored by the compiler.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written only for developers.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There are three types of comments: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Single-line comment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Multi-line comment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Documentation comment (Javadoc)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Comments make code cleaner, more maintainable, and easier to understand in team projects.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4" name="Rounded Rectangle 144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5" name="Rounded Rectangle 145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Write Code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 Explanation Using Comments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Compiler Ignores Comments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Executes Normally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Purpose: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Improve readability without changing behavior.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6" name="Rounded Rectangle 146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7" name="Rounded Rectangle 147"/>
          <p:cNvSpPr/>
          <p:nvPr/>
        </p:nvSpPr>
        <p:spPr>
          <a:xfrm>
            <a:off x="7955280" y="3108960"/>
            <a:ext cx="3474360" cy="283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CommentExample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Single-line comment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/* Multi-line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comment */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Java"); // Comment at end of line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8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Rectangle 321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0" name="Rectangle 322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1" name="Rectangle 323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2" name="Rectangle 324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3" name="Rectangle 325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4" name="Rectangle 326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5" name="Rectangle 327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6" name="Rectangle 328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7" name="Rectangle 329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8" name="Rectangle 330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9" name="Rectangle 331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0" name="Rectangle 332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1" name="Rectangle 333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2" name="Rectangle 334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3" name="Rectangle 335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4" name="Rectangle 336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5" name="Rounded Rectangle 148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6" name="TextBox 64"/>
          <p:cNvSpPr/>
          <p:nvPr/>
        </p:nvSpPr>
        <p:spPr>
          <a:xfrm>
            <a:off x="4029840" y="1005840"/>
            <a:ext cx="2912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CORE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TextBox 65"/>
          <p:cNvSpPr/>
          <p:nvPr/>
        </p:nvSpPr>
        <p:spPr>
          <a:xfrm>
            <a:off x="4190760" y="2194560"/>
            <a:ext cx="25905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Next Presentation Topics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Rounded Rectangle 149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9" name="Rounded Rectangle 150"/>
          <p:cNvSpPr/>
          <p:nvPr/>
        </p:nvSpPr>
        <p:spPr>
          <a:xfrm>
            <a:off x="914400" y="3108960"/>
            <a:ext cx="329076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 the upcoming slides, we will explore the fundamental building blocks of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– How Java stores data in memory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Types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– Primitive and reference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Type Casting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– Converting data from one type to another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Unicode System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– How Java represents characters internally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User Input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– Receiving data from users via console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0" name="Rounded Rectangle 151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1" name="Rounded Rectangle 152"/>
          <p:cNvSpPr/>
          <p:nvPr/>
        </p:nvSpPr>
        <p:spPr>
          <a:xfrm>
            <a:off x="4434840" y="2743200"/>
            <a:ext cx="329076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Learning Progression: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Type Casting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Unicode System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User Input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topic builds on the previous one.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 the end, you will understand how data is stored, processed, converted, and received in Java.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2" name="Rounded Rectangle 153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3" name="Rounded Rectangle 154"/>
          <p:cNvSpPr/>
          <p:nvPr/>
        </p:nvSpPr>
        <p:spPr>
          <a:xfrm>
            <a:off x="795528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This slide does not contain any code examples.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4" name="TextBox 66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563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2026-02-28T17:36:04Z</dcterms:modified>
  <cp:revision>38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