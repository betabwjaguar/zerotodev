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0302BD-2B33-472E-88A4-A7BCA006240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78C42F-16A7-430D-89D3-811DECD41A0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3EE4D77-7F91-43C3-A2ED-4F2086E3108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3AA247-967D-420B-9AF5-E40FEEC612B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571A56-3844-40DC-A6B3-1648CDE6A67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B0CC2A-A2BA-4CF8-9479-2E500177582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8A590F-BF77-4CCA-8A93-CCAD693547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AE7DC9-A3C8-48A1-921C-A4B2A13C63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BA3CDD6-A2DF-417B-9D37-5CB542446F8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FE796D-28AA-4891-9775-CDBFE5805D2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4BEEAB6-41DA-4DD6-B74D-ECB855E1FC0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2928C8-C74D-46B5-9A34-7A3750E6A42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FA408E0-AEDB-4A2C-8F9D-DE1E167B939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91ACB73-4D62-4303-9BB7-5EB75E33C6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18ECEB5-DB3B-4005-9C75-F5180389E8C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8F1D524-5FF1-406B-8698-3CAA3944FD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C4053CE-0E1F-4B2C-B2C3-41ACD9A88F5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631525E-97F3-4D9D-A031-1A8F23A1645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EFFFA69-583F-438C-B14C-D8015252AC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3850661-3C91-472C-B80D-AEC5469692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6A42CC-6A41-47B3-9AEE-D2ED343BA28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C478552-3796-42DA-8F31-56864AEA06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2CD106C-E37F-4230-A91F-4AF5AC8A6D9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1A01A89-2313-48C4-9E33-7610074F5A4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571E076-1639-4F4E-8E46-6659DA2F510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EC25680-BFAF-4CCA-B0B7-CF11BC77C40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BEA6466-2396-4424-AB0D-99461D1F35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3BA3ED8-0FF4-4E7D-BF3E-CB962C39156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5BD22E7-81BC-44EA-9F6D-82168882A6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C882C41-6E84-498C-8814-A48F055D572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6BB8488-BC6C-43DD-9EE9-15C3D06C94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279647C-8098-47B5-ABC8-7C54989202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FD8764C-8987-4105-9995-20D8D6651B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30B578F-44B1-4F1B-B3E1-9C67203AB72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F879F69-283A-4C91-A522-A7EAACD361C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85D99F2-F9C0-43C8-A4A2-4FED1330EA1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536E33F-1144-45C7-9E22-6E6D3D87851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9110CA5-C6E9-4431-B711-F1D8C36D805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51AE01F-0663-41C6-9BC4-67FCE4F86D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3101FDB-6634-47D1-974E-2E018E2F4E4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462A553-8195-465C-8727-D2F00DE7847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2CFABE8-DCEC-4BBC-90B6-CC042BA1E6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3A71AAC-99A1-4AA7-B9F3-FC68EBD7E5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29B9D3C-0B4E-4DB6-AC0E-EAAA3B9B9ED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2997416-A56C-49E8-8772-B9D9D4E2D4A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A289023-2FAF-49CE-AAEF-0623CFE19AA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6C2E736-CD2D-4752-AC94-A9198E96B4B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3146AC9-0DDD-446A-A173-688E9522D48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B0F4F3E-F9A5-4144-B725-F5F7ED22839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AD658DD-B017-4C61-9A93-363E41D6CDB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5BC1EC4-3184-4AAE-A203-350C1F58921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B335D86-9FF9-47E0-8F5A-3EC1A9003A8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FE64C85-D224-4A7A-915D-7531E0AF31B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E27A395-165B-4A77-A2FF-126BCF0AB4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A50235C-5AA1-439B-ACCC-9ABAF08843B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0504F29-D59D-45C0-A175-DFDF9A73C74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1F9476E-C662-4941-B665-7B05AE4DE1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379A7CA-456C-4828-B832-70B4360D1D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C38B519-7A8D-4BB0-8155-1B783932420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99B619E-86B0-4A7D-87ED-E994D8FC346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2E567A-1BD9-4A8A-B2D6-F5F77BE8743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0CE5EC-543C-4AA9-907D-A07165B5D09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2ACDAF-6EE6-4583-9506-FA4FDB7AAA0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8D936C1-0E23-463F-A908-6F48E5D955A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203907-F507-405E-ABC7-DF7C6150A3C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1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1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1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1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1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1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1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1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Rounded Rectangle 2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21"/>
          <p:cNvSpPr/>
          <p:nvPr/>
        </p:nvSpPr>
        <p:spPr>
          <a:xfrm>
            <a:off x="685800" y="2521440"/>
            <a:ext cx="3426480" cy="332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Rounded Rectangle 2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ounded Rectangle 23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Rounded Rectangle 2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25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32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33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34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35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36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37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38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39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40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41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42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43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44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45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46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47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8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9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10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Rounded Rectangle 11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ounded Rectangle 12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Rounded Rectangle 13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14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48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49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50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51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52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53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54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55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56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57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58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59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60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61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62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63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15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16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18"/>
          <p:cNvSpPr/>
          <p:nvPr/>
        </p:nvSpPr>
        <p:spPr>
          <a:xfrm>
            <a:off x="475560" y="2743200"/>
            <a:ext cx="3727440" cy="310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Rounded Rectangle 19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ounded Rectangle 26"/>
          <p:cNvSpPr/>
          <p:nvPr/>
        </p:nvSpPr>
        <p:spPr>
          <a:xfrm>
            <a:off x="4343400" y="2918520"/>
            <a:ext cx="3517200" cy="293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Rounded Rectangle 27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28"/>
          <p:cNvSpPr/>
          <p:nvPr/>
        </p:nvSpPr>
        <p:spPr>
          <a:xfrm>
            <a:off x="8023680" y="2743200"/>
            <a:ext cx="383868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64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65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66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67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68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69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70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71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72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73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74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75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76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77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78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79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29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ounded Rectangle 3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31"/>
          <p:cNvSpPr/>
          <p:nvPr/>
        </p:nvSpPr>
        <p:spPr>
          <a:xfrm>
            <a:off x="685800" y="3108960"/>
            <a:ext cx="351756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ounded Rectangle 3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ounded Rectangle 3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ounded Rectangle 3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35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Rectangle 80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81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82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83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84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85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86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87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88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89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90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91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92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93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94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95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36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4"/>
          <p:cNvSpPr/>
          <p:nvPr/>
        </p:nvSpPr>
        <p:spPr>
          <a:xfrm>
            <a:off x="591840" y="2194560"/>
            <a:ext cx="9787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ounded Rectangle 37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38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Rounded Rectangle 3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ounded Rectangle 40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Rounded Rectangle 41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42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1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2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2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2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2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2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2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2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27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2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2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3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3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9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43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16"/>
          <p:cNvSpPr/>
          <p:nvPr/>
        </p:nvSpPr>
        <p:spPr>
          <a:xfrm>
            <a:off x="911880" y="1005840"/>
            <a:ext cx="9147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7"/>
          <p:cNvSpPr/>
          <p:nvPr/>
        </p:nvSpPr>
        <p:spPr>
          <a:xfrm>
            <a:off x="-310680" y="2194560"/>
            <a:ext cx="115992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ounded Rectangle 44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45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Rounded Rectangle 46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ounded Rectangle 47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Rounded Rectangle 48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49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9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9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9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10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10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0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0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0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0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0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07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0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0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1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1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12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50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21"/>
          <p:cNvSpPr/>
          <p:nvPr/>
        </p:nvSpPr>
        <p:spPr>
          <a:xfrm>
            <a:off x="1666800" y="1005840"/>
            <a:ext cx="7637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WHAT HAPPENS AFTER JAVA IS SET UP?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22"/>
          <p:cNvSpPr/>
          <p:nvPr/>
        </p:nvSpPr>
        <p:spPr>
          <a:xfrm>
            <a:off x="4382280" y="2194560"/>
            <a:ext cx="221328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After Environment Setup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ounded Rectangle 51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52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Once Java is installed and configured, your system is ready to compile and run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 can create .java source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javac compiler turns source code into 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executes this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Your program now runs on any system with a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Setup is complete — now Java development can begin.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Rounded Rectangle 53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ounded Rectangle 54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using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File Created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java command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Executes Program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Output Appears on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Rounded Rectangle 55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56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environment is ready!");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Rectangle 113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14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15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116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17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18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19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20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21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22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23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24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25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26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127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128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5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24"/>
          <p:cNvSpPr/>
          <p:nvPr/>
        </p:nvSpPr>
        <p:spPr>
          <a:xfrm>
            <a:off x="2216880" y="1005840"/>
            <a:ext cx="6536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DEVELOPMENT WORKFLOW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25"/>
          <p:cNvSpPr/>
          <p:nvPr/>
        </p:nvSpPr>
        <p:spPr>
          <a:xfrm>
            <a:off x="-1019160" y="2194560"/>
            <a:ext cx="13024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explains the basic step-by-step process developers follow to create, test, and improve Java programs after the environment is fully set 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ounded Rectangle 58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59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installation, Java programming follows a simple development cycle: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Fix errors if needed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Repeat the process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cycle is how real-world Java software is developed.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Rounded Rectangle 60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ounded Rectangle 61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Output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Error → Fix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&amp; Run 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Rounded Rectangle 62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63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Rectangle 129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30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31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32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33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34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35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136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137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138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139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140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141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142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143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144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64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28"/>
          <p:cNvSpPr/>
          <p:nvPr/>
        </p:nvSpPr>
        <p:spPr>
          <a:xfrm>
            <a:off x="2915280" y="1005840"/>
            <a:ext cx="5139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INSTALLATION TYPES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9"/>
          <p:cNvSpPr/>
          <p:nvPr/>
        </p:nvSpPr>
        <p:spPr>
          <a:xfrm>
            <a:off x="907200" y="2194560"/>
            <a:ext cx="91706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Different Java distributions and installation types provide flexibility depending on development or production needs.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ounded Rectangle 65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66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multiple ways to install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(Official distribution)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(Open-source 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(Long Term Support)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Non-LTS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versions (like Java 17, 21) are recommended for stability and long-term projects.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Choosing the correct distribution ensures compatibility, security updates, and long-term support.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Rounded Rectangle 67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ounded Rectangle 68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Choose 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Distribution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Install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Installation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Rounded Rectangle 69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70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Check detailed version info: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Rectangle 145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146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147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148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149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150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151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52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53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54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55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56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57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58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59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60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71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31"/>
          <p:cNvSpPr/>
          <p:nvPr/>
        </p:nvSpPr>
        <p:spPr>
          <a:xfrm>
            <a:off x="563760" y="1005840"/>
            <a:ext cx="9843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COMMON INSTALLATION PROBLEMS &amp; SOLUTIONS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32"/>
          <p:cNvSpPr/>
          <p:nvPr/>
        </p:nvSpPr>
        <p:spPr>
          <a:xfrm>
            <a:off x="2434680" y="2194560"/>
            <a:ext cx="61153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Incorrect environment configuration can prevent Java from running properly.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Rounded Rectangle 72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73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Common Issues: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Incorrect JAVA_HOME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variable not updated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Multiple Java versions conflict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JRE installed instead of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Most problems are caused by incorrect environment variables.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Rounded Rectangle 74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ounded Rectangle 75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Error appears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java -version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PATH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solved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Rounded Rectangle 76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77"/>
          <p:cNvSpPr/>
          <p:nvPr/>
        </p:nvSpPr>
        <p:spPr>
          <a:xfrm>
            <a:off x="7955280" y="3108960"/>
            <a:ext cx="328968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check environment variable (Windows):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Temporarily set JAVA_HOME (Linux/Mac):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Rectangle 16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6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16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16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16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6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6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6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6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7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7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17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17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17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17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17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78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34"/>
          <p:cNvSpPr/>
          <p:nvPr/>
        </p:nvSpPr>
        <p:spPr>
          <a:xfrm>
            <a:off x="2528640" y="1005840"/>
            <a:ext cx="5913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VERSION MANAGEMENT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35"/>
          <p:cNvSpPr/>
          <p:nvPr/>
        </p:nvSpPr>
        <p:spPr>
          <a:xfrm>
            <a:off x="2746440" y="2194560"/>
            <a:ext cx="54921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Managing multiple Java versions and switching between them safely.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Rounded Rectangle 79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80"/>
          <p:cNvSpPr/>
          <p:nvPr/>
        </p:nvSpPr>
        <p:spPr>
          <a:xfrm>
            <a:off x="457200" y="2971800"/>
            <a:ext cx="378468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Sometimes multiple Java versions are installed on the same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Older legacy version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projects may require different versions.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If versions are not managed properly: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conflicts occur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Wrong JDK compiles the project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tools fail (Maven / Gradle)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Proper version management prevents conflicts.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Rounded Rectangle 81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ounded Rectangle 82"/>
          <p:cNvSpPr/>
          <p:nvPr/>
        </p:nvSpPr>
        <p:spPr>
          <a:xfrm>
            <a:off x="4434840" y="3108960"/>
            <a:ext cx="3289680" cy="283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Check installed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Locate JDK folders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Verify using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Rounded Rectangle 83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84"/>
          <p:cNvSpPr/>
          <p:nvPr/>
        </p:nvSpPr>
        <p:spPr>
          <a:xfrm>
            <a:off x="8001000" y="2971800"/>
            <a:ext cx="3429000" cy="3042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Check current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Show active 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Example version paths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After switching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2026-02-13T21:38:07Z</dcterms:modified>
  <cp:revision>20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