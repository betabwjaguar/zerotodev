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</p:sldMasterIdLst>
  <p:sldIdLst>
    <p:sldId id="256" r:id="rId16"/>
    <p:sldId id="257" r:id="rId17"/>
    <p:sldId id="258" r:id="rId18"/>
    <p:sldId id="259" r:id="rId19"/>
    <p:sldId id="260" r:id="rId20"/>
    <p:sldId id="261" r:id="rId21"/>
    <p:sldId id="262" r:id="rId22"/>
    <p:sldId id="263" r:id="rId23"/>
    <p:sldId id="264" r:id="rId24"/>
    <p:sldId id="265" r:id="rId25"/>
    <p:sldId id="266" r:id="rId26"/>
    <p:sldId id="267" r:id="rId27"/>
    <p:sldId id="268" r:id="rId28"/>
    <p:sldId id="269" r:id="rId29"/>
    <p:sldId id="270" r:id="rId30"/>
    <p:sldId id="271" r:id="rId31"/>
    <p:sldId id="272" r:id="rId32"/>
    <p:sldId id="273" r:id="rId33"/>
    <p:sldId id="274" r:id="rId3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6A3CCD8-6579-456E-A690-6A24041D7F1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67BCF9-D52A-4FC9-8798-B06A17E34CC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6E15A07-308B-481F-831E-F3949CE3ED4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054FC7A-59C5-4913-8820-89FD57F5502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B63770-C8D7-4262-B943-3B300FDF1BA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44B2AD-2277-45C7-B4EE-BCEAB7CCA28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F72B33-7970-463A-B342-A87BAB2CCAB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380425-1662-4317-82F1-151809D340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AFD94B-959A-4295-AD60-7A1E102290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E4968D-23A4-4381-8F04-A57B85F9482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1DF60E-1CBA-48B9-9D50-F8C36DECCFC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EDFED0-1137-46E9-A410-6D0E04D84AA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E7CFFC1-76CD-4D58-AEE8-093F52F4B79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3E99DDB-AC8D-4E9F-8C5F-49BA52EF15F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EED47AC-3BF7-4E49-86B5-0BB9CD0EB1B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4277423-498C-4CC4-8B8F-F990053A4EC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C9BB4ED-698B-47F3-A1D4-03F9A8594A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3662BEE-BC2E-4E24-B8BD-0BD90417E14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AB256F9-8A5F-4E5D-816A-F4381BEEAE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3DCCE2C-E902-4C87-9725-133F44B7B5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C05D8AB-F5C5-4DC8-ADF1-63699A049D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BA1D9B0-12D1-4735-8D07-F56A79E432C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8D38222-CCE0-4372-B9F2-2EDB06F0948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E13440E-EFE8-4796-8FC8-29D54D7310C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3403496-FD1A-4BB5-9621-234B07EAD4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775DB84-1D69-474F-8ADC-BE90E2E51C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25A14E2-1467-47B0-A240-7A5245A326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C2FFC45-A163-4588-977E-DEF95EC1F4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4E24378-0760-407C-A23A-558E69D99E9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AD5ABD9-547F-4D03-9513-FD499A09009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0B1313C-B1D5-4912-B5D6-4F8B2DEC6BD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D0EAAE0-996D-4576-8367-3F4D5C13E54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949B0B8-863D-445E-A533-DD47C574C8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B5B02F4-5D37-4947-80C0-C97CDF87004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DF487A6-573C-48A6-A3DC-B15476AB3CB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13AC011-1D43-4995-8E28-636B314E9A1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9A9F3C3-AE5D-4FEA-BF8A-55F70AA11C9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3365B00-02E5-4597-918F-13D23120CE7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DB52360-7610-46BF-8866-465D46634AB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8B3E892-39F0-40B5-9E39-5D5F85E4E14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A50CF67-C969-4B75-8026-CE94C0D09C7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477C5A2-FEB6-4D54-BF2D-4D60F5DF6C7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7A4A1AF-A8EE-4E89-919B-93ADDF3B9E5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7D8C975-5781-4335-B03E-ECFD8ADBA88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8B671A8-B999-43CA-B7D6-AF3CF55C41D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4808F0A-91EC-495C-AC8B-34474F470AD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2238D74-2E1A-4351-91B8-0C069842FBC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30168BF-E8EF-46C4-8D8C-2A570B900EB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5984D31-2FA7-45B0-A2FF-5C9C3FB50D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2FBB31E-4856-44D2-80A7-EF5DF3909A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A431BB8-D109-4C1C-A494-101D344B34C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104EF81-E5DC-4751-BC4E-FD6A5228A04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63D7528-1D8C-4CEB-8818-5CF19AB9D8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8BFC708-A587-4864-AD05-E6F4F6FED09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AEDED71-0838-42D4-B34B-46F3CCCEDD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8B60D97-7E73-4F87-ABF8-9DC79B798E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09678BC-BF9D-4EBD-8E7D-2FDC723BD11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AC525FF-D3FF-4419-BF63-DA0A94AC13B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1BE54BE-5F5C-4875-9172-8DD2B3B4E02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54D9B52-1843-48D8-99C8-59249A4E654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45E0916-CBF0-48D3-8858-37878AFC8D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833C580-1742-470A-9E91-0BE3B953E3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93CBD37-18E8-48C5-9B45-188F66F03A8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0514AB5-0662-4084-8626-4C1D7570A79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0B500FF-FC8C-4DB6-9E24-9A32021B03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5D7C92D-211F-4536-B479-8D2AB61037E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8ECA898-ABC8-4BE4-ABAD-3BD0F87AC66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CE4700B-BE59-4E6D-B01B-4D68B750C11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56419C0-4A80-46D0-966D-16A6513667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A723235-EB1B-4D30-A936-4DB23542AA3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80DB4CD-3023-497D-83A1-0DC0964BA33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0595045-9966-450A-99AE-58E763408FF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9C106B9-2AC1-4D09-BD70-5D7F3830140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115FD65-968C-4E30-91F1-C2288A1493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5DD1504-6C80-4724-B346-6EB6E97425A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B17CCAF-E577-4BE6-A8D6-82E66B5B879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6902D20-DF3D-432C-B70F-F71678BC4E8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2FC699C-C366-46C9-AA85-FC666E214E8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2D2600D-45B2-4EDE-8F0E-AE2089936F9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6219FE0-2F32-4AAC-BFFB-9BCD27B43EE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737A5C0-5022-42FD-BAE3-ED810A9EE8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3502609-6B1D-48EF-BDC4-107694304F6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D7A0042-48FA-4A9F-BD49-E94E90A214C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4BCE073-E62B-4434-ABA7-BD4392AE44A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1859A06-004A-4C80-AD0E-88A1E4073F9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01E10AE-115A-4C92-8467-25B00DDE56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D56BBCE-AD32-4177-8A65-843ABD64E5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6B0BE35-3E7A-4845-B582-35883881701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79A445B-10C2-4D2F-8B1F-5D9422818FB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4BDDCB1-2A4A-4DD2-A40A-1D8ADFB4A4C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3C68ED8-8844-4441-9D18-40B69273F6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F8BB19C-B507-40C2-A2EA-CFF917ACD8F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F136558-5E17-4663-901A-4E5C5240035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FE1B765-FC14-452C-9D56-42EBD705DDF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771EE30-113D-491E-9F88-1B0D045CA03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E8140AE-B07F-4855-8065-6AD5EF7B3BE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12E713F-9D8D-48F6-8CF4-C711071DAD9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38FC48B-BF49-41EF-B186-7655B71B5A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36A45BD-060B-4010-95EA-CF479FD2FE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C6DD392-CE6C-4F27-87D0-DFB7444EE2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CA8D0E6-378C-4600-940F-7012056C307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06BF9CA-E050-445F-93D7-10BCACF986A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F420E93-9530-4C5A-972C-1E2F4BFFA4A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8517B93-69BB-4C5A-A523-1D7A80CEE6A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52A9568-524C-4EB2-B26A-F0D18BF373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1F075E6-7B97-4B5E-9EEE-7F2B3EECE8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ADA4032-E362-438E-B4E1-64F1A260911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B46C4C7-E4B9-4609-A6F5-89AB43D5023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277CDF8-660D-4808-B2B1-6DAE19E85ED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B6F78E0-F108-4A31-AF21-144E9369BB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4465D60-207D-4D8C-942B-ED37C6E05F5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222178A-3B8C-49CB-975D-33949280148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F032A01-94F8-4FE6-B9DE-2AD505A347F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1B6253C-8FDB-4B19-B20A-877DB8E149F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D9F5ED5-DEE2-43ED-B11F-3BB4B17B3C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941A039-547F-4EEA-9486-5DCB2A0C33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30ED95E-9BD7-4DD3-A337-5C1CE89211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FC23012-9C30-4F1A-BD0D-B3AE1FCAA9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32EC51D-B856-44CE-B3DD-3C6C7F7DFD5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E18AF33-FAF7-4665-872C-40EE526FFBF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B870929-78A4-45E8-91CC-BB6361D1981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EFBB634-56D7-4DEB-A963-2EEA8EFA826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93E1299-DE6D-4DC0-BA93-4F4B032AB85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ECCECFD-3F1D-4319-A5A7-B5B5BA817AB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6C1B57E-EADD-49A2-9F3F-0336E9347CB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76008A9-0359-4FC9-84D0-44133EE0D1A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1DAE900-3C33-4AD5-850A-1114A72C65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8DBED55-8CD6-4611-A77C-E9CD4B4F2BA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AC7BB0B-E34C-4209-961D-92A45E76BED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421C9F2-BCD7-4966-A298-A161F8FEDE3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568E9CE-2F4B-4BC7-BFC5-E9CB57BCDF8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612A254-2EC8-470C-8346-EFBA1CF1DE2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7957428-FD4B-473C-8C0B-9E0EC4D963B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2EEDF9B-0BFD-4D31-B99F-30F4A74B07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A4CF129-FD5A-4654-ADB5-CD5DDCEAC02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16C6AC6-CCC5-4373-996C-221181CF7F6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67C0971-5ACC-40F4-885B-5A9F214BDB8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29A7F42-840A-437C-A36E-594550C4154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D73ACBCA-EA67-433A-ACEC-438AE0960DB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25DE52B-C295-4BCA-BFB4-EE5E0A319F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BE2E839-811A-43B3-BFF9-960040EC5E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166FF71-3F08-4B10-9945-D69C051C0F4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AB1CBB9-2545-45F6-9F5D-B8A02307CC4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FD62BBEF-4A6D-49EE-8750-061590A00F4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6A1E6F9-14C4-45B3-BCB7-10CBC4D0503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EC50A2B-9FCC-4BFA-8C1C-40228115A00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B2287DD-CF78-4B3E-95C6-2E080662A5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BC44A20D-AD5A-480F-9052-B69FF9B8D20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8BF279C-BBA1-4266-BFE2-7BA8384332B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FA5E0A8D-3E9F-4B33-9CEB-8BF11FA27C0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522D9C0-C4DC-41BA-B49F-6BE7AE007C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2D75F39-6641-4E2C-AA61-A6897EE0C9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B8B5FF0-704D-4E61-9707-1A11F318D4D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3436354-E1C8-4902-8C43-E2D46370B50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569B264-B9A0-4BD6-B7ED-F8B0EB2F35C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C3FF96D-58B1-4CF1-A455-25DC3022678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97FEBD5E-4386-4CA0-959F-FF692B4964E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8E9F4A0A-58AB-49A9-B232-1F4871739EB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74DAF729-32A5-4064-B21D-5519F2F4F19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77A1DB16-8EF4-47D6-882E-ECA61854884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76C3F804-B4B3-44D3-8295-16A02F09813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4312A77-098B-47F2-AC16-160D30AAA48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B8ED0EF9-18FF-4969-8D5E-8BEA2740E68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B32248B6-BCB9-4A8E-82EA-A66FBDE91C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78224E80-2E4B-4980-8DBA-87D1542C00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975705D-7688-42E5-8CD8-E659787D83E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944B635-78C7-4D67-9D56-DC36CEAE7DC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CF92006-9160-48FB-9687-24391E18E25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EA8C6B-66C1-4E6D-AE6A-AA36011EAEB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195782-51F5-45D9-94DF-10B2BA58FC7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AEEDDA-7BE1-4325-9CC9-EB32407783D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B62968-9979-4315-8DF3-305C40CB603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630C2FF-9492-4E47-AE01-74F69BEA479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FFB575-E693-41D9-8F5C-873CB1E17C6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9B924B-1C37-4CCB-BA14-E6B9EB80CFC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2C72FA-F8A4-4F2D-B263-8E7D32413D2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7AF1BA4-7AFC-4718-B344-CB7D2483067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275A8A4-4E4E-4396-A6E2-A654366A446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DD29A1-9D9C-4DA5-AAD2-305B6603978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E029C8-1329-457F-9B7D-2C344D1DEF3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BF32CF-902E-434B-AE87-1DB19404008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ftr" idx="4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PlaceHolder 2"/>
          <p:cNvSpPr>
            <a:spLocks noGrp="1"/>
          </p:cNvSpPr>
          <p:nvPr>
            <p:ph type="sldNum" idx="4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88EFB2-2C4C-436A-AACC-BC8B81B58F1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 type="dt" idx="4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Rectangle 1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2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4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5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6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7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8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9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0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1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2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3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4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5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6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ounded Rectangle 17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Rounded Rectangle 20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ounded Rectangle 21"/>
          <p:cNvSpPr/>
          <p:nvPr/>
        </p:nvSpPr>
        <p:spPr>
          <a:xfrm>
            <a:off x="914400" y="3108960"/>
            <a:ext cx="3285000" cy="328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Rounded Rectangle 22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23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24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25"/>
          <p:cNvSpPr/>
          <p:nvPr/>
        </p:nvSpPr>
        <p:spPr>
          <a:xfrm>
            <a:off x="7955280" y="3108960"/>
            <a:ext cx="3468960" cy="328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Rectangle 32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3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4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5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6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7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8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9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40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41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42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43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44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45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46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47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ounded Rectangle 8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Rounded Rectangle 9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ounded Rectangle 10"/>
          <p:cNvSpPr/>
          <p:nvPr/>
        </p:nvSpPr>
        <p:spPr>
          <a:xfrm>
            <a:off x="826200" y="2925720"/>
            <a:ext cx="3388680" cy="370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Rounded Rectangle 11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2"/>
          <p:cNvSpPr/>
          <p:nvPr/>
        </p:nvSpPr>
        <p:spPr>
          <a:xfrm>
            <a:off x="4434840" y="3108960"/>
            <a:ext cx="328500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3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4"/>
          <p:cNvSpPr/>
          <p:nvPr/>
        </p:nvSpPr>
        <p:spPr>
          <a:xfrm>
            <a:off x="7955280" y="3108960"/>
            <a:ext cx="3468960" cy="328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Rectangle 160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61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62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63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164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165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166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167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168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69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70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71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72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73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74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75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ounded Rectangle 71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3" name="TextBox 31"/>
          <p:cNvSpPr/>
          <p:nvPr/>
        </p:nvSpPr>
        <p:spPr>
          <a:xfrm>
            <a:off x="2074320" y="685800"/>
            <a:ext cx="684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 EXAMPLE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32"/>
          <p:cNvSpPr/>
          <p:nvPr/>
        </p:nvSpPr>
        <p:spPr>
          <a:xfrm>
            <a:off x="2312280" y="1679400"/>
            <a:ext cx="63730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programs use different variable types together.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Each type has a different scope and lifetime.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Local variables exist in methods, 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nstance variables belong to objects, and static variables belong to the class.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Rounded Rectangle 72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ounded Rectangle 73"/>
          <p:cNvSpPr/>
          <p:nvPr/>
        </p:nvSpPr>
        <p:spPr>
          <a:xfrm>
            <a:off x="685800" y="2971800"/>
            <a:ext cx="351576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Kapsamı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Sadece bir metod içinde bulunur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başladığında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bittiğinde yok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 (Instance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nesneye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nesnenin kendine ait kopyası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(Static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tarafından paylaşılır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kendisine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7" name="Rounded Rectangle 74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75"/>
          <p:cNvSpPr/>
          <p:nvPr/>
        </p:nvSpPr>
        <p:spPr>
          <a:xfrm>
            <a:off x="4434840" y="3108960"/>
            <a:ext cx="328716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 (shared)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Call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76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77"/>
          <p:cNvSpPr/>
          <p:nvPr/>
        </p:nvSpPr>
        <p:spPr>
          <a:xfrm>
            <a:off x="7955280" y="2971800"/>
            <a:ext cx="369972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university = "Tech University"; // static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studentName; // instance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showInfo()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2; // local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System.out.println(studentName);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System.out.println(university);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System.out.println(year);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VariableDemo s1 = new VariableDemo();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s1.studentName = "Tuna";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s1.showInfo();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Rectangle 144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145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146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147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148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149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150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151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52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153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154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155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156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157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158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159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ounded Rectangle 64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9" name="TextBox 28"/>
          <p:cNvSpPr/>
          <p:nvPr/>
        </p:nvSpPr>
        <p:spPr>
          <a:xfrm>
            <a:off x="3228120" y="1005840"/>
            <a:ext cx="451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Box 29"/>
          <p:cNvSpPr/>
          <p:nvPr/>
        </p:nvSpPr>
        <p:spPr>
          <a:xfrm>
            <a:off x="2229120" y="2194560"/>
            <a:ext cx="6512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types define what kind of value a variable can store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Every variable must have a specific data type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Rounded Rectangle 65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ounded Rectangle 66"/>
          <p:cNvSpPr/>
          <p:nvPr/>
        </p:nvSpPr>
        <p:spPr>
          <a:xfrm>
            <a:off x="685800" y="3108960"/>
            <a:ext cx="351540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specify the type of data stored in a variable.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two main data type categories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simple values directly in memory.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references to objects.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String, Arrays, Classes.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Rounded Rectangle 67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68"/>
          <p:cNvSpPr/>
          <p:nvPr/>
        </p:nvSpPr>
        <p:spPr>
          <a:xfrm>
            <a:off x="4434840" y="3108960"/>
            <a:ext cx="328680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69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70"/>
          <p:cNvSpPr/>
          <p:nvPr/>
        </p:nvSpPr>
        <p:spPr>
          <a:xfrm>
            <a:off x="7955280" y="3108960"/>
            <a:ext cx="369936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DataTypesExample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salary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Rectangle 48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49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50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51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52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53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54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55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56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57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58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59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60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61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62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63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ounded Rectangle 15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Rounded Rectangle 16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ounded Rectangle 18"/>
          <p:cNvSpPr/>
          <p:nvPr/>
        </p:nvSpPr>
        <p:spPr>
          <a:xfrm>
            <a:off x="685800" y="2743200"/>
            <a:ext cx="351360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Rounded Rectangle 19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26"/>
          <p:cNvSpPr/>
          <p:nvPr/>
        </p:nvSpPr>
        <p:spPr>
          <a:xfrm>
            <a:off x="4343400" y="2743200"/>
            <a:ext cx="33764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27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28"/>
          <p:cNvSpPr/>
          <p:nvPr/>
        </p:nvSpPr>
        <p:spPr>
          <a:xfrm>
            <a:off x="7955280" y="2971800"/>
            <a:ext cx="3697560" cy="319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Rectangle 80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81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82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83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84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85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86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87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88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89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90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91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92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93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94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95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ounded Rectangle 36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1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TextBox 14"/>
          <p:cNvSpPr/>
          <p:nvPr/>
        </p:nvSpPr>
        <p:spPr>
          <a:xfrm>
            <a:off x="2493720" y="2194560"/>
            <a:ext cx="5983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Rounded Rectangle 37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ounded Rectangle 38"/>
          <p:cNvSpPr/>
          <p:nvPr/>
        </p:nvSpPr>
        <p:spPr>
          <a:xfrm>
            <a:off x="685800" y="3108960"/>
            <a:ext cx="351396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5" name="Rounded Rectangle 39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40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41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42"/>
          <p:cNvSpPr/>
          <p:nvPr/>
        </p:nvSpPr>
        <p:spPr>
          <a:xfrm>
            <a:off x="7955280" y="3108960"/>
            <a:ext cx="369792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Rectangle 64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65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66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67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68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69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70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71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72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73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74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75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76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77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78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79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ounded Rectangle 29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7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Rounded Rectangle 30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ounded Rectangle 31"/>
          <p:cNvSpPr/>
          <p:nvPr/>
        </p:nvSpPr>
        <p:spPr>
          <a:xfrm>
            <a:off x="457200" y="2971800"/>
            <a:ext cx="374256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1" name="Rounded Rectangle 32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33"/>
          <p:cNvSpPr/>
          <p:nvPr/>
        </p:nvSpPr>
        <p:spPr>
          <a:xfrm>
            <a:off x="4343400" y="2971800"/>
            <a:ext cx="342360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34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35"/>
          <p:cNvSpPr/>
          <p:nvPr/>
        </p:nvSpPr>
        <p:spPr>
          <a:xfrm>
            <a:off x="7955280" y="3108960"/>
            <a:ext cx="369792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Rectangle 96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97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98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99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100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101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102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103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104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105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106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107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108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109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110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111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ounded Rectangle 43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3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TextBox 17"/>
          <p:cNvSpPr/>
          <p:nvPr/>
        </p:nvSpPr>
        <p:spPr>
          <a:xfrm>
            <a:off x="2305080" y="1826640"/>
            <a:ext cx="6504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Rounded Rectangle 44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ounded Rectangle 45"/>
          <p:cNvSpPr/>
          <p:nvPr/>
        </p:nvSpPr>
        <p:spPr>
          <a:xfrm>
            <a:off x="475560" y="2514600"/>
            <a:ext cx="372456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7" name="Rounded Rectangle 46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47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48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49"/>
          <p:cNvSpPr/>
          <p:nvPr/>
        </p:nvSpPr>
        <p:spPr>
          <a:xfrm>
            <a:off x="7955280" y="2514600"/>
            <a:ext cx="3698280" cy="3404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Rectangle 112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113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114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115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116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117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118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119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120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121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122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123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124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125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126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127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ounded Rectangle 50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9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TextBox 22"/>
          <p:cNvSpPr/>
          <p:nvPr/>
        </p:nvSpPr>
        <p:spPr>
          <a:xfrm>
            <a:off x="2057400" y="2074680"/>
            <a:ext cx="687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Rounded Rectangle 51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ounded Rectangle 52"/>
          <p:cNvSpPr/>
          <p:nvPr/>
        </p:nvSpPr>
        <p:spPr>
          <a:xfrm>
            <a:off x="685800" y="2971800"/>
            <a:ext cx="351432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3" name="Rounded Rectangle 53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54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Rounded Rectangle 55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56"/>
          <p:cNvSpPr/>
          <p:nvPr/>
        </p:nvSpPr>
        <p:spPr>
          <a:xfrm>
            <a:off x="7955280" y="2971800"/>
            <a:ext cx="3469680" cy="296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Rectangle 128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129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130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131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132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133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134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135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136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137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138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139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140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141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142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143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ounded Rectangle 57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Rounded Rectangle 58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ounded Rectangle 59"/>
          <p:cNvSpPr/>
          <p:nvPr/>
        </p:nvSpPr>
        <p:spPr>
          <a:xfrm>
            <a:off x="685800" y="3108960"/>
            <a:ext cx="351504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Rounded Rectangle 60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ounded Rectangle 61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Rounded Rectangle 62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ounded Rectangle 63"/>
          <p:cNvSpPr/>
          <p:nvPr/>
        </p:nvSpPr>
        <p:spPr>
          <a:xfrm>
            <a:off x="7955280" y="3108960"/>
            <a:ext cx="347040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Rectangle 176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177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178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179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180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181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182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183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184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185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186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187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188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189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190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191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ounded Rectangle 78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1" name="TextBox 34"/>
          <p:cNvSpPr/>
          <p:nvPr/>
        </p:nvSpPr>
        <p:spPr>
          <a:xfrm>
            <a:off x="2912760" y="1005840"/>
            <a:ext cx="5146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TYPE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TextBox 35"/>
          <p:cNvSpPr/>
          <p:nvPr/>
        </p:nvSpPr>
        <p:spPr>
          <a:xfrm>
            <a:off x="2356200" y="2057400"/>
            <a:ext cx="6329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converts one data type into another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There are two types: implicit (automatic) and explicit (manual).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Rounded Rectangle 79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ounded Rectangle 80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automatically by 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types to smaller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5" name="Rounded Rectangle 81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ounded Rectangle 82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(Automatic)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(Manual)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Rounded Rectangle 83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ounded Rectangle 84"/>
          <p:cNvSpPr/>
          <p:nvPr/>
        </p:nvSpPr>
        <p:spPr>
          <a:xfrm>
            <a:off x="7955280" y="2971800"/>
            <a:ext cx="369972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TypeCastingExample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9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Rectangle 192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ectangle 193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ectangle 194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ectangle 195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196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197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198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199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200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201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202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203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204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205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206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207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ounded Rectangle 85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7" name="TextBox 37"/>
          <p:cNvSpPr/>
          <p:nvPr/>
        </p:nvSpPr>
        <p:spPr>
          <a:xfrm>
            <a:off x="1242720" y="900360"/>
            <a:ext cx="84837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(Automatic Conversion)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TextBox 38"/>
          <p:cNvSpPr/>
          <p:nvPr/>
        </p:nvSpPr>
        <p:spPr>
          <a:xfrm>
            <a:off x="3011040" y="1600200"/>
            <a:ext cx="499572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 occurs when Java automatically converts a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smaller data type into a larger data type.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conversion is safe because the larger data type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can store all values of the smaller data type without data loss.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Rounded Rectangle 86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ounded Rectangle 87"/>
          <p:cNvSpPr/>
          <p:nvPr/>
        </p:nvSpPr>
        <p:spPr>
          <a:xfrm>
            <a:off x="595440" y="2743200"/>
            <a:ext cx="351612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is the automatic conversion of a smaller data type to a larger data type in Java.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performs this conversion automatically when there is no risk of data loss.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Widening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 by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Rounded Rectangle 88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ounded Rectangle 89"/>
          <p:cNvSpPr/>
          <p:nvPr/>
        </p:nvSpPr>
        <p:spPr>
          <a:xfrm>
            <a:off x="4343400" y="2880360"/>
            <a:ext cx="3654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 (Widening Conversion)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represents a data type that can store the previous type safely.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3" name="Rounded Rectangle 90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ounded Rectangle 91"/>
          <p:cNvSpPr/>
          <p:nvPr/>
        </p:nvSpPr>
        <p:spPr>
          <a:xfrm>
            <a:off x="8229600" y="2972880"/>
            <a:ext cx="365436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Automatic conversion from int to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System.out.println("Number: " + 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5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Rectangle 208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ectangle 209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ectangle 210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ectangle 211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212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213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214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215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216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217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218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219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220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221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222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223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ounded Rectangle 92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3" name="TextBox 40"/>
          <p:cNvSpPr/>
          <p:nvPr/>
        </p:nvSpPr>
        <p:spPr>
          <a:xfrm>
            <a:off x="2514600" y="685800"/>
            <a:ext cx="6071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TextBox 41"/>
          <p:cNvSpPr/>
          <p:nvPr/>
        </p:nvSpPr>
        <p:spPr>
          <a:xfrm>
            <a:off x="2647440" y="1600200"/>
            <a:ext cx="58093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 is the manual conversion of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larger data type to a smaller data type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required when there is a risk of data or precision loss.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Rounded Rectangle 93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ounded Rectangle 94"/>
          <p:cNvSpPr/>
          <p:nvPr/>
        </p:nvSpPr>
        <p:spPr>
          <a:xfrm>
            <a:off x="457200" y="2743200"/>
            <a:ext cx="374508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is the manual conversion of a larger data type to a smaller data type.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perform this conversion automatically because the smaller type may not store all values.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Narrowing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numeric types to smaller ones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7" name="Rounded Rectangle 95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ounded Rectangle 96"/>
          <p:cNvSpPr/>
          <p:nvPr/>
        </p:nvSpPr>
        <p:spPr>
          <a:xfrm>
            <a:off x="4434840" y="2971800"/>
            <a:ext cx="328788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 (Narrowing)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converts the value to a smaller storage type, which may remove decimal values or overflow.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9" name="Rounded Rectangle 97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ounded Rectangle 98"/>
          <p:cNvSpPr/>
          <p:nvPr/>
        </p:nvSpPr>
        <p:spPr>
          <a:xfrm>
            <a:off x="7955280" y="2514600"/>
            <a:ext cx="392904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 from double to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 value: " + 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newPrice);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1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Rectangle 224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ectangle 225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ectangle 226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ectangle 227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ectangle 228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ectangle 229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8" name="Rectangle 230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ectangle 231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ectangle 232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ectangle 233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234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235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236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237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238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239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ounded Rectangle 99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9" name="TextBox 43"/>
          <p:cNvSpPr/>
          <p:nvPr/>
        </p:nvSpPr>
        <p:spPr>
          <a:xfrm>
            <a:off x="2148480" y="1005840"/>
            <a:ext cx="667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vs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TextBox 44"/>
          <p:cNvSpPr/>
          <p:nvPr/>
        </p:nvSpPr>
        <p:spPr>
          <a:xfrm>
            <a:off x="2094480" y="2057400"/>
            <a:ext cx="678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the difference between implicit and explicit casting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helps prevent data loss and ensures correct type conversion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Rounded Rectangle 10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ounded Rectangle 101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Smaller → Larger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syntax required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Larger → Smaller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manually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(type)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3" name="Rounded Rectangle 10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ounded Rectangle 103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5" name="Rounded Rectangle 10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ounded Rectangle 105"/>
          <p:cNvSpPr/>
          <p:nvPr/>
        </p:nvSpPr>
        <p:spPr>
          <a:xfrm>
            <a:off x="7955280" y="3108960"/>
            <a:ext cx="370080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7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Rectangle 240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ectangle 241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ectangle 242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ectangle 243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ectangle 244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ectangle 245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4" name="Rectangle 246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ectangle 247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ectangle 248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ectangle 249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250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251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252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253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254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255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ounded Rectangle 106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5" name="TextBox 46"/>
          <p:cNvSpPr/>
          <p:nvPr/>
        </p:nvSpPr>
        <p:spPr>
          <a:xfrm>
            <a:off x="1659960" y="1005840"/>
            <a:ext cx="7651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DATA LOSS &amp; PRECISION LOSS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TextBox 47"/>
          <p:cNvSpPr/>
          <p:nvPr/>
        </p:nvSpPr>
        <p:spPr>
          <a:xfrm>
            <a:off x="2286000" y="1826640"/>
            <a:ext cx="64310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may cause data loss when converting from a larger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 to a smaller one.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Decimal values can be removed and large values may overflow.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Rounded Rectangle 107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ounded Rectangle 108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Occurs in explicit (narrowing) casting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truncated (not rounded)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Smaller types cannot store full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May lead to incorrect results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loss happens especially with float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9" name="Rounded Rectangle 109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ounded Rectangle 110"/>
          <p:cNvSpPr/>
          <p:nvPr/>
        </p:nvSpPr>
        <p:spPr>
          <a:xfrm>
            <a:off x="4343400" y="3108960"/>
            <a:ext cx="338004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completely removed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rounding happens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1" name="Rounded Rectangle 111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ounded Rectangle 112"/>
          <p:cNvSpPr/>
          <p:nvPr/>
        </p:nvSpPr>
        <p:spPr>
          <a:xfrm>
            <a:off x="7955280" y="2971800"/>
            <a:ext cx="392976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DataLossExample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value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(int) 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System.out.println("Original: " + 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System.out.println("After casting: " + result);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bigValue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converted = (int) bigValue;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System.out.println("Float: " + bigValue);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System.out.println("Int: " + converted);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3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Rectangle 256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ectangle 257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ectangle 258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ectangle 259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ectangle 260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ectangle 261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0" name="Rectangle 262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ectangle 263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ectangle 264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ectangle 265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ectangle 266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ectangle 267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ectangle 268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ectangle 269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ectangle 270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ectangle 271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ounded Rectangle 113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1" name="TextBox 49"/>
          <p:cNvSpPr/>
          <p:nvPr/>
        </p:nvSpPr>
        <p:spPr>
          <a:xfrm>
            <a:off x="1458000" y="1005840"/>
            <a:ext cx="8055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TYPE CASTING IN EXPRESSIONS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Rounded Rectangle 114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ounded Rectangle 115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promotes smaller types in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Operations follow the largest data type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 (in most cases)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converted to int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5" name="Rounded Rectangle 116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ounded Rectangle 117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= largest type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7" name="Rounded Rectangle 118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ounded Rectangle 119"/>
          <p:cNvSpPr/>
          <p:nvPr/>
        </p:nvSpPr>
        <p:spPr>
          <a:xfrm>
            <a:off x="7955280" y="2971800"/>
            <a:ext cx="3701880" cy="287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9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Rectangle 272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ectangle 273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2" name="Rectangle 274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ectangle 275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4" name="Rectangle 276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5" name="Rectangle 277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6" name="Rectangle 278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7" name="Rectangle 279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ectangle 280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9" name="Rectangle 281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ectangle 282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ectangle 283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ectangle 284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3" name="Rectangle 285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ectangle 286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ectangle 287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ounded Rectangle 120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7" name="TextBox 52"/>
          <p:cNvSpPr/>
          <p:nvPr/>
        </p:nvSpPr>
        <p:spPr>
          <a:xfrm>
            <a:off x="1514160" y="1005840"/>
            <a:ext cx="7943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TextBox 53"/>
          <p:cNvSpPr/>
          <p:nvPr/>
        </p:nvSpPr>
        <p:spPr>
          <a:xfrm>
            <a:off x="1787760" y="2074680"/>
            <a:ext cx="7584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is a universal character encoding standard that allows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represent text from multiple languages consistently across platforms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Rounded Rectangle 121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ounded Rectangle 122"/>
          <p:cNvSpPr/>
          <p:nvPr/>
        </p:nvSpPr>
        <p:spPr>
          <a:xfrm>
            <a:off x="914400" y="3108960"/>
            <a:ext cx="329004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is a global character set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Each character has a unique code point (e.g.,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Replaced older encodings like ASCII and ISO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almost all world languages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uses Unicode internally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" name="Rounded Rectangle 123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ounded Rectangle 124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→ Unicode Code Point → Encoding (UTF-16) → Stored in Java →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3" name="Rounded Rectangle 125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4" name="Rounded Rectangle 126"/>
          <p:cNvSpPr/>
          <p:nvPr/>
        </p:nvSpPr>
        <p:spPr>
          <a:xfrm>
            <a:off x="7955280" y="3108960"/>
            <a:ext cx="370260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Unicode for 'A'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5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6" name="" descr=""/>
          <p:cNvPicPr/>
          <p:nvPr/>
        </p:nvPicPr>
        <p:blipFill>
          <a:blip r:embed="rId1"/>
          <a:stretch/>
        </p:blipFill>
        <p:spPr>
          <a:xfrm>
            <a:off x="4589280" y="5029200"/>
            <a:ext cx="2651040" cy="506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Rectangle 288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8" name="Rectangle 289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ectangle 290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0" name="Rectangle 291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1" name="Rectangle 292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2" name="Rectangle 293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3" name="Rectangle 294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ectangle 295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5" name="Rectangle 296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ectangle 297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ectangle 298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ectangle 299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9" name="Rectangle 300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ectangle 301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ectangle 302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ectangle 303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3" name="Rounded Rectangle 127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4" name="TextBox 55"/>
          <p:cNvSpPr/>
          <p:nvPr/>
        </p:nvSpPr>
        <p:spPr>
          <a:xfrm>
            <a:off x="2830320" y="1005840"/>
            <a:ext cx="531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How Unicode Works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TextBox 56"/>
          <p:cNvSpPr/>
          <p:nvPr/>
        </p:nvSpPr>
        <p:spPr>
          <a:xfrm>
            <a:off x="2163600" y="1846080"/>
            <a:ext cx="6644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assigns a unique number (code point) to every character,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regardless of platform, language, or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Rounded Rectangle 128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ounded Rectangle 129"/>
          <p:cNvSpPr/>
          <p:nvPr/>
        </p:nvSpPr>
        <p:spPr>
          <a:xfrm>
            <a:off x="685800" y="3108960"/>
            <a:ext cx="35190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Each character → Code Point (U+XXXX format)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is universal → same meaning everywhere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systems (UTF-8, UTF-16, UTF-32) define how these are stored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8" name="Rounded Rectangle 130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ounded Rectangle 131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→ Unicode Code Point → Encoding → Binary → Display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Screen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Rounded Rectangle 132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1" name="Rounded Rectangle 133"/>
          <p:cNvSpPr/>
          <p:nvPr/>
        </p:nvSpPr>
        <p:spPr>
          <a:xfrm>
            <a:off x="7955280" y="2514600"/>
            <a:ext cx="393156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System.out.println("Character: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Code Point: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usage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2" name="TextBox 57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Rectangle 17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4" name="Rectangle 18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ectangle 19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6" name="Rectangle 20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7" name="Rectangle 21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8" name="Rectangle 22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9" name="Rectangle 23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0" name="Rectangle 24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1" name="Rectangle 25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2" name="Rectangle 26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3" name="Rectangle 27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ectangle 28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5" name="Rectangle 29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ectangle 30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7" name="Rectangle 31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ectangle 304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9" name="Rounded Rectangle 134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0" name="TextBox 58"/>
          <p:cNvSpPr/>
          <p:nvPr/>
        </p:nvSpPr>
        <p:spPr>
          <a:xfrm>
            <a:off x="2830320" y="1005840"/>
            <a:ext cx="531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How Unicode Works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TextBox 59"/>
          <p:cNvSpPr/>
          <p:nvPr/>
        </p:nvSpPr>
        <p:spPr>
          <a:xfrm>
            <a:off x="2163600" y="1846080"/>
            <a:ext cx="6644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assigns a unique number (code point) to every character,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regardless of platform, language, or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Rounded Rectangle 135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ounded Rectangle 136"/>
          <p:cNvSpPr/>
          <p:nvPr/>
        </p:nvSpPr>
        <p:spPr>
          <a:xfrm>
            <a:off x="528480" y="2851200"/>
            <a:ext cx="3814920" cy="3320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4" name="Rounded Rectangle 137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ounded Rectangle 138"/>
          <p:cNvSpPr/>
          <p:nvPr/>
        </p:nvSpPr>
        <p:spPr>
          <a:xfrm>
            <a:off x="4482000" y="309960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Unicode Code Point (U+XXXX)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Choose Encoding (UTF-8 / UTF-16)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Convert to Binary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Display on Screen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UTF-8 → 01000001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UTF-16 → 00000000 01000001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6" name="Rounded Rectangle 139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7" name="Rounded Rectangle 140"/>
          <p:cNvSpPr/>
          <p:nvPr/>
        </p:nvSpPr>
        <p:spPr>
          <a:xfrm>
            <a:off x="7955280" y="2286000"/>
            <a:ext cx="393156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EncodingExample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"A";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UTF-8 byte array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utf8Bytes = text.getBytes(java.nio.charset.StandardCharsets.UTF_8);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UTF-16 byte array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utf16Bytes = text.getBytes(java.nio.charset.StandardCharsets.UTF_16);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System.out.println("UTF-8:");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utf8Bytes)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System.out.println("\nUTF-16:");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utf16Bytes)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8" name="TextBox 60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9" name="" descr=""/>
          <p:cNvPicPr/>
          <p:nvPr/>
        </p:nvPicPr>
        <p:blipFill>
          <a:blip r:embed="rId1"/>
          <a:stretch/>
        </p:blipFill>
        <p:spPr>
          <a:xfrm>
            <a:off x="585720" y="3429000"/>
            <a:ext cx="3730320" cy="2117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2026-04-05T22:29:57Z</dcterms:modified>
  <cp:revision>23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