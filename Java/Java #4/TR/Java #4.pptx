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6AD19C-29D6-4B9C-936B-06536E4B00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9D2EC3-BBF8-48C7-898F-521B3690D4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FCE1AE-5665-4A10-B9C0-38F425C777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03C506-0FEF-43AA-956A-0CA5EEEE3F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17557B-D7C2-4FF8-82D1-8C41A852B5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4C9C68-91EE-420D-9D7B-EAA2604DA4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7FC481-29C5-4428-85DE-756872F816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A5CA97-E776-43CB-81EC-50C53AF397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43634C-F79E-4D90-A399-99481DAF6E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DF6961-B7B9-4ECB-A8FA-9E9269F49A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DD3F65-473B-4C5C-8408-531C935DDD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CE4249-4FE3-43C7-8EE8-077F16C427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CA0F04-53D2-4155-83A7-53344F8517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931942-F93C-4EC7-90B3-BAA48C53EA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229541-F4A1-4940-89FC-8BB5BE8B36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54343C-2C89-40CA-9415-AFC3D6DA26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B35EA9-0A04-407B-8FAD-E1B0FF654F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48964E-A506-4342-97C0-7B475050B4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AF64FD-4D8F-4374-84A8-E49C748F43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CEC87E0-DDA2-4B5C-A76C-9F5F7F6D01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2E4F4B-3D62-4460-9C1B-7F6499F153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D28B70-5D56-490B-9AE1-6C384C3AC1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82CC72-E30F-4365-A52E-DD4EF1A36D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42153B-0ED7-458F-96DB-7BC2FEDB30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AE9A4F-CE82-4BA9-8AA5-32D335E8DAD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599EA0-2D20-47E4-86CB-6AA26198495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75920" cy="68450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9144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18288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" name="Rectangle 5"/>
          <p:cNvSpPr/>
          <p:nvPr/>
        </p:nvSpPr>
        <p:spPr>
          <a:xfrm>
            <a:off x="27432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36576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45720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" name="Rectangle 8"/>
          <p:cNvSpPr/>
          <p:nvPr/>
        </p:nvSpPr>
        <p:spPr>
          <a:xfrm>
            <a:off x="54864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64008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" name="Rectangle 10"/>
          <p:cNvSpPr/>
          <p:nvPr/>
        </p:nvSpPr>
        <p:spPr>
          <a:xfrm>
            <a:off x="73152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" name="Rectangle 11"/>
          <p:cNvSpPr/>
          <p:nvPr/>
        </p:nvSpPr>
        <p:spPr>
          <a:xfrm>
            <a:off x="82296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Rectangle 12"/>
          <p:cNvSpPr/>
          <p:nvPr/>
        </p:nvSpPr>
        <p:spPr>
          <a:xfrm>
            <a:off x="91440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" name="Rectangle 13"/>
          <p:cNvSpPr/>
          <p:nvPr/>
        </p:nvSpPr>
        <p:spPr>
          <a:xfrm>
            <a:off x="100584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Rectangle 14"/>
          <p:cNvSpPr/>
          <p:nvPr/>
        </p:nvSpPr>
        <p:spPr>
          <a:xfrm>
            <a:off x="109728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" name="Rectangle 15"/>
          <p:cNvSpPr/>
          <p:nvPr/>
        </p:nvSpPr>
        <p:spPr>
          <a:xfrm>
            <a:off x="11887200" y="0"/>
            <a:ext cx="5400" cy="6845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Rectangle 16"/>
          <p:cNvSpPr/>
          <p:nvPr/>
        </p:nvSpPr>
        <p:spPr>
          <a:xfrm>
            <a:off x="0" y="0"/>
            <a:ext cx="307080" cy="68450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" name="Rounded Rectangle 17"/>
          <p:cNvSpPr/>
          <p:nvPr/>
        </p:nvSpPr>
        <p:spPr>
          <a:xfrm>
            <a:off x="9875520" y="365760"/>
            <a:ext cx="1998720" cy="4899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3070440" y="550800"/>
            <a:ext cx="48308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DATE &amp; TIME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9"/>
          <p:cNvSpPr/>
          <p:nvPr/>
        </p:nvSpPr>
        <p:spPr>
          <a:xfrm>
            <a:off x="3070440" y="1495080"/>
            <a:ext cx="593748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tarih ve saat işlemleri, Java 8 ile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birlikte gelen java.time paketi kullanılarak yönetilir.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Eski tarih sınıflarının aksine, bu yeni API çok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daha güvenli (thread-safe), anlaşılır ve esnek bir yapı sunar.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20"/>
          <p:cNvSpPr/>
          <p:nvPr/>
        </p:nvSpPr>
        <p:spPr>
          <a:xfrm>
            <a:off x="987480" y="3182040"/>
            <a:ext cx="3278880" cy="2730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" name="Rounded Rectangle 21"/>
          <p:cNvSpPr/>
          <p:nvPr/>
        </p:nvSpPr>
        <p:spPr>
          <a:xfrm>
            <a:off x="914400" y="3108960"/>
            <a:ext cx="3278880" cy="2730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8 ile birlikte gelen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java.time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paketi, bölgesel zamanı (Timezone) ve tarihleri hassas bir şekilde yönetmemizi sağlar.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ZonedDateTime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ve 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ZoneId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sınıfları kullanılarak, bulunduğunuz konumun (örneğin İstanbul, Türkiye) yerel saat dilimine ve güncel tarih verilerine anlık olarak ulaşılıp istenilen formatta yazdırılabilir.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22"/>
          <p:cNvSpPr/>
          <p:nvPr/>
        </p:nvSpPr>
        <p:spPr>
          <a:xfrm>
            <a:off x="4507920" y="3182040"/>
            <a:ext cx="3278880" cy="2730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" name="Rounded Rectangle 23"/>
          <p:cNvSpPr/>
          <p:nvPr/>
        </p:nvSpPr>
        <p:spPr>
          <a:xfrm>
            <a:off x="4434840" y="3108960"/>
            <a:ext cx="3278880" cy="2730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Bölge (ZoneId) Tanımlanır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Güncel Zaman (ZonedDateTime) Alınır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Format Belirlenir (DateTimeFormatter)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Ekrana Yazdırılır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ounded Rectangle 24"/>
          <p:cNvSpPr/>
          <p:nvPr/>
        </p:nvSpPr>
        <p:spPr>
          <a:xfrm>
            <a:off x="8028360" y="3182040"/>
            <a:ext cx="3278880" cy="2730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" name="Rounded Rectangle 25"/>
          <p:cNvSpPr/>
          <p:nvPr/>
        </p:nvSpPr>
        <p:spPr>
          <a:xfrm>
            <a:off x="7955280" y="2971800"/>
            <a:ext cx="3920040" cy="3645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DateAndTimeContext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Konum İstanbul olarak ayarlanır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zone = ZoneId.of("Europe/Istanbul");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İstanbul bölgesindeki güncel zaman alınır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now = ZonedDateTime.now(zone);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İstenen formata göre (Örn: Salı, 28 Nisan 2026 saat 22:26 +03:00)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 = DateTimeFormatter.ofPattern("EEEE, dd MMMM yyyy 'saat' HH:mm xxx", new Locale("tr", "TR"));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System.out.println("Şu anki zaman: " + now.format(formatter) + ".");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System.out.println("Mevcut konumun İstanbul, Türkiye olduğunu unutmayın.");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2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32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" name="Rectangle 33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" name="Rectangle 34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" name="Rectangle 35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" name="Rectangle 36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Rectangle 37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4" name="Rectangle 38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" name="Rectangle 39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" name="Rectangle 40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" name="Rectangle 41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" name="Rectangle 42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" name="Rectangle 43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" name="Rectangle 44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" name="Rectangle 45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Rectangle 46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47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723240" y="914400"/>
            <a:ext cx="9523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Java’da Saat Dilimi (Timezone) ve Bölgesel Zaman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1778760" y="1828800"/>
            <a:ext cx="79322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saat dilimi yönetimi, farklı bölgelerin zamanını doğru şekilde hesaplamak için kullanılır.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ZoneId ile bölge seçilir, ZonedDateTime ile o bölgenin güncel tarih ve saati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alınır. Bu yapı sayesinde global uygulamalarda her kullanıcıya doğru zaman gösterilir.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Rounded Rectangle 10"/>
          <p:cNvSpPr/>
          <p:nvPr/>
        </p:nvSpPr>
        <p:spPr>
          <a:xfrm>
            <a:off x="914400" y="310896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ZoneId → Saat dilimini temsil eder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ZonedDateTime → Saat dilimi ile birlikte tarih ve saat bilgisini tutar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Her bölge için farklı UTC offset otomatik hesaplanır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Yaz saati / kış saati değişimleri otomatik yönetilir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Rounded Rectangle 12"/>
          <p:cNvSpPr/>
          <p:nvPr/>
        </p:nvSpPr>
        <p:spPr>
          <a:xfrm>
            <a:off x="4434840" y="310896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Saat Dilimi Seçilir (ZoneId)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 Bölgeye Ait Zaman Alınır (ZonedDateTime)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İşlem / Formatlama Yapılır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Sonuç Kullanıcıya Gösterilir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ounded Rectangle 13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Rounded Rectangle 14"/>
          <p:cNvSpPr/>
          <p:nvPr/>
        </p:nvSpPr>
        <p:spPr>
          <a:xfrm>
            <a:off x="7955280" y="3108960"/>
            <a:ext cx="3691800" cy="3051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TimezoneExample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istanbul = ZoneId.of("Europe/Istanbul");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newYork = ZoneId.of("America/New_York");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timeInIstanbul = ZonedDateTime.now(istanbul);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timeInNewYork = ZonedDateTime.now(newYork);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System.out.println("İstanbul Saati: " + timeInIstanbul);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System.out.println("New York Saati: " + timeInNewYork);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7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5" name="Rectangle 18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6" name="Rectangle 19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7" name="Rectangle 20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8" name="Rectangle 21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9" name="Rectangle 22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0" name="Rectangle 23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1" name="Rectangle 24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2" name="Rectangle 25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Rectangle 26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4" name="Rectangle 27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5" name="Rectangle 28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6" name="Rectangle 29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7" name="Rectangle 30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8" name="Rectangle 31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9" name="Rectangle 48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0" name="Rounded Rectangle 15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942480" y="914400"/>
            <a:ext cx="9084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Java’da LocalDate, LocalTime ve LocalDateTime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1149480" y="1828800"/>
            <a:ext cx="91893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tarih ve saat işlemleri sadece saat dilimine bağlı değildir. Bazı durumlarda sadece tarih, sadece saat ya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da ikisinin birleşimi gerekir. Bu ihtiyaçlar için LocalDate, LocalTime ve LocalDateTime sınıfları kullanılır.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ounded Rectangle 16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4" name="Rounded Rectangle 18"/>
          <p:cNvSpPr/>
          <p:nvPr/>
        </p:nvSpPr>
        <p:spPr>
          <a:xfrm>
            <a:off x="914400" y="3108960"/>
            <a:ext cx="3279240" cy="3052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 → Sadece tarih bilgisini tutar (yıl, ay, gün)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LocalTime → Sadece saat bilgisini tutar (saat, dakika, saniye)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LocalDateTime → Tarih ve saat bilgisini birlikte tutar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Saat dilimi (timezone) içermezler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Daha basit ve performanslı kullanım sağlar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ounded Rectangle 19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6" name="Rounded Rectangle 26"/>
          <p:cNvSpPr/>
          <p:nvPr/>
        </p:nvSpPr>
        <p:spPr>
          <a:xfrm>
            <a:off x="4434840" y="310896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Başlar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Uygun Sınıf Seçilir (LocalDate / LocalTime / LocalDateTime)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Güncel Değer Alınır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İşlem / Formatlama Yapılır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Sonuç Ekrana Yazdırılır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ounded Rectangle 27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Rounded Rectangle 28"/>
          <p:cNvSpPr/>
          <p:nvPr/>
        </p:nvSpPr>
        <p:spPr>
          <a:xfrm>
            <a:off x="7955280" y="3108960"/>
            <a:ext cx="3691800" cy="3051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LocalDateTimeExample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date = LocalDate.now();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LocalTime time = LocalTime.now();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LocalDateTime dateTime = LocalDateTime.now();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System.out.println("Tarih: " + date);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System.out.println("Saat: " + time);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System.out.println("Tarih ve Saat: " + dateTime);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49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ectangle 50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Rectangle 51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3" name="Rectangle 52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4" name="Rectangle 53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54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Rectangle 55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7" name="Rectangle 56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8" name="Rectangle 57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58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Rectangle 59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1" name="Rectangle 60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2" name="Rectangle 61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3" name="Rectangle 62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4" name="Rectangle 63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5" name="Rectangle 64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6" name="Rounded Rectangle 29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10"/>
          <p:cNvSpPr/>
          <p:nvPr/>
        </p:nvSpPr>
        <p:spPr>
          <a:xfrm>
            <a:off x="2796840" y="914400"/>
            <a:ext cx="5374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Java’da DateTimeFormatter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1149480" y="1828800"/>
            <a:ext cx="91893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tarih ve saat işlemleri sadece saat dilimine bağlı değildir. Bazı durumlarda sadece tarih, sadece saat ya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da ikisinin birleşimi gerekir. Bu ihtiyaçlar için LocalDate, LocalTime ve LocalDateTime sınıfları kullanılır.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30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ounded Rectangle 31"/>
          <p:cNvSpPr/>
          <p:nvPr/>
        </p:nvSpPr>
        <p:spPr>
          <a:xfrm>
            <a:off x="914400" y="3108960"/>
            <a:ext cx="3279240" cy="3052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DateTimeFormatter → Tarih ve saat verilerini formatlar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Özel format desenlerini destekler (dd/MM/yyyy, HH:mm vb.)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LocalDateTime, ZonedDateTime gibi sınıflarla kullanılabilir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Yerel (locale) tabanlı formatlama sağlar (dil desteği)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Tarih-saat çıktısının okunabilirliğini artırır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ounded Rectangle 32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2" name="Rounded Rectangle 33"/>
          <p:cNvSpPr/>
          <p:nvPr/>
        </p:nvSpPr>
        <p:spPr>
          <a:xfrm>
            <a:off x="4434840" y="310896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Uygulama çalışır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Tarih/Saat bilgisine ihtiyaç duyulur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Bir tarih-saat nesnesi oluşturulur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Özel bir format deseni belirlenir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Formatter veriyi işler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Okunabilir bir çıktı üretilir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Sonuç kullanıcıya gösterilir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34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ounded Rectangle 35"/>
          <p:cNvSpPr/>
          <p:nvPr/>
        </p:nvSpPr>
        <p:spPr>
          <a:xfrm>
            <a:off x="7955280" y="2743200"/>
            <a:ext cx="3691800" cy="3646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java.time.LocalDateTime;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java.time.format.DateTimeFormatter;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java.util.Locale;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LocaleFormatterExample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LocalDateTime now = LocalDateTime.now();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formatterTR =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DateTimeFormatter.ofPattern("dd MMMM yyyy HH:mm", new Locale("tr", "TR"));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formatterUS =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DateTimeFormatter.ofPattern("MMMM dd, yyyy hh:mm a", Locale.US);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System.out.println("Türkçe Format: " + now.format(formatterTR));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System.out.println("ABD Formatı: " + now.format(formatterUS));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65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7" name="Rectangle 66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ectangle 67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Rectangle 68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0" name="Rectangle 69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1" name="Rectangle 70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71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Rectangle 72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4" name="Rectangle 73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5" name="Rectangle 74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6" name="Rectangle 75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7" name="Rectangle 76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8" name="Rectangle 77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9" name="Rectangle 78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0" name="Rectangle 79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1" name="Rectangle 80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2" name="Rounded Rectangle 36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2099160" y="914400"/>
            <a:ext cx="6772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Java’da Tarih ve Saat Parsing İşlemi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1196640" y="1828800"/>
            <a:ext cx="90936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Java’da parsing, metin (String) formatındaki tarih değerlerini uygulama içinde kullanılabilecek yapılandırılmış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tarih-saat nesnelerine dönüştürme işlemidir.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ounded Rectangle 37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6" name="Rounded Rectangle 38"/>
          <p:cNvSpPr/>
          <p:nvPr/>
        </p:nvSpPr>
        <p:spPr>
          <a:xfrm>
            <a:off x="457200" y="2514600"/>
            <a:ext cx="3736440" cy="4104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Tarihler genellikle düz metin olarak gelir.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Metinler üzerinde hesaplama veya karşılaştırma yapılamaz.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Bu yüzden gerçek bir tarih nesnesine dönüştürülmelidir.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Bir pattern, metnin nasıl okunacağını belirler.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Formatter bu kurala sıkı sıkıya bağlı kalır.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Format eşleşirse dönüşüm başarılı olur.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Eşleşmezse hata oluşur.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ounded Rectangle 39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Rounded Rectangle 40"/>
          <p:cNvSpPr/>
          <p:nvPr/>
        </p:nvSpPr>
        <p:spPr>
          <a:xfrm>
            <a:off x="4434840" y="2971800"/>
            <a:ext cx="3279240" cy="3417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Ham metin veri sisteme girer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Sistem beklenen tarih yapısını belirler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Bir dönüşüm kuralı (pattern) hazırlanır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Metin bu kurala göre yorumlanır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Geçerli bir tarih-saat nesnesi oluşturulur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Nesne işlemler için kullanılabilir hale gelir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ounded Rectangle 41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0" name="Rounded Rectangle 42"/>
          <p:cNvSpPr/>
          <p:nvPr/>
        </p:nvSpPr>
        <p:spPr>
          <a:xfrm>
            <a:off x="8001000" y="3200400"/>
            <a:ext cx="3464280" cy="2732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ParsingExample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dateText = "28/04/2026";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formatter =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DateTimeFormatter.ofPattern("dd/MM/yyyy");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date = LocalDate.parse(dateText, formatter);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System.out.println("Ayrıştırılmış Tarih: " + date);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Box 1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81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3" name="Rectangle 82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4" name="Rectangle 83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5" name="Rectangle 84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Rectangle 85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7" name="Rectangle 86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8" name="Rectangle 87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9" name="Rectangle 88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0" name="Rectangle 89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1" name="Rectangle 90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2" name="Rectangle 91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3" name="Rectangle 92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4" name="Rectangle 93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5" name="Rectangle 94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95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Rectangle 96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8" name="Rounded Rectangle 43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Box 16"/>
          <p:cNvSpPr/>
          <p:nvPr/>
        </p:nvSpPr>
        <p:spPr>
          <a:xfrm>
            <a:off x="1540440" y="914400"/>
            <a:ext cx="7887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Java’da Period ve Duration (Zaman Farkı Hesaplama)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7"/>
          <p:cNvSpPr/>
          <p:nvPr/>
        </p:nvSpPr>
        <p:spPr>
          <a:xfrm>
            <a:off x="880200" y="1600200"/>
            <a:ext cx="97261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iki tarih veya iki saat arasındaki zaman farkını ölçmek, tarihlere belirli süreler ekleyip çıkarmak için tarih bazlı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ölçümlerde Period, saat bazlı ölçümlerde ise Duration sınıfları kullanılır.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44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2" name="Rounded Rectangle 45"/>
          <p:cNvSpPr/>
          <p:nvPr/>
        </p:nvSpPr>
        <p:spPr>
          <a:xfrm>
            <a:off x="457200" y="2514600"/>
            <a:ext cx="3736440" cy="4104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Period: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Tarihsel farkları (yıl, ay, gün) ifade eder. Genellikle LocalDate nesneleri ile kullanılır.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Duration: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Zamansal farkları (saat, dakika, saniye, nanosaniye) ifade eder. Genellikle LocalTime veya LocalDateTime nesneleri ile kullanılır.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İki tarih/saat noktası arasındaki farkı bulmak için between() metodu kullanılır.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Mevcut bir tarihe süre eklemek veya çıkarmak için plus() ve minus() metotlarıyla birlikte kullanılabilirler.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Yaz saati gibi karmaşık durumları yönetirken manuel matematiksel hesaplamalar yerine bu API'leri kullanmak hataları önler.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46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ounded Rectangle 47"/>
          <p:cNvSpPr/>
          <p:nvPr/>
        </p:nvSpPr>
        <p:spPr>
          <a:xfrm>
            <a:off x="4434840" y="2514600"/>
            <a:ext cx="3279240" cy="3874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Başlangıç ve bitiş zamanları (Tarih/Saat nesneleri) oluşturulur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İhtiyaca göre uygun sınıf (Period veya Duration) seçilir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between() metodu çağrılarak iki zaman arasındaki fark hesaplanır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İlgili metotlar (örn: getDays(), toHours()) ile farkın detayı alınır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Sonuç ekrana yazdırılır veya farklı bir iş mantığında kullanılır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ounded Rectangle 48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6" name="Rounded Rectangle 49"/>
          <p:cNvSpPr/>
          <p:nvPr/>
        </p:nvSpPr>
        <p:spPr>
          <a:xfrm>
            <a:off x="8001000" y="2514600"/>
            <a:ext cx="3464280" cy="3876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DurationPeriodExample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--- PERIOD ÖRNEĞİ (Tarih Farkı) ---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oldDate = LocalDate.of(2022, 5, 10);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 currentDate = LocalDate.now(); // Örn: 28 Nisan 2024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Period period = Period.between(oldDate, currentDate);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System.out.println("Tarih Farkı: " + period.getYears() + " yıl, "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+ period.getMonths() + " ay, "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+ period.getDays() + " gün");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--- DURATION ÖRNEĞİ (Saat Farkı) ---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LocalTime startTime = LocalTime.of(9, 30);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LocalTime endTime = LocalTime.of(17, 15);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Duration duration = Duration.between(startTime, endTime);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System.out.println("Geçen Süre: " + duration.toHours() + " saat, "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+ (duration.toMinutes() % 60) + " dakika");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2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97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Rectangle 98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0" name="Rectangle 99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1" name="Rectangle 100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2" name="Rectangle 101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3" name="Rectangle 102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4" name="Rectangle 103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5" name="Rectangle 104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6" name="Rectangle 105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7" name="Rectangle 106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8" name="Rectangle 107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49" name="Rectangle 108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0" name="Rectangle 109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1" name="Rectangle 110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2" name="Rectangle 111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3" name="Rectangle 112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4" name="Rounded Rectangle 50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Box 21"/>
          <p:cNvSpPr/>
          <p:nvPr/>
        </p:nvSpPr>
        <p:spPr>
          <a:xfrm>
            <a:off x="2106360" y="914400"/>
            <a:ext cx="675576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Kapsamlı Java Date &amp; Time Ekosistemi (Özet)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22"/>
          <p:cNvSpPr/>
          <p:nvPr/>
        </p:nvSpPr>
        <p:spPr>
          <a:xfrm>
            <a:off x="1124280" y="1565280"/>
            <a:ext cx="92520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 8 ile gelen java.time paketi, Java'da bir paradigma değişimidir. İnsan zamanını,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makine zamanını ve bunları birbirine bağlayan karmaşık coğrafi kuralları modellemek için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değiştirilemez (immutable), iş parçacığı güvenli (thread-safe) ve alan odaklı (domain-driven) bir yaklaşım sunar.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51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8" name="Rounded Rectangle 52"/>
          <p:cNvSpPr/>
          <p:nvPr/>
        </p:nvSpPr>
        <p:spPr>
          <a:xfrm>
            <a:off x="457200" y="2743200"/>
            <a:ext cx="3876480" cy="3875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Boyut 1: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İnsan Zaman Çizelgesi (Coğrafyadan Bağımsız)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LocalDate, LocalTime, LocalDateTime zamanı tam olarak bir duvar saatinde veya kağıt takvimde gördüğünüz gibi temsil eder. Dünyanın neresinde olduklarını bilmezler.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Boyut 2: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Dünya Izgarası (Coğrafi Gerçeklik)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ZoneId ve ZonedDateTime, insan zaman çizelgesini Dünya üzerindeki belirli bir koordinata sabitler. Yaz Saati (DST) ve UTC farklarının yarattığı karmaşayı otomatik olarak yönetirler.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Boyut 3: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Ölçüm (Anlar arasındaki boşluk)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Zaman sadece noktalardan ibaret değildir; mesafelerdir. Period takvimsel mesafeleri (yıl, ay, gün) ölçerken, Duration saat bazlı mesafeleri (saat, dakika, saniye) ölçer.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Boyut 4: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 Çeviri Katmanı (Köprü)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DateTimeFormatter, ham metin (Parsing) ile insan tarafından okunabilen kullanıcı arayüzü çıktıları (Formatting) arasında evrensel bir çevirmen görevi görür.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Rounded Rectangle 53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0" name="Rounded Rectangle 54"/>
          <p:cNvSpPr/>
          <p:nvPr/>
        </p:nvSpPr>
        <p:spPr>
          <a:xfrm>
            <a:off x="4572000" y="2743200"/>
            <a:ext cx="3419280" cy="364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[ Ne tür bir zaman modellemeniz gerekiyor? 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Coğrafya önemli mi? (Küresel Etkinlikler, Uçuşlar)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EVET ─&gt; ZoneId ile bağla ─&gt; ZonedDateTime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Sadece yerel/günlük bir kavram mı? (Doğum Günleri, Alarmlar)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Sadece Tarih mi Lazım? ─&gt; LocalDate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Sadece Saat mi Lazım? ─&gt; LocalTime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İkisi de mi Lazım? ─&gt; LocalDateTime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[ İşlem Evresi: Bununla ne yapmak istiyorsunuz? 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Geri Sayım/Mesafe mi hesaplanacak?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Takvim bazlı mı? ─&gt; Period Kullan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Saat bazlı mı? ─&gt; Duration Kullan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&gt; Arayüze veya Veritabanına mı gönderilecek?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DateTimeFormatter ile dönüştür (Formatla / Ayrıştır)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ounded Rectangle 55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2" name="Rounded Rectangle 56"/>
          <p:cNvSpPr/>
          <p:nvPr/>
        </p:nvSpPr>
        <p:spPr>
          <a:xfrm>
            <a:off x="8229600" y="2514600"/>
            <a:ext cx="3647880" cy="4105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ZamanEkoSistemi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1. İnsan Zaman Çizelgesi (Yerel)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LocalDateTime yerelToplanti = LocalDateTime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.of(2025, 10, 15, 9, 0);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2. Dünya Izgarası (Bölgesel/Zoned)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ZoneId nyBolgesi = ZoneId.of("America/New_York");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nyToplantisi = ZonedDateTime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.of(yerelToplanti, nyBolgesi);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3. Çeviri Katmanı (Formatlama)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DateTimeFormatter format = DateTimeFormatter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.ofPattern("dd MMM yyyy - HH:mm z");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System.out.println("Toplantı: "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+ nyToplantisi.format(format));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4. Ölçüm (Süre/Mesafe)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ZonedDateTime suAn = ZonedDateTime.now(nyBolgesi);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if (nyToplantisi.isAfter(suAn))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Duration fark = Duration.between(suAn, nyToplantisi);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System.out.println(fark.toDays() + " gün kaldı!");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 else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System.out.println("Toplantı tarihi geçmiş.");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2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13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5" name="Rectangle 114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6" name="Rectangle 115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7" name="Rectangle 116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8" name="Rectangle 117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9" name="Rectangle 118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0" name="Rectangle 119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Rectangle 120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2" name="Rectangle 121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3" name="Rectangle 122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4" name="Rectangle 123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5" name="Rectangle 124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6" name="Rectangle 125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7" name="Rectangle 126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8" name="Rectangle 127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9" name="Rectangle 128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0" name="Rounded Rectangle 57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2324520" y="914400"/>
            <a:ext cx="6319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Temel Operatörlere Giriş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25"/>
          <p:cNvSpPr/>
          <p:nvPr/>
        </p:nvSpPr>
        <p:spPr>
          <a:xfrm>
            <a:off x="2448360" y="1828800"/>
            <a:ext cx="65894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operatörler, değişkenler ve değerler üzerinde matematiksel, mantıksal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veya ilişkisel işlemler gerçekleştirmemizi sağlayan özel sembollerdir.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İşlem gören verilere ise "Operand" denir.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ounded Rectangle 58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4" name="Rounded Rectangle 59"/>
          <p:cNvSpPr/>
          <p:nvPr/>
        </p:nvSpPr>
        <p:spPr>
          <a:xfrm>
            <a:off x="914400" y="3108960"/>
            <a:ext cx="3279240" cy="3282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Temel Terimler: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Operatör: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İşlemi yapan sembol (+, *, =).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Operand: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İşleme giren veri (x, 5).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(Örn: x + 5 ifadesinde + operatör, x ve 5 operanddır.)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Sık Kullanılan Operatör Türleri: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Aritmetik: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Matematiksel hesaplar yapar (+, -, *, /, % mod alma).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İlişkisel: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İki değeri karşılaştırır, geriye true veya false döner (==, !=, &gt;, &lt;).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Mantıksal: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Koşulları birbirine bağlar (&amp;&amp; VE, || VEYA, ! DEĞİL).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Atama: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Sağdaki değeri soldaki değişkene aktarır (=, +=, *=).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60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ounded Rectangle 61"/>
          <p:cNvSpPr/>
          <p:nvPr/>
        </p:nvSpPr>
        <p:spPr>
          <a:xfrm>
            <a:off x="443484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Operatör İşlem Mantığı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1. Veriler (Operandlar) Hafızada Tanımlanır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Örn: int x = 10; int y = 5;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2. İfade (Expression) Değerlendirilir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Aritmetik: x + y (Sonuç: 15)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Mantıksal: x &gt; y (Sonuç: true)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3. Atama Operatörü Çalışır (=)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Hesaplanan sonuç yeni bir değişkene yazılır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4. Sonuç Çıktı Olarak Kullanılır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ounded Rectangle 62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Rounded Rectangle 63"/>
          <p:cNvSpPr/>
          <p:nvPr/>
        </p:nvSpPr>
        <p:spPr>
          <a:xfrm>
            <a:off x="7955280" y="2743200"/>
            <a:ext cx="3691800" cy="3646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OperatorGiris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Atama (Assignment) Operatörü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15;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4;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Aritmetik (Arithmetic) Operatörler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toplam = a + b;   // 19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kalan = a % b;    // 3 (Modülüs - kalanı bulur)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İlişkisel (Relational) Operatörler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buyukMu = (a &gt; b);  // true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esitMi = (a == b);  // false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4. Mantıksal (Logical) Operatörler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"a 10'dan büyük VE b çift sayı mı?"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sonuc = (a &gt; 10) &amp;&amp; (b % 2 == 0); // true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System.out.println("Toplam: " + toplam);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System.out.println("Kalan: " + kalan);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System.out.println("Mantıksal Sonuç: " + sonuc);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Box 2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129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Rectangle 130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2" name="Rectangle 131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3" name="Rectangle 132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4" name="Rectangle 133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5" name="Rectangle 134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6" name="Rectangle 135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7" name="Rectangle 136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8" name="Rectangle 137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9" name="Rectangle 138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0" name="Rectangle 139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140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Rectangle 141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3" name="Rectangle 142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4" name="Rectangle 143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44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Rounded Rectangle 64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28"/>
          <p:cNvSpPr/>
          <p:nvPr/>
        </p:nvSpPr>
        <p:spPr>
          <a:xfrm>
            <a:off x="2585880" y="914400"/>
            <a:ext cx="57956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Aritmetik Operatörler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29"/>
          <p:cNvSpPr/>
          <p:nvPr/>
        </p:nvSpPr>
        <p:spPr>
          <a:xfrm>
            <a:off x="2057400" y="1694880"/>
            <a:ext cx="74538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Aritmetik operatörler, sayılar üzerinde toplama, çıkarma, çarpma gibi temel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matematiksel işlemleri gerçekleştirmek için kullanılır. Klasik matematikteki işlem önceliği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(çarpma/bölmenin toplamadan önce yapılması) Java'da da aynen geçerlidir.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ounded Rectangle 65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Rounded Rectangle 66"/>
          <p:cNvSpPr/>
          <p:nvPr/>
        </p:nvSpPr>
        <p:spPr>
          <a:xfrm>
            <a:off x="914400" y="3108960"/>
            <a:ext cx="3279240" cy="3282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+ (Toplama):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Sayıları toplar. (Ayrıca metinleri birleştirir).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- (Çıkarma):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Sağdaki sayıyı soldakinden çıkarır.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* (Çarpma):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İki değeri çarpar.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/ (Bölme):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Bölüm sonucunu verir. (Not: İki tam sayı bölünürse sonuç da tam sayı olur, ondalık kısım atılır. Örn: 5 / 2 = 2)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% (Mod Alma):</a:t>
            </a: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 Bölme işleminden kalan sayıyı verir. Çift/tek sayı bulmada çok sık kullanılır.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ounded Rectangle 67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2" name="Rounded Rectangle 68"/>
          <p:cNvSpPr/>
          <p:nvPr/>
        </p:nvSpPr>
        <p:spPr>
          <a:xfrm>
            <a:off x="443484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İşlem Önceliği (Operator Precedence)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1. Parantez İçleri ()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Her zaman ilk olarak hesaplanır.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2. Artırma / Azaltma ++, --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3. Çarpma, Bölme, Mod *, /, %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(Soldan sağa doğru değerlendirilir)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4. Toplama ve Çıkarma +, -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(En son değerlendirilir)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Rounded Rectangle 69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4" name="Rounded Rectangle 70"/>
          <p:cNvSpPr/>
          <p:nvPr/>
        </p:nvSpPr>
        <p:spPr>
          <a:xfrm>
            <a:off x="8003880" y="2971800"/>
            <a:ext cx="3417480" cy="3418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AritmetikIslemler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10;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3;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Temel İşlemler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toplam = a + b; // 13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bolum = a / b;  // 3 (Ondalık kısım silinir)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kalan = a % b;  // 1 (10'un 3'e bölümünden kalan)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İşlem Önceliği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islemsiz = a + b * 2;   // 16 (Önce çarpma)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islemli = (a + b) * 2;  // 26 (Önce parantez)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Artırma Operatörü (Increment)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sayac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sayac++; // sayac'ın yeni değeri 6 oldu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System.out.println("Bölüm: " + bolum);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System.out.println("Mod (Kalan): " + kalan);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System.out.println("Sayaç: " + sayac);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3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45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7" name="Rectangle 146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8" name="Rectangle 147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9" name="Rectangle 148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0" name="Rectangle 149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1" name="Rectangle 150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Rectangle 151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3" name="Rectangle 152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4" name="Rectangle 153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Rectangle 154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6" name="Rectangle 155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7" name="Rectangle 156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8" name="Rectangle 157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9" name="Rectangle 158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0" name="Rectangle 159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1" name="Rectangle 160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2" name="Rounded Rectangle 71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Box 31"/>
          <p:cNvSpPr/>
          <p:nvPr/>
        </p:nvSpPr>
        <p:spPr>
          <a:xfrm>
            <a:off x="959040" y="914400"/>
            <a:ext cx="9050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Aritmetik Operatörler (Bölüm 2: Prefix/Postfix)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32"/>
          <p:cNvSpPr/>
          <p:nvPr/>
        </p:nvSpPr>
        <p:spPr>
          <a:xfrm>
            <a:off x="1267200" y="1694880"/>
            <a:ext cx="90342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Aritmetik işlemlerde en sık yapılan hatalar artırma/azaltma (++, --) operatörlerinin konumundan ve tam sayı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bölmesinden kaynaklanır. Operatörün değişkenin sağında veya solunda olması,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kodun çalışma sırasını tamamen değiştirir.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ounded Rectangle 72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ounded Rectangle 73"/>
          <p:cNvSpPr/>
          <p:nvPr/>
        </p:nvSpPr>
        <p:spPr>
          <a:xfrm>
            <a:off x="685800" y="2743200"/>
            <a:ext cx="35078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1. Prefix ve Postfix Mantığı: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Prefix (Önden - ++a)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: Önce değişkenin değerini 1 artırır, sonra o satırdaki diğer işlemleri yapar.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Postfix (Sondan - a++):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Önce değişkenin mevcut değerini kullanır (işleme sokar), satır bittikten sonra değerini 1 artırır.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2. Bölme İşlemi Tuzakları: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İki tam sayı (int) bölünürse, Java ondalık kısmı yuvarlamaz, direkt çöpe atar. (Örn: 5 / 2 = 2 olur).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Küsuratlı sonucu tam olarak alabilmek için, işleme giren sayılardan en az birinin ondalıklı (double veya float) olması gerekir. (Örn: 5.0 / 2 = 2.5).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Rounded Rectangle 74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8" name="Rounded Rectangle 75"/>
          <p:cNvSpPr/>
          <p:nvPr/>
        </p:nvSpPr>
        <p:spPr>
          <a:xfrm>
            <a:off x="443484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Prefix vs Postfix Çalışma Akışı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 Tanımı: int x = 5;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Prefix Kullanım: int y = ++x;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1. Adım: x'in değerini artır (x=6 olur)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2. Adım: Yeni x değerini y'ye ata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x = 6, y = 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Postfix Kullanım: int z = x++;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1. Adım: Mevcut x değerini z'ye ata (z=5)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2. Adım: x'in değerini artır (x=6 olur)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x = 6, z = 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76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Rounded Rectangle 77"/>
          <p:cNvSpPr/>
          <p:nvPr/>
        </p:nvSpPr>
        <p:spPr>
          <a:xfrm>
            <a:off x="8003880" y="2743200"/>
            <a:ext cx="3417480" cy="3646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AritmetikDetay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PREFIX (Önce Artır, Sonra Kullan)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++a; // a=6 olur, b'ye 6 atanır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POSTFIX (Önce Kullan, Sonra Artır)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x++; // y'ye 5 atanır, sonra x=6 olur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TAM SAYI BÖLMESİ (Integer Division)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yanlisBolme = 5 / 2;     // Sonuç: 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doubleHata = 5 / 2;   // Sonuç: 2.0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dogruBolme = 5.0 / 2; // Sonuç: 2.5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System.out.println("Prefix b: " + b);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System.out.println("Postfix y: " + y);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System.out.println("Doğru Bölme: " + dogruBolme);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Box 3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angle 161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3" name="Rectangle 162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Rectangle 163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5" name="Rectangle 164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Rectangle 165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7" name="Rectangle 166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Rectangle 167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9" name="Rectangle 168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Rectangle 169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1" name="Rectangle 170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Rectangle 171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3" name="Rectangle 172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Rectangle 173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5" name="Rectangle 174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6" name="Rectangle 175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7" name="Rectangle 176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8" name="Rounded Rectangle 78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Box 34"/>
          <p:cNvSpPr/>
          <p:nvPr/>
        </p:nvSpPr>
        <p:spPr>
          <a:xfrm>
            <a:off x="1221120" y="914400"/>
            <a:ext cx="8525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Aritmetik Operatörler (Bölüm 3: Kısaltmalar ve Metinler)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35"/>
          <p:cNvSpPr/>
          <p:nvPr/>
        </p:nvSpPr>
        <p:spPr>
          <a:xfrm>
            <a:off x="1353600" y="1694880"/>
            <a:ext cx="88603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Java, matematik ve atama işlemlerini tek adımda birleştirerek kodu temiz tutan kısayol operatörleri sunar.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Ayrıca + operatörünün çift kimliği vardır: Sayılar için toplama yaparken,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String'ler (metinler) için "yapıştırıcı" (birleştirme) görevi görür.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ounded Rectangle 79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2" name="Rounded Rectangle 80"/>
          <p:cNvSpPr/>
          <p:nvPr/>
        </p:nvSpPr>
        <p:spPr>
          <a:xfrm>
            <a:off x="685800" y="2743200"/>
            <a:ext cx="35078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Bileşik Atama (Compound):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Aritmetik işlem ve atamayı birleştirir: +=, -=, *=, /=, %=.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Örn: x += 5 ifadesi, tam olarak x = x + 5 işleminin kısaltmasıdır.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İpucu: Arka planda otomatik tip dönüşümü (casting) yaparlar (hata fırlatmazlar).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+ Operatörünün İki Yüzü: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Sayı + Sayı = Matematik (Toplama).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String + Herhangi Bir Şey = Metin (Birleştirme - Concatenation).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İşlemler kesinlikle Soldan Sağa akar. Eğer işlem bir String ile başlarsa, sağındaki her şey metne dönüşür!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ounded Rectangle 81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ounded Rectangle 82"/>
          <p:cNvSpPr/>
          <p:nvPr/>
        </p:nvSpPr>
        <p:spPr>
          <a:xfrm>
            <a:off x="443484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+ İşleminin Soldan Sağa Akışı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Senaryo 1: 10 + 5 + "A"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1. Adım: Matematik! 10 + 5 = 15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2. Adım: Metin! 15 + "A" = "15A"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Sonuç: "15A"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Senaryo 2: "A" + 10 + 5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1. Adım: Metin! "A" + 10 = "A10"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2. Adım: Metin! "A10" + 5 = "A105"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Sonuç: "A105" (A15 DEĞİL!)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Rounded Rectangle 83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6" name="Rounded Rectangle 84"/>
          <p:cNvSpPr/>
          <p:nvPr/>
        </p:nvSpPr>
        <p:spPr>
          <a:xfrm>
            <a:off x="8001000" y="2971800"/>
            <a:ext cx="3306600" cy="3421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AritmetikTuzaklar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BİLEŞİK ATAMA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skor = 50;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skor += 10; // skor = skor + 10 (60)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skor /= 2;  // skor = skor / 2  (30)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METİN BİRLEŞTİRME TUZAKLARI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Sayıyla başlar -&gt; Önce Matematik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str1 = x + y + " Java"; // "10 Java"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Metinle başlar -&gt; Hepsi Metin olur!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str2 = "Java " + x + y; // "Java 55"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Parantez matematiği öne alır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str3 = "Java " + (x+y); // "Java 10"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System.out.println("Son Skor: " + skor);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System.out.println("Str2 Sonuç: " + str2);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Box 3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angle 177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Rectangle 178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0" name="Rectangle 179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1" name="Rectangle 180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Rectangle 181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3" name="Rectangle 182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4" name="Rectangle 183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5" name="Rectangle 184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6" name="Rectangle 185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7" name="Rectangle 186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8" name="Rectangle 187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9" name="Rectangle 188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Rectangle 189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1" name="Rectangle 190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Rectangle 191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3" name="Rectangle 192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Rounded Rectangle 85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37"/>
          <p:cNvSpPr/>
          <p:nvPr/>
        </p:nvSpPr>
        <p:spPr>
          <a:xfrm>
            <a:off x="2731320" y="914400"/>
            <a:ext cx="5504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Aritmetik Operatörler: İnce Detaylar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38"/>
          <p:cNvSpPr/>
          <p:nvPr/>
        </p:nvSpPr>
        <p:spPr>
          <a:xfrm>
            <a:off x="674280" y="1694880"/>
            <a:ext cx="1021824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Aritmetik işlemlerde veri tiplerinin arka planda nasıl davrandığını bilmek kritik hataları önler. Sıfıra bölünme tepkileri,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karakterlerin sayılara dönüşmesi ve küçük veri tiplerinin işlemler sırasında otomatik olarak büyümesi en bilinen tuzaklardır.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ounded Rectangle 86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8" name="Rounded Rectangle 87"/>
          <p:cNvSpPr/>
          <p:nvPr/>
        </p:nvSpPr>
        <p:spPr>
          <a:xfrm>
            <a:off x="685800" y="2743200"/>
            <a:ext cx="35078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Sıfıra Bölünme (Zero Division):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Tam sayılar (int) 0'a bölünürse program çöker (ArithmeticException).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Ondalıklılar (double) 0'a bölünürse çökmez, Infinity (Sonsuz) veya NaN (Sayı Değil) verir.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Karakter (Char) Matematiği: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char tipleri arka planda sayı (ASCII değeri) tutar. İki char toplanırsa yan yana yazılmazlar, sayısal değerleri toplanır. (Örn: 'A' = 65).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3. Gizli Tip Terfisi (Promotion):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İki byte veya short değişken toplanırken sonuç otomatik olarak int tipine yükseltilir. Sonucu direkt byte'a atamak hata verir!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Rounded Rectangle 88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0" name="Rounded Rectangle 89"/>
          <p:cNvSpPr/>
          <p:nvPr/>
        </p:nvSpPr>
        <p:spPr>
          <a:xfrm>
            <a:off x="443484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Arka Plandaki Veri Dönüşümleri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Sıfıra Bölünme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5 / 0 ➔ HATA! (Crash)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5.0 / 0 ➔ Sonuç: Infinity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0.0 / 0 ➔ Sonuç: NaN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Char İşlemleri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'A' + 1 ➔ 65 + 1 = 66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&gt; Byte Toplaması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 x = 10; byte y = 20;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 z = x + y; ➔ HATA! (Sonuç int olur)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Rounded Rectangle 90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2" name="Rounded Rectangle 91"/>
          <p:cNvSpPr/>
          <p:nvPr/>
        </p:nvSpPr>
        <p:spPr>
          <a:xfrm>
            <a:off x="8001000" y="2514600"/>
            <a:ext cx="3650040" cy="3878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AritmetikDetaylar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SIFIRA BÖLÜNME TUZAĞI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hata = 5 / 0; // Kodu çökertir!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sonsuz = 5.0 / 0; // Infinity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belirsiz = 0.0 / 0.0; // NaN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CHAR (KARAKTER) MATEMATİĞİ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char harf = 'A'; // ASCII değeri 65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charToplami = harf + 5; // Sonuç: 70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char siradakiHarf = (char) (harf + 1); // 'B'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GİZLİ INT TERFİSİ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byte b1 = 10;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byte b2 = 20;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byte b3 = b1 + b2; // Derleme Hatası!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toplam = b1 + b2; // Doğrusu budur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System.out.println("5.0 / 0 = " + sonsuz);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System.out.println("0.0 / 0.0 = " + belirsiz);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System.out.println("Harf + 5 = " + charToplami);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Box 3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93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5" name="Rectangle 194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6" name="Rectangle 195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7" name="Rectangle 196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8" name="Rectangle 197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9" name="Rectangle 198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0" name="Rectangle 199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1" name="Rectangle 200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2" name="Rectangle 201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3" name="Rectangle 202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4" name="Rectangle 203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5" name="Rectangle 204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6" name="Rectangle 205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7" name="Rectangle 206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8" name="Rectangle 207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9" name="Rectangle 208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0" name="Rounded Rectangle 92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40"/>
          <p:cNvSpPr/>
          <p:nvPr/>
        </p:nvSpPr>
        <p:spPr>
          <a:xfrm>
            <a:off x="1557360" y="732600"/>
            <a:ext cx="7851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Gerçek Hayat Örneği: Restoran Adisyonu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41"/>
          <p:cNvSpPr/>
          <p:nvPr/>
        </p:nvSpPr>
        <p:spPr>
          <a:xfrm>
            <a:off x="1082520" y="1600200"/>
            <a:ext cx="94014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Gerçek dünya uygulamalarında aritmetik operatörler iş mantığının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motorudur. Bir restoran hesabını hesaplayan, indirim uygulayan,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bileşik operatörlerle vergi/bahşiş ekleyen ve son tutarı arkadaşlar arasında bölen mini bir uygulama tasarlayalım.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ounded Rectangle 93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4" name="Rounded Rectangle 94"/>
          <p:cNvSpPr/>
          <p:nvPr/>
        </p:nvSpPr>
        <p:spPr>
          <a:xfrm>
            <a:off x="685800" y="2971800"/>
            <a:ext cx="3193200" cy="3421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Operatörleri İş Kurallarına Eşleme: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Biriktirme (+=):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Sepete veya dijital adisyona birden fazla ürün eklemek için kullanılır.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İndirimler (-=):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Kupon veya promosyon indirimlerini toplamdan düşmek için kullanılır.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Vergi &amp; Bahşiş (*=):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Yüzde uygulamak için kullanılır. Mevcut hesabı 1.25 ile çarpmak, toplama anında %25 ekler.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Adil Bölüşüm (/):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 Çıkan nihai tutarı misafir sayısına bölmek için kullanılır.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Rounded Rectangle 95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6" name="Rounded Rectangle 96"/>
          <p:cNvSpPr/>
          <p:nvPr/>
        </p:nvSpPr>
        <p:spPr>
          <a:xfrm>
            <a:off x="425736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[ Adisyon ve Hesap Akışı ]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1. Masayı Aç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hesap = 0.0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2. Siparişleri Ekle (Biriktir)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hesap += urunFiyati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3. Kupon / İndirim Uygula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hesap -= indirim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4. Vergi &amp; Bahşiş Ekle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hesap *= 1.25 (%25 ekler)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&gt; 5. Hesabı Misafirlere Böl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kisiBasi = hesap / kisiSayisi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Rounded Rectangle 97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8" name="Rounded Rectangle 98"/>
          <p:cNvSpPr/>
          <p:nvPr/>
        </p:nvSpPr>
        <p:spPr>
          <a:xfrm>
            <a:off x="8001000" y="2514600"/>
            <a:ext cx="342072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RestoranHesabi {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1. Başlangıç Durumu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double hesap = 0.0;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int kisi = 3;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2. Sipariş Ekle (Bileşik Toplama)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hesap += 25.50; // Pizza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hesap += 14.00; // Makarna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hesap += 10.50; // İçecekler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Ara toplam şu an 50.00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3. 5 TL'lik Kupon Uygula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hesap -= 5.00;  // Ara toplam: 45.00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4. %25 Vergi ve Bahşiş Ekle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Mevcut hesabı 1.25 ile çarparız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hesap *= 1.25;  // Son toplam: 56.25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// 5. Hesabı kişiler arasında böl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double kisiBasi = hesap / kisi;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System.out.println("Toplam: " + hesap + " TL");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System.out.println("Kişi Başı: " + kisiBasi + " TL");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6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4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209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1" name="Rectangle 210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2" name="Rectangle 211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3" name="Rectangle 212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4" name="Rectangle 213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5" name="Rectangle 214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6" name="Rectangle 215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7" name="Rectangle 216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8" name="Rectangle 217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9" name="Rectangle 218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0" name="Rectangle 219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1" name="Rectangle 220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2" name="Rectangle 221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3" name="Rectangle 222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4" name="Rectangle 223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5" name="Rectangle 224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6" name="Rounded Rectangle 99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43"/>
          <p:cNvSpPr/>
          <p:nvPr/>
        </p:nvSpPr>
        <p:spPr>
          <a:xfrm>
            <a:off x="2174400" y="732600"/>
            <a:ext cx="6617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Aritmetik Operatörler: Genel Özet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44"/>
          <p:cNvSpPr/>
          <p:nvPr/>
        </p:nvSpPr>
        <p:spPr>
          <a:xfrm>
            <a:off x="1950480" y="1600200"/>
            <a:ext cx="76654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Aritmetik operatörler, Java'daki veri manipülasyonunun ve iş mantığının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(business logic) temel taşıdır. Doğru operatörü seçmek,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veri tiplerine dikkat etmek ve işlem önceliğini bilmek hatasız kod yazmanın altın kurallarıdır.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ounded Rectangle 100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0" name="Rounded Rectangle 101"/>
          <p:cNvSpPr/>
          <p:nvPr/>
        </p:nvSpPr>
        <p:spPr>
          <a:xfrm>
            <a:off x="685800" y="2971800"/>
            <a:ext cx="3193200" cy="3421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Unutulmaması Gereken Altın Kurallar: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Temel 5'li: +, -, *, / ve % (Mod).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İşlem Önceliği: Çarpma, bölme ve mod işlemleri daima toplama ve çıkarmadan önce yapılır. Parantezler () tüm kuralları ezer.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Bölme Kuralı: İki tam sayının (int) bölümü daima tam sayı çıkar (küsurat atılır). Hassas sonuç için en az biri double olmalıdır.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Kısa Yollar: ++/-- (1 artır/azalt) ve +=/*= (işlemle atamayı birleştir) ifadeleri kodu daha okunabilir kılar.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ounded Rectangle 102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2" name="Rounded Rectangle 103"/>
          <p:cNvSpPr/>
          <p:nvPr/>
        </p:nvSpPr>
        <p:spPr>
          <a:xfrm>
            <a:off x="425736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[ Geliştirici Kontrol Listesi 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Çift/Tek sayı kontrolü mü yapacaksın?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Kesinlikle % 2 kullan!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Bölme işleminde küsurat lazım mı?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Sayılardan birini double (Örn: 2.0) yap!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İşlem sırasını değiştirmek mi istiyorsun?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İşlemi parantez () içine al!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Bir değişkenin değerini güncelleyecek misin?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x = x + 5 yerine x += 5 kullan!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104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4" name="Rounded Rectangle 105"/>
          <p:cNvSpPr/>
          <p:nvPr/>
        </p:nvSpPr>
        <p:spPr>
          <a:xfrm>
            <a:off x="8001000" y="2514600"/>
            <a:ext cx="342072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AritmetikOzet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int sayi = 10;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1. İşlem Önceliği ve Modulo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15'in 4'e bölümünden kalan = 3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int sonuc = (sayi + 5) % 4;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2. Ondalıklı Bölme (Hassasiyet)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4.0 yazarak int tuzağından kaçtık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double bolme = sayi / 4.0; // 2.5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3. Bileşik Atama ve Artırma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sayi += 5; // 15 oldu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sayi++;    // 16 oldu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System.out.println("Mod Sonucu: " + sonuc);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System.out.println("Bölme: " + bolme);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System.out.println("Son Durum: " + sayi);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Box 4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ctangle 225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7" name="Rectangle 226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8" name="Rectangle 227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9" name="Rectangle 228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0" name="Rectangle 229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1" name="Rectangle 230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2" name="Rectangle 231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3" name="Rectangle 232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4" name="Rectangle 233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5" name="Rectangle 234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6" name="Rectangle 235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7" name="Rectangle 236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Rectangle 237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9" name="Rectangle 238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Rectangle 239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1" name="Rectangle 240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Rounded Rectangle 106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Box 46"/>
          <p:cNvSpPr/>
          <p:nvPr/>
        </p:nvSpPr>
        <p:spPr>
          <a:xfrm>
            <a:off x="2807280" y="732600"/>
            <a:ext cx="5350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Atama Operatörleri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47"/>
          <p:cNvSpPr/>
          <p:nvPr/>
        </p:nvSpPr>
        <p:spPr>
          <a:xfrm>
            <a:off x="2300040" y="1451520"/>
            <a:ext cx="696600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Atama operatörleri, hesaplanan değerleri değişkenlerde saklamak için kullanılır.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Aritmetik işlemlerin aksine, atama işlemleri kesinlikle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Sağdan Sola doğru çalışır. Java ayrıca matematik ve atamayı tek adımda birleştiren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"bileşik" (compound) operatörler sunar.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ounded Rectangle 107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6" name="Rounded Rectangle 108"/>
          <p:cNvSpPr/>
          <p:nvPr/>
        </p:nvSpPr>
        <p:spPr>
          <a:xfrm>
            <a:off x="685800" y="2971800"/>
            <a:ext cx="3193200" cy="3421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Temel Atama (=):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Sağdaki değeri soldaki değişkene aktarır. Sol taraf kesinlikle bir değer değil, değişken olmalıdır.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Zincirleme: Birden fazla değişkene tek satırda aynı değer atanabilir (Örn: a = b = 5;).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Bileşik Atama (+=, -=, *=, /=, %=):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x += 5 ifadesi, x = x + 5 ile tamamen aynıdır.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Önemli İpucu (Gizli Dönüşüm): Bileşik operatörler arka planda otomatik tip dönüşümü (casting) yapar. Normalde byte tipine int eklemek hata verirken, += kullanıldığında hata vermez!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Rounded Rectangle 109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8" name="Rounded Rectangle 110"/>
          <p:cNvSpPr/>
          <p:nvPr/>
        </p:nvSpPr>
        <p:spPr>
          <a:xfrm>
            <a:off x="4257360" y="2971800"/>
            <a:ext cx="3279240" cy="34196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 Sağdan Sola Çalışma Mantığı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&gt; Standart Atama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int x = 10 + 5;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1. Adım: Sağ tarafı hesapla (15)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2. Adım: 15'i sol tarafa (x) aktar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&gt; Bileşik (Compound) Atama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x += 5;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1. Adım: x = x + 5 olarak aç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2. Adım: 15 + 5 hesapla (20)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3. Adım: 20'yi tekrar x'e aktar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Rounded Rectangle 111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0" name="Rounded Rectangle 112"/>
          <p:cNvSpPr/>
          <p:nvPr/>
        </p:nvSpPr>
        <p:spPr>
          <a:xfrm>
            <a:off x="8001000" y="2514600"/>
            <a:ext cx="342072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AtamaOperatorleri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TEMEL VE ZİNCİRLEME ATAMA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a, b;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a = b = 10; // Sağdan Sola çalışır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BİLEŞİK (COMPOUND) ATAMA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skor = 50;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skor += 10; // skor = 60 oldu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skor -= 20; // skor = 40 oldu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skor /= 2;  // skor = 20 oldu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GİZLİ DÖNÜŞÜM BÜYÜSÜ (Pro-Tip)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byte kucukSayi = 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kucukSayi = kucukSayi + 5; // HATA!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kucukSayi += 5; // Hatasız çalışır (10)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 ve B: " + a);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System.out.println("Son Skor: " + skor);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System.out.println("Byte Değer: " + kucukSayi);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Box 4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 241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3" name="Rectangle 242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4" name="Rectangle 243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5" name="Rectangle 244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6" name="Rectangle 245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7" name="Rectangle 246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8" name="Rectangle 247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9" name="Rectangle 248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0" name="Rectangle 249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1" name="Rectangle 250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2" name="Rectangle 251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3" name="Rectangle 252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4" name="Rectangle 253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5" name="Rectangle 254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Rectangle 255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7" name="Rectangle 256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8" name="Rounded Rectangle 113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Box 49"/>
          <p:cNvSpPr/>
          <p:nvPr/>
        </p:nvSpPr>
        <p:spPr>
          <a:xfrm>
            <a:off x="1452240" y="732600"/>
            <a:ext cx="8060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Atama Operatörleri (Bölüm 2: Tuzaklar ve İleri Seviye)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50"/>
          <p:cNvSpPr/>
          <p:nvPr/>
        </p:nvSpPr>
        <p:spPr>
          <a:xfrm>
            <a:off x="1226160" y="1451520"/>
            <a:ext cx="91134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Atama işlemlerinde en büyük hatalar, atama (=) ile eşitlik kontrolünün (==) birbirine karıştırılmasından doğar.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Ayrıca atama operatörleri, sadece dört işlemle kalmaz; bit düzeyinde (binary)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işlemlerle de birleştirilerek ileri seviye hesaplamalarda kullanılabilir.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ounded Rectangle 114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2" name="Rounded Rectangle 115"/>
          <p:cNvSpPr/>
          <p:nvPr/>
        </p:nvSpPr>
        <p:spPr>
          <a:xfrm>
            <a:off x="685800" y="2743200"/>
            <a:ext cx="3193200" cy="3650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En Büyük Tuzak (= vs ==):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= (Tek Eşittir): Atama yapar. Sağdaki değeri sola kopyalar.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== (Çift Eşittir): Kontrol eder. İki değer eşit mi diye bakar, true veya false döner.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Tehlike: if koşulu içine yanlışlıkla boolean bir atama yaparsanız Java hata vermez, atamayı yapar ve koşulu hep true sayar!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Bitwise (Bit Düzeyinde) Atamalar: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Sayıları arka planda 1 ve 0'lara (ikilik sisteme) çevirip işlem yapar.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&amp;= (Bitwise VE), |= (Bitwise VEYA), ^= (Bitwise XOR).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&lt;&lt;= (Sola Kaydır): Sayıyı 2 ile çarpmak için hızlı bir yoldur.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116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4" name="Rounded Rectangle 117"/>
          <p:cNvSpPr/>
          <p:nvPr/>
        </p:nvSpPr>
        <p:spPr>
          <a:xfrm>
            <a:off x="4257360" y="2743200"/>
            <a:ext cx="32792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 = ve == Mantık Tuzağı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&gt; Yanlış Kullanım (Atama)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boolean acik = false;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if (acik = true) ➔ DEĞERİ DEĞİŞTİRİR!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acik artık true olur ve blok ÇALIŞIR.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&gt; Doğru Kullanım (Kontrol)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boolean acik = false;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if (acik == true) ➔ SADECE KONTROL EDER!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Değer false olduğu için blok ÇALIŞMAZ.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Rounded Rectangle 118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6" name="Rounded Rectangle 119"/>
          <p:cNvSpPr/>
          <p:nvPr/>
        </p:nvSpPr>
        <p:spPr>
          <a:xfrm>
            <a:off x="8001000" y="2514600"/>
            <a:ext cx="342072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AtamaIleriSeviye {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1. = ve == TUZAĞI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boolean adminMi = false;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EĞER == yerine = yazarsak: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if (adminMi = true) { 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adminMi değeri true'ya dönüştü!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System.out.println("Sisteme girildi!");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2. BITWISE (BIT DÜZEYİ) ATAMA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5;  // İkilik sistemde: 0101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x &amp;= 3;     // 3 (0011) ile VE işlemi yap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Sonuç: 0001 olur (Yani 1)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// 3. SOLA KAYDIRMA (SHIFT) ATAMASI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int y = 4;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y &lt;&lt;= 1; // Sola 1 bit kaydır (2 ile çarp)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System.out.println("Bitwise x: " + x);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System.out.println("Kaydırma y: " + y);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3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Box 5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ctangle 257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9" name="Rectangle 258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0" name="Rectangle 259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1" name="Rectangle 260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2" name="Rectangle 261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3" name="Rectangle 262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4" name="Rectangle 263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5" name="Rectangle 264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6" name="Rectangle 265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7" name="Rectangle 266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8" name="Rectangle 267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9" name="Rectangle 268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0" name="Rectangle 269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1" name="Rectangle 270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2" name="Rectangle 271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3" name="Rectangle 272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4" name="Rounded Rectangle 120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Box 52"/>
          <p:cNvSpPr/>
          <p:nvPr/>
        </p:nvSpPr>
        <p:spPr>
          <a:xfrm>
            <a:off x="1573200" y="732600"/>
            <a:ext cx="78177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Atama Operatörleri (Bölüm 3: Referanslar ve Bellek)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53"/>
          <p:cNvSpPr/>
          <p:nvPr/>
        </p:nvSpPr>
        <p:spPr>
          <a:xfrm>
            <a:off x="1683720" y="1451520"/>
            <a:ext cx="81975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Atama operatörü (=) ilkel veri tiplerinde (int, double) değerin birebir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kopyasını oluştururken; Diziler (Arrays) ve Nesneler (Objects) gibi gelişmiş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tiplerde veriyi kopyalamaz, bellekteki adresini (referansını) kopyalar. İkisi artık aynı veriye bağlanır.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Rounded Rectangle 121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8" name="Rounded Rectangle 122"/>
          <p:cNvSpPr/>
          <p:nvPr/>
        </p:nvSpPr>
        <p:spPr>
          <a:xfrm>
            <a:off x="685800" y="2514600"/>
            <a:ext cx="319320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1. Değer vs. Referans Ataması: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 (Değer Kopyalama): int a = b; dediğinizde b'nin içindeki sayı a'ya kopyalanır. Biri değişirse diğeri etkilenmez (Bağımsızdırlar).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Tip (Adres Paylaşma): Dizi a = b; dediğinizde her ikisi de bellekte aynı kutuyu işaret eder. Birindeki değişiklik, diğerini de anında etkiler!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2. Atamanın Dönüş Değeri: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Java'da her atama işlemi aslında atadığı değeri geriye döndürür.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Örn: System.out.println(x = 5); kodu hem x'e 5 atar, hem de ekrana 5 yazar. Zincirleme atamalar (a = b = 5) bu mantıkla çalışır.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Rounded Rectangle 123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0" name="Rounded Rectangle 124"/>
          <p:cNvSpPr/>
          <p:nvPr/>
        </p:nvSpPr>
        <p:spPr>
          <a:xfrm>
            <a:off x="4257360" y="2743200"/>
            <a:ext cx="32792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 İlkel vs Referans Ataması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&gt; İlkel Tip (Bağımsız Kopya)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int x = 10; int y = x;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y = 20;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Sadece y değişir. (x hala 10'dur)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&gt; Referans Tip (Adres/Kumanda Paylaşımı)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int[] a = {1, 2}; int[] b = a;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b[0] = 99;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İKİSİ DE DEĞİŞİR! (a[0] da 99 olur)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125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2" name="Rounded Rectangle 126"/>
          <p:cNvSpPr/>
          <p:nvPr/>
        </p:nvSpPr>
        <p:spPr>
          <a:xfrm>
            <a:off x="8001000" y="2514600"/>
            <a:ext cx="342072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AtamaReferans {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1. İLKEL (PRIMITIVE) ATAMA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 sayi1 = 10;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 sayi2 = sayi1; // Değer kopyalandı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sayi2 = 50;        // sayi1 ETKİLENMEZ!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2. REFERANS (NESNE/DİZİ) ATAMA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int[] dizi1 = {1, 2, 3};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int[] dizi2 = dizi1; // Hafıza adresi paylaşıldı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dizi2'de yapılan değişiklik dizi1'i vurur!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dizi2[0] = 99; 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3. ATAMANIN DÖNÜŞ DEĞERİ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int x;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// Hem atar, hem ekrana basar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System.out.println("x değeri: " + (x = 5)); 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System.out.println("sayi1: " + sayi1);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System.out.println("dizi1[0]: " + dizi1[0]);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89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Box 5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Rectangle 273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5" name="Rectangle 274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6" name="Rectangle 275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7" name="Rectangle 276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8" name="Rectangle 277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9" name="Rectangle 278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0" name="Rectangle 279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1" name="Rectangle 280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2" name="Rectangle 281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3" name="Rectangle 282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4" name="Rectangle 283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5" name="Rectangle 284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6" name="Rectangle 285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7" name="Rectangle 286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8" name="Rectangle 287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9" name="Rectangle 288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0" name="Rounded Rectangle 127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55"/>
          <p:cNvSpPr/>
          <p:nvPr/>
        </p:nvSpPr>
        <p:spPr>
          <a:xfrm>
            <a:off x="1919520" y="732600"/>
            <a:ext cx="7124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Atama Operatörleri: Bellek ve Nesne Durumları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56"/>
          <p:cNvSpPr/>
          <p:nvPr/>
        </p:nvSpPr>
        <p:spPr>
          <a:xfrm>
            <a:off x="1604880" y="1451520"/>
            <a:ext cx="83545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Nesnelerle çalışırken atama operatörü (=), değişkenin bellekte hangi adresi işaret edeceğini belirler.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Etkili bellek yönetimi için değişkeni nesneden ayırmayı (null)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veya bellek adresini kilitlemeyi (final) anlamak çok önemlidir.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Rounded Rectangle 128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4" name="Rounded Rectangle 129"/>
          <p:cNvSpPr/>
          <p:nvPr/>
        </p:nvSpPr>
        <p:spPr>
          <a:xfrm>
            <a:off x="685800" y="2514600"/>
            <a:ext cx="319320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1. Değiştirmek vs Yeniden Atamak: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Değiştirmek (Mutating): Nesnenin iç verisini değiştirir, bellek adresi aynı kalır.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Yeniden Atamak (Reassigning): Değişkeni yepyeni bir nesneye bağlar, eski adres terk edilir.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2. Null Ataması: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Değişkene null atamak, onun nesneyle bağını tamamen koparır.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Bellekteki bir nesneyi hiçbir değişken işaret etmiyorsa, Çöp Toplayıcı (GC) onu silerek RAM'i temizler.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3. Final Referans Tuzağı: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Bir referans final işaretlendiyse, = ile yeni bir bellek adresine atanamaz.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Ancak, içindeki verileri (durumunu) hala değiştirebilirsiniz!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Rounded Rectangle 130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6" name="Rounded Rectangle 131"/>
          <p:cNvSpPr/>
          <p:nvPr/>
        </p:nvSpPr>
        <p:spPr>
          <a:xfrm>
            <a:off x="4257360" y="2743200"/>
            <a:ext cx="32792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 HAFIZA DURUM TAKİBİ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ADIM 1: int[] x = {100};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[x] Değişkeni ----&gt; (Hafıza: {100})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ADIM 2: int[] y = x;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[x] Değişkeni ----&gt; (Hafıza: {100})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[y] Değişkeni ----/ (Aynı adresi tutar)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ADIM 3: x = null;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[x] Değişkeni ----&gt; [ BOŞ / NULL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[y] Değişkeni ----&gt; (Hafıza: {100})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Veri silinmez, 'y' hala tutuyor!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132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8" name="Rounded Rectangle 133"/>
          <p:cNvSpPr/>
          <p:nvPr/>
        </p:nvSpPr>
        <p:spPr>
          <a:xfrm>
            <a:off x="8001000" y="2514600"/>
            <a:ext cx="3420720" cy="3879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--- TEST 1: NULL'DAN KURTULAN VERİ ---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int[] veriA = { 50 };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int[] veriB = veriA; // Adresi paylaş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veriA = null; // A'nın bağını tamamen kopar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Çöker mi? Hayır! B hala onu tutuyor.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System.out.println("VeriB: " + veriB[0]);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&gt;&gt; Çıktı: 50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--- TEST 2: FINAL REFERANS TUZAĞI ---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final int[] kilitli = { 5 };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HATA: Yeni bellek adresi atanamaz!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kilitli = new int[]{ 9 };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BAŞARI: İçindeki veri değiştirilebilir!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kilitli[0] = 99;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System.out.println("Kilitli: " + kilitli[0]);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78ffc8"/>
                </a:solidFill>
                <a:latin typeface="Consolas"/>
                <a:ea typeface="DejaVu Sans"/>
              </a:rPr>
              <a:t>// &gt;&gt; Çıktı: 99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5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Rectangle 289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1" name="Rectangle 290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2" name="Rectangle 291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3" name="Rectangle 292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4" name="Rectangle 293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5" name="Rectangle 294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6" name="Rectangle 295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7" name="Rectangle 296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8" name="Rectangle 297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9" name="Rectangle 298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0" name="Rectangle 299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1" name="Rectangle 300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2" name="Rectangle 301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3" name="Rectangle 302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4" name="Rectangle 303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5" name="Rectangle 304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6" name="Rounded Rectangle 134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Box 58"/>
          <p:cNvSpPr/>
          <p:nvPr/>
        </p:nvSpPr>
        <p:spPr>
          <a:xfrm>
            <a:off x="1839240" y="732600"/>
            <a:ext cx="7286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Atama Operatörleri: Bellek ve Referans Yönetimi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59"/>
          <p:cNvSpPr/>
          <p:nvPr/>
        </p:nvSpPr>
        <p:spPr>
          <a:xfrm>
            <a:off x="1604880" y="1451520"/>
            <a:ext cx="83545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Nesnelerle çalışırken atama operatörü (=), değişkenin bellekte hangi adresi işaret edeceğini belirler.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Etkili bellek yönetimi için değişkeni nesneden ayırmayı (null)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veya bellek adresini kilitlemeyi (final) anlamak çok önemlidir.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Rounded Rectangle 135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0" name="Rounded Rectangle 136"/>
          <p:cNvSpPr/>
          <p:nvPr/>
        </p:nvSpPr>
        <p:spPr>
          <a:xfrm>
            <a:off x="685800" y="2743200"/>
            <a:ext cx="3193200" cy="3650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QUICK BITE (Kısa Özet)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tiplerde (int, double) = operatörü değeri kopyalar. Ancak nesnelerde (Object, Array) = operatörü sadece bellekteki "adresi" (referansı) kopyalar. Bir nesneyi bellekte yönetmek için = operatörünün davranışını bilmek şarttır.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KEY CONCEPTS (Kritik Kavramlar)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Değer Kopyalama (İlkel Tip): Tamamen bağımsız kopyalar oluşur. Birinin değişmesi diğerini etkilemez.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Referans Paylaşımı (Nesne/Dizi): İki değişken aynı hafıza kutusuna bağlanır. Birindeki değişiklik anında diğerini de vurur!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Bağı Koparma (null): Değişkenin bellek adresiyle bağını keser. Hiçbir değişkenin tutmadığı nesneyi Çöp Toplayıcı (GC) anında siler.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Adresi Kilitleme (final): Değişkenin başka bir bellek adresine atanmasını yasaklar. Ama dikkat: Nesnenin içindeki veriler hâlâ değiştirilebilir.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Rounded Rectangle 137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2" name="Rounded Rectangle 138"/>
          <p:cNvSpPr/>
          <p:nvPr/>
        </p:nvSpPr>
        <p:spPr>
          <a:xfrm>
            <a:off x="4257360" y="2743200"/>
            <a:ext cx="3279240" cy="3648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 Referansların Paylaşılması ve Değişimi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int[] a = {5};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[a] -----&gt; (Hafıza Kutusu: { 5 })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int[] b = a;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[a] -----&gt; (Hafıza Kutusu: { 5 })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[b] -----/ (İkisi de aynı yere bakar)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a[0] = 9;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(Hafıza Kutusu artık { 9 } oldu)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b[0] yazdırılırsa ekrana 9 çıkar!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Rounded Rectangle 139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4" name="Rounded Rectangle 140"/>
          <p:cNvSpPr/>
          <p:nvPr/>
        </p:nvSpPr>
        <p:spPr>
          <a:xfrm>
            <a:off x="8001000" y="2286000"/>
            <a:ext cx="3652560" cy="4107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BellekYonetimi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İLKEL TİP (Bağımsız Kopya)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10;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x;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y = 99; // x etkilenmez, x hala 10'dur!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REFERANS TİP (Ortak Hafıza Adresi)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int[] diziA = { 10 };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int[] diziB = diziA;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diziB[0] = 99; // diziA'nın da içi 99 oldu!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BAĞ KOPARMA (NULL)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diziA = null; // A'nın bağını kopardık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diziB hala veriyi tuttuğu için silinmez.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4. KİLİTLİ ADRES (FINAL)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final int[] kilitli = { 5 };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kilitli = new int[]{ 1 }; // HATA VERİR!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kilitli[0] = 7; // BAŞARILI! İçerik değişti.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Box 6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305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7" name="Rectangle 306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8" name="Rectangle 307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9" name="Rectangle 308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0" name="Rectangle 309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1" name="Rectangle 310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2" name="Rectangle 311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3" name="Rectangle 312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4" name="Rectangle 313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5" name="Rectangle 314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6" name="Rectangle 315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7" name="Rectangle 316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8" name="Rectangle 317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9" name="Rectangle 318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0" name="Rectangle 319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1" name="Rectangle 320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2" name="Rounded Rectangle 141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Box 61"/>
          <p:cNvSpPr/>
          <p:nvPr/>
        </p:nvSpPr>
        <p:spPr>
          <a:xfrm>
            <a:off x="2144880" y="732600"/>
            <a:ext cx="66733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Gerçek Hayat Örneği: Ortak Banka Hesapları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Box 62"/>
          <p:cNvSpPr/>
          <p:nvPr/>
        </p:nvSpPr>
        <p:spPr>
          <a:xfrm>
            <a:off x="2081520" y="1371600"/>
            <a:ext cx="74005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Bellek referanslarını anlamak için günlük bankacılık işlemlerini düşünün.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İlkel tipler (primitives) ayrı cüzdanlardaki nakit para gibidir.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Referans tipler ise tam olarak aynı ortak banka kasasına bağlı iki farklı banka kartı gibidir.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Rounded Rectangle 142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6" name="Rounded Rectangle 143"/>
          <p:cNvSpPr/>
          <p:nvPr/>
        </p:nvSpPr>
        <p:spPr>
          <a:xfrm>
            <a:off x="685800" y="2743200"/>
            <a:ext cx="3195720" cy="3652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BANKACILIK ANALOJİSİ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Nakit Para (İlkel Tip): Sizin ve arkadaşınızın cebinde 100 TL var. Arkadaşınız kahve alırsa sizin paranız azalmaz. (Bağımsız kopyalar).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Ortak Hesap (Referans Tip): Eşlerin tek bir hesaba bağlı iki farklı kartı vardır. Biri 50 TL çekerse, diğerinin bakiyesi de anında düşer!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Kartı Kaybetmek (null): Eşlerden biri kartını kırıp atarsa (null), bankadaki kasa silinmez. Diğer eş paraya hâlâ ulaşabilir.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Sabit Hesap (final): Sadece belirli bir kasaya kilitlenmiş karttır. Kartı başka bankaya bağlayamazsınız ama kasanın içine hâlâ para ekleyip çıkarabilirsiniz.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Rounded Rectangle 144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8" name="Rounded Rectangle 145"/>
          <p:cNvSpPr/>
          <p:nvPr/>
        </p:nvSpPr>
        <p:spPr>
          <a:xfrm>
            <a:off x="4267800" y="2971800"/>
            <a:ext cx="3053160" cy="296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 Ortak Hesap Mantığı ]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double[] esKart1 = { 500 };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[1. Kart] -----&gt; (Kasa: 500 TL)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double[] esKart2 = esKart1;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[2. Kart] -----/ (Aynı Kasa)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esKart2[0] -= 100;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(Kasa 400 TL'ye düşer)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40" spc="-1" strike="noStrike">
                <a:solidFill>
                  <a:schemeClr val="lt1"/>
                </a:solidFill>
                <a:latin typeface="Calibri"/>
                <a:ea typeface="DejaVu Sans"/>
              </a:rPr>
              <a:t>Sonuç: Birinci eş bakiyesine baktığında 400 TL görür. Harcama ikisini de etkilemiştir!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Rounded Rectangle 146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0" name="Rounded Rectangle 147"/>
          <p:cNvSpPr/>
          <p:nvPr/>
        </p:nvSpPr>
        <p:spPr>
          <a:xfrm>
            <a:off x="7772400" y="2286000"/>
            <a:ext cx="3881520" cy="4110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BankaUygulamasi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NAKİT PARA (İlkel - Bağımsız)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cuzdanim = 100;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arkadasCuzdani = cuzdanim;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arkadasCuzdani -= 20; // Benimki hala 100!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ORTAK HESAP (Referans - Paylaşımlı)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double[] ortakKasa = { 1000.0 };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double[] kartA = ortakKasa;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double[] kartB = ortakKasa;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kartB[0] -= 200; // B harcama yaptı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KAYIP KART (Null)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kartB = null; // Kart iptal edildi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Kasa güvende! A kartı hala 800.0 görür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System.out.println("Kart A: " + kartA[0] + " TL");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4. SABİT KART (Final)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final double[] sirketKasasi = { 5000.0 };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sirketKasasi = new double[]{ 0 }; // HATA!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sirketKasasi[0] += 500; // BAŞARILI! (Para yattı)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Box 6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321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3" name="Rectangle 322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4" name="Rectangle 323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5" name="Rectangle 324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6" name="Rectangle 325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7" name="Rectangle 326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8" name="Rectangle 327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9" name="Rectangle 328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0" name="Rectangle 329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1" name="Rectangle 330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2" name="Rectangle 331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3" name="Rectangle 332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4" name="Rectangle 333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5" name="Rectangle 334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6" name="Rectangle 335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7" name="Rectangle 336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8" name="Rounded Rectangle 148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Box 64"/>
          <p:cNvSpPr/>
          <p:nvPr/>
        </p:nvSpPr>
        <p:spPr>
          <a:xfrm>
            <a:off x="2431080" y="732600"/>
            <a:ext cx="61005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Atama ve Referans Yönetimi: Genel Özet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Box 65"/>
          <p:cNvSpPr/>
          <p:nvPr/>
        </p:nvSpPr>
        <p:spPr>
          <a:xfrm>
            <a:off x="1833840" y="1371600"/>
            <a:ext cx="789552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Atama operatörleri (=), verileri değişkenlere kaydetmenin ve belleği yönetmenin temelidir.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İlkel tiplerdeki değer kopyalama ile nesnelerdeki adres paylaşımı arasındaki kritik farkı bilmek,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hatasız kod yazmanın altın kuralıdır.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Rounded Rectangle 149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2" name="Rounded Rectangle 150"/>
          <p:cNvSpPr/>
          <p:nvPr/>
        </p:nvSpPr>
        <p:spPr>
          <a:xfrm>
            <a:off x="685800" y="2743200"/>
            <a:ext cx="3195720" cy="3196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GELİŞTİRİCİ KONTROL LİSTESİ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Sağdan Sola Akar: Atama işlemi her zaman önce sağ tarafı hesaplar, sonra sola yazar (a = 5 + 2;).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En Ölümcül Hata: if bloğu içinde == (kıyaslama) yerine yanlışlıkla = (atama) kullanmak, kodu çökertmez ama mantığı tamamen bozar.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Bileşik Güç: +=, -= operatörleri kodu kısaltır ve arka planda hayat kurtaran otomatik tip dönüşümleri yapar.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Değer vs Adres: İlkel tipler (int) tamamen bağımsızdır. Nesneler (dizi, sınıf) ise hafıza adresini (kumandayı) paylaşır.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Rounded Rectangle 151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4" name="Rounded Rectangle 152"/>
          <p:cNvSpPr/>
          <p:nvPr/>
        </p:nvSpPr>
        <p:spPr>
          <a:xfrm>
            <a:off x="4267800" y="2971800"/>
            <a:ext cx="3053160" cy="296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[ Hata Ayıklama (Debugging) Haritası 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Bir diziyi diğerine kopyaladın, birini değiştirince diğeri de mi bozuldu?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Sebep: = sadece adresi kopyalar. Ortak kasaya bağlandılar!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byte tipine sayı eklerken derleme hatası mı alıyorsun?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Çözüm: x = x + 5 yerine x += 5 kullan, Java tip dönüşümünü halletsin!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Belleği şişiren bir nesneden kurtulmak mı istiyorsun?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Çözüm: Değişkene null ata. Çöp Toplayıcı (GC) onu RAM'den silsin.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Rounded Rectangle 153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6" name="Rounded Rectangle 154"/>
          <p:cNvSpPr/>
          <p:nvPr/>
        </p:nvSpPr>
        <p:spPr>
          <a:xfrm>
            <a:off x="7772400" y="2286000"/>
            <a:ext cx="3196080" cy="4110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AtamaOzet {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1. BİLEŞİK ATAMA (Tip Dönüşümü)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byte b = 10;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 += 5; // b = b + 5 yazsak HATA verirdi!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2. KONTROL TUZAĞI (= vs ==)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aktif = false;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if(aktif = true) -&gt; YANLIŞ KULLANIM!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if (aktif == true) { /* Doğrusu */ }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3. REFERANS PAYLAŞIMI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int[] diziA = { 1 };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int[] diziB = diziA; // Adres paylaşıldı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diziB[0] = 9; // diziA[0] da 9 oldu!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4. TEMİZLİK VE SABİTLEME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diziA = null; // A'nın bağını kopardık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final int[] sabit = { 5 };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sabit = new int[]{1}; // HATA! (Adres kilitli)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sabit[0] = 8; // BAŞARILI! (İçerik değişebilir)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Box 6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337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9" name="Rectangle 338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0" name="Rectangle 339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1" name="Rectangle 340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2" name="Rectangle 341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3" name="Rectangle 342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4" name="Rectangle 343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5" name="Rectangle 344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6" name="Rectangle 345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7" name="Rectangle 346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8" name="Rectangle 347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9" name="Rectangle 348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0" name="Rectangle 349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1" name="Rectangle 350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2" name="Rectangle 351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3" name="Rectangle 352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4" name="Rounded Rectangle 155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Box 67"/>
          <p:cNvSpPr/>
          <p:nvPr/>
        </p:nvSpPr>
        <p:spPr>
          <a:xfrm>
            <a:off x="2220840" y="732600"/>
            <a:ext cx="65224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İlişkisel (Karşılaştırma) Operatörleri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Box 68"/>
          <p:cNvSpPr/>
          <p:nvPr/>
        </p:nvSpPr>
        <p:spPr>
          <a:xfrm>
            <a:off x="1467360" y="1371600"/>
            <a:ext cx="86302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İlişkisel operatörler, iki değeri birbiriyle kıyaslamak için kullanılır.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Operandlar arasındaki ilişkiyi değerlendirir ve her zaman mantıksal bir sonuç (true veya false) dönerler.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Bu yapı, programlamadaki karar mekanizmalarının (if-else blokları ve döngüler) temelini oluşturur.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Rounded Rectangle 156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8" name="Rounded Rectangle 157"/>
          <p:cNvSpPr/>
          <p:nvPr/>
        </p:nvSpPr>
        <p:spPr>
          <a:xfrm>
            <a:off x="685800" y="2743200"/>
            <a:ext cx="3195720" cy="3425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KARŞILAŞTIRMA KURALLARI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1. İlkel (Primitive) Değer Kuralları: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Tüm sayısal tiplerde (int, double, char) doğal olarak çalışır.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== (eşittir) ve != (eşit değildir).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&gt;, &lt;, &gt;=, &lt;= (sınır kontrolleri).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Değerlendirme tamamen matematiksel değere göre yapılır.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2. Referans / Nesne (Object) Kuralları: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Nesnelerde (String gibi), == sadece aynı bellek adresini paylaşıp paylaşmadıklarını kontrol eder (kimlik kontrolü).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İki nesnenin içeriklerinin aynı olup olmadığını kontrol etmek için == yerine kesinlikle .equals() kullanılmalıdır.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Rounded Rectangle 158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0" name="Rounded Rectangle 159"/>
          <p:cNvSpPr/>
          <p:nvPr/>
        </p:nvSpPr>
        <p:spPr>
          <a:xfrm>
            <a:off x="4267800" y="2971800"/>
            <a:ext cx="3053160" cy="296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[ KOD ÇALIŞMA İZİ 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Koşul: int x = 10; int y = 20;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1. İZLEME: x != 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Değerlendirme: 10 != 20 ➔ true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Karar: Güvenli. Değerler gerçekten farklı.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2. İZLEME: x &gt;= 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Değerlendirme: 10 &gt;= 20 ➔ false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Karar: Güvenli. 10, 20'den büyük değil.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3. İZLEME: str1 == str2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Değerlendirme: AdresA == AdresB ➔ false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Karar: TUZAK! İçerikler aynı, adresler farklı.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Rounded Rectangle 160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2" name="Rounded Rectangle 161"/>
          <p:cNvSpPr/>
          <p:nvPr/>
        </p:nvSpPr>
        <p:spPr>
          <a:xfrm>
            <a:off x="7772400" y="2286000"/>
            <a:ext cx="3196080" cy="4110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Karsilastirma {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int a = 10;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int b = 20;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1. TEMEL KARŞILAŞTIRMALAR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esitMi = (a == b);   // false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farkliMi = (a != b); // true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kucukMu = (a &lt;= b);  // true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2. KONTROL BLOKLARI (IF-ELSE)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if (a &gt;= 10) {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System.out.println("A, 10 veya daha buyuk");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3. STRING (METİN) TUZAĞI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s1 = new String("Java");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s2 = new String("Java");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False! Farklı bellek adresleri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hatali = (s1 == s2);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// True! Doğru karşılaştırma yöntemi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dogru = s1.equals(s2);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System.out.println("Dogru Match: " + dogru);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Box 6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Rectangle 353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5" name="Rectangle 354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6" name="Rectangle 355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7" name="Rectangle 356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8" name="Rectangle 357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9" name="Rectangle 358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0" name="Rectangle 359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1" name="Rectangle 360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2" name="Rectangle 361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3" name="Rectangle 362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4" name="Rectangle 363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5" name="Rectangle 364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6" name="Rectangle 365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7" name="Rectangle 366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8" name="Rectangle 367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9" name="Rectangle 368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0" name="Rounded Rectangle 162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Box 70"/>
          <p:cNvSpPr/>
          <p:nvPr/>
        </p:nvSpPr>
        <p:spPr>
          <a:xfrm>
            <a:off x="1652400" y="626040"/>
            <a:ext cx="7659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5f5f5"/>
                </a:solidFill>
                <a:latin typeface="Calibri"/>
                <a:ea typeface="DejaVu Sans"/>
              </a:rPr>
              <a:t>İlişkisel Operatörler (Bölüm 2: İleri Seviye Tuzaklar)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71"/>
          <p:cNvSpPr/>
          <p:nvPr/>
        </p:nvSpPr>
        <p:spPr>
          <a:xfrm>
            <a:off x="2426760" y="1222920"/>
            <a:ext cx="672516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ilişkisel operatörler sadece sayılarla sınırlı değildir.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Karakterlerin arka plandaki sayısal değerlerini kıyaslayabilirler.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Ancak nesne tabanlı sayılarda (Integer) ve çoklu koşullarda (zincirleme işlemler)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tehlikeli derleme ve mantık hatalarına yol açabilirler.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Rounded Rectangle 163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4" name="Rounded Rectangle 164"/>
          <p:cNvSpPr/>
          <p:nvPr/>
        </p:nvSpPr>
        <p:spPr>
          <a:xfrm>
            <a:off x="685800" y="2514600"/>
            <a:ext cx="3195720" cy="4111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CRITICAL TRAPS (Kritik Tuzaklar)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Karakter (Char) Kıyaslaması: Karakterler ('a', 'b') karşılaştırılırken arka plandaki ASCII sayısal değerleri kıyaslanır. (Örn: 'a' &lt; 'b' ifadesi arka planda 97 &lt; 98 olarak değerlendirilir ve true döner).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Zincirleme Hatası: Java'da matematiksel olarak 10 &lt; x &lt; 20 yazamazsınız (derleme hatası verir). Doğrusu mantıksal operatörle bağlamaktır: 10 &lt; x &amp;&amp; x &lt; 20.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Integer Önbellek (Caching) Tuzağı: Integer nesnelerini == ile kıyaslarken, sayılar sadece -128 ile 127 arasındaysa doğru çalışır. Bu sınırın dışındaki sayılarda nesne referansları farklı olduğu için == yanlış sonuç verir. Her zaman .equals() kullanılmalıdır.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Rounded Rectangle 165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6" name="Rounded Rectangle 166"/>
          <p:cNvSpPr/>
          <p:nvPr/>
        </p:nvSpPr>
        <p:spPr>
          <a:xfrm>
            <a:off x="4267800" y="2971800"/>
            <a:ext cx="3053160" cy="2967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DECISION MATRIX (Karar Matrisi)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[ Doğru Karşılaştırma Yöntemi 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Tipi: int, double (İlkel Sayılar)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Yöntem: == veya != (Tamamen güvenli)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Tipi: char (Karakter)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Yöntem: &lt; veya &gt; (ASCII değerlerini kıyaslar)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Veri Tipi: String veya Integer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(Nesneler)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Yöntem: Kesinlikle .equals() kullan! (Tuzaklardan kaçar)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Rounded Rectangle 167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8" name="Rounded Rectangle 168"/>
          <p:cNvSpPr/>
          <p:nvPr/>
        </p:nvSpPr>
        <p:spPr>
          <a:xfrm>
            <a:off x="7772400" y="2286000"/>
            <a:ext cx="3196080" cy="4110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IleriKarsilastirma {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// 1. KARAKTER (CHAR) KIYASLAMASI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char c1 = 'a'; // ASCII: 97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char c2 = 'b'; // ASCII: 98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charKiyas = (c1 &lt; c2); // true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// 2. ZİNCİRLEME KARŞILAŞTIRMA TUZAĞI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15;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// boolean hata = 10 &lt; x &lt; 20; // DERLEME HATASI!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dogru = (10 &lt; x) &amp;&amp; (x &lt; 20); // true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// 3. INTEGER ÖNBELLEK TUZAĞI (Integer Caching)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n1 = 127;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n2 = 127;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esitSınır = (n1 == n2); // true (Önbellekte)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n3 = 128;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n4 = 128;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esitTuzak = (n3 == n4); // false! (Bellek referansı)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dogruEsit = n3.equals(n4); // true (İçerik kıyası)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System.out.println("128 == 128: " + esitTuzak);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System.out.println("Doğru Eşitlik: " + dogruEsit);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77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7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Box 7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ectangle 369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1" name="Rectangle 370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2" name="Rectangle 371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3" name="Rectangle 372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4" name="Rectangle 373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5" name="Rectangle 374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6" name="Rectangle 375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7" name="Rectangle 376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8" name="Rectangle 377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9" name="Rectangle 378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0" name="Rectangle 379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1" name="Rectangle 380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2" name="Rectangle 381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3" name="Rectangle 382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4" name="Rectangle 383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5" name="Rectangle 384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6" name="Rounded Rectangle 169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Box 73"/>
          <p:cNvSpPr/>
          <p:nvPr/>
        </p:nvSpPr>
        <p:spPr>
          <a:xfrm>
            <a:off x="1324800" y="626040"/>
            <a:ext cx="8313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5f5f5"/>
                </a:solidFill>
                <a:latin typeface="Calibri"/>
                <a:ea typeface="DejaVu Sans"/>
              </a:rPr>
              <a:t>İlişkisel Operatörler (Bölüm 3: Tip Kontrolleri ve Hassasiyet)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Box 74"/>
          <p:cNvSpPr/>
          <p:nvPr/>
        </p:nvSpPr>
        <p:spPr>
          <a:xfrm>
            <a:off x="2891160" y="1222920"/>
            <a:ext cx="57956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ilişkisel operatörler basit matematiğin ötesine geçer.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instanceof operatörü bir nesnenin tipini bir sınıfla karşılaştırmamızı sağlarken,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ondalıklı sayıları (double/float) karşılaştırmak ikilik sistemdeki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hassasiyet sınırları nedeniyle katı "hata payı" (delta/eşik) kontrolleri gerektirir.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Rounded Rectangle 170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0" name="Rounded Rectangle 171"/>
          <p:cNvSpPr/>
          <p:nvPr/>
        </p:nvSpPr>
        <p:spPr>
          <a:xfrm>
            <a:off x="685800" y="2514600"/>
            <a:ext cx="3195720" cy="4111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Tip Karşılaştırma (instanceof):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Bir nesne referansını bir sınıf tipiyle kıyaslar. Eğer nesne o sınıfın, alt sınıfının veya arayüzünün (interface) bir örneğiyse true döner.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Hassasiyet Tuzağı (Precision Trap):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Bilgisayarlar ondalıklı sayıları ikilik sistemde (IEEE 754) saklar. Bu durum yuvarlama hatalarına yol açar. Örneğin 0.1 + 0.2 işlemi tam olarak 0.3'e eşit değildir (arka planda 0.30000000000000004 olur).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Delta Kontrolü Çözümü: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Ondalıklı değerleri asla == ile karşılaştırmayın. Bunun yerine, iki sayı arasındaki mutlak farkın çok küçük bir eşik değerinden (tolerans payı, örn: 0.00001) küçük olup olmadığını kontrol edin.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Rounded Rectangle 172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2" name="Rounded Rectangle 173"/>
          <p:cNvSpPr/>
          <p:nvPr/>
        </p:nvSpPr>
        <p:spPr>
          <a:xfrm>
            <a:off x="4267800" y="3200400"/>
            <a:ext cx="3053160" cy="2511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[ Hassasiyet vs Tip Kontrolü 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Görev 1: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Bir nesnenin String olup olmadığını kontrol et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Çözüm: obj instanceof String (Güvenle boolean döner)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Görev 2: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İki double değerini karşılaştır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Yanlış: a == b (Yuvarlama hatalarına açıktır)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Doğru: Math.abs(a - b) &lt; 0.00001 (Eşik değer kontrolü)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Rounded Rectangle 174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4" name="Rounded Rectangle 175"/>
          <p:cNvSpPr/>
          <p:nvPr/>
        </p:nvSpPr>
        <p:spPr>
          <a:xfrm>
            <a:off x="7772400" y="2743200"/>
            <a:ext cx="319716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HassasKarsilastirma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1. TİP KARŞILAŞTIRMA (instanceof)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Object metin = "Merhaba Dunya";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stringMi = metin instanceof String; // true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sayiMi = metin instanceof Number;   // false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2. ONDALIKLI SAYI HASSASİYET TUZAĞI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d1 = 0.1 + 0.2;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d2 = 0.3;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hataliKiyas = (d1 == d2); // false! (Tuzak)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3. DELTA (EŞİK) KONTROLÜ ÇÖZÜMÜ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epsilon = 0.00001; // tolerans payı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dogruKiyas = Math.abs(d1 - d2) &lt; epsilon; // true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System.out.println("0.1 + 0.2 == 0.3: " + hataliKiyas);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System.out.println("Dogru Karsilastirma: " + dogruKiyas);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Box 7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Rectangle 385"/>
          <p:cNvSpPr/>
          <p:nvPr/>
        </p:nvSpPr>
        <p:spPr>
          <a:xfrm>
            <a:off x="0" y="0"/>
            <a:ext cx="12176280" cy="6845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7" name="Rectangle 386"/>
          <p:cNvSpPr/>
          <p:nvPr/>
        </p:nvSpPr>
        <p:spPr>
          <a:xfrm>
            <a:off x="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8" name="Rectangle 387"/>
          <p:cNvSpPr/>
          <p:nvPr/>
        </p:nvSpPr>
        <p:spPr>
          <a:xfrm>
            <a:off x="914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9" name="Rectangle 388"/>
          <p:cNvSpPr/>
          <p:nvPr/>
        </p:nvSpPr>
        <p:spPr>
          <a:xfrm>
            <a:off x="1828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0" name="Rectangle 389"/>
          <p:cNvSpPr/>
          <p:nvPr/>
        </p:nvSpPr>
        <p:spPr>
          <a:xfrm>
            <a:off x="2743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1" name="Rectangle 390"/>
          <p:cNvSpPr/>
          <p:nvPr/>
        </p:nvSpPr>
        <p:spPr>
          <a:xfrm>
            <a:off x="3657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2" name="Rectangle 391"/>
          <p:cNvSpPr/>
          <p:nvPr/>
        </p:nvSpPr>
        <p:spPr>
          <a:xfrm>
            <a:off x="4572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3" name="Rectangle 392"/>
          <p:cNvSpPr/>
          <p:nvPr/>
        </p:nvSpPr>
        <p:spPr>
          <a:xfrm>
            <a:off x="5486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4" name="Rectangle 393"/>
          <p:cNvSpPr/>
          <p:nvPr/>
        </p:nvSpPr>
        <p:spPr>
          <a:xfrm>
            <a:off x="6400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5" name="Rectangle 394"/>
          <p:cNvSpPr/>
          <p:nvPr/>
        </p:nvSpPr>
        <p:spPr>
          <a:xfrm>
            <a:off x="7315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6" name="Rectangle 395"/>
          <p:cNvSpPr/>
          <p:nvPr/>
        </p:nvSpPr>
        <p:spPr>
          <a:xfrm>
            <a:off x="82296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7" name="Rectangle 396"/>
          <p:cNvSpPr/>
          <p:nvPr/>
        </p:nvSpPr>
        <p:spPr>
          <a:xfrm>
            <a:off x="91440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8" name="Rectangle 397"/>
          <p:cNvSpPr/>
          <p:nvPr/>
        </p:nvSpPr>
        <p:spPr>
          <a:xfrm>
            <a:off x="100584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9" name="Rectangle 398"/>
          <p:cNvSpPr/>
          <p:nvPr/>
        </p:nvSpPr>
        <p:spPr>
          <a:xfrm>
            <a:off x="109728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0" name="Rectangle 399"/>
          <p:cNvSpPr/>
          <p:nvPr/>
        </p:nvSpPr>
        <p:spPr>
          <a:xfrm>
            <a:off x="11887200" y="0"/>
            <a:ext cx="5760" cy="6845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1" name="Rectangle 400"/>
          <p:cNvSpPr/>
          <p:nvPr/>
        </p:nvSpPr>
        <p:spPr>
          <a:xfrm>
            <a:off x="0" y="0"/>
            <a:ext cx="307440" cy="6845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2" name="Rounded Rectangle 176"/>
          <p:cNvSpPr/>
          <p:nvPr/>
        </p:nvSpPr>
        <p:spPr>
          <a:xfrm>
            <a:off x="9875520" y="365760"/>
            <a:ext cx="1999080" cy="490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TextBox 76"/>
          <p:cNvSpPr/>
          <p:nvPr/>
        </p:nvSpPr>
        <p:spPr>
          <a:xfrm>
            <a:off x="2232000" y="626040"/>
            <a:ext cx="6498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5f5f5"/>
                </a:solidFill>
                <a:latin typeface="Calibri"/>
                <a:ea typeface="DejaVu Sans"/>
              </a:rPr>
              <a:t>Gerçek Hayat Örneği: Kullanıcı Erişim Kontrolü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Box 77"/>
          <p:cNvSpPr/>
          <p:nvPr/>
        </p:nvSpPr>
        <p:spPr>
          <a:xfrm>
            <a:off x="2929680" y="1222920"/>
            <a:ext cx="571788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Gerçek dünya uygulamalarında ilişkisel operatörler; kullanıcı kayıt süreçlerini,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güvenlik sınırlarını ve rol tabanlı erişim yetkilerini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(Role-based access control) doğrulamak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aaaaa"/>
                </a:solidFill>
                <a:latin typeface="Calibri"/>
                <a:ea typeface="DejaVu Sans"/>
              </a:rPr>
              <a:t>için yazılan tüm iş kurallarının (business rules) temelini oluşturur.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Rounded Rectangle 177"/>
          <p:cNvSpPr/>
          <p:nvPr/>
        </p:nvSpPr>
        <p:spPr>
          <a:xfrm>
            <a:off x="98748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6" name="Rounded Rectangle 178"/>
          <p:cNvSpPr/>
          <p:nvPr/>
        </p:nvSpPr>
        <p:spPr>
          <a:xfrm>
            <a:off x="685800" y="2971800"/>
            <a:ext cx="3197520" cy="3197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Yaş Sınırı Doğrulama (&gt;=):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Kullanıcının sisteme kayıt olabilmesi için yasal yaş sınırında (örn: 18) olup olmadığını doğrular.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Şifre Eşleştirme (.equals()):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Kullanıcının girdiği şifreyi, bellekteki adresine göre değil, karakter karakter doğruluğuna göre güvenli bir şekilde eşleştirir.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Yetki Rolü Kontrolü (instanceof):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Sisteme giriş yapan nesnenin "Yönetici (Admin)" rolüne veya sınıfına ait olup olmadığını çalışma zamanında doğrular.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Rounded Rectangle 179"/>
          <p:cNvSpPr/>
          <p:nvPr/>
        </p:nvSpPr>
        <p:spPr>
          <a:xfrm>
            <a:off x="450792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8" name="Rounded Rectangle 180"/>
          <p:cNvSpPr/>
          <p:nvPr/>
        </p:nvSpPr>
        <p:spPr>
          <a:xfrm>
            <a:off x="4267800" y="2743200"/>
            <a:ext cx="3053160" cy="3426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[ Kullanıcı Giriş Akışı 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Girdiler: yas = 20, sifre = "Sifre123", Kullanıcı Nesnesi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1. Yaş Kontrolü: yas &gt;= 18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Sonuç: true (Yaş Sınırı Geçildi)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2. Şifre Kontrolü: girilen.equals(kayitli)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Sonuç: true (Şifre Eşleşti)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&gt; 3. Yetki Rolü Kontrolü: kullanici instanceof Admin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Evet (true) ➔ Yönetici Paneline Yönlendir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Hayır (false) ➔ Standart Kullanıcı Arayüzünü Aç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Rounded Rectangle 181"/>
          <p:cNvSpPr/>
          <p:nvPr/>
        </p:nvSpPr>
        <p:spPr>
          <a:xfrm>
            <a:off x="8028360" y="3182040"/>
            <a:ext cx="3279240" cy="2730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0" name="Rounded Rectangle 182"/>
          <p:cNvSpPr/>
          <p:nvPr/>
        </p:nvSpPr>
        <p:spPr>
          <a:xfrm>
            <a:off x="7772400" y="2743200"/>
            <a:ext cx="3654720" cy="3653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ErisimKontrolu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1. KULLANICI GİRDİLERİ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int yas = 20;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girilenSifre = new String("Sifre123");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kayitliSifre = new String("Sifre123");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Object aktifKullanici = "YoneticiNesnesi"; // Örnek nesne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2. YAŞ VE ŞİFRE DOĞRULAMA (İlişkisel)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yasBasarili = (yas &gt;= 18); // true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sifreBasarili = girilenSifre.equals(kayitliSifre); // true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3. ROL / TİP KONTROLÜ (Type Check)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// Aktif kullanıcı bir String (Yönetici) mi?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adminMi = aktifKullanici instanceof String; // true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if (yasBasarili &amp;&amp; sifreBasarili)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System.out.println("Giris Basarili!");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if (adminMi) {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System.out.println("Yonetici paneli aktif.");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Box 7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Rectangle 401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3" name="Rectangle 402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4" name="Rectangle 403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5" name="Rectangle 404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6" name="Rectangle 405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7" name="Rectangle 406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8" name="Rectangle 407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9" name="Rectangle 408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0" name="Rectangle 409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1" name="Rectangle 410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2" name="Rectangle 411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3" name="Rectangle 412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4" name="Rectangle 413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5" name="Rectangle 414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6" name="Rectangle 415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7" name="Rectangle 416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8" name="Rounded Rectangle 183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Box 79"/>
          <p:cNvSpPr/>
          <p:nvPr/>
        </p:nvSpPr>
        <p:spPr>
          <a:xfrm>
            <a:off x="2057400" y="457200"/>
            <a:ext cx="6867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İlişkisel Operatörler: Genel Özet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Box 80"/>
          <p:cNvSpPr/>
          <p:nvPr/>
        </p:nvSpPr>
        <p:spPr>
          <a:xfrm>
            <a:off x="1630080" y="1495800"/>
            <a:ext cx="821268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İlişkisel operatörler, programın karar alma ve akış kontrol mekanizmalarını yönetir.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İlkel sayılarda doğrudan değer kıyaslaması yaparken;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nesnelerde, metinlerde ve ondalıklı sayılarda (float/double)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Java'nın arka plandaki çalışma mantığına dikkat edilmelidir.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Rounded Rectangle 184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2" name="Rounded Rectangle 185"/>
          <p:cNvSpPr/>
          <p:nvPr/>
        </p:nvSpPr>
        <p:spPr>
          <a:xfrm>
            <a:off x="685800" y="2853360"/>
            <a:ext cx="3516840" cy="3655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Değer vs Adres: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Sayılarda == değeri kontrol ederken, nesnelerde (String, Integer vb.) bellek adresini kontrol eder. İçerik kıyaslaması için her zaman .equals() kullanılmalıdır.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Hassasiyet Sınırı: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Ondalıklı sayılar (float/double) == ile kıyaslanmamalıdır; aralarındaki mutlak farkın çok küçük bir tolerans payından (epsilon) küçük olup olmadığı ölçülmelidir.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Tip Doğrulama: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Çalışma zamanında (runtime) nesnelerin hangi sınıfa veya arayüze ait olduğunu kontrol etmek için instanceof operatöründen yararlanılır.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Integer Önbelleği: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Integer nesnelerinde == kıyaslaması sadece -128 ile 127 arasında güvenlidir, bu sınırın dışında referans kontrolü nedeniyle patlar.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Rounded Rectangle 186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4" name="Rounded Rectangle 187"/>
          <p:cNvSpPr/>
          <p:nvPr/>
        </p:nvSpPr>
        <p:spPr>
          <a:xfrm>
            <a:off x="4572000" y="3108960"/>
            <a:ext cx="3426480" cy="3060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Hızlı Karşılaştırma Karar Haritası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İki ilkel sayıyı kıyaslayacaksın?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 == b veya a &lt; b (Hızlı ve güvenli)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İki metni (String) kıyaslayacaksın?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Kesinlikle s1.equals(s2) kullan!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Ondalıklı sayı (double/float) kıyaslayacaksın?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Math.abs(a - b) &lt; 0.00001 (Tolerans kontrolü)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Bir nesnenin sınıf tipini bulacaksın?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obj instanceof SinifAdi (Güvenli tip kontrolü)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Rounded Rectangle 188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6" name="Rounded Rectangle 189"/>
          <p:cNvSpPr/>
          <p:nvPr/>
        </p:nvSpPr>
        <p:spPr>
          <a:xfrm>
            <a:off x="8246880" y="2286000"/>
            <a:ext cx="3655080" cy="4112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KarsilastirmaOzet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1. TEMEL KIYAS (Primitive)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10;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kucuk = (x &lt; 20); // true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2. METİN VE NESNE KIYASI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s1 = new String("Java");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s1.equals("Java") -&gt; DOĞRU YÖNTEM!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s1 == "Java"      -&gt; YANLIŞ / RİSKLİ!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3. TİP KONTROLÜ (instanceof)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Object nesne = "Deneme";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strMi = nesne instanceof String; // true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// 4. ONDALIKLI SAYI DUYARLILIĞI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d1 = 0.1 + 0.2;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double d2 = 0.3;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dogruKiyas = Math.abs(d1 - d2) &lt; 1e-5; // true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System.out.println("Doğru mu: " + dogruKiyas);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Box 8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Rectangle 417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9" name="Rectangle 418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0" name="Rectangle 419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1" name="Rectangle 420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2" name="Rectangle 421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3" name="Rectangle 422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4" name="Rectangle 423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5" name="Rectangle 424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6" name="Rectangle 425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7" name="Rectangle 426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8" name="Rectangle 427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9" name="Rectangle 428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0" name="Rectangle 429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1" name="Rectangle 430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2" name="Rectangle 431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3" name="Rectangle 432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4" name="Rounded Rectangle 190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Box 82"/>
          <p:cNvSpPr/>
          <p:nvPr/>
        </p:nvSpPr>
        <p:spPr>
          <a:xfrm>
            <a:off x="1854000" y="457200"/>
            <a:ext cx="72738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Karşılaştırma Operatörleri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Box 83"/>
          <p:cNvSpPr/>
          <p:nvPr/>
        </p:nvSpPr>
        <p:spPr>
          <a:xfrm>
            <a:off x="948240" y="1143000"/>
            <a:ext cx="957528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Karşılaştırma operatörleri, iki değeri kıyaslayarak aralarındaki eşitlik,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eşitsizlik veya büyüklük durumunu test etmek için kullanılır.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Bu işlemler her zaman mantıksal bir karar olan true (doğru) veya false (yanlış) değerini döndürür.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Rounded Rectangle 191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8" name="Rounded Rectangle 192"/>
          <p:cNvSpPr/>
          <p:nvPr/>
        </p:nvSpPr>
        <p:spPr>
          <a:xfrm>
            <a:off x="457200" y="2971800"/>
            <a:ext cx="3426840" cy="2859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Eşitlik ve Eşitsizlik: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== (eşit mi?) ve != (eşit değil mi?) operatörleri değerleri doğrudan karşılaştırır.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Sınır Kontrolleri: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&gt;, &lt;, &gt;=, &lt;= operatörleri değerlerin büyüklük ve küçüklük durumlarını test eder.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Geri Dönüş Tipi: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Karşılaştırma operatörlerinin ürettiği sonuç her zaman bir boolean değeridir.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String Uyarısı: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Nesne ve metin (String) kıyaslamalarında, bellek adresi yerine içerik kontrolü yapmak için == yerine .equals() kullanılmalıdır.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Rounded Rectangle 193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0" name="Rounded Rectangle 194"/>
          <p:cNvSpPr/>
          <p:nvPr/>
        </p:nvSpPr>
        <p:spPr>
          <a:xfrm>
            <a:off x="4343400" y="2971800"/>
            <a:ext cx="3426480" cy="3060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Karşılaştırma ve Mantık Kararı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Girdiler: x = 25, y = 20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Eşitlik Kontrolü: x == 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false (Sayılar eşit değil)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Sınır Kontrolü: x &gt; 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true (25, 20'den büyüktür)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Karar Verme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Çıkan true/false sonucu, program akışını (if-else) yönlendirir.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Rounded Rectangle 195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2" name="Rounded Rectangle 196"/>
          <p:cNvSpPr/>
          <p:nvPr/>
        </p:nvSpPr>
        <p:spPr>
          <a:xfrm>
            <a:off x="8263800" y="2514600"/>
            <a:ext cx="3638160" cy="3426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KarsilastirmaGiris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25;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y = 20;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Eşitlik ve Eşitsizlik Kontrolleri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esitMi = (x == y);   // false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farkliMi = (x != y); // true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Sınır (Büyüklük) Kontrolleri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buyukMu = (x &gt; y);   // true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boolean kucukEsit = (x &lt;= y); // false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3. Karar Bloklarında Kullanımı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if (buyukMu)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System.out.println("X değeri Y'den büyüktür.");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System.out.println("Eşit mi: " + esitMi);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System.out.println("Farklı mı: " + farkliMi);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Box 8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Rectangle 433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5" name="Rectangle 434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6" name="Rectangle 435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7" name="Rectangle 436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8" name="Rectangle 437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9" name="Rectangle 438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0" name="Rectangle 439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1" name="Rectangle 440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2" name="Rectangle 441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3" name="Rectangle 442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4" name="Rectangle 443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5" name="Rectangle 444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6" name="Rectangle 445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7" name="Rectangle 446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8" name="Rectangle 447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9" name="Rectangle 448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0" name="Rounded Rectangle 197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Box 85"/>
          <p:cNvSpPr/>
          <p:nvPr/>
        </p:nvSpPr>
        <p:spPr>
          <a:xfrm>
            <a:off x="1396440" y="457200"/>
            <a:ext cx="81882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Java'da Karşılaştırma: Nesneleri Kıyaslama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Box 86"/>
          <p:cNvSpPr/>
          <p:nvPr/>
        </p:nvSpPr>
        <p:spPr>
          <a:xfrm>
            <a:off x="381960" y="1143000"/>
            <a:ext cx="1070748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ilkel sayıları kıyaslamak için &lt; veya &gt; operatörleri yeterlidir.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Ancak özel nesneleri (örn: Öğrenci, Ürün sınıfı nesneleri) büyüklük/küçüklük durumuna göre kıyaslamak için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Comparable arayüzü (interface) ve compareTo() metodu kullanılır.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Rounded Rectangle 198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4" name="Rounded Rectangle 199"/>
          <p:cNvSpPr/>
          <p:nvPr/>
        </p:nvSpPr>
        <p:spPr>
          <a:xfrm>
            <a:off x="457200" y="2971800"/>
            <a:ext cx="3426840" cy="2859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Neden İhtiyacımız Var?:</a:t>
            </a: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 ogrenci1 &gt; ogrenci2 yazmak Java'da derleme hatası verir. Nesnelerin hangi özelliğe (yaş, fiyat vb.) göre kıyaslanacağını belirtmeliyiz.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compareTo()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Metodunun Çalışma Mantığı: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A.compareTo(B) &gt; 0 ➔ A, B'den büyüktür (Pozitif değer döner).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A.compareTo(B) &lt; 0 ➔ A, B'den küçüktür (Negatif değer döner).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A.compareTo(B) == 0 ➔ İki nesne kıyaslama kriterine göre eşittir (Sıfır döner).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Rounded Rectangle 200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6" name="Rounded Rectangle 201"/>
          <p:cNvSpPr/>
          <p:nvPr/>
        </p:nvSpPr>
        <p:spPr>
          <a:xfrm>
            <a:off x="4343400" y="2971800"/>
            <a:ext cx="3426480" cy="3060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[ Nesne Kıyaslama (compareTo) Mantığı 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İşlem: A.compareTo(B)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Dönüş Değeri Pozitif (&gt; 0)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A &gt; B (A nesnesi B'den büyüktür)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├──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Dönüş Değeri Negatif (&lt; 0)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 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A &lt; B (A nesnesi B'den küçüktür)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│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&gt; Dönüş Değeri Sıfır (== 0)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└──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Sonuç: A == B (İki nesne eşittir)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Rounded Rectangle 202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8" name="Rounded Rectangle 203"/>
          <p:cNvSpPr/>
          <p:nvPr/>
        </p:nvSpPr>
        <p:spPr>
          <a:xfrm>
            <a:off x="8263800" y="2514600"/>
            <a:ext cx="3638160" cy="38844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NesneKarsilastirma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1. Sayı Nesnelerini Kıyaslama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sayi1 = 15;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Integer sayi2 = 10;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sayi1 &gt; sayi2 olduğu için pozitif (1) döner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sayiSonuc = sayi1.compareTo(sayi2);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2. Metin Nesnelerini Kıyaslama (Alfabetik)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metin1 = "Ahmet";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metin2 = "Mehmet";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// "Ahmet" alfabetik olarak önce geldiği için negatif döner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int metinSonuc = metin1.compareTo(metin2);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System.out.println("Sayı Kıyas: " + sayiSonuc); // 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System.out.println("Metin Kıyas: " + metinSonuc); // Negatif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Box 8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Rectangle 449"/>
          <p:cNvSpPr/>
          <p:nvPr/>
        </p:nvSpPr>
        <p:spPr>
          <a:xfrm>
            <a:off x="0" y="0"/>
            <a:ext cx="12185280" cy="68544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1" name="Rectangle 450"/>
          <p:cNvSpPr/>
          <p:nvPr/>
        </p:nvSpPr>
        <p:spPr>
          <a:xfrm>
            <a:off x="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2" name="Rectangle 451"/>
          <p:cNvSpPr/>
          <p:nvPr/>
        </p:nvSpPr>
        <p:spPr>
          <a:xfrm>
            <a:off x="914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3" name="Rectangle 452"/>
          <p:cNvSpPr/>
          <p:nvPr/>
        </p:nvSpPr>
        <p:spPr>
          <a:xfrm>
            <a:off x="1828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4" name="Rectangle 453"/>
          <p:cNvSpPr/>
          <p:nvPr/>
        </p:nvSpPr>
        <p:spPr>
          <a:xfrm>
            <a:off x="2743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5" name="Rectangle 454"/>
          <p:cNvSpPr/>
          <p:nvPr/>
        </p:nvSpPr>
        <p:spPr>
          <a:xfrm>
            <a:off x="3657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6" name="Rectangle 455"/>
          <p:cNvSpPr/>
          <p:nvPr/>
        </p:nvSpPr>
        <p:spPr>
          <a:xfrm>
            <a:off x="4572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7" name="Rectangle 456"/>
          <p:cNvSpPr/>
          <p:nvPr/>
        </p:nvSpPr>
        <p:spPr>
          <a:xfrm>
            <a:off x="5486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8" name="Rectangle 457"/>
          <p:cNvSpPr/>
          <p:nvPr/>
        </p:nvSpPr>
        <p:spPr>
          <a:xfrm>
            <a:off x="6400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9" name="Rectangle 458"/>
          <p:cNvSpPr/>
          <p:nvPr/>
        </p:nvSpPr>
        <p:spPr>
          <a:xfrm>
            <a:off x="7315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0" name="Rectangle 459"/>
          <p:cNvSpPr/>
          <p:nvPr/>
        </p:nvSpPr>
        <p:spPr>
          <a:xfrm>
            <a:off x="82296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1" name="Rectangle 460"/>
          <p:cNvSpPr/>
          <p:nvPr/>
        </p:nvSpPr>
        <p:spPr>
          <a:xfrm>
            <a:off x="91440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2" name="Rectangle 461"/>
          <p:cNvSpPr/>
          <p:nvPr/>
        </p:nvSpPr>
        <p:spPr>
          <a:xfrm>
            <a:off x="100584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3" name="Rectangle 462"/>
          <p:cNvSpPr/>
          <p:nvPr/>
        </p:nvSpPr>
        <p:spPr>
          <a:xfrm>
            <a:off x="109728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4" name="Rectangle 463"/>
          <p:cNvSpPr/>
          <p:nvPr/>
        </p:nvSpPr>
        <p:spPr>
          <a:xfrm>
            <a:off x="11887200" y="0"/>
            <a:ext cx="14760" cy="68544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5" name="Rectangle 464"/>
          <p:cNvSpPr/>
          <p:nvPr/>
        </p:nvSpPr>
        <p:spPr>
          <a:xfrm>
            <a:off x="0" y="0"/>
            <a:ext cx="316440" cy="68544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26" name="Rounded Rectangle 204"/>
          <p:cNvSpPr/>
          <p:nvPr/>
        </p:nvSpPr>
        <p:spPr>
          <a:xfrm>
            <a:off x="9875520" y="365760"/>
            <a:ext cx="2008080" cy="4993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Box 88"/>
          <p:cNvSpPr/>
          <p:nvPr/>
        </p:nvSpPr>
        <p:spPr>
          <a:xfrm>
            <a:off x="692280" y="457200"/>
            <a:ext cx="8908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5f5f5"/>
                </a:solidFill>
                <a:latin typeface="Calibri"/>
                <a:ea typeface="DejaVu Sans"/>
              </a:rPr>
              <a:t>Nesneleri Kıyaslama: Esneklik Motoru (Comparator)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Box 89"/>
          <p:cNvSpPr/>
          <p:nvPr/>
        </p:nvSpPr>
        <p:spPr>
          <a:xfrm>
            <a:off x="702360" y="1143000"/>
            <a:ext cx="100666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Comparable sınıfın "doğal" sıralamasını belirlerken, Comparator dışarıdan müdahale ile çoklu ve esnek sıralama kuralları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(yaş, fiyat, isim vb.) oluşturmamızı sağlar.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Sınıf koduna dokunmadan sıralama mantığını değiştirmek için en güçlü araçtır.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Rounded Rectangle 205"/>
          <p:cNvSpPr/>
          <p:nvPr/>
        </p:nvSpPr>
        <p:spPr>
          <a:xfrm>
            <a:off x="98748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0" name="Rounded Rectangle 206"/>
          <p:cNvSpPr/>
          <p:nvPr/>
        </p:nvSpPr>
        <p:spPr>
          <a:xfrm>
            <a:off x="458640" y="2514600"/>
            <a:ext cx="3426840" cy="3428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Comparable vs Comparator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Comparable (Dahili):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Sınıfın içine gömülüdür. Tek bir "doğal" sıralama sunar (Örn: Öğrenci ID'ye göre sıralanır).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Comparator (Harici):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Dışarıdan atanan bir "hakem"dir. Aynı nesne için farklı kurallar (yaşa göre, isme göre) tanımlamanıza olanak tanır.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Rounded Rectangle 207"/>
          <p:cNvSpPr/>
          <p:nvPr/>
        </p:nvSpPr>
        <p:spPr>
          <a:xfrm>
            <a:off x="450792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2" name="Rounded Rectangle 208"/>
          <p:cNvSpPr/>
          <p:nvPr/>
        </p:nvSpPr>
        <p:spPr>
          <a:xfrm>
            <a:off x="4343400" y="2514600"/>
            <a:ext cx="3426480" cy="3407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[ Esneklik Motoru ]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Amaç: Listeyi farklı diz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Fiyata göre? ➔ PriceComp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İsme göre? ➔ NameComp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İş Akışı: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1. Comparator kuralını yaz.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2. Kuralı sort() içine ver.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Calibri"/>
                <a:ea typeface="DejaVu Sans"/>
              </a:rPr>
              <a:t>3. Java senin kuralına göre dizer.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Rounded Rectangle 209"/>
          <p:cNvSpPr/>
          <p:nvPr/>
        </p:nvSpPr>
        <p:spPr>
          <a:xfrm>
            <a:off x="8028360" y="3182040"/>
            <a:ext cx="3288240" cy="27396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4" name="Rounded Rectangle 210"/>
          <p:cNvSpPr/>
          <p:nvPr/>
        </p:nvSpPr>
        <p:spPr>
          <a:xfrm>
            <a:off x="8263800" y="2057400"/>
            <a:ext cx="3394080" cy="4114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import java.util.*;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EsnekSiralama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List&lt;String&gt; list =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Arrays.asList("Zebra", "Apple");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1. DOĞAL (Comparable)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Collections.sort(list);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// 2. ESNEK (Comparator)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Comparator&lt;String&gt; lenComp = (s1, s2) -&gt;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Integer.compare(s1.length(),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        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s2.length());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Collections.sort(list, lenComp);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Box 9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Rectangle 465"/>
          <p:cNvSpPr/>
          <p:nvPr/>
        </p:nvSpPr>
        <p:spPr>
          <a:xfrm>
            <a:off x="0" y="0"/>
            <a:ext cx="12184920" cy="68540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7" name="Rectangle 466"/>
          <p:cNvSpPr/>
          <p:nvPr/>
        </p:nvSpPr>
        <p:spPr>
          <a:xfrm>
            <a:off x="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8" name="Rectangle 467"/>
          <p:cNvSpPr/>
          <p:nvPr/>
        </p:nvSpPr>
        <p:spPr>
          <a:xfrm>
            <a:off x="914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9" name="Rectangle 468"/>
          <p:cNvSpPr/>
          <p:nvPr/>
        </p:nvSpPr>
        <p:spPr>
          <a:xfrm>
            <a:off x="1828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0" name="Rectangle 469"/>
          <p:cNvSpPr/>
          <p:nvPr/>
        </p:nvSpPr>
        <p:spPr>
          <a:xfrm>
            <a:off x="2743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1" name="Rectangle 470"/>
          <p:cNvSpPr/>
          <p:nvPr/>
        </p:nvSpPr>
        <p:spPr>
          <a:xfrm>
            <a:off x="36576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2" name="Rectangle 471"/>
          <p:cNvSpPr/>
          <p:nvPr/>
        </p:nvSpPr>
        <p:spPr>
          <a:xfrm>
            <a:off x="45720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3" name="Rectangle 472"/>
          <p:cNvSpPr/>
          <p:nvPr/>
        </p:nvSpPr>
        <p:spPr>
          <a:xfrm>
            <a:off x="5486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4" name="Rectangle 473"/>
          <p:cNvSpPr/>
          <p:nvPr/>
        </p:nvSpPr>
        <p:spPr>
          <a:xfrm>
            <a:off x="6400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5" name="Rectangle 474"/>
          <p:cNvSpPr/>
          <p:nvPr/>
        </p:nvSpPr>
        <p:spPr>
          <a:xfrm>
            <a:off x="7315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6" name="Rectangle 475"/>
          <p:cNvSpPr/>
          <p:nvPr/>
        </p:nvSpPr>
        <p:spPr>
          <a:xfrm>
            <a:off x="82296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7" name="Rectangle 476"/>
          <p:cNvSpPr/>
          <p:nvPr/>
        </p:nvSpPr>
        <p:spPr>
          <a:xfrm>
            <a:off x="91440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8" name="Rectangle 477"/>
          <p:cNvSpPr/>
          <p:nvPr/>
        </p:nvSpPr>
        <p:spPr>
          <a:xfrm>
            <a:off x="100584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9" name="Rectangle 478"/>
          <p:cNvSpPr/>
          <p:nvPr/>
        </p:nvSpPr>
        <p:spPr>
          <a:xfrm>
            <a:off x="109728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0" name="Rectangle 479"/>
          <p:cNvSpPr/>
          <p:nvPr/>
        </p:nvSpPr>
        <p:spPr>
          <a:xfrm>
            <a:off x="11887200" y="0"/>
            <a:ext cx="14400" cy="68540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1" name="Rectangle 480"/>
          <p:cNvSpPr/>
          <p:nvPr/>
        </p:nvSpPr>
        <p:spPr>
          <a:xfrm>
            <a:off x="0" y="0"/>
            <a:ext cx="316080" cy="68540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2" name="Rounded Rectangle 211"/>
          <p:cNvSpPr/>
          <p:nvPr/>
        </p:nvSpPr>
        <p:spPr>
          <a:xfrm>
            <a:off x="9875520" y="365760"/>
            <a:ext cx="2007720" cy="4989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TextBox 91"/>
          <p:cNvSpPr/>
          <p:nvPr/>
        </p:nvSpPr>
        <p:spPr>
          <a:xfrm>
            <a:off x="2580120" y="457200"/>
            <a:ext cx="5132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5f5f5"/>
                </a:solidFill>
                <a:latin typeface="Calibri"/>
                <a:ea typeface="DejaVu Sans"/>
              </a:rPr>
              <a:t>Karşılaştırma Stratejileri: Genel Özet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Box 92"/>
          <p:cNvSpPr/>
          <p:nvPr/>
        </p:nvSpPr>
        <p:spPr>
          <a:xfrm>
            <a:off x="1388520" y="1009080"/>
            <a:ext cx="87138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Java'da nesne karşılaştırmada uzmanlaşmak, işe en uygun aracı seçmek demektir.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Basit ilkel kontrollerden, doğal sıralamaya veya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dinamik özel sıralamalara kadar; doğru stratejiyi seçmek kodunuzun dayanıklılığını ve esnekliğini belirler.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Rounded Rectangle 212"/>
          <p:cNvSpPr/>
          <p:nvPr/>
        </p:nvSpPr>
        <p:spPr>
          <a:xfrm>
            <a:off x="98748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6" name="Rounded Rectangle 213"/>
          <p:cNvSpPr/>
          <p:nvPr/>
        </p:nvSpPr>
        <p:spPr>
          <a:xfrm>
            <a:off x="458640" y="2514600"/>
            <a:ext cx="3427200" cy="32000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KARŞILAŞTIRMA KOPYA KAĞIDI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İlkel Tipler: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&lt;, &gt;, == operatörlerini doğrudan kullanın. Hızlı, dahili ve güvenlidir.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String'ler: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Asla == kullanmayın. İçerik için her zaman .equals(), sıralama için compareTo() kullanın.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Comparable: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Kalıcı olarak sabitlenmiş "Doğal Sıralama" için kullanın (Örn: ID bazlı sıralama).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Comparator: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"Özel Sıralamalar" için kullanın (Örn: Bugün fiyata göre, yarın isme göre sırala).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Rounded Rectangle 214"/>
          <p:cNvSpPr/>
          <p:nvPr/>
        </p:nvSpPr>
        <p:spPr>
          <a:xfrm>
            <a:off x="448164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8" name="Rounded Rectangle 215"/>
          <p:cNvSpPr/>
          <p:nvPr/>
        </p:nvSpPr>
        <p:spPr>
          <a:xfrm>
            <a:off x="4343400" y="2514600"/>
            <a:ext cx="3426120" cy="3199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[ Karşılaştırma Karar Haritası ]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Hızlı bir mantıksal test mi lazım?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Operatörleri kullan (==, !=, &lt;, &gt;)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Listeyi doğal sırasına göre mi dizeceksin?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Comparable arayüzünü uygula.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Çoklu/dinamik sıralama mı lazım?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Comparator stratejisini kullan.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► </a:t>
            </a: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Metin içeriğini mi kıyaslayacaksın?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➔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Her zaman .equals() kullan.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Rounded Rectangle 216"/>
          <p:cNvSpPr/>
          <p:nvPr/>
        </p:nvSpPr>
        <p:spPr>
          <a:xfrm>
            <a:off x="8028360" y="3182040"/>
            <a:ext cx="3287880" cy="27392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0" name="Rounded Rectangle 217"/>
          <p:cNvSpPr/>
          <p:nvPr/>
        </p:nvSpPr>
        <p:spPr>
          <a:xfrm>
            <a:off x="8278200" y="1938240"/>
            <a:ext cx="3623400" cy="44625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SON GENEL BAKIŞ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FinalSummary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1. İlkel Tip: Hızlı &amp; Güvenli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int x = 5, y = 10;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if (x &lt; y) { /* Mantık */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2. String: İçerik Kontrolü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String s1 = "Hi";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if (s1.equals("Hi")) { /* Güvenli */ 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3. Sıralama Stratejisi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List&lt;Integer&gt; list = Arrays.asList(3, 1, 2);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Doğal (Comparable)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Collections.sort(list);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// Özel (Comparator)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Collections.sort(list, 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(a, b) -&gt; b.compareTo(a)); // Tersten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Box 9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2026-06-26T02:59:29Z</dcterms:modified>
  <cp:revision>52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