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D501AC8-F0C7-426A-BC82-1B7CEE34297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B5C8884-4517-4D7C-BC37-EC4BD763006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7893C4F-7527-438B-A89D-BE88FF108E3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C82584C-CCE5-4BD5-9B8A-2E94320F530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980779F-209D-426A-86EC-E1B17B49635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D4E52D8-3E31-42F6-A457-C2B6E1169AA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CF8296D-6F64-4691-8F49-FB2DA47012C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EE77366-B237-46CE-A3F0-B18B59F02A3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7306A68-C337-4762-9BC9-227976A2C55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ADE71A5-9267-4546-ADC3-2B24ADA1FA0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465A077-8F2A-415E-8E88-7FEED32ECB72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6D55C9E-3394-4E7F-B87E-BD94E5A1C968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188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EA52EAA-71F7-4D1A-8927-F09FBCE2D41D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1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" name="Rectangle 2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" name="Rectangle 3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" name="Rectangle 4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" name="Rectangle 5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" name="Rectangle 6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" name="Rectangle 7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" name="Rectangle 8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" name="Rectangle 9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" name="Rectangle 10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" name="Rectangle 11"/>
          <p:cNvSpPr/>
          <p:nvPr/>
        </p:nvSpPr>
        <p:spPr>
          <a:xfrm>
            <a:off x="8229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" name="Rectangle 12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" name="Rectangle 13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" name="Rectangle 14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" name="Rectangle 15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" name="Rectangle 16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" name="Rounded Rectangle 17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TextBox 18"/>
          <p:cNvSpPr/>
          <p:nvPr/>
        </p:nvSpPr>
        <p:spPr>
          <a:xfrm>
            <a:off x="3817800" y="1005840"/>
            <a:ext cx="33343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Introduction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Box 19"/>
          <p:cNvSpPr/>
          <p:nvPr/>
        </p:nvSpPr>
        <p:spPr>
          <a:xfrm>
            <a:off x="1233720" y="2057400"/>
            <a:ext cx="90950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An overview of the Java programming language and the topics covered in this presentation.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Rounded Rectangle 20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" name="Rounded Rectangle 21"/>
          <p:cNvSpPr/>
          <p:nvPr/>
        </p:nvSpPr>
        <p:spPr>
          <a:xfrm>
            <a:off x="91440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Introduce the Java programming language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Explain core concepts and fundamentals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Build a strong foundation for Java development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Rounded Rectangle 22"/>
          <p:cNvSpPr/>
          <p:nvPr/>
        </p:nvSpPr>
        <p:spPr>
          <a:xfrm>
            <a:off x="450792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" name="Rounded Rectangle 23"/>
          <p:cNvSpPr/>
          <p:nvPr/>
        </p:nvSpPr>
        <p:spPr>
          <a:xfrm>
            <a:off x="443484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Introduction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What is Java?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What Will You Learn?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History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Rounded Rectangle 24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" name="Rounded Rectangle 25"/>
          <p:cNvSpPr/>
          <p:nvPr/>
        </p:nvSpPr>
        <p:spPr>
          <a:xfrm>
            <a:off x="795528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Introduction for Java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32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" name="Rectangle 33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" name="Rectangle 34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" name="Rectangle 35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" name="Rectangle 36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" name="Rectangle 37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" name="Rectangle 38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" name="Rectangle 39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" name="Rectangle 40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" name="Rectangle 41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" name="Rectangle 42"/>
          <p:cNvSpPr/>
          <p:nvPr/>
        </p:nvSpPr>
        <p:spPr>
          <a:xfrm>
            <a:off x="8229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" name="Rectangle 43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" name="Rectangle 44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" name="Rectangle 45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" name="Rectangle 46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" name="Rectangle 47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ounded Rectangle 8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TextBox 4"/>
          <p:cNvSpPr/>
          <p:nvPr/>
        </p:nvSpPr>
        <p:spPr>
          <a:xfrm>
            <a:off x="3690720" y="1005840"/>
            <a:ext cx="35902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What is Java?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Box 5"/>
          <p:cNvSpPr/>
          <p:nvPr/>
        </p:nvSpPr>
        <p:spPr>
          <a:xfrm>
            <a:off x="2825640" y="2057400"/>
            <a:ext cx="590976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is a high-level, object-oriented programming language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designed to be platform-independent and reliable.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Rounded Rectangle 9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ounded Rectangle 10"/>
          <p:cNvSpPr/>
          <p:nvPr/>
        </p:nvSpPr>
        <p:spPr>
          <a:xfrm>
            <a:off x="91440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High-level programming language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Object-oriented (OOP) approach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Platform-independent using JVM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Secure and robust by design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Widely used in enterprise and web applications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Rounded Rectangle 11"/>
          <p:cNvSpPr/>
          <p:nvPr/>
        </p:nvSpPr>
        <p:spPr>
          <a:xfrm>
            <a:off x="450792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ounded Rectangle 12"/>
          <p:cNvSpPr/>
          <p:nvPr/>
        </p:nvSpPr>
        <p:spPr>
          <a:xfrm>
            <a:off x="443484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Compiler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Virtual Machine (JVM)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Operating System</a:t>
            </a:r>
            <a:br>
              <a:rPr sz="1500"/>
            </a:br>
            <a:br>
              <a:rPr sz="1500"/>
            </a:b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Write Once, Run Anywhere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Rounded Rectangle 13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ounded Rectangle 14"/>
          <p:cNvSpPr/>
          <p:nvPr/>
        </p:nvSpPr>
        <p:spPr>
          <a:xfrm>
            <a:off x="795528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System.out.println("Hello, Java!");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Rectangle 17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Rectangle 18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Rectangle 19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" name="Rectangle 20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" name="Rectangle 21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" name="Rectangle 22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" name="Rectangle 23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" name="Rectangle 24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" name="Rectangle 25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" name="Rectangle 26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" name="Rectangle 27"/>
          <p:cNvSpPr/>
          <p:nvPr/>
        </p:nvSpPr>
        <p:spPr>
          <a:xfrm>
            <a:off x="8229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" name="Rectangle 28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" name="Rectangle 29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" name="Rectangle 30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" name="Rectangle 31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" name="Rectangle 48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Rounded Rectangle 15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Box 7"/>
          <p:cNvSpPr/>
          <p:nvPr/>
        </p:nvSpPr>
        <p:spPr>
          <a:xfrm>
            <a:off x="2688840" y="1005840"/>
            <a:ext cx="55944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What Will You Learn?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Box 8"/>
          <p:cNvSpPr/>
          <p:nvPr/>
        </p:nvSpPr>
        <p:spPr>
          <a:xfrm>
            <a:off x="2429280" y="2057400"/>
            <a:ext cx="67039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An overview of the key topics and skills covered in this Java course.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Rounded Rectangle 16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Rounded Rectangle 18"/>
          <p:cNvSpPr/>
          <p:nvPr/>
        </p:nvSpPr>
        <p:spPr>
          <a:xfrm>
            <a:off x="91440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Understand Java fundamentals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Learn object-oriented programming concepts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Write and run Java programs  • Build a strong programming foundation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Rounded Rectangle 19"/>
          <p:cNvSpPr/>
          <p:nvPr/>
        </p:nvSpPr>
        <p:spPr>
          <a:xfrm>
            <a:off x="450792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Rounded Rectangle 26"/>
          <p:cNvSpPr/>
          <p:nvPr/>
        </p:nvSpPr>
        <p:spPr>
          <a:xfrm>
            <a:off x="443484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Syntax &amp; Basics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Variables &amp; Data Types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Control Flow (if / loops)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Methods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Object-Oriented Programming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Rounded Rectangle 27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Rounded Rectangle 28"/>
          <p:cNvSpPr/>
          <p:nvPr/>
        </p:nvSpPr>
        <p:spPr>
          <a:xfrm>
            <a:off x="795528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if (number &gt; 0)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System.out.println("Positive");}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for (int i = 0; i &lt; 3; i++)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System.out.println(i);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Rectangle 49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" name="Rectangle 50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" name="Rectangle 51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" name="Rectangle 52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" name="Rectangle 53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" name="Rectangle 54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" name="Rectangle 55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" name="Rectangle 56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" name="Rectangle 57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" name="Rectangle 58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" name="Rectangle 59"/>
          <p:cNvSpPr/>
          <p:nvPr/>
        </p:nvSpPr>
        <p:spPr>
          <a:xfrm>
            <a:off x="8229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" name="Rectangle 60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" name="Rectangle 61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ectangle 62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" name="Rectangle 63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" name="Rectangle 64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Rounded Rectangle 29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Box 10"/>
          <p:cNvSpPr/>
          <p:nvPr/>
        </p:nvSpPr>
        <p:spPr>
          <a:xfrm>
            <a:off x="3885120" y="1005840"/>
            <a:ext cx="32004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History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Box 11"/>
          <p:cNvSpPr/>
          <p:nvPr/>
        </p:nvSpPr>
        <p:spPr>
          <a:xfrm>
            <a:off x="1299960" y="2057400"/>
            <a:ext cx="89625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How Java was born and why it became one of the most powerful programming languages.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Rounded Rectangle 30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" name="Rounded Rectangle 31"/>
          <p:cNvSpPr/>
          <p:nvPr/>
        </p:nvSpPr>
        <p:spPr>
          <a:xfrm>
            <a:off x="91440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 Beginning (1990)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was created at Sun Microsystems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Developed by James Gosling and his team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Originally called Oak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Initial goal: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Software for consumer electronics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TVs, set-top boxes, embedded systems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Key problem: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hardware, different software ❌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We needed one language that could run everywhere.”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Rounded Rectangle 32"/>
          <p:cNvSpPr/>
          <p:nvPr/>
        </p:nvSpPr>
        <p:spPr>
          <a:xfrm>
            <a:off x="450792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" name="Rounded Rectangle 33"/>
          <p:cNvSpPr/>
          <p:nvPr/>
        </p:nvSpPr>
        <p:spPr>
          <a:xfrm>
            <a:off x="443484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Write Once, Run Anywhere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Compiled to Bytecode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Runs on JVM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Works on every OS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Released in 1995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Built for the Internet era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Rounded Rectangle 34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ounded Rectangle 35"/>
          <p:cNvSpPr/>
          <p:nvPr/>
        </p:nvSpPr>
        <p:spPr>
          <a:xfrm>
            <a:off x="795528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History Begins!");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year = 1995;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if (year &gt;= 1995)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is born");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Rectangle 65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" name="Rectangle 66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" name="Rectangle 67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" name="Rectangle 68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" name="Rectangle 69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" name="Rectangle 70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" name="Rectangle 71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2" name="Rectangle 72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" name="Rectangle 73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" name="Rectangle 74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" name="Rectangle 75"/>
          <p:cNvSpPr/>
          <p:nvPr/>
        </p:nvSpPr>
        <p:spPr>
          <a:xfrm>
            <a:off x="8229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" name="Rectangle 76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7" name="Rectangle 77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" name="Rectangle 78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9" name="Rectangle 79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0" name="Rectangle 80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" name="Rounded Rectangle 36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TextBox 13"/>
          <p:cNvSpPr/>
          <p:nvPr/>
        </p:nvSpPr>
        <p:spPr>
          <a:xfrm>
            <a:off x="2074320" y="1005840"/>
            <a:ext cx="68227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   </a:t>
            </a: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The Problem Before Java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Box 14"/>
          <p:cNvSpPr/>
          <p:nvPr/>
        </p:nvSpPr>
        <p:spPr>
          <a:xfrm>
            <a:off x="3061800" y="2057400"/>
            <a:ext cx="543888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Why the world needed a new programming language.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Rounded Rectangle 37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5" name="Rounded Rectangle 38"/>
          <p:cNvSpPr/>
          <p:nvPr/>
        </p:nvSpPr>
        <p:spPr>
          <a:xfrm>
            <a:off x="618120" y="2971800"/>
            <a:ext cx="3657600" cy="2876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Software Chaos (Early 1990s)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situation: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computers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processors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operating systems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Result: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Programs worked on one machine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Failed on another ❌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Big issue: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Developers had to rewrite the same software again and again.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Write once” did NOT exist yet.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Rounded Rectangle 39"/>
          <p:cNvSpPr/>
          <p:nvPr/>
        </p:nvSpPr>
        <p:spPr>
          <a:xfrm>
            <a:off x="450792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7" name="Rounded Rectangle 40"/>
          <p:cNvSpPr/>
          <p:nvPr/>
        </p:nvSpPr>
        <p:spPr>
          <a:xfrm>
            <a:off x="443484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Why Existing Languages Failed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 / C++ → Hardware dependent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Platform-specific binaries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Memory management issues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Security problems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Main pain: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One system = one build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i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No universal solution.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Rounded Rectangle 41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ounded Rectangle 42"/>
          <p:cNvSpPr/>
          <p:nvPr/>
        </p:nvSpPr>
        <p:spPr>
          <a:xfrm>
            <a:off x="795528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// Before Java philosophy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// Code depended on hardware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device = 1991;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if (device != 1995)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System.out.println("Rewrite the software!");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Rectangle 81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2" name="Rectangle 82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3" name="Rectangle 83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4" name="Rectangle 84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5" name="Rectangle 85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6" name="Rectangle 86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7" name="Rectangle 87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8" name="Rectangle 88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9" name="Rectangle 89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0" name="Rectangle 90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1" name="Rectangle 91"/>
          <p:cNvSpPr/>
          <p:nvPr/>
        </p:nvSpPr>
        <p:spPr>
          <a:xfrm>
            <a:off x="8229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2" name="Rectangle 92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3" name="Rectangle 93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Rectangle 94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5" name="Rectangle 95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6" name="Rectangle 96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7" name="Rounded Rectangle 43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TextBox 16"/>
          <p:cNvSpPr/>
          <p:nvPr/>
        </p:nvSpPr>
        <p:spPr>
          <a:xfrm>
            <a:off x="1117800" y="1005840"/>
            <a:ext cx="87429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       </a:t>
            </a: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History – The Oak Project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Box 17"/>
          <p:cNvSpPr/>
          <p:nvPr/>
        </p:nvSpPr>
        <p:spPr>
          <a:xfrm>
            <a:off x="4195440" y="2057400"/>
            <a:ext cx="31712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The idea that later became Java.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Rounded Rectangle 44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1" name="Rounded Rectangle 45"/>
          <p:cNvSpPr/>
          <p:nvPr/>
        </p:nvSpPr>
        <p:spPr>
          <a:xfrm>
            <a:off x="91440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Project Oak (1991)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Sun Microsystems internal project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Led by James Gosling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Small, focused team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Original name: Oak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Purpose: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Software for smart devices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(TVs, set-top boxes, embedded systems)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Rounded Rectangle 46"/>
          <p:cNvSpPr/>
          <p:nvPr/>
        </p:nvSpPr>
        <p:spPr>
          <a:xfrm>
            <a:off x="450792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3" name="Rounded Rectangle 48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4" name="Rounded Rectangle 49"/>
          <p:cNvSpPr/>
          <p:nvPr/>
        </p:nvSpPr>
        <p:spPr>
          <a:xfrm>
            <a:off x="795528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ppublic class OakIdea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runEverywhere = true;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if (runEverywhere)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System.out.println("This idea will change software");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Rounded Rectangle 1"/>
          <p:cNvSpPr/>
          <p:nvPr/>
        </p:nvSpPr>
        <p:spPr>
          <a:xfrm>
            <a:off x="4484160" y="313200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The Core Idea Behind Oak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Simple syntax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Strong security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No direct hardware dependency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Automatic memory management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Revolutionary thought: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One language for many devices.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The same code should run everywhere.”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87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2025-12-25T01:08:07Z</dcterms:modified>
  <cp:revision>24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