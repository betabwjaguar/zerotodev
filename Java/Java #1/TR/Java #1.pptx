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0077450" cy="75628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87150F-7EDC-4B00-97D7-30D6FCC34F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DE4193-C0DE-4BD2-B49F-71A451ACC0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A7C406-51B1-49DA-81BB-10592F838E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4AFEC-2A7E-4427-945F-9708CD98A0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3B9199-A5F6-4D8B-91DF-6677B4997D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8180D5-E6E8-4FB1-8D20-83C981ECA7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C145E1-01C2-45AA-A6DA-6113461E0E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2787EF-0F5A-4180-86F1-CB2089202D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14F1C6-39DF-47A3-896E-7C2F590EC2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846201-FAD7-4DE7-8416-784F2AD4E5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96F77B-3DDD-4598-880B-5C8153EC0E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93525A-0F41-4199-AFE0-B6DF22CEAC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154CAE-7B4A-448A-84F6-6CAA4AB69D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9E38D73-957B-49EB-948D-210DAFECE9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7345D35-C3DD-4846-B7D0-70B387837A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7F7F6B-A062-4629-8039-EB75BA8A7B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8CD7F7E-0C35-48A0-811D-590B993F00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ED6BA6-F96C-4859-BC15-DC20695B45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377C16-FCC7-4D3D-A924-4ACA1A87D9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A57019-6D0B-4526-8C86-BA4AC80CDB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97CCF1-76EA-4024-8D54-E8C04AE5F8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26DC8E-DAB3-468A-8B53-A5DC5E9B0E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CABA38-4E04-45C4-9404-37C7BF3CCD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EB55CD-F31D-415E-936D-6779C0F02E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B44EC26-C7D9-494A-B20B-AB139743A1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CD469C8-E8BB-423A-9E42-F009775395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EDF1FCF-5361-46FA-A8A0-376F1465C0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0438F9-AB57-4764-A1B1-967373D9D2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E4BDC5-4BA8-419F-B24A-BEEA1B5BE6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6310411-A55A-4699-BB9D-84408CC29E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84B94F6-3AAD-4E6D-9080-F236366DB3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5BA5FA-FCD8-43E8-BA0A-2C16CBB36B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5AD354F-524B-4930-B75A-C1F2C6461C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C6A5FE2-6EDA-47B0-BF2D-7B6EA53707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A2FBE2E-4A8F-4734-92B4-CBAE112078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D66E30A-0711-4CCB-90DE-0ED90855C41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354D528-9DBC-47CC-8DC7-84506B02F3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2DF7A22-D61D-49AD-BC67-6DB88344D6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FB94CD3-AB12-4B9A-955F-FAA26ABF94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785D208-5565-449E-B215-30BE7BFD9E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6D8423A-6DB1-40EA-8B51-D56F085985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ABD3EAD-33BE-4618-82B7-8F6D6136F6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9232BFB-4950-4C1C-8A52-FE4B75F80D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97675F3-C7F7-4E19-8B5B-958D907FF5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0F0C54D-9E0B-4EB3-9C95-274F178BB2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C1B7F57-0776-46A7-A1D1-A8B91E1886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E17C6B0-1215-4288-B7D0-E97D65F577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9F76A74-13DC-45CC-90E3-6305959A42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0880" y="7007400"/>
            <a:ext cx="3182400" cy="39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0160" y="7007400"/>
            <a:ext cx="2342880" cy="39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F45A8E-2C47-4F57-BF67-77AE0364884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2560" y="7007400"/>
            <a:ext cx="2342880" cy="39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3640" y="30168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912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2320" y="7005240"/>
            <a:ext cx="3184560" cy="39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3040" y="7005240"/>
            <a:ext cx="2345040" cy="39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D81916-B394-432F-903F-9919AB30377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2920" y="7005240"/>
            <a:ext cx="2345040" cy="39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3640" y="30168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912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442320" y="7005240"/>
            <a:ext cx="3185280" cy="3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7223040" y="7005240"/>
            <a:ext cx="2345760" cy="3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F82322-5BF2-4397-9E3C-BB197B1653A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02920" y="7005240"/>
            <a:ext cx="2345760" cy="3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503640" y="301680"/>
            <a:ext cx="90691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912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3442320" y="7005240"/>
            <a:ext cx="3185640" cy="39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7223040" y="7005240"/>
            <a:ext cx="2346120" cy="39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15CB81-95EA-422A-A9A1-03A924928F6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502920" y="7005240"/>
            <a:ext cx="2346120" cy="39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1800" y="1800"/>
            <a:ext cx="13422960" cy="75542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ectangle 2"/>
          <p:cNvSpPr/>
          <p:nvPr/>
        </p:nvSpPr>
        <p:spPr>
          <a:xfrm>
            <a:off x="18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100476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7" name="Rectangle 4"/>
          <p:cNvSpPr/>
          <p:nvPr/>
        </p:nvSpPr>
        <p:spPr>
          <a:xfrm>
            <a:off x="20124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30200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ectangle 6"/>
          <p:cNvSpPr/>
          <p:nvPr/>
        </p:nvSpPr>
        <p:spPr>
          <a:xfrm>
            <a:off x="40276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0" name="Rectangle 7"/>
          <p:cNvSpPr/>
          <p:nvPr/>
        </p:nvSpPr>
        <p:spPr>
          <a:xfrm>
            <a:off x="503532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1" name="Rectangle 8"/>
          <p:cNvSpPr/>
          <p:nvPr/>
        </p:nvSpPr>
        <p:spPr>
          <a:xfrm>
            <a:off x="604296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2" name="Rectangle 9"/>
          <p:cNvSpPr/>
          <p:nvPr/>
        </p:nvSpPr>
        <p:spPr>
          <a:xfrm>
            <a:off x="70506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3" name="Rectangle 10"/>
          <p:cNvSpPr/>
          <p:nvPr/>
        </p:nvSpPr>
        <p:spPr>
          <a:xfrm>
            <a:off x="80582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4" name="Rectangle 11"/>
          <p:cNvSpPr/>
          <p:nvPr/>
        </p:nvSpPr>
        <p:spPr>
          <a:xfrm>
            <a:off x="90658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5" name="Rectangle 12"/>
          <p:cNvSpPr/>
          <p:nvPr/>
        </p:nvSpPr>
        <p:spPr>
          <a:xfrm>
            <a:off x="1007352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6" name="Rectangle 13"/>
          <p:cNvSpPr/>
          <p:nvPr/>
        </p:nvSpPr>
        <p:spPr>
          <a:xfrm>
            <a:off x="110808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7" name="Rectangle 14"/>
          <p:cNvSpPr/>
          <p:nvPr/>
        </p:nvSpPr>
        <p:spPr>
          <a:xfrm>
            <a:off x="120884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8" name="Rectangle 15"/>
          <p:cNvSpPr/>
          <p:nvPr/>
        </p:nvSpPr>
        <p:spPr>
          <a:xfrm>
            <a:off x="130960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9" name="Rectangle 16"/>
          <p:cNvSpPr/>
          <p:nvPr/>
        </p:nvSpPr>
        <p:spPr>
          <a:xfrm>
            <a:off x="1800" y="1800"/>
            <a:ext cx="344520" cy="75542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ounded Rectangle 17"/>
          <p:cNvSpPr/>
          <p:nvPr/>
        </p:nvSpPr>
        <p:spPr>
          <a:xfrm>
            <a:off x="10880640" y="401400"/>
            <a:ext cx="2208240" cy="545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5377320" y="1107360"/>
            <a:ext cx="1327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Giriş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2608920" y="2266920"/>
            <a:ext cx="75193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Bu sunumda Java programlama dili ve ele alınacak konuların genel bir özeti.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20"/>
          <p:cNvSpPr/>
          <p:nvPr/>
        </p:nvSpPr>
        <p:spPr>
          <a:xfrm>
            <a:off x="108612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ounded Rectangle 21"/>
          <p:cNvSpPr/>
          <p:nvPr/>
        </p:nvSpPr>
        <p:spPr>
          <a:xfrm>
            <a:off x="1019520" y="342684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programlama dilini tanıtmak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Temel kavramları ve temel prensipleri açıklamak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geliştirme için sağlam bir temel oluşturmak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ounded Rectangle 22"/>
          <p:cNvSpPr/>
          <p:nvPr/>
        </p:nvSpPr>
        <p:spPr>
          <a:xfrm>
            <a:off x="496620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6" name="Rounded Rectangle 23"/>
          <p:cNvSpPr/>
          <p:nvPr/>
        </p:nvSpPr>
        <p:spPr>
          <a:xfrm>
            <a:off x="4884480" y="342684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Giriş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nedir?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Ne öğreneceksiniz?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Java’nın Tarihi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ounded Rectangle 24"/>
          <p:cNvSpPr/>
          <p:nvPr/>
        </p:nvSpPr>
        <p:spPr>
          <a:xfrm>
            <a:off x="884556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8" name="Rounded Rectangle 25"/>
          <p:cNvSpPr/>
          <p:nvPr/>
        </p:nvSpPr>
        <p:spPr>
          <a:xfrm>
            <a:off x="8763840" y="342684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600" spc="-1" strike="noStrike">
                <a:solidFill>
                  <a:srgbClr val="78ffc8"/>
                </a:solidFill>
                <a:latin typeface="Consolas"/>
                <a:ea typeface="DejaVu Sans"/>
              </a:rPr>
              <a:t>Java’ya Giriş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Box 26"/>
          <p:cNvSpPr/>
          <p:nvPr/>
        </p:nvSpPr>
        <p:spPr>
          <a:xfrm>
            <a:off x="5221800" y="710676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32"/>
          <p:cNvSpPr/>
          <p:nvPr/>
        </p:nvSpPr>
        <p:spPr>
          <a:xfrm>
            <a:off x="1800" y="1800"/>
            <a:ext cx="13422960" cy="75542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1" name="Rectangle 33"/>
          <p:cNvSpPr/>
          <p:nvPr/>
        </p:nvSpPr>
        <p:spPr>
          <a:xfrm>
            <a:off x="18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2" name="Rectangle 34"/>
          <p:cNvSpPr/>
          <p:nvPr/>
        </p:nvSpPr>
        <p:spPr>
          <a:xfrm>
            <a:off x="100476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Rectangle 35"/>
          <p:cNvSpPr/>
          <p:nvPr/>
        </p:nvSpPr>
        <p:spPr>
          <a:xfrm>
            <a:off x="20124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4" name="Rectangle 36"/>
          <p:cNvSpPr/>
          <p:nvPr/>
        </p:nvSpPr>
        <p:spPr>
          <a:xfrm>
            <a:off x="30200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5" name="Rectangle 37"/>
          <p:cNvSpPr/>
          <p:nvPr/>
        </p:nvSpPr>
        <p:spPr>
          <a:xfrm>
            <a:off x="40276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6" name="Rectangle 38"/>
          <p:cNvSpPr/>
          <p:nvPr/>
        </p:nvSpPr>
        <p:spPr>
          <a:xfrm>
            <a:off x="503532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7" name="Rectangle 39"/>
          <p:cNvSpPr/>
          <p:nvPr/>
        </p:nvSpPr>
        <p:spPr>
          <a:xfrm>
            <a:off x="604296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8" name="Rectangle 40"/>
          <p:cNvSpPr/>
          <p:nvPr/>
        </p:nvSpPr>
        <p:spPr>
          <a:xfrm>
            <a:off x="70506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9" name="Rectangle 41"/>
          <p:cNvSpPr/>
          <p:nvPr/>
        </p:nvSpPr>
        <p:spPr>
          <a:xfrm>
            <a:off x="80582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0" name="Rectangle 42"/>
          <p:cNvSpPr/>
          <p:nvPr/>
        </p:nvSpPr>
        <p:spPr>
          <a:xfrm>
            <a:off x="90658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1" name="Rectangle 43"/>
          <p:cNvSpPr/>
          <p:nvPr/>
        </p:nvSpPr>
        <p:spPr>
          <a:xfrm>
            <a:off x="1007352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2" name="Rectangle 44"/>
          <p:cNvSpPr/>
          <p:nvPr/>
        </p:nvSpPr>
        <p:spPr>
          <a:xfrm>
            <a:off x="110808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Rectangle 45"/>
          <p:cNvSpPr/>
          <p:nvPr/>
        </p:nvSpPr>
        <p:spPr>
          <a:xfrm>
            <a:off x="120884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4" name="Rectangle 46"/>
          <p:cNvSpPr/>
          <p:nvPr/>
        </p:nvSpPr>
        <p:spPr>
          <a:xfrm>
            <a:off x="130960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5" name="Rectangle 47"/>
          <p:cNvSpPr/>
          <p:nvPr/>
        </p:nvSpPr>
        <p:spPr>
          <a:xfrm>
            <a:off x="1800" y="1800"/>
            <a:ext cx="344520" cy="75542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6" name="Rounded Rectangle 8"/>
          <p:cNvSpPr/>
          <p:nvPr/>
        </p:nvSpPr>
        <p:spPr>
          <a:xfrm>
            <a:off x="10880640" y="401400"/>
            <a:ext cx="2208240" cy="545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4506120" y="1107360"/>
            <a:ext cx="30722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Nedir?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3046320" y="2266920"/>
            <a:ext cx="664128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Java, platformdan bağımsız ve güvenilir olacak şekilde tasarlanmış,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yüksek seviyeli, nesne yönelimli bir programlama dilidir.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ounded Rectangle 9"/>
          <p:cNvSpPr/>
          <p:nvPr/>
        </p:nvSpPr>
        <p:spPr>
          <a:xfrm>
            <a:off x="108612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0" name="Rounded Rectangle 10"/>
          <p:cNvSpPr/>
          <p:nvPr/>
        </p:nvSpPr>
        <p:spPr>
          <a:xfrm>
            <a:off x="1005840" y="3426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Yüksek seviyeli programlama dili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Nesne yönelimli (OOP) yaklaşım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JVM sayesinde platformdan bağımsız çalışma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Tasarım gereği güvenli ve sağlam yapı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Kurumsal ve web uygulamalarında yaygın kullanım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ounded Rectangle 11"/>
          <p:cNvSpPr/>
          <p:nvPr/>
        </p:nvSpPr>
        <p:spPr>
          <a:xfrm>
            <a:off x="496620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2" name="Rounded Rectangle 12"/>
          <p:cNvSpPr/>
          <p:nvPr/>
        </p:nvSpPr>
        <p:spPr>
          <a:xfrm>
            <a:off x="4884480" y="3426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Java Nasıl Çalışır?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Java Kaynak Kodu (.java)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Java Derleyicisi (Compiler)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Bytecode (.class)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Java Sanal Makinesi (JVM)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İşletim Sistemi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Bir kez yaz, her yerde çalıştır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(Write Once, Run Anywhere)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Rounded Rectangle 13"/>
          <p:cNvSpPr/>
          <p:nvPr/>
        </p:nvSpPr>
        <p:spPr>
          <a:xfrm>
            <a:off x="884556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4" name="Rounded Rectangle 14"/>
          <p:cNvSpPr/>
          <p:nvPr/>
        </p:nvSpPr>
        <p:spPr>
          <a:xfrm>
            <a:off x="8763840" y="342684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System.out.println("Merhaba, Java!");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5221800" y="710676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7"/>
          <p:cNvSpPr/>
          <p:nvPr/>
        </p:nvSpPr>
        <p:spPr>
          <a:xfrm>
            <a:off x="1800" y="1800"/>
            <a:ext cx="13422960" cy="75542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7" name="Rectangle 18"/>
          <p:cNvSpPr/>
          <p:nvPr/>
        </p:nvSpPr>
        <p:spPr>
          <a:xfrm>
            <a:off x="18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8" name="Rectangle 19"/>
          <p:cNvSpPr/>
          <p:nvPr/>
        </p:nvSpPr>
        <p:spPr>
          <a:xfrm>
            <a:off x="100476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9" name="Rectangle 20"/>
          <p:cNvSpPr/>
          <p:nvPr/>
        </p:nvSpPr>
        <p:spPr>
          <a:xfrm>
            <a:off x="20124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0" name="Rectangle 21"/>
          <p:cNvSpPr/>
          <p:nvPr/>
        </p:nvSpPr>
        <p:spPr>
          <a:xfrm>
            <a:off x="30200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1" name="Rectangle 22"/>
          <p:cNvSpPr/>
          <p:nvPr/>
        </p:nvSpPr>
        <p:spPr>
          <a:xfrm>
            <a:off x="40276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2" name="Rectangle 23"/>
          <p:cNvSpPr/>
          <p:nvPr/>
        </p:nvSpPr>
        <p:spPr>
          <a:xfrm>
            <a:off x="503532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3" name="Rectangle 24"/>
          <p:cNvSpPr/>
          <p:nvPr/>
        </p:nvSpPr>
        <p:spPr>
          <a:xfrm>
            <a:off x="604296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4" name="Rectangle 25"/>
          <p:cNvSpPr/>
          <p:nvPr/>
        </p:nvSpPr>
        <p:spPr>
          <a:xfrm>
            <a:off x="70506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5" name="Rectangle 26"/>
          <p:cNvSpPr/>
          <p:nvPr/>
        </p:nvSpPr>
        <p:spPr>
          <a:xfrm>
            <a:off x="80582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27"/>
          <p:cNvSpPr/>
          <p:nvPr/>
        </p:nvSpPr>
        <p:spPr>
          <a:xfrm>
            <a:off x="90658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Rectangle 28"/>
          <p:cNvSpPr/>
          <p:nvPr/>
        </p:nvSpPr>
        <p:spPr>
          <a:xfrm>
            <a:off x="1007352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8" name="Rectangle 29"/>
          <p:cNvSpPr/>
          <p:nvPr/>
        </p:nvSpPr>
        <p:spPr>
          <a:xfrm>
            <a:off x="110808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9" name="Rectangle 30"/>
          <p:cNvSpPr/>
          <p:nvPr/>
        </p:nvSpPr>
        <p:spPr>
          <a:xfrm>
            <a:off x="120884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0" name="Rectangle 31"/>
          <p:cNvSpPr/>
          <p:nvPr/>
        </p:nvSpPr>
        <p:spPr>
          <a:xfrm>
            <a:off x="130960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Rectangle 48"/>
          <p:cNvSpPr/>
          <p:nvPr/>
        </p:nvSpPr>
        <p:spPr>
          <a:xfrm>
            <a:off x="1800" y="1800"/>
            <a:ext cx="344520" cy="75542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2" name="Rounded Rectangle 15"/>
          <p:cNvSpPr/>
          <p:nvPr/>
        </p:nvSpPr>
        <p:spPr>
          <a:xfrm>
            <a:off x="10880640" y="401400"/>
            <a:ext cx="2208240" cy="545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Box 7"/>
          <p:cNvSpPr/>
          <p:nvPr/>
        </p:nvSpPr>
        <p:spPr>
          <a:xfrm>
            <a:off x="3482280" y="1107360"/>
            <a:ext cx="51202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Ne Öğreneceksiniz?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8"/>
          <p:cNvSpPr/>
          <p:nvPr/>
        </p:nvSpPr>
        <p:spPr>
          <a:xfrm>
            <a:off x="2704320" y="2266920"/>
            <a:ext cx="7325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Bu Java kursunda ele alınan temel konuların ve becerilerin genel bir özeti.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16"/>
          <p:cNvSpPr/>
          <p:nvPr/>
        </p:nvSpPr>
        <p:spPr>
          <a:xfrm>
            <a:off x="108612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6" name="Rounded Rectangle 18"/>
          <p:cNvSpPr/>
          <p:nvPr/>
        </p:nvSpPr>
        <p:spPr>
          <a:xfrm>
            <a:off x="1005840" y="342684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Java’nın temel kavramlarını anlama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Nesne yönelimli programlama (OOP) kavramlarını öğrenme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programları yazma ve çalıştırma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Sağlam bir programlama temeli oluşturma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19"/>
          <p:cNvSpPr/>
          <p:nvPr/>
        </p:nvSpPr>
        <p:spPr>
          <a:xfrm>
            <a:off x="496620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Rounded Rectangle 26"/>
          <p:cNvSpPr/>
          <p:nvPr/>
        </p:nvSpPr>
        <p:spPr>
          <a:xfrm>
            <a:off x="4884480" y="342540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 Sözdizimi ve Temelleri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Değişkenler ve Veri Tipleri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Kontrol Yapıları (if / döngüler)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Metotlar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Nesne Yönelimli Programlama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Rounded Rectangle 27"/>
          <p:cNvSpPr/>
          <p:nvPr/>
        </p:nvSpPr>
        <p:spPr>
          <a:xfrm>
            <a:off x="884556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0" name="Rounded Rectangle 28"/>
          <p:cNvSpPr/>
          <p:nvPr/>
        </p:nvSpPr>
        <p:spPr>
          <a:xfrm>
            <a:off x="8763840" y="3426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int number = 10;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if (number &gt; 0)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System.out.println("Pozitif");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for (int i = 0; i &lt; 3; i++)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System.out.println(i);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9"/>
          <p:cNvSpPr/>
          <p:nvPr/>
        </p:nvSpPr>
        <p:spPr>
          <a:xfrm>
            <a:off x="5221800" y="710676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49"/>
          <p:cNvSpPr/>
          <p:nvPr/>
        </p:nvSpPr>
        <p:spPr>
          <a:xfrm>
            <a:off x="1800" y="1800"/>
            <a:ext cx="13422960" cy="75542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3" name="Rectangle 50"/>
          <p:cNvSpPr/>
          <p:nvPr/>
        </p:nvSpPr>
        <p:spPr>
          <a:xfrm>
            <a:off x="18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4" name="Rectangle 51"/>
          <p:cNvSpPr/>
          <p:nvPr/>
        </p:nvSpPr>
        <p:spPr>
          <a:xfrm>
            <a:off x="100476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5" name="Rectangle 52"/>
          <p:cNvSpPr/>
          <p:nvPr/>
        </p:nvSpPr>
        <p:spPr>
          <a:xfrm>
            <a:off x="20124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6" name="Rectangle 53"/>
          <p:cNvSpPr/>
          <p:nvPr/>
        </p:nvSpPr>
        <p:spPr>
          <a:xfrm>
            <a:off x="30200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7" name="Rectangle 54"/>
          <p:cNvSpPr/>
          <p:nvPr/>
        </p:nvSpPr>
        <p:spPr>
          <a:xfrm>
            <a:off x="40276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8" name="Rectangle 55"/>
          <p:cNvSpPr/>
          <p:nvPr/>
        </p:nvSpPr>
        <p:spPr>
          <a:xfrm>
            <a:off x="503532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9" name="Rectangle 56"/>
          <p:cNvSpPr/>
          <p:nvPr/>
        </p:nvSpPr>
        <p:spPr>
          <a:xfrm>
            <a:off x="604296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0" name="Rectangle 57"/>
          <p:cNvSpPr/>
          <p:nvPr/>
        </p:nvSpPr>
        <p:spPr>
          <a:xfrm>
            <a:off x="70506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1" name="Rectangle 58"/>
          <p:cNvSpPr/>
          <p:nvPr/>
        </p:nvSpPr>
        <p:spPr>
          <a:xfrm>
            <a:off x="80582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2" name="Rectangle 59"/>
          <p:cNvSpPr/>
          <p:nvPr/>
        </p:nvSpPr>
        <p:spPr>
          <a:xfrm>
            <a:off x="90658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3" name="Rectangle 60"/>
          <p:cNvSpPr/>
          <p:nvPr/>
        </p:nvSpPr>
        <p:spPr>
          <a:xfrm>
            <a:off x="1007352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4" name="Rectangle 61"/>
          <p:cNvSpPr/>
          <p:nvPr/>
        </p:nvSpPr>
        <p:spPr>
          <a:xfrm>
            <a:off x="1108080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5" name="Rectangle 62"/>
          <p:cNvSpPr/>
          <p:nvPr/>
        </p:nvSpPr>
        <p:spPr>
          <a:xfrm>
            <a:off x="1208844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6" name="Rectangle 63"/>
          <p:cNvSpPr/>
          <p:nvPr/>
        </p:nvSpPr>
        <p:spPr>
          <a:xfrm>
            <a:off x="13096080" y="1800"/>
            <a:ext cx="12600" cy="7554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7" name="Rectangle 64"/>
          <p:cNvSpPr/>
          <p:nvPr/>
        </p:nvSpPr>
        <p:spPr>
          <a:xfrm>
            <a:off x="1800" y="1800"/>
            <a:ext cx="344520" cy="75542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8" name="Rounded Rectangle 29"/>
          <p:cNvSpPr/>
          <p:nvPr/>
        </p:nvSpPr>
        <p:spPr>
          <a:xfrm>
            <a:off x="10880640" y="401400"/>
            <a:ext cx="2208240" cy="545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Box 10"/>
          <p:cNvSpPr/>
          <p:nvPr/>
        </p:nvSpPr>
        <p:spPr>
          <a:xfrm>
            <a:off x="4171320" y="1107360"/>
            <a:ext cx="37396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Java’nın Tarihi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11"/>
          <p:cNvSpPr/>
          <p:nvPr/>
        </p:nvSpPr>
        <p:spPr>
          <a:xfrm>
            <a:off x="1949760" y="2266920"/>
            <a:ext cx="8837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Java’nın nasıl ortaya çıktığı ve neden en güçlü programlama dillerinden biri haline geldiği.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ounded Rectangle 30"/>
          <p:cNvSpPr/>
          <p:nvPr/>
        </p:nvSpPr>
        <p:spPr>
          <a:xfrm>
            <a:off x="108612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2" name="Rounded Rectangle 31"/>
          <p:cNvSpPr/>
          <p:nvPr/>
        </p:nvSpPr>
        <p:spPr>
          <a:xfrm>
            <a:off x="1005840" y="3426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Başlangıç (1990)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Java, Sun Microsystems’te geliştirildi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James Gosling ve ekibi tarafından oluşturuldu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İlk adı Oak idi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Başlangıçtaki amaç: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Tüketici elektroniği için yazılım geliştirmek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Televizyonlar, set-top box’lar, gömülü sistemler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Temel sorun: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Farklı donanımlar, farklı yazılımlar ❌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“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Her yerde çalışabilecek tek bir dile ihtiyacımız vardı.”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Rounded Rectangle 32"/>
          <p:cNvSpPr/>
          <p:nvPr/>
        </p:nvSpPr>
        <p:spPr>
          <a:xfrm>
            <a:off x="496620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4" name="Rounded Rectangle 33"/>
          <p:cNvSpPr/>
          <p:nvPr/>
        </p:nvSpPr>
        <p:spPr>
          <a:xfrm>
            <a:off x="4884480" y="3426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Bir Kez Yaz, Her Yerde Çalıştır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(Write Once, Run Anywhere)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Java kaynak kodu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Bytecode’a derlenir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JVM üzerinde çalışır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Her işletim sisteminde çalışır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1995’te yayımlandı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İnternet çağı için geliştirildi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Rounded Rectangle 34"/>
          <p:cNvSpPr/>
          <p:nvPr/>
        </p:nvSpPr>
        <p:spPr>
          <a:xfrm>
            <a:off x="8845560" y="3507120"/>
            <a:ext cx="361908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6" name="Rounded Rectangle 35"/>
          <p:cNvSpPr/>
          <p:nvPr/>
        </p:nvSpPr>
        <p:spPr>
          <a:xfrm>
            <a:off x="8763840" y="3426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Tarihi Başlıyor!");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int year = 1995;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if (year &gt;= 1995)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doğdu");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Box 12"/>
          <p:cNvSpPr/>
          <p:nvPr/>
        </p:nvSpPr>
        <p:spPr>
          <a:xfrm>
            <a:off x="5221800" y="710676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65"/>
          <p:cNvSpPr/>
          <p:nvPr/>
        </p:nvSpPr>
        <p:spPr>
          <a:xfrm>
            <a:off x="1800" y="1800"/>
            <a:ext cx="13423320" cy="7554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9" name="Rectangle 66"/>
          <p:cNvSpPr/>
          <p:nvPr/>
        </p:nvSpPr>
        <p:spPr>
          <a:xfrm>
            <a:off x="180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0" name="Rectangle 67"/>
          <p:cNvSpPr/>
          <p:nvPr/>
        </p:nvSpPr>
        <p:spPr>
          <a:xfrm>
            <a:off x="100476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Rectangle 68"/>
          <p:cNvSpPr/>
          <p:nvPr/>
        </p:nvSpPr>
        <p:spPr>
          <a:xfrm>
            <a:off x="201240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2" name="Rectangle 69"/>
          <p:cNvSpPr/>
          <p:nvPr/>
        </p:nvSpPr>
        <p:spPr>
          <a:xfrm>
            <a:off x="302004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3" name="Rectangle 70"/>
          <p:cNvSpPr/>
          <p:nvPr/>
        </p:nvSpPr>
        <p:spPr>
          <a:xfrm>
            <a:off x="402768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4" name="Rectangle 71"/>
          <p:cNvSpPr/>
          <p:nvPr/>
        </p:nvSpPr>
        <p:spPr>
          <a:xfrm>
            <a:off x="503532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5" name="Rectangle 72"/>
          <p:cNvSpPr/>
          <p:nvPr/>
        </p:nvSpPr>
        <p:spPr>
          <a:xfrm>
            <a:off x="604296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6" name="Rectangle 73"/>
          <p:cNvSpPr/>
          <p:nvPr/>
        </p:nvSpPr>
        <p:spPr>
          <a:xfrm>
            <a:off x="705060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7" name="Rectangle 74"/>
          <p:cNvSpPr/>
          <p:nvPr/>
        </p:nvSpPr>
        <p:spPr>
          <a:xfrm>
            <a:off x="805824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8" name="Rectangle 75"/>
          <p:cNvSpPr/>
          <p:nvPr/>
        </p:nvSpPr>
        <p:spPr>
          <a:xfrm>
            <a:off x="906588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9" name="Rectangle 76"/>
          <p:cNvSpPr/>
          <p:nvPr/>
        </p:nvSpPr>
        <p:spPr>
          <a:xfrm>
            <a:off x="1007352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0" name="Rectangle 77"/>
          <p:cNvSpPr/>
          <p:nvPr/>
        </p:nvSpPr>
        <p:spPr>
          <a:xfrm>
            <a:off x="1108080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1" name="Rectangle 78"/>
          <p:cNvSpPr/>
          <p:nvPr/>
        </p:nvSpPr>
        <p:spPr>
          <a:xfrm>
            <a:off x="1208844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2" name="Rectangle 79"/>
          <p:cNvSpPr/>
          <p:nvPr/>
        </p:nvSpPr>
        <p:spPr>
          <a:xfrm>
            <a:off x="1309608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3" name="Rectangle 80"/>
          <p:cNvSpPr/>
          <p:nvPr/>
        </p:nvSpPr>
        <p:spPr>
          <a:xfrm>
            <a:off x="1800" y="1800"/>
            <a:ext cx="344880" cy="7554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4" name="Rounded Rectangle 36"/>
          <p:cNvSpPr/>
          <p:nvPr/>
        </p:nvSpPr>
        <p:spPr>
          <a:xfrm>
            <a:off x="10880640" y="401400"/>
            <a:ext cx="2208600" cy="5457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Box 13"/>
          <p:cNvSpPr/>
          <p:nvPr/>
        </p:nvSpPr>
        <p:spPr>
          <a:xfrm>
            <a:off x="2801160" y="1107360"/>
            <a:ext cx="64828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Java’dan Önceki Problem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14"/>
          <p:cNvSpPr/>
          <p:nvPr/>
        </p:nvSpPr>
        <p:spPr>
          <a:xfrm>
            <a:off x="2820600" y="2266920"/>
            <a:ext cx="70941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Dünyanın neden yeni bir programlama diline ihtiyaç duyduğunu anlatır.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ounded Rectangle 37"/>
          <p:cNvSpPr/>
          <p:nvPr/>
        </p:nvSpPr>
        <p:spPr>
          <a:xfrm>
            <a:off x="1086120" y="3507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8" name="Rounded Rectangle 38"/>
          <p:cNvSpPr/>
          <p:nvPr/>
        </p:nvSpPr>
        <p:spPr>
          <a:xfrm>
            <a:off x="679320" y="3274920"/>
            <a:ext cx="4026960" cy="3167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Yazılım Kaosu (1990’ların başı)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Durum: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Farklı bilgisayarlar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Farklı işlemciler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Farklı işletim sistemleri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Sonuç: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Programs worked on one machine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Başka bir makinede çalışmıyordu 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Büyük sorun: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Geliştiriciler aynı yazılımı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tekrar tekrar baştan yazmak zorundaydı.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“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Bir kez yaz, her yerde çalıştır” henüz yoktu.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39"/>
          <p:cNvSpPr/>
          <p:nvPr/>
        </p:nvSpPr>
        <p:spPr>
          <a:xfrm>
            <a:off x="4966200" y="3507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0" name="Rounded Rectangle 40"/>
          <p:cNvSpPr/>
          <p:nvPr/>
        </p:nvSpPr>
        <p:spPr>
          <a:xfrm>
            <a:off x="4884480" y="342684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Mevcut Diller Neden Başarısız Oldu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C / C++ → Donanıma bağımlı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Platforma özel derlenmiş dosyalar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Bellek yönetimi problemleri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Güvenlik sorunları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Ana sıkıntı: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Bir sistem = bir derleme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Evrensel bir çözüm yoktu.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Rounded Rectangle 41"/>
          <p:cNvSpPr/>
          <p:nvPr/>
        </p:nvSpPr>
        <p:spPr>
          <a:xfrm>
            <a:off x="8845560" y="3507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2" name="Rounded Rectangle 42"/>
          <p:cNvSpPr/>
          <p:nvPr/>
        </p:nvSpPr>
        <p:spPr>
          <a:xfrm>
            <a:off x="8763840" y="342612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// Kod donanıma bağımlıydı</a:t>
            </a:r>
            <a:br>
              <a:rPr sz="1400"/>
            </a:b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// Java’dan Önceki Felsefe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int device = 1991;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if (device != 1995)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System.out.println("Yazılımı yeniden yaz!");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15"/>
          <p:cNvSpPr/>
          <p:nvPr/>
        </p:nvSpPr>
        <p:spPr>
          <a:xfrm>
            <a:off x="5221800" y="710676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81"/>
          <p:cNvSpPr/>
          <p:nvPr/>
        </p:nvSpPr>
        <p:spPr>
          <a:xfrm>
            <a:off x="1800" y="1800"/>
            <a:ext cx="13423320" cy="7554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5" name="Rectangle 82"/>
          <p:cNvSpPr/>
          <p:nvPr/>
        </p:nvSpPr>
        <p:spPr>
          <a:xfrm>
            <a:off x="180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6" name="Rectangle 83"/>
          <p:cNvSpPr/>
          <p:nvPr/>
        </p:nvSpPr>
        <p:spPr>
          <a:xfrm>
            <a:off x="100476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7" name="Rectangle 84"/>
          <p:cNvSpPr/>
          <p:nvPr/>
        </p:nvSpPr>
        <p:spPr>
          <a:xfrm>
            <a:off x="201240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8" name="Rectangle 85"/>
          <p:cNvSpPr/>
          <p:nvPr/>
        </p:nvSpPr>
        <p:spPr>
          <a:xfrm>
            <a:off x="302004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9" name="Rectangle 86"/>
          <p:cNvSpPr/>
          <p:nvPr/>
        </p:nvSpPr>
        <p:spPr>
          <a:xfrm>
            <a:off x="402768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0" name="Rectangle 87"/>
          <p:cNvSpPr/>
          <p:nvPr/>
        </p:nvSpPr>
        <p:spPr>
          <a:xfrm>
            <a:off x="503532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1" name="Rectangle 88"/>
          <p:cNvSpPr/>
          <p:nvPr/>
        </p:nvSpPr>
        <p:spPr>
          <a:xfrm>
            <a:off x="604296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Rectangle 89"/>
          <p:cNvSpPr/>
          <p:nvPr/>
        </p:nvSpPr>
        <p:spPr>
          <a:xfrm>
            <a:off x="705060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3" name="Rectangle 90"/>
          <p:cNvSpPr/>
          <p:nvPr/>
        </p:nvSpPr>
        <p:spPr>
          <a:xfrm>
            <a:off x="805824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4" name="Rectangle 91"/>
          <p:cNvSpPr/>
          <p:nvPr/>
        </p:nvSpPr>
        <p:spPr>
          <a:xfrm>
            <a:off x="906588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92"/>
          <p:cNvSpPr/>
          <p:nvPr/>
        </p:nvSpPr>
        <p:spPr>
          <a:xfrm>
            <a:off x="1007352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Rectangle 93"/>
          <p:cNvSpPr/>
          <p:nvPr/>
        </p:nvSpPr>
        <p:spPr>
          <a:xfrm>
            <a:off x="1108080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7" name="Rectangle 94"/>
          <p:cNvSpPr/>
          <p:nvPr/>
        </p:nvSpPr>
        <p:spPr>
          <a:xfrm>
            <a:off x="1208844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8" name="Rectangle 95"/>
          <p:cNvSpPr/>
          <p:nvPr/>
        </p:nvSpPr>
        <p:spPr>
          <a:xfrm>
            <a:off x="13096080" y="1800"/>
            <a:ext cx="12960" cy="7554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9" name="Rectangle 96"/>
          <p:cNvSpPr/>
          <p:nvPr/>
        </p:nvSpPr>
        <p:spPr>
          <a:xfrm>
            <a:off x="1800" y="1800"/>
            <a:ext cx="344880" cy="7554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Rounded Rectangle 1"/>
          <p:cNvSpPr/>
          <p:nvPr/>
        </p:nvSpPr>
        <p:spPr>
          <a:xfrm>
            <a:off x="10880640" y="401400"/>
            <a:ext cx="2208600" cy="5457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Box 16"/>
          <p:cNvSpPr/>
          <p:nvPr/>
        </p:nvSpPr>
        <p:spPr>
          <a:xfrm>
            <a:off x="2592360" y="1107360"/>
            <a:ext cx="69112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     </a:t>
            </a: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Tarihi – Oak Projesi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7"/>
          <p:cNvSpPr/>
          <p:nvPr/>
        </p:nvSpPr>
        <p:spPr>
          <a:xfrm>
            <a:off x="4428720" y="2266920"/>
            <a:ext cx="387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Daha sonra Java’ya dönüşecek olan fikir.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ounded Rectangle 43"/>
          <p:cNvSpPr/>
          <p:nvPr/>
        </p:nvSpPr>
        <p:spPr>
          <a:xfrm>
            <a:off x="1086120" y="3507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4" name="Rounded Rectangle 44"/>
          <p:cNvSpPr/>
          <p:nvPr/>
        </p:nvSpPr>
        <p:spPr>
          <a:xfrm>
            <a:off x="1005840" y="342540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Oak Projesi (1991)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Sun Microsystems’in dahili projesi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James Gosling liderliğinde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Küçük ve odaklanmış bir ekip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İlk adı: Oak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Amaç: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Akıllı cihazlar için yazılım geliştirmek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Televizyonlar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Set-top box’lar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Gömülü sistemler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Rounded Rectangle 45"/>
          <p:cNvSpPr/>
          <p:nvPr/>
        </p:nvSpPr>
        <p:spPr>
          <a:xfrm>
            <a:off x="4966200" y="3507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6" name="Rounded Rectangle 46"/>
          <p:cNvSpPr/>
          <p:nvPr/>
        </p:nvSpPr>
        <p:spPr>
          <a:xfrm>
            <a:off x="8845560" y="3507120"/>
            <a:ext cx="3619440" cy="30171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7" name="Rounded Rectangle 47"/>
          <p:cNvSpPr/>
          <p:nvPr/>
        </p:nvSpPr>
        <p:spPr>
          <a:xfrm>
            <a:off x="8763840" y="342684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OakIdea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runEverywhere = true;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if (runEverywhere)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System.out.println("Bu fikir yazılımı değiştirecek");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20"/>
          <p:cNvSpPr/>
          <p:nvPr/>
        </p:nvSpPr>
        <p:spPr>
          <a:xfrm>
            <a:off x="5221800" y="710676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ounded Rectangle 48"/>
          <p:cNvSpPr/>
          <p:nvPr/>
        </p:nvSpPr>
        <p:spPr>
          <a:xfrm>
            <a:off x="4938840" y="345096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Oak’ın Arkasındaki Temel Fikir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Basit sözdizimi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Güçlü güvenlik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Donanıma doğrudan bağımlılık yok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Otomatik bellek yönetimi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Devrimsel düşünce: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Birçok cihaz için tek bir dil.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“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Aynı kod her yerde çalışmalı.”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97"/>
          <p:cNvSpPr/>
          <p:nvPr/>
        </p:nvSpPr>
        <p:spPr>
          <a:xfrm>
            <a:off x="1800" y="1800"/>
            <a:ext cx="13423680" cy="75549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1" name="Rectangle 98"/>
          <p:cNvSpPr/>
          <p:nvPr/>
        </p:nvSpPr>
        <p:spPr>
          <a:xfrm>
            <a:off x="180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2" name="Rectangle 99"/>
          <p:cNvSpPr/>
          <p:nvPr/>
        </p:nvSpPr>
        <p:spPr>
          <a:xfrm>
            <a:off x="100476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3" name="Rectangle 100"/>
          <p:cNvSpPr/>
          <p:nvPr/>
        </p:nvSpPr>
        <p:spPr>
          <a:xfrm>
            <a:off x="201240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4" name="Rectangle 101"/>
          <p:cNvSpPr/>
          <p:nvPr/>
        </p:nvSpPr>
        <p:spPr>
          <a:xfrm>
            <a:off x="302004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5" name="Rectangle 102"/>
          <p:cNvSpPr/>
          <p:nvPr/>
        </p:nvSpPr>
        <p:spPr>
          <a:xfrm>
            <a:off x="402768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6" name="Rectangle 103"/>
          <p:cNvSpPr/>
          <p:nvPr/>
        </p:nvSpPr>
        <p:spPr>
          <a:xfrm>
            <a:off x="503532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7" name="Rectangle 104"/>
          <p:cNvSpPr/>
          <p:nvPr/>
        </p:nvSpPr>
        <p:spPr>
          <a:xfrm>
            <a:off x="604296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8" name="Rectangle 105"/>
          <p:cNvSpPr/>
          <p:nvPr/>
        </p:nvSpPr>
        <p:spPr>
          <a:xfrm>
            <a:off x="705060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9" name="Rectangle 106"/>
          <p:cNvSpPr/>
          <p:nvPr/>
        </p:nvSpPr>
        <p:spPr>
          <a:xfrm>
            <a:off x="805824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0" name="Rectangle 107"/>
          <p:cNvSpPr/>
          <p:nvPr/>
        </p:nvSpPr>
        <p:spPr>
          <a:xfrm>
            <a:off x="906588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1" name="Rectangle 108"/>
          <p:cNvSpPr/>
          <p:nvPr/>
        </p:nvSpPr>
        <p:spPr>
          <a:xfrm>
            <a:off x="1007352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2" name="Rectangle 109"/>
          <p:cNvSpPr/>
          <p:nvPr/>
        </p:nvSpPr>
        <p:spPr>
          <a:xfrm>
            <a:off x="1108080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3" name="Rectangle 110"/>
          <p:cNvSpPr/>
          <p:nvPr/>
        </p:nvSpPr>
        <p:spPr>
          <a:xfrm>
            <a:off x="1208844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4" name="Rectangle 111"/>
          <p:cNvSpPr/>
          <p:nvPr/>
        </p:nvSpPr>
        <p:spPr>
          <a:xfrm>
            <a:off x="1309608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5" name="Rectangle 112"/>
          <p:cNvSpPr/>
          <p:nvPr/>
        </p:nvSpPr>
        <p:spPr>
          <a:xfrm>
            <a:off x="1800" y="1800"/>
            <a:ext cx="345240" cy="75549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ounded Rectangle 49"/>
          <p:cNvSpPr/>
          <p:nvPr/>
        </p:nvSpPr>
        <p:spPr>
          <a:xfrm>
            <a:off x="10880640" y="401400"/>
            <a:ext cx="2208960" cy="5461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Box 21"/>
          <p:cNvSpPr/>
          <p:nvPr/>
        </p:nvSpPr>
        <p:spPr>
          <a:xfrm>
            <a:off x="2608920" y="1107720"/>
            <a:ext cx="68821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Tarihi – Oak'tan Java'ya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22"/>
          <p:cNvSpPr/>
          <p:nvPr/>
        </p:nvSpPr>
        <p:spPr>
          <a:xfrm>
            <a:off x="3687120" y="2266920"/>
            <a:ext cx="535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Oak nasıl Java’ya dönüştü ve gerçek amacını nasıl buldu.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Rounded Rectangle 50"/>
          <p:cNvSpPr/>
          <p:nvPr/>
        </p:nvSpPr>
        <p:spPr>
          <a:xfrm>
            <a:off x="1086120" y="350712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Rounded Rectangle 51"/>
          <p:cNvSpPr/>
          <p:nvPr/>
        </p:nvSpPr>
        <p:spPr>
          <a:xfrm>
            <a:off x="1005840" y="3426120"/>
            <a:ext cx="362016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Dönüm Noktası (1994)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Ne ters gitti?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Akıllı TV pazarı başarısız oldu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Oak’ın ticari bir geleceği yoktu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Proje neredeyse iptal ediliyordu ❌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Ama bir şey değişti…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İnternet büyümeye başladı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Web tarayıcıları popülerleşti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Taşınabilir ve güvenli koda ihtiyaç doğdu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Kritik farkındalık: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“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Gelecek televizyonlar değil — Web’tir.”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ounded Rectangle 52"/>
          <p:cNvSpPr/>
          <p:nvPr/>
        </p:nvSpPr>
        <p:spPr>
          <a:xfrm>
            <a:off x="4966200" y="350712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Rounded Rectangle 53"/>
          <p:cNvSpPr/>
          <p:nvPr/>
        </p:nvSpPr>
        <p:spPr>
          <a:xfrm>
            <a:off x="8845560" y="350712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3" name="Rounded Rectangle 54"/>
          <p:cNvSpPr/>
          <p:nvPr/>
        </p:nvSpPr>
        <p:spPr>
          <a:xfrm>
            <a:off x="8763840" y="3426120"/>
            <a:ext cx="362016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WebFuture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internetEra = true;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if (internetEra)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"Java Web için hazır!"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Box 23"/>
          <p:cNvSpPr/>
          <p:nvPr/>
        </p:nvSpPr>
        <p:spPr>
          <a:xfrm>
            <a:off x="5221800" y="710676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ounded Rectangle 55"/>
          <p:cNvSpPr/>
          <p:nvPr/>
        </p:nvSpPr>
        <p:spPr>
          <a:xfrm>
            <a:off x="4938840" y="3450600"/>
            <a:ext cx="362016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Web Fırsatı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Oak neden İnternet için mükemmeldi?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Platformdan bağımsız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Tasarım gereği güvenli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Küçük ve verimli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Doğrudan donanım bağımlılığı yok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Yeni yön: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Cihazlardan → tarayıcılara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Oak’tan → Java’ya ☕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1995: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Java, dünyaya resmen tanıtıldı.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13"/>
          <p:cNvSpPr/>
          <p:nvPr/>
        </p:nvSpPr>
        <p:spPr>
          <a:xfrm>
            <a:off x="1800" y="1800"/>
            <a:ext cx="13423680" cy="75549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7" name="Rectangle 114"/>
          <p:cNvSpPr/>
          <p:nvPr/>
        </p:nvSpPr>
        <p:spPr>
          <a:xfrm>
            <a:off x="180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Rectangle 115"/>
          <p:cNvSpPr/>
          <p:nvPr/>
        </p:nvSpPr>
        <p:spPr>
          <a:xfrm>
            <a:off x="100476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9" name="Rectangle 116"/>
          <p:cNvSpPr/>
          <p:nvPr/>
        </p:nvSpPr>
        <p:spPr>
          <a:xfrm>
            <a:off x="201240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Rectangle 117"/>
          <p:cNvSpPr/>
          <p:nvPr/>
        </p:nvSpPr>
        <p:spPr>
          <a:xfrm>
            <a:off x="302004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1" name="Rectangle 118"/>
          <p:cNvSpPr/>
          <p:nvPr/>
        </p:nvSpPr>
        <p:spPr>
          <a:xfrm>
            <a:off x="402768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2" name="Rectangle 119"/>
          <p:cNvSpPr/>
          <p:nvPr/>
        </p:nvSpPr>
        <p:spPr>
          <a:xfrm>
            <a:off x="503532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3" name="Rectangle 120"/>
          <p:cNvSpPr/>
          <p:nvPr/>
        </p:nvSpPr>
        <p:spPr>
          <a:xfrm>
            <a:off x="604296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Rectangle 121"/>
          <p:cNvSpPr/>
          <p:nvPr/>
        </p:nvSpPr>
        <p:spPr>
          <a:xfrm>
            <a:off x="705060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5" name="Rectangle 122"/>
          <p:cNvSpPr/>
          <p:nvPr/>
        </p:nvSpPr>
        <p:spPr>
          <a:xfrm>
            <a:off x="805824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6" name="Rectangle 123"/>
          <p:cNvSpPr/>
          <p:nvPr/>
        </p:nvSpPr>
        <p:spPr>
          <a:xfrm>
            <a:off x="906588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7" name="Rectangle 124"/>
          <p:cNvSpPr/>
          <p:nvPr/>
        </p:nvSpPr>
        <p:spPr>
          <a:xfrm>
            <a:off x="1007352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8" name="Rectangle 125"/>
          <p:cNvSpPr/>
          <p:nvPr/>
        </p:nvSpPr>
        <p:spPr>
          <a:xfrm>
            <a:off x="1108080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9" name="Rectangle 126"/>
          <p:cNvSpPr/>
          <p:nvPr/>
        </p:nvSpPr>
        <p:spPr>
          <a:xfrm>
            <a:off x="1208844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0" name="Rectangle 127"/>
          <p:cNvSpPr/>
          <p:nvPr/>
        </p:nvSpPr>
        <p:spPr>
          <a:xfrm>
            <a:off x="13096080" y="1800"/>
            <a:ext cx="13320" cy="75549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1" name="Rectangle 128"/>
          <p:cNvSpPr/>
          <p:nvPr/>
        </p:nvSpPr>
        <p:spPr>
          <a:xfrm>
            <a:off x="1800" y="1800"/>
            <a:ext cx="345240" cy="75549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2" name="Rounded Rectangle 56"/>
          <p:cNvSpPr/>
          <p:nvPr/>
        </p:nvSpPr>
        <p:spPr>
          <a:xfrm>
            <a:off x="10880640" y="401400"/>
            <a:ext cx="2208960" cy="5461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Box 24"/>
          <p:cNvSpPr/>
          <p:nvPr/>
        </p:nvSpPr>
        <p:spPr>
          <a:xfrm>
            <a:off x="562680" y="1107720"/>
            <a:ext cx="109800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Felsefesi – Bir Kez Yaz, Her Yerde Çalıştır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25"/>
          <p:cNvSpPr/>
          <p:nvPr/>
        </p:nvSpPr>
        <p:spPr>
          <a:xfrm>
            <a:off x="4013640" y="2266920"/>
            <a:ext cx="4708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Yazılım geliştirmeyi sonsuza kadar değiştiren fikir.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ounded Rectangle 57"/>
          <p:cNvSpPr/>
          <p:nvPr/>
        </p:nvSpPr>
        <p:spPr>
          <a:xfrm>
            <a:off x="1086120" y="350712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6" name="Rounded Rectangle 58"/>
          <p:cNvSpPr/>
          <p:nvPr/>
        </p:nvSpPr>
        <p:spPr>
          <a:xfrm>
            <a:off x="1005840" y="3426120"/>
            <a:ext cx="362016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Büyük Vaat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Java’dan önce: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 işletim sistemi = 1 derleme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Her sistem için yeniden derleme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Yüksek bakım maliyeti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ile: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Tek kaynak kod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Tek kez derlenen bytecode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Her yerde çalışır 🌍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Ünlü slogan: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Bir Kez Yaz, Her Yerde Çalıştır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Rounded Rectangle 59"/>
          <p:cNvSpPr/>
          <p:nvPr/>
        </p:nvSpPr>
        <p:spPr>
          <a:xfrm>
            <a:off x="4966200" y="350712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ounded Rectangle 60"/>
          <p:cNvSpPr/>
          <p:nvPr/>
        </p:nvSpPr>
        <p:spPr>
          <a:xfrm>
            <a:off x="8845560" y="3507120"/>
            <a:ext cx="361980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Rounded Rectangle 61"/>
          <p:cNvSpPr/>
          <p:nvPr/>
        </p:nvSpPr>
        <p:spPr>
          <a:xfrm>
            <a:off x="8763840" y="3426120"/>
            <a:ext cx="362016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Anywhere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os =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System.getProperty("os.name");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"Çalıştığı sistem: " + 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"Aynı kod. Aynı sonuç."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27"/>
          <p:cNvSpPr/>
          <p:nvPr/>
        </p:nvSpPr>
        <p:spPr>
          <a:xfrm>
            <a:off x="5221800" y="710676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Rounded Rectangle 62"/>
          <p:cNvSpPr/>
          <p:nvPr/>
        </p:nvSpPr>
        <p:spPr>
          <a:xfrm>
            <a:off x="4938840" y="3452040"/>
            <a:ext cx="362016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Nasıl Çalışır? (Basit Anlatım)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çalışma modeli: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Kaynak Kodu (.java)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Derleyicisi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JVM (her işletim sistemi için)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Her platformda çalışır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 129"/>
          <p:cNvSpPr/>
          <p:nvPr/>
        </p:nvSpPr>
        <p:spPr>
          <a:xfrm>
            <a:off x="16920" y="1800"/>
            <a:ext cx="13429440" cy="75528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3" name="Rectangle 130"/>
          <p:cNvSpPr/>
          <p:nvPr/>
        </p:nvSpPr>
        <p:spPr>
          <a:xfrm>
            <a:off x="144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4" name="Rectangle 131"/>
          <p:cNvSpPr/>
          <p:nvPr/>
        </p:nvSpPr>
        <p:spPr>
          <a:xfrm>
            <a:off x="1005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5" name="Rectangle 132"/>
          <p:cNvSpPr/>
          <p:nvPr/>
        </p:nvSpPr>
        <p:spPr>
          <a:xfrm>
            <a:off x="2013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6" name="Rectangle 133"/>
          <p:cNvSpPr/>
          <p:nvPr/>
        </p:nvSpPr>
        <p:spPr>
          <a:xfrm>
            <a:off x="3021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7" name="Rectangle 134"/>
          <p:cNvSpPr/>
          <p:nvPr/>
        </p:nvSpPr>
        <p:spPr>
          <a:xfrm>
            <a:off x="4029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8" name="Rectangle 135"/>
          <p:cNvSpPr/>
          <p:nvPr/>
        </p:nvSpPr>
        <p:spPr>
          <a:xfrm>
            <a:off x="5037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9" name="Rectangle 136"/>
          <p:cNvSpPr/>
          <p:nvPr/>
        </p:nvSpPr>
        <p:spPr>
          <a:xfrm>
            <a:off x="6045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0" name="Rectangle 137"/>
          <p:cNvSpPr/>
          <p:nvPr/>
        </p:nvSpPr>
        <p:spPr>
          <a:xfrm>
            <a:off x="7053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1" name="Rectangle 138"/>
          <p:cNvSpPr/>
          <p:nvPr/>
        </p:nvSpPr>
        <p:spPr>
          <a:xfrm>
            <a:off x="8061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2" name="Rectangle 139"/>
          <p:cNvSpPr/>
          <p:nvPr/>
        </p:nvSpPr>
        <p:spPr>
          <a:xfrm>
            <a:off x="9069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3" name="Rectangle 140"/>
          <p:cNvSpPr/>
          <p:nvPr/>
        </p:nvSpPr>
        <p:spPr>
          <a:xfrm>
            <a:off x="10077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4" name="Rectangle 141"/>
          <p:cNvSpPr/>
          <p:nvPr/>
        </p:nvSpPr>
        <p:spPr>
          <a:xfrm>
            <a:off x="11085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5" name="Rectangle 142"/>
          <p:cNvSpPr/>
          <p:nvPr/>
        </p:nvSpPr>
        <p:spPr>
          <a:xfrm>
            <a:off x="12093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6" name="Rectangle 143"/>
          <p:cNvSpPr/>
          <p:nvPr/>
        </p:nvSpPr>
        <p:spPr>
          <a:xfrm>
            <a:off x="13101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7" name="Rectangle 144"/>
          <p:cNvSpPr/>
          <p:nvPr/>
        </p:nvSpPr>
        <p:spPr>
          <a:xfrm>
            <a:off x="1440" y="1800"/>
            <a:ext cx="345600" cy="75528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8" name="Rounded Rectangle 63"/>
          <p:cNvSpPr/>
          <p:nvPr/>
        </p:nvSpPr>
        <p:spPr>
          <a:xfrm>
            <a:off x="10884960" y="401400"/>
            <a:ext cx="2210040" cy="5461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Box 28"/>
          <p:cNvSpPr/>
          <p:nvPr/>
        </p:nvSpPr>
        <p:spPr>
          <a:xfrm>
            <a:off x="2558160" y="1107360"/>
            <a:ext cx="6989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Kurumsal Dünyaya Giriyor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29"/>
          <p:cNvSpPr/>
          <p:nvPr/>
        </p:nvSpPr>
        <p:spPr>
          <a:xfrm>
            <a:off x="4201920" y="2266200"/>
            <a:ext cx="433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Java’nın büyük ölçekli sistemlere nasıl girdiği.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ounded Rectangle 64"/>
          <p:cNvSpPr/>
          <p:nvPr/>
        </p:nvSpPr>
        <p:spPr>
          <a:xfrm>
            <a:off x="1086840" y="3506040"/>
            <a:ext cx="362160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2" name="Rounded Rectangle 65"/>
          <p:cNvSpPr/>
          <p:nvPr/>
        </p:nvSpPr>
        <p:spPr>
          <a:xfrm>
            <a:off x="1006560" y="3425040"/>
            <a:ext cx="362196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1990’ların sonlarında internet hızla büyüdü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Şirketlerin ölçeklenebilir yazılımlara ihtiyacı vardı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Güvenlik, kritik bir gereklilik hâline geldi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Sistemlerin farklı işletim sistemlerinde çalışması gerekiyordu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bu sorunları şu özelliklerle çözdü: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Platformdan bağımsızlık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Güçlü nesne yönelimli tasarım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Yerleşik güvenlik özellikleri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Sonuç: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Java, kurumsal sistemler için tercih edilen dil hâline geldi.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Rounded Rectangle 66"/>
          <p:cNvSpPr/>
          <p:nvPr/>
        </p:nvSpPr>
        <p:spPr>
          <a:xfrm>
            <a:off x="4968360" y="3506040"/>
            <a:ext cx="362160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4" name="Rounded Rectangle 67"/>
          <p:cNvSpPr/>
          <p:nvPr/>
        </p:nvSpPr>
        <p:spPr>
          <a:xfrm>
            <a:off x="8849160" y="3506040"/>
            <a:ext cx="362160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5" name="Rounded Rectangle 68"/>
          <p:cNvSpPr/>
          <p:nvPr/>
        </p:nvSpPr>
        <p:spPr>
          <a:xfrm>
            <a:off x="8767440" y="3425040"/>
            <a:ext cx="362196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Enterprise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kurumsal dünyaya giriyor!");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30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Rounded Rectangle 69"/>
          <p:cNvSpPr/>
          <p:nvPr/>
        </p:nvSpPr>
        <p:spPr>
          <a:xfrm>
            <a:off x="4941000" y="3450960"/>
            <a:ext cx="362196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Java’nın benimsenme yolu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Web uygulamaları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Veritabanları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Kurumsal sistemler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145"/>
          <p:cNvSpPr/>
          <p:nvPr/>
        </p:nvSpPr>
        <p:spPr>
          <a:xfrm>
            <a:off x="16920" y="1800"/>
            <a:ext cx="13429440" cy="75528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9" name="Rectangle 146"/>
          <p:cNvSpPr/>
          <p:nvPr/>
        </p:nvSpPr>
        <p:spPr>
          <a:xfrm>
            <a:off x="144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0" name="Rectangle 147"/>
          <p:cNvSpPr/>
          <p:nvPr/>
        </p:nvSpPr>
        <p:spPr>
          <a:xfrm>
            <a:off x="1005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1" name="Rectangle 148"/>
          <p:cNvSpPr/>
          <p:nvPr/>
        </p:nvSpPr>
        <p:spPr>
          <a:xfrm>
            <a:off x="2013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2" name="Rectangle 149"/>
          <p:cNvSpPr/>
          <p:nvPr/>
        </p:nvSpPr>
        <p:spPr>
          <a:xfrm>
            <a:off x="3021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3" name="Rectangle 150"/>
          <p:cNvSpPr/>
          <p:nvPr/>
        </p:nvSpPr>
        <p:spPr>
          <a:xfrm>
            <a:off x="4029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4" name="Rectangle 151"/>
          <p:cNvSpPr/>
          <p:nvPr/>
        </p:nvSpPr>
        <p:spPr>
          <a:xfrm>
            <a:off x="5037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5" name="Rectangle 152"/>
          <p:cNvSpPr/>
          <p:nvPr/>
        </p:nvSpPr>
        <p:spPr>
          <a:xfrm>
            <a:off x="6045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6" name="Rectangle 153"/>
          <p:cNvSpPr/>
          <p:nvPr/>
        </p:nvSpPr>
        <p:spPr>
          <a:xfrm>
            <a:off x="7053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7" name="Rectangle 154"/>
          <p:cNvSpPr/>
          <p:nvPr/>
        </p:nvSpPr>
        <p:spPr>
          <a:xfrm>
            <a:off x="8061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8" name="Rectangle 155"/>
          <p:cNvSpPr/>
          <p:nvPr/>
        </p:nvSpPr>
        <p:spPr>
          <a:xfrm>
            <a:off x="9069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9" name="Rectangle 156"/>
          <p:cNvSpPr/>
          <p:nvPr/>
        </p:nvSpPr>
        <p:spPr>
          <a:xfrm>
            <a:off x="10077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0" name="Rectangle 157"/>
          <p:cNvSpPr/>
          <p:nvPr/>
        </p:nvSpPr>
        <p:spPr>
          <a:xfrm>
            <a:off x="11085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1" name="Rectangle 158"/>
          <p:cNvSpPr/>
          <p:nvPr/>
        </p:nvSpPr>
        <p:spPr>
          <a:xfrm>
            <a:off x="12093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2" name="Rectangle 159"/>
          <p:cNvSpPr/>
          <p:nvPr/>
        </p:nvSpPr>
        <p:spPr>
          <a:xfrm>
            <a:off x="13101480" y="1800"/>
            <a:ext cx="13680" cy="7552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3" name="Rectangle 160"/>
          <p:cNvSpPr/>
          <p:nvPr/>
        </p:nvSpPr>
        <p:spPr>
          <a:xfrm>
            <a:off x="1440" y="1800"/>
            <a:ext cx="345600" cy="75528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4" name="Rounded Rectangle 70"/>
          <p:cNvSpPr/>
          <p:nvPr/>
        </p:nvSpPr>
        <p:spPr>
          <a:xfrm>
            <a:off x="10884960" y="401400"/>
            <a:ext cx="2210040" cy="5461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Box 31"/>
          <p:cNvSpPr/>
          <p:nvPr/>
        </p:nvSpPr>
        <p:spPr>
          <a:xfrm>
            <a:off x="2953800" y="1107360"/>
            <a:ext cx="61999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Tarihi – Java Sürümleri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32"/>
          <p:cNvSpPr/>
          <p:nvPr/>
        </p:nvSpPr>
        <p:spPr>
          <a:xfrm>
            <a:off x="4707360" y="2266200"/>
            <a:ext cx="332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Java’nın adım adım nasıl ilerlediği.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Rounded Rectangle 71"/>
          <p:cNvSpPr/>
          <p:nvPr/>
        </p:nvSpPr>
        <p:spPr>
          <a:xfrm>
            <a:off x="1086840" y="3506040"/>
            <a:ext cx="362160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8" name="Rounded Rectangle 72"/>
          <p:cNvSpPr/>
          <p:nvPr/>
        </p:nvSpPr>
        <p:spPr>
          <a:xfrm>
            <a:off x="1006560" y="3424320"/>
            <a:ext cx="362196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1994’ten sonra Java yön değiştirdi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Dilin adı Oak’tan Java’ya değiştirildi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Java, Web için geliştirilmeye başlandı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Sun Microsystems, Java’yı herkese açık olarak yayımlamaya karar verdi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Bu noktadan sonra Java sürümleri ortaya çıkmaya başladı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500" spc="-1" strike="noStrike" u="sng">
                <a:solidFill>
                  <a:schemeClr val="lt1"/>
                </a:solidFill>
                <a:uFillTx/>
                <a:latin typeface="Calibri"/>
                <a:ea typeface="DejaVu Sans"/>
              </a:rPr>
              <a:t>Temel fikir: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Her sürüm, eskilerini bozmadan Java’yı geliştirdi.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Rounded Rectangle 73"/>
          <p:cNvSpPr/>
          <p:nvPr/>
        </p:nvSpPr>
        <p:spPr>
          <a:xfrm>
            <a:off x="4968360" y="3506040"/>
            <a:ext cx="362160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0" name="Rounded Rectangle 74"/>
          <p:cNvSpPr/>
          <p:nvPr/>
        </p:nvSpPr>
        <p:spPr>
          <a:xfrm>
            <a:off x="8849160" y="3506040"/>
            <a:ext cx="3621600" cy="3016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1" name="Rounded Rectangle 75"/>
          <p:cNvSpPr/>
          <p:nvPr/>
        </p:nvSpPr>
        <p:spPr>
          <a:xfrm>
            <a:off x="8767440" y="3425040"/>
            <a:ext cx="362196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9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JavaVersionIntro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sürüm sürüm gelişmeye devam ediyor.");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Box 33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ounded Rectangle 76"/>
          <p:cNvSpPr/>
          <p:nvPr/>
        </p:nvSpPr>
        <p:spPr>
          <a:xfrm>
            <a:off x="4941000" y="3450960"/>
            <a:ext cx="3621960" cy="301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sürümleri baştan yazım değildir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Kademeli iyileştirmelerdir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Yeni özellikler + aynı temel fikir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Felsefe: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Bir kez yaz, sonsuza kadar geliştir.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61"/>
          <p:cNvSpPr/>
          <p:nvPr/>
        </p:nvSpPr>
        <p:spPr>
          <a:xfrm>
            <a:off x="16920" y="1800"/>
            <a:ext cx="13430160" cy="75535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5" name="Rectangle 162"/>
          <p:cNvSpPr/>
          <p:nvPr/>
        </p:nvSpPr>
        <p:spPr>
          <a:xfrm>
            <a:off x="144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6" name="Rectangle 163"/>
          <p:cNvSpPr/>
          <p:nvPr/>
        </p:nvSpPr>
        <p:spPr>
          <a:xfrm>
            <a:off x="1005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7" name="Rectangle 164"/>
          <p:cNvSpPr/>
          <p:nvPr/>
        </p:nvSpPr>
        <p:spPr>
          <a:xfrm>
            <a:off x="2013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8" name="Rectangle 165"/>
          <p:cNvSpPr/>
          <p:nvPr/>
        </p:nvSpPr>
        <p:spPr>
          <a:xfrm>
            <a:off x="3021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9" name="Rectangle 166"/>
          <p:cNvSpPr/>
          <p:nvPr/>
        </p:nvSpPr>
        <p:spPr>
          <a:xfrm>
            <a:off x="4029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0" name="Rectangle 167"/>
          <p:cNvSpPr/>
          <p:nvPr/>
        </p:nvSpPr>
        <p:spPr>
          <a:xfrm>
            <a:off x="5037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1" name="Rectangle 168"/>
          <p:cNvSpPr/>
          <p:nvPr/>
        </p:nvSpPr>
        <p:spPr>
          <a:xfrm>
            <a:off x="6045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2" name="Rectangle 169"/>
          <p:cNvSpPr/>
          <p:nvPr/>
        </p:nvSpPr>
        <p:spPr>
          <a:xfrm>
            <a:off x="7053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3" name="Rectangle 170"/>
          <p:cNvSpPr/>
          <p:nvPr/>
        </p:nvSpPr>
        <p:spPr>
          <a:xfrm>
            <a:off x="8061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4" name="Rectangle 171"/>
          <p:cNvSpPr/>
          <p:nvPr/>
        </p:nvSpPr>
        <p:spPr>
          <a:xfrm>
            <a:off x="9069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5" name="Rectangle 172"/>
          <p:cNvSpPr/>
          <p:nvPr/>
        </p:nvSpPr>
        <p:spPr>
          <a:xfrm>
            <a:off x="10077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6" name="Rectangle 173"/>
          <p:cNvSpPr/>
          <p:nvPr/>
        </p:nvSpPr>
        <p:spPr>
          <a:xfrm>
            <a:off x="11085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7" name="Rectangle 174"/>
          <p:cNvSpPr/>
          <p:nvPr/>
        </p:nvSpPr>
        <p:spPr>
          <a:xfrm>
            <a:off x="12093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8" name="Rectangle 175"/>
          <p:cNvSpPr/>
          <p:nvPr/>
        </p:nvSpPr>
        <p:spPr>
          <a:xfrm>
            <a:off x="13101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9" name="Rectangle 176"/>
          <p:cNvSpPr/>
          <p:nvPr/>
        </p:nvSpPr>
        <p:spPr>
          <a:xfrm>
            <a:off x="1440" y="1800"/>
            <a:ext cx="346320" cy="75535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0" name="Rounded Rectangle 77"/>
          <p:cNvSpPr/>
          <p:nvPr/>
        </p:nvSpPr>
        <p:spPr>
          <a:xfrm>
            <a:off x="10884960" y="401400"/>
            <a:ext cx="2210760" cy="5468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Box 34"/>
          <p:cNvSpPr/>
          <p:nvPr/>
        </p:nvSpPr>
        <p:spPr>
          <a:xfrm>
            <a:off x="1916280" y="1107360"/>
            <a:ext cx="8279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Kurumsal Patlama (2000–2005)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35"/>
          <p:cNvSpPr/>
          <p:nvPr/>
        </p:nvSpPr>
        <p:spPr>
          <a:xfrm>
            <a:off x="3533400" y="2266200"/>
            <a:ext cx="567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Java’nın kurumsal yazılımların belkemiği hâline nasıl geldiği.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Rounded Rectangle 78"/>
          <p:cNvSpPr/>
          <p:nvPr/>
        </p:nvSpPr>
        <p:spPr>
          <a:xfrm>
            <a:off x="1086840" y="3506040"/>
            <a:ext cx="362232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4" name="Rounded Rectangle 79"/>
          <p:cNvSpPr/>
          <p:nvPr/>
        </p:nvSpPr>
        <p:spPr>
          <a:xfrm>
            <a:off x="1006560" y="342432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2000’lerin başı: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İnternet kullanımı patlama yaşadı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E-ticaret büyümeye başladı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Şirketler büyük ölçekli sistemlere ihtiyaç duydu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Sistemlerin şu özelliklere sahip olması gerekiyordu: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- Güvenilir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- Güvenli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- Ölçeklenebilir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Rounded Rectangle 80"/>
          <p:cNvSpPr/>
          <p:nvPr/>
        </p:nvSpPr>
        <p:spPr>
          <a:xfrm>
            <a:off x="4968360" y="3506040"/>
            <a:ext cx="362232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6" name="Rounded Rectangle 81"/>
          <p:cNvSpPr/>
          <p:nvPr/>
        </p:nvSpPr>
        <p:spPr>
          <a:xfrm>
            <a:off x="8849160" y="3506040"/>
            <a:ext cx="362232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7" name="Rounded Rectangle 82"/>
          <p:cNvSpPr/>
          <p:nvPr/>
        </p:nvSpPr>
        <p:spPr>
          <a:xfrm>
            <a:off x="8767440" y="342504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EnterpriseEra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sistemOnline = true;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if (sistemOnline)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"Kurumsal sistemler 7/24 çalışıyor."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Box 36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Rounded Rectangle 83"/>
          <p:cNvSpPr/>
          <p:nvPr/>
        </p:nvSpPr>
        <p:spPr>
          <a:xfrm>
            <a:off x="4941000" y="345096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neden bu döneme damga vurdu: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2 Platformu (J2SE, J2EE, J2ME)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Güçlü sunucu tarafı programlama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Çok katmanlı mimari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Yerleşik güvenlik modeli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Veritabanı odaklı uygulamalar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 177"/>
          <p:cNvSpPr/>
          <p:nvPr/>
        </p:nvSpPr>
        <p:spPr>
          <a:xfrm>
            <a:off x="16920" y="1800"/>
            <a:ext cx="13430160" cy="75535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1" name="Rectangle 178"/>
          <p:cNvSpPr/>
          <p:nvPr/>
        </p:nvSpPr>
        <p:spPr>
          <a:xfrm>
            <a:off x="144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2" name="Rectangle 179"/>
          <p:cNvSpPr/>
          <p:nvPr/>
        </p:nvSpPr>
        <p:spPr>
          <a:xfrm>
            <a:off x="1005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3" name="Rectangle 180"/>
          <p:cNvSpPr/>
          <p:nvPr/>
        </p:nvSpPr>
        <p:spPr>
          <a:xfrm>
            <a:off x="2013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4" name="Rectangle 181"/>
          <p:cNvSpPr/>
          <p:nvPr/>
        </p:nvSpPr>
        <p:spPr>
          <a:xfrm>
            <a:off x="3021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5" name="Rectangle 182"/>
          <p:cNvSpPr/>
          <p:nvPr/>
        </p:nvSpPr>
        <p:spPr>
          <a:xfrm>
            <a:off x="4029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6" name="Rectangle 183"/>
          <p:cNvSpPr/>
          <p:nvPr/>
        </p:nvSpPr>
        <p:spPr>
          <a:xfrm>
            <a:off x="5037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7" name="Rectangle 184"/>
          <p:cNvSpPr/>
          <p:nvPr/>
        </p:nvSpPr>
        <p:spPr>
          <a:xfrm>
            <a:off x="6045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8" name="Rectangle 185"/>
          <p:cNvSpPr/>
          <p:nvPr/>
        </p:nvSpPr>
        <p:spPr>
          <a:xfrm>
            <a:off x="7053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9" name="Rectangle 186"/>
          <p:cNvSpPr/>
          <p:nvPr/>
        </p:nvSpPr>
        <p:spPr>
          <a:xfrm>
            <a:off x="8061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0" name="Rectangle 187"/>
          <p:cNvSpPr/>
          <p:nvPr/>
        </p:nvSpPr>
        <p:spPr>
          <a:xfrm>
            <a:off x="9069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1" name="Rectangle 188"/>
          <p:cNvSpPr/>
          <p:nvPr/>
        </p:nvSpPr>
        <p:spPr>
          <a:xfrm>
            <a:off x="10077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2" name="Rectangle 189"/>
          <p:cNvSpPr/>
          <p:nvPr/>
        </p:nvSpPr>
        <p:spPr>
          <a:xfrm>
            <a:off x="11085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3" name="Rectangle 190"/>
          <p:cNvSpPr/>
          <p:nvPr/>
        </p:nvSpPr>
        <p:spPr>
          <a:xfrm>
            <a:off x="12093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4" name="Rectangle 191"/>
          <p:cNvSpPr/>
          <p:nvPr/>
        </p:nvSpPr>
        <p:spPr>
          <a:xfrm>
            <a:off x="13101480" y="1800"/>
            <a:ext cx="14400" cy="75535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5" name="Rectangle 192"/>
          <p:cNvSpPr/>
          <p:nvPr/>
        </p:nvSpPr>
        <p:spPr>
          <a:xfrm>
            <a:off x="1440" y="1800"/>
            <a:ext cx="346320" cy="75535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6" name="Rounded Rectangle 84"/>
          <p:cNvSpPr/>
          <p:nvPr/>
        </p:nvSpPr>
        <p:spPr>
          <a:xfrm>
            <a:off x="10884960" y="401400"/>
            <a:ext cx="2210760" cy="5468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Box 37"/>
          <p:cNvSpPr/>
          <p:nvPr/>
        </p:nvSpPr>
        <p:spPr>
          <a:xfrm>
            <a:off x="1708920" y="1107360"/>
            <a:ext cx="8695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2000–2005 Arası Java Teknolojileri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38"/>
          <p:cNvSpPr/>
          <p:nvPr/>
        </p:nvSpPr>
        <p:spPr>
          <a:xfrm>
            <a:off x="4586400" y="2266200"/>
            <a:ext cx="3566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Modern kurumsal Java’nın temelleri.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Rounded Rectangle 85"/>
          <p:cNvSpPr/>
          <p:nvPr/>
        </p:nvSpPr>
        <p:spPr>
          <a:xfrm>
            <a:off x="1086840" y="3506040"/>
            <a:ext cx="362232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0" name="Rounded Rectangle 86"/>
          <p:cNvSpPr/>
          <p:nvPr/>
        </p:nvSpPr>
        <p:spPr>
          <a:xfrm>
            <a:off x="1006560" y="342432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Temel teknolojiler: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Servlets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JSP (JavaServer Pages)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JDBC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JNDI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EJB (Enterprise JavaBeans)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Rounded Rectangle 87"/>
          <p:cNvSpPr/>
          <p:nvPr/>
        </p:nvSpPr>
        <p:spPr>
          <a:xfrm>
            <a:off x="4968360" y="3506040"/>
            <a:ext cx="362232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2" name="Rounded Rectangle 88"/>
          <p:cNvSpPr/>
          <p:nvPr/>
        </p:nvSpPr>
        <p:spPr>
          <a:xfrm>
            <a:off x="8849160" y="3506040"/>
            <a:ext cx="3622320" cy="3017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3" name="Rounded Rectangle 89"/>
          <p:cNvSpPr/>
          <p:nvPr/>
        </p:nvSpPr>
        <p:spPr>
          <a:xfrm>
            <a:off x="8767440" y="342504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user = "Client";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"Welcome to the enterprise system, " + user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78ffc8"/>
                </a:solidFill>
                <a:latin typeface="Consolas"/>
                <a:ea typeface="DejaVu Sans"/>
              </a:rPr>
              <a:t>);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Box 39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Rounded Rectangle 90"/>
          <p:cNvSpPr/>
          <p:nvPr/>
        </p:nvSpPr>
        <p:spPr>
          <a:xfrm>
            <a:off x="4941000" y="345096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Bu teknolojiler sayesinde: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Dinamik web uygulamaları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Veritabanı tabanlı sistemler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İşlem (transaction) yönetimi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Dağıtık uygulamalar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Kurumsal ölçekte ölçeklenebilirlik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Rectangle 193"/>
          <p:cNvSpPr/>
          <p:nvPr/>
        </p:nvSpPr>
        <p:spPr>
          <a:xfrm>
            <a:off x="16920" y="1800"/>
            <a:ext cx="13430520" cy="75538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7" name="Rectangle 194"/>
          <p:cNvSpPr/>
          <p:nvPr/>
        </p:nvSpPr>
        <p:spPr>
          <a:xfrm>
            <a:off x="144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8" name="Rectangle 195"/>
          <p:cNvSpPr/>
          <p:nvPr/>
        </p:nvSpPr>
        <p:spPr>
          <a:xfrm>
            <a:off x="1005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9" name="Rectangle 196"/>
          <p:cNvSpPr/>
          <p:nvPr/>
        </p:nvSpPr>
        <p:spPr>
          <a:xfrm>
            <a:off x="2013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0" name="Rectangle 197"/>
          <p:cNvSpPr/>
          <p:nvPr/>
        </p:nvSpPr>
        <p:spPr>
          <a:xfrm>
            <a:off x="3021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1" name="Rectangle 198"/>
          <p:cNvSpPr/>
          <p:nvPr/>
        </p:nvSpPr>
        <p:spPr>
          <a:xfrm>
            <a:off x="4029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2" name="Rectangle 199"/>
          <p:cNvSpPr/>
          <p:nvPr/>
        </p:nvSpPr>
        <p:spPr>
          <a:xfrm>
            <a:off x="5037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3" name="Rectangle 200"/>
          <p:cNvSpPr/>
          <p:nvPr/>
        </p:nvSpPr>
        <p:spPr>
          <a:xfrm>
            <a:off x="6045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4" name="Rectangle 201"/>
          <p:cNvSpPr/>
          <p:nvPr/>
        </p:nvSpPr>
        <p:spPr>
          <a:xfrm>
            <a:off x="7053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5" name="Rectangle 202"/>
          <p:cNvSpPr/>
          <p:nvPr/>
        </p:nvSpPr>
        <p:spPr>
          <a:xfrm>
            <a:off x="8061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6" name="Rectangle 203"/>
          <p:cNvSpPr/>
          <p:nvPr/>
        </p:nvSpPr>
        <p:spPr>
          <a:xfrm>
            <a:off x="9069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7" name="Rectangle 204"/>
          <p:cNvSpPr/>
          <p:nvPr/>
        </p:nvSpPr>
        <p:spPr>
          <a:xfrm>
            <a:off x="10077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8" name="Rectangle 205"/>
          <p:cNvSpPr/>
          <p:nvPr/>
        </p:nvSpPr>
        <p:spPr>
          <a:xfrm>
            <a:off x="11085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9" name="Rectangle 206"/>
          <p:cNvSpPr/>
          <p:nvPr/>
        </p:nvSpPr>
        <p:spPr>
          <a:xfrm>
            <a:off x="12093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0" name="Rectangle 207"/>
          <p:cNvSpPr/>
          <p:nvPr/>
        </p:nvSpPr>
        <p:spPr>
          <a:xfrm>
            <a:off x="13101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1" name="Rectangle 208"/>
          <p:cNvSpPr/>
          <p:nvPr/>
        </p:nvSpPr>
        <p:spPr>
          <a:xfrm>
            <a:off x="1440" y="1800"/>
            <a:ext cx="346680" cy="75538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2" name="Rounded Rectangle 91"/>
          <p:cNvSpPr/>
          <p:nvPr/>
        </p:nvSpPr>
        <p:spPr>
          <a:xfrm>
            <a:off x="10884960" y="401400"/>
            <a:ext cx="2211120" cy="5472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Box 40"/>
          <p:cNvSpPr/>
          <p:nvPr/>
        </p:nvSpPr>
        <p:spPr>
          <a:xfrm>
            <a:off x="2097720" y="1107360"/>
            <a:ext cx="7918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 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Java Teknolojileri (2005–2010)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41"/>
          <p:cNvSpPr/>
          <p:nvPr/>
        </p:nvSpPr>
        <p:spPr>
          <a:xfrm>
            <a:off x="5367240" y="2266200"/>
            <a:ext cx="2005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Framework Devrimi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92"/>
          <p:cNvSpPr/>
          <p:nvPr/>
        </p:nvSpPr>
        <p:spPr>
          <a:xfrm>
            <a:off x="1086840" y="350604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6" name="Rounded Rectangle 93"/>
          <p:cNvSpPr/>
          <p:nvPr/>
        </p:nvSpPr>
        <p:spPr>
          <a:xfrm>
            <a:off x="1006560" y="3424320"/>
            <a:ext cx="3623040" cy="301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Temel Teknolojiler (Ortaya çıkanlar):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Spring Framework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(Kontrolün Tersine Çevrilmesi – IoC, Bağımlılık Enjeksiyonu – DI)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Hibernate / JPA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(Nesne-İlişkisel Eşleme – ORM)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EE 5 &amp; 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(XML ağırlıklı yapılandırmaların yerini anotasyonlar aldı)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JSF (JavaServer Faces)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(Bileşen tabanlı kullanıcı arayüzü)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Maven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(Standart derleme ve bağımlılık yönetimi)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Rounded Rectangle 94"/>
          <p:cNvSpPr/>
          <p:nvPr/>
        </p:nvSpPr>
        <p:spPr>
          <a:xfrm>
            <a:off x="4968360" y="350604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8" name="Rounded Rectangle 95"/>
          <p:cNvSpPr/>
          <p:nvPr/>
        </p:nvSpPr>
        <p:spPr>
          <a:xfrm>
            <a:off x="8849160" y="350604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9" name="Rounded Rectangle 96"/>
          <p:cNvSpPr/>
          <p:nvPr/>
        </p:nvSpPr>
        <p:spPr>
          <a:xfrm>
            <a:off x="8767440" y="3425040"/>
            <a:ext cx="3623040" cy="301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@Service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OrderService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@Autowired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private OrderRepository repository;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Order findOrder(Long id)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return repository.findById(id);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42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Rounded Rectangle 97"/>
          <p:cNvSpPr/>
          <p:nvPr/>
        </p:nvSpPr>
        <p:spPr>
          <a:xfrm>
            <a:off x="4941000" y="3450960"/>
            <a:ext cx="3623040" cy="301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Bu dönem neden önemliydi: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XML ağırlıklı kurumsal Java yapıları sadeleştirildi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Gereksiz tekrar kod ciddi şekilde azaldı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Gevşek bağlılık  standart hâline geldi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MVC ve katmanlı mimari yaygınlaştı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Geliştiriciler üretkenlik ve esneklik kazandı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2005 öncesi: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Kurumsal Java = karmaşık, uzun, bakımı zor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2005 sonrası: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Kurumsal Java = daha temiz, modüler, framework odaklı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angle 209"/>
          <p:cNvSpPr/>
          <p:nvPr/>
        </p:nvSpPr>
        <p:spPr>
          <a:xfrm>
            <a:off x="16920" y="1800"/>
            <a:ext cx="13430520" cy="75538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3" name="Rectangle 210"/>
          <p:cNvSpPr/>
          <p:nvPr/>
        </p:nvSpPr>
        <p:spPr>
          <a:xfrm>
            <a:off x="144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4" name="Rectangle 211"/>
          <p:cNvSpPr/>
          <p:nvPr/>
        </p:nvSpPr>
        <p:spPr>
          <a:xfrm>
            <a:off x="1005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5" name="Rectangle 212"/>
          <p:cNvSpPr/>
          <p:nvPr/>
        </p:nvSpPr>
        <p:spPr>
          <a:xfrm>
            <a:off x="2013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6" name="Rectangle 213"/>
          <p:cNvSpPr/>
          <p:nvPr/>
        </p:nvSpPr>
        <p:spPr>
          <a:xfrm>
            <a:off x="3021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7" name="Rectangle 214"/>
          <p:cNvSpPr/>
          <p:nvPr/>
        </p:nvSpPr>
        <p:spPr>
          <a:xfrm>
            <a:off x="4029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8" name="Rectangle 215"/>
          <p:cNvSpPr/>
          <p:nvPr/>
        </p:nvSpPr>
        <p:spPr>
          <a:xfrm>
            <a:off x="5037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9" name="Rectangle 216"/>
          <p:cNvSpPr/>
          <p:nvPr/>
        </p:nvSpPr>
        <p:spPr>
          <a:xfrm>
            <a:off x="6045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0" name="Rectangle 217"/>
          <p:cNvSpPr/>
          <p:nvPr/>
        </p:nvSpPr>
        <p:spPr>
          <a:xfrm>
            <a:off x="7053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1" name="Rectangle 218"/>
          <p:cNvSpPr/>
          <p:nvPr/>
        </p:nvSpPr>
        <p:spPr>
          <a:xfrm>
            <a:off x="8061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2" name="Rectangle 219"/>
          <p:cNvSpPr/>
          <p:nvPr/>
        </p:nvSpPr>
        <p:spPr>
          <a:xfrm>
            <a:off x="9069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3" name="Rectangle 220"/>
          <p:cNvSpPr/>
          <p:nvPr/>
        </p:nvSpPr>
        <p:spPr>
          <a:xfrm>
            <a:off x="10077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4" name="Rectangle 221"/>
          <p:cNvSpPr/>
          <p:nvPr/>
        </p:nvSpPr>
        <p:spPr>
          <a:xfrm>
            <a:off x="11085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5" name="Rectangle 222"/>
          <p:cNvSpPr/>
          <p:nvPr/>
        </p:nvSpPr>
        <p:spPr>
          <a:xfrm>
            <a:off x="12093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6" name="Rectangle 223"/>
          <p:cNvSpPr/>
          <p:nvPr/>
        </p:nvSpPr>
        <p:spPr>
          <a:xfrm>
            <a:off x="13101480" y="1800"/>
            <a:ext cx="14760" cy="7553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7" name="Rectangle 224"/>
          <p:cNvSpPr/>
          <p:nvPr/>
        </p:nvSpPr>
        <p:spPr>
          <a:xfrm>
            <a:off x="1440" y="1800"/>
            <a:ext cx="346680" cy="75538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8" name="Rounded Rectangle 98"/>
          <p:cNvSpPr/>
          <p:nvPr/>
        </p:nvSpPr>
        <p:spPr>
          <a:xfrm>
            <a:off x="10884960" y="401400"/>
            <a:ext cx="2211120" cy="5472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Box 43"/>
          <p:cNvSpPr/>
          <p:nvPr/>
        </p:nvSpPr>
        <p:spPr>
          <a:xfrm>
            <a:off x="2808000" y="1107360"/>
            <a:ext cx="64983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    </a:t>
            </a:r>
            <a:r>
              <a:rPr b="1" lang="en-US" sz="4200" spc="-1" strike="noStrike">
                <a:solidFill>
                  <a:srgbClr val="f5f5f5"/>
                </a:solidFill>
                <a:latin typeface="Calibri"/>
                <a:ea typeface="DejaVu Sans"/>
              </a:rPr>
              <a:t>Modern Java ve Bulut Çağı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Box 44"/>
          <p:cNvSpPr/>
          <p:nvPr/>
        </p:nvSpPr>
        <p:spPr>
          <a:xfrm>
            <a:off x="5367240" y="2266200"/>
            <a:ext cx="2005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aaaaaa"/>
                </a:solidFill>
                <a:latin typeface="Calibri"/>
                <a:ea typeface="DejaVu Sans"/>
              </a:rPr>
              <a:t>Framework Devrimi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Rounded Rectangle 99"/>
          <p:cNvSpPr/>
          <p:nvPr/>
        </p:nvSpPr>
        <p:spPr>
          <a:xfrm>
            <a:off x="1086840" y="350604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2" name="Rounded Rectangle 100"/>
          <p:cNvSpPr/>
          <p:nvPr/>
        </p:nvSpPr>
        <p:spPr>
          <a:xfrm>
            <a:off x="1020960" y="3424320"/>
            <a:ext cx="3623040" cy="301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(Temel teknolojiler):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Spring Boot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REST API’ler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Mikroservisler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Docker &amp; Kubernetes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lt1"/>
                </a:solidFill>
                <a:latin typeface="Calibri"/>
                <a:ea typeface="DejaVu Sans"/>
              </a:rPr>
              <a:t>Java 8+ (Lambda ifadeleri, Stream API)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Rounded Rectangle 101"/>
          <p:cNvSpPr/>
          <p:nvPr/>
        </p:nvSpPr>
        <p:spPr>
          <a:xfrm>
            <a:off x="4968360" y="350604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4" name="Rounded Rectangle 102"/>
          <p:cNvSpPr/>
          <p:nvPr/>
        </p:nvSpPr>
        <p:spPr>
          <a:xfrm>
            <a:off x="8849160" y="3506040"/>
            <a:ext cx="3622680" cy="30178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5" name="Rounded Rectangle 103"/>
          <p:cNvSpPr/>
          <p:nvPr/>
        </p:nvSpPr>
        <p:spPr>
          <a:xfrm>
            <a:off x="8767440" y="3425040"/>
            <a:ext cx="3623040" cy="301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@GetMapping("/users/{id}")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User getUser(@PathVariable Long id) 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return userService.getUser(id);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Box 45"/>
          <p:cNvSpPr/>
          <p:nvPr/>
        </p:nvSpPr>
        <p:spPr>
          <a:xfrm>
            <a:off x="5224320" y="710460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Rounded Rectangle 104"/>
          <p:cNvSpPr/>
          <p:nvPr/>
        </p:nvSpPr>
        <p:spPr>
          <a:xfrm>
            <a:off x="4941000" y="3450960"/>
            <a:ext cx="3623040" cy="301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Bulut uyumlu (cloud-native) uygulamalar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Mikroservis mimarisi ile ölçeklenebilirlik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Hızlı dağıtım (deployment)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Fonksiyonel programlama yaklaşımı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Uzun süreli destek (LTS – Long Term Support)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2026-01-04T22:00:32Z</dcterms:modified>
  <cp:revision>93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