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93FA9D7-1864-4BAE-9864-D3B8EAC7334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1B281EA-AEF5-4182-9785-7399523C59E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487BA46-E105-4913-A229-B29C3F9029D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29C81AF-4B1E-4C89-83BE-980F47A1AEA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A9BD45B-9E96-4BE3-A261-D4BAD35FAE3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1BDE474-0FDE-481C-BE71-E6DFE2853CF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41E2BA7-52BD-48EA-9930-37D3EEC5ECA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E9874E9-4023-48B2-928A-42297EF4266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6F11171-B2D1-4DD8-9258-C98ABBF1FF0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15C5DD7-C094-40EE-859F-6D730D30812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9C05B60-306E-4C92-B2F8-4EFA9208F3E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0317F52-5667-4313-9F1D-9EF3E47A40A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3648213-F1EF-4B08-804F-75749B7A9E12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3817800" y="1005840"/>
            <a:ext cx="3334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Introduction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1233720" y="2057400"/>
            <a:ext cx="90950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 overview of the Java programming language and the topics covered in this presentation.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91440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Introduce the Java programming language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Explain core concepts and fundamentals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Build a strong foundation for Java development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43484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Introduction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What is Java?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What Will You Learn?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History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795528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Introduction for Java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33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34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35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36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37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38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39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40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41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42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43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44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45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46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47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3690720" y="1005840"/>
            <a:ext cx="35902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What is Java?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2825640" y="2057400"/>
            <a:ext cx="590976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is a high-level, object-oriented programming language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designed to be platform-independent and reliable.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91440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High-level programming language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Object-oriented (OOP) approach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Platform-independent using JVM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Secure and robust by design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Widely used in enterprise and web applications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43484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Virtual Machine (JVM)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Operating System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Run Anywhere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795528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System.out.println("Hello, Java!");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17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8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9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20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21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22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23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24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25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26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27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28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29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30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31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2688840" y="1005840"/>
            <a:ext cx="5594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What Will You Learn?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2429280" y="2057400"/>
            <a:ext cx="67039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 overview of the key topics and skills covered in this Java course.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91440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Understand Java fundamentals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Learn object-oriented programming concepts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Write and run Java programs  • Build a strong programming foundation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43484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Syntax &amp; Basics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Variables &amp; Data Types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Control Flow (if / loops)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Methods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Object-Oriented Programming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795528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(number &gt; 0)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System.out.println("Positive");}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for (int i = 0; i &lt; 3; i++)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3885120" y="1005840"/>
            <a:ext cx="3200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299960" y="2057400"/>
            <a:ext cx="89625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How Java was born and why it became one of the most powerful programming languages.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91440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Beginning (1990)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was created at Sun Microsystems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Developed by James Gosling and his team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Originally called Oak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Initial goal: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Software for consumer electronics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TVs, set-top boxes, embedded systems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Key problem: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hardware, different software ❌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We needed one language that could run everywhere.”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43484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Run Anywhere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Compiled to Bytecode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Runs on 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Works on every OS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Released in 1995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Built for the Internet era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795528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History Begins!");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 = 1995;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(year &gt;= 1995)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is born");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074320" y="1005840"/>
            <a:ext cx="68227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The Problem Before Java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3061800" y="2057400"/>
            <a:ext cx="54385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Why the world needed a new programming language.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618120" y="2971800"/>
            <a:ext cx="3657240" cy="2876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Software Chaos (Early 1990s)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situation: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computers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processors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operating systems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Result: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Programs worked on one machine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Failed on another ❌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Big issue: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Developers had to rewrite the same software again and again.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once” did NOT exist yet.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43484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Why Existing Languages Failed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 / C++ → Hardware dependent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Platform-specific binaries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Memory management issues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Security problems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Main pain: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One system = one build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i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 universal solution.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795528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Before Java philosophy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Code depended on hardware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device = 1991;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(device != 1995)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System.out.println("Rewrite the software!");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81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82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83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84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85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86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87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88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89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90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91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92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93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94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95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96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ounded Rectangle 43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1117800" y="1005840"/>
            <a:ext cx="87429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 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 – The Oak Project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4195440" y="2057400"/>
            <a:ext cx="31708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idea that later became Java.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4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45"/>
          <p:cNvSpPr/>
          <p:nvPr/>
        </p:nvSpPr>
        <p:spPr>
          <a:xfrm>
            <a:off x="91440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Project Oak (1991)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Sun Microsystems internal project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Led by James Gosling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Small, focused team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Original name: Oak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Purpose: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Software for smart devices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(TVs, set-top boxes, embedded systems)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ounded Rectangle 46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48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4" name="Rounded Rectangle 49"/>
          <p:cNvSpPr/>
          <p:nvPr/>
        </p:nvSpPr>
        <p:spPr>
          <a:xfrm>
            <a:off x="795528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OakIdea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runEverywhere = true;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(runEverywhere)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System.out.println("This idea will change software");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Rounded Rectangle 1"/>
          <p:cNvSpPr/>
          <p:nvPr/>
        </p:nvSpPr>
        <p:spPr>
          <a:xfrm>
            <a:off x="4484160" y="313200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The Core Idea Behind Oak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Simple syntax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Strong security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 direct hardware dependency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memory management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Revolutionary thought: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One language for many devices.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The same code should run everywhere.”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Rectangle 97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98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99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100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101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102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103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105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106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107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108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109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110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111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112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ounded Rectangle 47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Box 21"/>
          <p:cNvSpPr/>
          <p:nvPr/>
        </p:nvSpPr>
        <p:spPr>
          <a:xfrm>
            <a:off x="1203840" y="1005840"/>
            <a:ext cx="857520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History – From Oak to Java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22"/>
          <p:cNvSpPr/>
          <p:nvPr/>
        </p:nvSpPr>
        <p:spPr>
          <a:xfrm>
            <a:off x="3381480" y="2057400"/>
            <a:ext cx="4798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How Oak became Java and found its real purpose.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Rounded Rectangle 50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ounded Rectangle 51"/>
          <p:cNvSpPr/>
          <p:nvPr/>
        </p:nvSpPr>
        <p:spPr>
          <a:xfrm>
            <a:off x="91440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Turning Point (1994)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What went wrong?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Smart TV market failed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Oak had no commercial future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Project almost canceled ❌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But something changed…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Internet started to grow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Web browsers became popular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Need for portable, secure code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Key realization: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“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future is not TVs — it’s the Web.”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Rounded Rectangle 52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ounded Rectangle 53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0" name="Rounded Rectangle 54"/>
          <p:cNvSpPr/>
          <p:nvPr/>
        </p:nvSpPr>
        <p:spPr>
          <a:xfrm>
            <a:off x="795528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WebFuture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internetEra = true;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(internetEra)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"Java is ready for the Web!"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Rounded Rectangle 55"/>
          <p:cNvSpPr/>
          <p:nvPr/>
        </p:nvSpPr>
        <p:spPr>
          <a:xfrm>
            <a:off x="4484160" y="313200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Web Opportunity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Why Oak was perfect for the Internet?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Platform-independent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Secure by design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Small &amp; efficient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No direct hardware dependency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New direction: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From devices → browsers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From Oak → Java ☕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1995: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officially introduced to the world.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Rectangle 113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114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115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116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117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118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119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120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121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122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123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124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125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126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127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28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ounded Rectangle 56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Box 24"/>
          <p:cNvSpPr/>
          <p:nvPr/>
        </p:nvSpPr>
        <p:spPr>
          <a:xfrm>
            <a:off x="-382680" y="1005840"/>
            <a:ext cx="1175004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             </a:t>
            </a: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Java Philosophy – Write Once, Run Anywhere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25"/>
          <p:cNvSpPr/>
          <p:nvPr/>
        </p:nvSpPr>
        <p:spPr>
          <a:xfrm>
            <a:off x="3207960" y="2057400"/>
            <a:ext cx="5146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aaaaaa"/>
                </a:solidFill>
                <a:latin typeface="Calibri"/>
                <a:ea typeface="DejaVu Sans"/>
              </a:rPr>
              <a:t>The idea that changed software development forever.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Rounded Rectangle 57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ounded Rectangle 58"/>
          <p:cNvSpPr/>
          <p:nvPr/>
        </p:nvSpPr>
        <p:spPr>
          <a:xfrm>
            <a:off x="91440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Big Promise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Before Java: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One OS = one build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Recompile for every system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High maintenance cost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With Java: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One source 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One compiled bytecode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Runs everywhere 🌍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Famous slogan: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Run Anywhere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Rounded Rectangle 59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ounded Rectangle 60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6" name="Rounded Rectangle 61"/>
          <p:cNvSpPr/>
          <p:nvPr/>
        </p:nvSpPr>
        <p:spPr>
          <a:xfrm>
            <a:off x="795528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Anywhere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os = System.getProperty("os.name");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"Running on: " + os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"Same code. Same result."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Rounded Rectangle 62"/>
          <p:cNvSpPr/>
          <p:nvPr/>
        </p:nvSpPr>
        <p:spPr>
          <a:xfrm>
            <a:off x="4484160" y="313200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How It Works (Simple View)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execution model: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JVM (per OS)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Runs on any platform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119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2025-12-25T21:40:55Z</dcterms:modified>
  <cp:revision>32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