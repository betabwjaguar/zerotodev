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158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159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168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156.xml.rels" ContentType="application/vnd.openxmlformats-package.relationships+xml"/>
  <Override PartName="/ppt/slideLayouts/_rels/slideLayout157.xml.rels" ContentType="application/vnd.openxmlformats-package.relationships+xml"/>
  <Override PartName="/ppt/slideLayouts/_rels/slideLayout160.xml.rels" ContentType="application/vnd.openxmlformats-package.relationships+xml"/>
  <Override PartName="/ppt/slideLayouts/_rels/slideLayout161.xml.rels" ContentType="application/vnd.openxmlformats-package.relationships+xml"/>
  <Override PartName="/ppt/slideLayouts/_rels/slideLayout162.xml.rels" ContentType="application/vnd.openxmlformats-package.relationships+xml"/>
  <Override PartName="/ppt/slideLayouts/_rels/slideLayout163.xml.rels" ContentType="application/vnd.openxmlformats-package.relationships+xml"/>
  <Override PartName="/ppt/slideLayouts/_rels/slideLayout164.xml.rels" ContentType="application/vnd.openxmlformats-package.relationships+xml"/>
  <Override PartName="/ppt/slideLayouts/_rels/slideLayout165.xml.rels" ContentType="application/vnd.openxmlformats-package.relationships+xml"/>
  <Override PartName="/ppt/slideLayouts/_rels/slideLayout166.xml.rels" ContentType="application/vnd.openxmlformats-package.relationships+xml"/>
  <Override PartName="/ppt/slideLayouts/_rels/slideLayout167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  <p:sldMasterId id="2147483804" r:id="rId14"/>
    <p:sldMasterId id="2147483817" r:id="rId15"/>
  </p:sldMasterIdLst>
  <p:sldIdLst>
    <p:sldId id="256" r:id="rId16"/>
    <p:sldId id="257" r:id="rId17"/>
    <p:sldId id="258" r:id="rId18"/>
    <p:sldId id="259" r:id="rId19"/>
    <p:sldId id="260" r:id="rId20"/>
    <p:sldId id="261" r:id="rId21"/>
    <p:sldId id="262" r:id="rId22"/>
    <p:sldId id="263" r:id="rId23"/>
    <p:sldId id="264" r:id="rId24"/>
    <p:sldId id="265" r:id="rId25"/>
    <p:sldId id="266" r:id="rId26"/>
    <p:sldId id="267" r:id="rId27"/>
    <p:sldId id="268" r:id="rId28"/>
    <p:sldId id="269" r:id="rId29"/>
    <p:sldId id="270" r:id="rId30"/>
    <p:sldId id="271" r:id="rId31"/>
    <p:sldId id="272" r:id="rId32"/>
    <p:sldId id="273" r:id="rId33"/>
    <p:sldId id="274" r:id="rId34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19" Type="http://schemas.openxmlformats.org/officeDocument/2006/relationships/slide" Target="slides/slide4.xml"/><Relationship Id="rId20" Type="http://schemas.openxmlformats.org/officeDocument/2006/relationships/slide" Target="slides/slide5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11.xml"/><Relationship Id="rId27" Type="http://schemas.openxmlformats.org/officeDocument/2006/relationships/slide" Target="slides/slide12.xml"/><Relationship Id="rId28" Type="http://schemas.openxmlformats.org/officeDocument/2006/relationships/slide" Target="slides/slide13.xml"/><Relationship Id="rId29" Type="http://schemas.openxmlformats.org/officeDocument/2006/relationships/slide" Target="slides/slide14.xml"/><Relationship Id="rId30" Type="http://schemas.openxmlformats.org/officeDocument/2006/relationships/slide" Target="slides/slide15.xml"/><Relationship Id="rId31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F82E0C8-6541-4986-8D3E-84067986FD4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3C174DB-A179-4352-9BD1-AE39FAC6327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6633C9-71B3-44B9-95DB-48F2444CAB5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25F5B70-BE21-4423-8347-CD688BCBCD0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EE4DDF0-947A-476E-BC59-9EB9418616C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0142724-507A-47EC-9FCA-FE6E58AC8FA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65314C-7BE5-4A2C-965B-2698818A786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1FC4F66-6D8E-4F5E-B2F6-99ABAA5A4E0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9ED251-25D2-46A0-8BFB-AEB889ABB03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79149CD-28E6-40AE-8C40-29108E79CBF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5091E20-C980-4B5C-A574-2A257BA1666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795DEB1-5C49-4510-B3B8-6DFD6FB7D92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501E767-AFEB-483C-AC79-6EB6683C10A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C41C4A7-C7D7-42DE-9CAE-6E0D5578E39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08883B4-25B9-46AE-8959-607BBF41A43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994FE17-6715-4FD9-97E0-1F372F8C234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50FB0A2-B196-4F4E-9B13-D682D9217A7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4DB889C-8B3E-423D-81E0-14EA74A1A25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12929AC-7FE8-495E-8F09-F7E3B089830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3AF519C-4FE8-4D0C-ACD2-C7E2C10A793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C3614F6-76E4-4C69-959B-C08B798AC8C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4366EC0-B327-49F5-B8C2-8511AA73D12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912F992-C9BB-4FED-B95F-BDA680EA739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C82FED7-927F-42F5-B595-FAEB205F218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0693076-5767-49CB-BA17-103A97C6FF7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70C2835-FE2A-4354-9003-582A0C8BF83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4B5F87C-8F94-41FD-B3CB-41BC3BDD3F7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71D0427-26F2-49A0-9945-BB99DCDF64E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EC0068C-8188-4B28-BFA5-CCA33662681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3B85583-8491-4345-AFCD-E6582919905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E024CD5-D6CB-434F-94CD-3CEBEE4D8E9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EA8ABAA-8A59-420D-8412-C7074FE38F0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3737887-2875-481B-8F2E-D9C07AA3464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BA4E9A4-3BA6-4E92-AAA6-047FD8C5C76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2F48FEA-D487-4843-BA2F-6CF7246EB98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0FFB348-058B-433E-9547-2483DEA9746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140AA95-5628-4BB2-ADA1-49339EE57EA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7CB2CC8-35EC-44A4-B6DD-27882368B3F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1DBF4E4-084E-4055-8B7A-A09838DA6D8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BAF2538-C158-4367-9A60-5B5FFEFDB08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0FCA816-0078-4D2A-B519-615140E4821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ADDE510-4586-4082-8885-97F55AC9453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22B9AE7-9FB6-40DC-A569-A2963626896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8512737-276E-4318-B653-1F96E0A18C5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6AD6592-3265-4B12-8C8D-8824B8EBEF9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A3D2218-ED00-4B04-8A88-71DB5DDCA13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706E6E3-AA6C-48EA-9223-386E96B39AB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5CBD9DF-364B-4460-AD49-A825952B4C5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8C8DD55-1AAE-4A8A-AEFE-CE7BE95C0F7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3E684C9-8A36-41CA-A2D1-8D9A7E65C59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4C9ADCB-6C4F-433B-AEC9-57A2A106BBB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0970CD5-5F28-4825-9772-C4546A9A3CB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6260A20-0364-4670-8190-1C8C6143B06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B698046-B448-458D-BADF-6E28A52EB17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605D167-28C3-4F03-871C-6DC2601A567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CB2B3E2-F034-4571-8966-25671F03771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69FF335-7215-4B91-A71A-AF0449C056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77F6780-6C96-4383-B473-A9D2CED8024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B7CA0E6-F55D-4BD1-979F-4D65B409E2B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56B95F6-57F9-48E9-A5AB-546EB29C6E2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85844E1-0990-4505-9AEF-B5F67FBF8EE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C2DFC4C-8169-4D63-B96A-C62C35C7FFA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7BC098D-AD64-47BD-B58A-7551B10462E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3658688-5022-4048-9638-ECE14A0394A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791209D-10E4-44A6-8828-98C920C965B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844ECC3-56AF-44F5-9A55-63B6539398F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870A00E-B367-484E-914E-92CA0F58F5F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73F53C3-39D6-4DFE-B54C-9AEBE61991B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F4EEF74-0EA1-4691-A8B0-79558947F75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CBE47E4-E941-479A-96EA-707069EFE69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AEF9DC8-B0A0-4501-963D-CF074C449F5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6CA8627-8B1E-469D-AC22-EA335F4BD1B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B37D17D-9764-4F5A-B7AD-A52DB2D8108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A0DC3A2-82E7-4FF8-A166-A49D60E285C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40138DB-CF14-48BF-83F0-B51F129C509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15BC754-3353-4C3B-BFAA-16F79FC06DB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5449C4A-22A2-4A0B-84EC-D965E40F2EC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D5D3424-8CA0-40DE-979E-5A12A8CCB07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29AFCD4-1104-4696-B392-49993C2DD4C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737429D-35CD-4B15-A68F-99D99A73227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9B336DB-6C69-4CD2-9C78-4D068F39B2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1B21614-3C0B-43FE-A6A4-52CE09AEE0B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1C2259F-7497-4463-B3D8-B75EB229D3F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478F001-95A4-4433-9531-C4F514757F3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D69A5CB-2052-40DE-A804-DFCDB89AB73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D88B983-145C-46F6-A12E-E9884A50C4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E2094FF-91D0-471E-9CAC-17CEAD25456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C0BB3B0-15C4-4A71-926D-71BD218C253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AA68682-833D-442E-BB41-1E2FB4E3B08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17BF17C-92EE-47A6-BD4A-32A281DE849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CAC72F5-D442-4F2B-942A-A709245F553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828060C-F8E7-4E52-BB6E-6D9CFD7E192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B4389B0-F703-47C6-9E60-DAB62553725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0D46386-8AEB-48EC-B753-1A6F5A57475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2C6C3AB-0346-4D6A-B071-A4103199052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A3F30EB-8434-4AE4-B3AA-E7762B419F4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5A071CD-825F-42EA-A962-9352E36B9C1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0FA2401-BFCA-487C-878B-65671062984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515B223-8F53-4B87-9B4F-5A7430780BC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3666025-87DC-4AED-A6D4-38EFAD6DB07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AC84948-9174-450F-AB97-1DABBD652B4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B7D05E0-57C3-4CB9-A1D9-E7955D05A7C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80D5AC9-AF86-4833-B468-36D0C0FC649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789A467-01A8-4D29-8A54-68A442C3FEE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5778244-8602-48B9-96D1-6A4BF1116B0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933AFD6-BC8B-48E3-A5DF-7AAF6068BF8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E49C447-BE74-4C35-A4FE-B43853CF42A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B823428-BBA4-454E-B3DE-C7FC71F2DA2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1CA8811-18FE-4F36-A377-7F7D683CA9E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53C090C-4C28-4A09-A09E-7DF345232FD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658771B-2898-47E8-BD6D-4AFCFEFBC87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83EBBED1-9251-4EDE-B50A-00BB0DBDF3F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1BE586A-1096-47EF-AA20-3CBCACD0D5B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5F8DDC9-E48F-4293-AB2E-69D8AB4F5DD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064668D-D37F-4306-ACDA-071B480DB45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ECD1F85-6164-49B9-9048-E98C6BCE813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3854468-EC03-4159-B4AD-7088B1AA33F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E540D04-4ADA-4EE8-9C81-B68B4C01B71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74AD7DB-642D-4930-AFBC-8E791CE784E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C4FB43F-37F0-4345-8B04-34AEBB15003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159958A-F69D-4F0B-BC56-B78E273C99D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87EFE72-BEB0-4A80-97A2-11CDE0F4DAD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C280FA5-CCE6-4C7E-A336-436F6041ED4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AFC91147-BF60-404B-88A6-2E5F8410736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7BCB674D-4763-424F-8EB4-DD549D4AD93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7418CB3-BE35-4431-9504-087CE399715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269731B0-4CFC-44BB-A82B-1082BF982DC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74A177CB-CE14-42E6-9770-BF6717608D1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DCC2953-D860-4D87-A70C-45ADB9AF09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73C0A86-5D29-4074-BCF6-85FA5C2334F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95B5AD3-5EE7-4237-9C51-C8B8F1E27B6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425F910-A62A-44E4-B659-272A84E1B04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4AD016F1-0C94-44F4-8399-01095B15ECD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D3AFFFE-F235-4E4F-B923-3E065E3E75F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79972E3-EE63-48A4-8579-40CC8C6F979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8888EF86-AA31-4E93-8EA7-D0030DEEC32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6A61943E-2CC3-47E6-878D-F67045EAFB0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C713A07D-A6E5-42F6-9F3D-5267145E784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B47621AD-8F30-435D-8E27-68C0D0EDABE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6BA96C4B-7D77-491F-A5AC-49D23925FAE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F5E8AF7-D412-4927-8F9A-752294371C0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76977369-6B20-425B-AEBB-62064B2ADDC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C1008E7-023E-43DB-8071-8EF6BE08668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F86BA33D-FFFB-4F92-B7E9-9E131D7269B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AB4E319C-F27D-46AC-A978-951CF1AFFC5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91EBCBD3-C749-4A35-A7B5-A7E9FB24D5A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88565D38-276C-4767-9581-C859AE6507E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B5029DBE-0CCC-42BB-807A-1C801F30C82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096E3A9-2060-4FF9-ABF2-814D13226EE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4FCB1ECC-5074-4981-9ADA-B92022F0EF6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BDBD99CF-261A-4004-8078-A469A82D3A7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AFFF2BBB-5E80-48A3-8F19-D5C2561A04A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6D80A54-F520-4048-A3FE-BF21B35E64E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130B1DCD-767B-40C4-BBDD-AADA71339F5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1057C3C-C7B8-4492-9A4B-46F2FEFA66A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DE25F502-8CE2-4F46-AA3F-43FAE89B815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5.xml"/><Relationship Id="rId3" Type="http://schemas.openxmlformats.org/officeDocument/2006/relationships/slideLayout" Target="../slideLayouts/slideLayout146.xml"/><Relationship Id="rId4" Type="http://schemas.openxmlformats.org/officeDocument/2006/relationships/slideLayout" Target="../slideLayouts/slideLayout147.xml"/><Relationship Id="rId5" Type="http://schemas.openxmlformats.org/officeDocument/2006/relationships/slideLayout" Target="../slideLayouts/slideLayout148.xml"/><Relationship Id="rId6" Type="http://schemas.openxmlformats.org/officeDocument/2006/relationships/slideLayout" Target="../slideLayouts/slideLayout149.xml"/><Relationship Id="rId7" Type="http://schemas.openxmlformats.org/officeDocument/2006/relationships/slideLayout" Target="../slideLayouts/slideLayout150.xml"/><Relationship Id="rId8" Type="http://schemas.openxmlformats.org/officeDocument/2006/relationships/slideLayout" Target="../slideLayouts/slideLayout151.xml"/><Relationship Id="rId9" Type="http://schemas.openxmlformats.org/officeDocument/2006/relationships/slideLayout" Target="../slideLayouts/slideLayout152.xml"/><Relationship Id="rId10" Type="http://schemas.openxmlformats.org/officeDocument/2006/relationships/slideLayout" Target="../slideLayouts/slideLayout153.xml"/><Relationship Id="rId11" Type="http://schemas.openxmlformats.org/officeDocument/2006/relationships/slideLayout" Target="../slideLayouts/slideLayout154.xml"/><Relationship Id="rId12" Type="http://schemas.openxmlformats.org/officeDocument/2006/relationships/slideLayout" Target="../slideLayouts/slideLayout155.xml"/><Relationship Id="rId13" Type="http://schemas.openxmlformats.org/officeDocument/2006/relationships/slideLayout" Target="../slideLayouts/slideLayout156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57.xml"/><Relationship Id="rId3" Type="http://schemas.openxmlformats.org/officeDocument/2006/relationships/slideLayout" Target="../slideLayouts/slideLayout158.xml"/><Relationship Id="rId4" Type="http://schemas.openxmlformats.org/officeDocument/2006/relationships/slideLayout" Target="../slideLayouts/slideLayout159.xml"/><Relationship Id="rId5" Type="http://schemas.openxmlformats.org/officeDocument/2006/relationships/slideLayout" Target="../slideLayouts/slideLayout160.xml"/><Relationship Id="rId6" Type="http://schemas.openxmlformats.org/officeDocument/2006/relationships/slideLayout" Target="../slideLayouts/slideLayout161.xml"/><Relationship Id="rId7" Type="http://schemas.openxmlformats.org/officeDocument/2006/relationships/slideLayout" Target="../slideLayouts/slideLayout162.xml"/><Relationship Id="rId8" Type="http://schemas.openxmlformats.org/officeDocument/2006/relationships/slideLayout" Target="../slideLayouts/slideLayout163.xml"/><Relationship Id="rId9" Type="http://schemas.openxmlformats.org/officeDocument/2006/relationships/slideLayout" Target="../slideLayouts/slideLayout164.xml"/><Relationship Id="rId10" Type="http://schemas.openxmlformats.org/officeDocument/2006/relationships/slideLayout" Target="../slideLayouts/slideLayout165.xml"/><Relationship Id="rId11" Type="http://schemas.openxmlformats.org/officeDocument/2006/relationships/slideLayout" Target="../slideLayouts/slideLayout166.xml"/><Relationship Id="rId12" Type="http://schemas.openxmlformats.org/officeDocument/2006/relationships/slideLayout" Target="../slideLayouts/slideLayout167.xml"/><Relationship Id="rId13" Type="http://schemas.openxmlformats.org/officeDocument/2006/relationships/slideLayout" Target="../slideLayouts/slideLayout16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CFADEA7-2678-466B-AFC2-18DD96390A3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616BC93-B002-4029-9763-E818420F933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10466EB-AD3D-4F51-9048-84750A9E3FC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B65008E-4651-493F-906A-CBBD6B35601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BE689B2-29ED-40EB-952C-ADF95350FA1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A9BD4F-104C-4D5D-AE08-57D6A623866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E919EAC-EE49-417F-9797-AA0B7CDB27F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27E2A5-283A-4BA7-A3D0-501823DE38F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8099CB5-2A22-4E40-8F5C-18311302F3B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E9ED7D7-C7F8-4B6B-8B01-5CCFFC003B0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8F2F21-1580-44AB-AE03-BABE50339F2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CEFC593-4990-477C-9097-C60DB484EAB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ftr" idx="37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 type="sldNum" idx="38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2EB132-5E9C-4B90-932E-B4D7B8D5435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dt" idx="39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4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5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Rectangle 32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33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34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5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6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7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8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9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40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41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42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43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44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45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46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47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ounded Rectangle 8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Rounded Rectangle 9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ounded Rectangle 10"/>
          <p:cNvSpPr/>
          <p:nvPr/>
        </p:nvSpPr>
        <p:spPr>
          <a:xfrm>
            <a:off x="914400" y="3108960"/>
            <a:ext cx="3284640" cy="328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2" name="Rounded Rectangle 11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12"/>
          <p:cNvSpPr/>
          <p:nvPr/>
        </p:nvSpPr>
        <p:spPr>
          <a:xfrm>
            <a:off x="4434840" y="310896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Rounded Rectangle 13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14"/>
          <p:cNvSpPr/>
          <p:nvPr/>
        </p:nvSpPr>
        <p:spPr>
          <a:xfrm>
            <a:off x="7955280" y="3108960"/>
            <a:ext cx="3468600" cy="328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Rectangle 16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17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18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9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20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21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22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23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24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25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26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27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28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29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0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1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ounded Rectangle 15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4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Rounded Rectangle 16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ounded Rectangle 17"/>
          <p:cNvSpPr/>
          <p:nvPr/>
        </p:nvSpPr>
        <p:spPr>
          <a:xfrm>
            <a:off x="931680" y="2925720"/>
            <a:ext cx="3177360" cy="369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8" name="Rounded Rectangle 18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19"/>
          <p:cNvSpPr/>
          <p:nvPr/>
        </p:nvSpPr>
        <p:spPr>
          <a:xfrm>
            <a:off x="4434840" y="3108960"/>
            <a:ext cx="3284640" cy="305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Rounded Rectangle 20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21"/>
          <p:cNvSpPr/>
          <p:nvPr/>
        </p:nvSpPr>
        <p:spPr>
          <a:xfrm>
            <a:off x="7955280" y="2971800"/>
            <a:ext cx="369756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Rectangle 160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161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162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163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164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165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166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167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168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169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170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171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172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173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174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175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ounded Rectangle 71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0" name="TextBox 31"/>
          <p:cNvSpPr/>
          <p:nvPr/>
        </p:nvSpPr>
        <p:spPr>
          <a:xfrm>
            <a:off x="1937160" y="685800"/>
            <a:ext cx="7115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 ÖRNEĞİ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TextBox 32"/>
          <p:cNvSpPr/>
          <p:nvPr/>
        </p:nvSpPr>
        <p:spPr>
          <a:xfrm>
            <a:off x="2130120" y="1600200"/>
            <a:ext cx="673884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 farklı değişken türlerini birlikte kullanabilir.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türünün farklı bir kapsamı (scope) ve yaşam süresi (lifetime) vardır.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Yerel değişkenler metodların içinde bulunur,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 değişkenler nesnelere aittir 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static değişkenler sınıfa aittir.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Rounded Rectangle 72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ounded Rectangle 73"/>
          <p:cNvSpPr/>
          <p:nvPr/>
        </p:nvSpPr>
        <p:spPr>
          <a:xfrm>
            <a:off x="685800" y="3108960"/>
            <a:ext cx="351612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Scope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inside a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Created when method starts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Destroyed when method ends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object has its own copy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Shared by all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the class itself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4" name="Rounded Rectangle 74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75"/>
          <p:cNvSpPr/>
          <p:nvPr/>
        </p:nvSpPr>
        <p:spPr>
          <a:xfrm>
            <a:off x="4434840" y="3108960"/>
            <a:ext cx="328752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(paylaşılan)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Rounded Rectangle 76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77"/>
          <p:cNvSpPr/>
          <p:nvPr/>
        </p:nvSpPr>
        <p:spPr>
          <a:xfrm>
            <a:off x="7955280" y="2971800"/>
            <a:ext cx="370008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universite = "Tech University"; // static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ogrenciAdi; // instance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bilgileriGoster()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sinif = 2; // yerel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System.out.println(ogrenciAdi);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System.out.println(sinif);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DegiskenOrnegi s1 = new DegiskenOrnegi();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s1.ogrenciAdi = "Tuna";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s1.bilgileriGoster();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Rectangle 144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145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146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147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148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149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150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151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152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153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154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155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156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157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158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159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ounded Rectangle 64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6" name="TextBox 28"/>
          <p:cNvSpPr/>
          <p:nvPr/>
        </p:nvSpPr>
        <p:spPr>
          <a:xfrm>
            <a:off x="3013200" y="1005840"/>
            <a:ext cx="4945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VERİ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TextBox 29"/>
          <p:cNvSpPr/>
          <p:nvPr/>
        </p:nvSpPr>
        <p:spPr>
          <a:xfrm>
            <a:off x="1657080" y="2194560"/>
            <a:ext cx="7657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 türleri, bir değişkenin Java’da hangi tür değeri saklayabileceğini tanımlar.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değişkenin belirli bir veri türü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Rounded Rectangle 65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ounded Rectangle 66"/>
          <p:cNvSpPr/>
          <p:nvPr/>
        </p:nvSpPr>
        <p:spPr>
          <a:xfrm>
            <a:off x="685800" y="3108960"/>
            <a:ext cx="3515400" cy="328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Türleri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, bir değişkende saklanan verinin türünü belirtir.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iki ana veri türü kategorisi vardır.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değerleri doğrudan bellekte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Nesnelere ait referansları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(Arrays), Sınıflar (Classes)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0" name="Rounded Rectangle 67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68"/>
          <p:cNvSpPr/>
          <p:nvPr/>
        </p:nvSpPr>
        <p:spPr>
          <a:xfrm>
            <a:off x="4434840" y="3108960"/>
            <a:ext cx="328680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Rounded Rectangle 69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ounded Rectangle 70"/>
          <p:cNvSpPr/>
          <p:nvPr/>
        </p:nvSpPr>
        <p:spPr>
          <a:xfrm>
            <a:off x="7955280" y="3108960"/>
            <a:ext cx="369936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VeriTurleriOrnek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maas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Rectangle 48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49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50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51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52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53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54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55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56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57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58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59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60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61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62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63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ounded Rectangle 22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2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Rounded Rectangle 23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ounded Rectangle 24"/>
          <p:cNvSpPr/>
          <p:nvPr/>
        </p:nvSpPr>
        <p:spPr>
          <a:xfrm>
            <a:off x="685800" y="2743200"/>
            <a:ext cx="35132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6" name="Rounded Rectangle 25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ounded Rectangle 26"/>
          <p:cNvSpPr/>
          <p:nvPr/>
        </p:nvSpPr>
        <p:spPr>
          <a:xfrm>
            <a:off x="4343400" y="2743200"/>
            <a:ext cx="33760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Rounded Rectangle 27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ounded Rectangle 28"/>
          <p:cNvSpPr/>
          <p:nvPr/>
        </p:nvSpPr>
        <p:spPr>
          <a:xfrm>
            <a:off x="7955280" y="2971800"/>
            <a:ext cx="3697200" cy="319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Rectangle 80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64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65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66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67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68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69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70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71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72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73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74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75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76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77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78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ounded Rectangle 29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8" name="TextBox 13"/>
          <p:cNvSpPr/>
          <p:nvPr/>
        </p:nvSpPr>
        <p:spPr>
          <a:xfrm>
            <a:off x="2441520" y="1005840"/>
            <a:ext cx="608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TextBox 14"/>
          <p:cNvSpPr/>
          <p:nvPr/>
        </p:nvSpPr>
        <p:spPr>
          <a:xfrm>
            <a:off x="2802600" y="2074680"/>
            <a:ext cx="5365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Rounded Rectangle 30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ounded Rectangle 31"/>
          <p:cNvSpPr/>
          <p:nvPr/>
        </p:nvSpPr>
        <p:spPr>
          <a:xfrm>
            <a:off x="685800" y="2971800"/>
            <a:ext cx="351396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2" name="Rounded Rectangle 32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ounded Rectangle 33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Rounded Rectangle 34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ounded Rectangle 35"/>
          <p:cNvSpPr/>
          <p:nvPr/>
        </p:nvSpPr>
        <p:spPr>
          <a:xfrm>
            <a:off x="7955280" y="3108960"/>
            <a:ext cx="369792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Rectangle 79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ectangle 81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ectangle 82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83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84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85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86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87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88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89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90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91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92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93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94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95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ounded Rectangle 36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TextBox 16"/>
          <p:cNvSpPr/>
          <p:nvPr/>
        </p:nvSpPr>
        <p:spPr>
          <a:xfrm>
            <a:off x="1422000" y="1005840"/>
            <a:ext cx="8125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TextBox 17"/>
          <p:cNvSpPr/>
          <p:nvPr/>
        </p:nvSpPr>
        <p:spPr>
          <a:xfrm>
            <a:off x="1388160" y="2057400"/>
            <a:ext cx="8781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Rounded Rectangle 37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ounded Rectangle 38"/>
          <p:cNvSpPr/>
          <p:nvPr/>
        </p:nvSpPr>
        <p:spPr>
          <a:xfrm>
            <a:off x="457200" y="2971800"/>
            <a:ext cx="374256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8" name="Rounded Rectangle 39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ounded Rectangle 40"/>
          <p:cNvSpPr/>
          <p:nvPr/>
        </p:nvSpPr>
        <p:spPr>
          <a:xfrm>
            <a:off x="4343400" y="2971800"/>
            <a:ext cx="3423600" cy="328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Rounded Rectangle 41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ounded Rectangle 42"/>
          <p:cNvSpPr/>
          <p:nvPr/>
        </p:nvSpPr>
        <p:spPr>
          <a:xfrm>
            <a:off x="7955280" y="3108960"/>
            <a:ext cx="369792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Rectangle 96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ectangle 97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ectangle 98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99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100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101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102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103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104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105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106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107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108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109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110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111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ounded Rectangle 43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0" name="TextBox 19"/>
          <p:cNvSpPr/>
          <p:nvPr/>
        </p:nvSpPr>
        <p:spPr>
          <a:xfrm>
            <a:off x="1252800" y="1005840"/>
            <a:ext cx="8463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TextBox 20"/>
          <p:cNvSpPr/>
          <p:nvPr/>
        </p:nvSpPr>
        <p:spPr>
          <a:xfrm>
            <a:off x="1866960" y="1828800"/>
            <a:ext cx="7235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Rounded Rectangle 44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ounded Rectangle 45"/>
          <p:cNvSpPr/>
          <p:nvPr/>
        </p:nvSpPr>
        <p:spPr>
          <a:xfrm>
            <a:off x="475560" y="2514600"/>
            <a:ext cx="372420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4" name="Rounded Rectangle 46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ounded Rectangle 47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Rounded Rectangle 48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ounded Rectangle 49"/>
          <p:cNvSpPr/>
          <p:nvPr/>
        </p:nvSpPr>
        <p:spPr>
          <a:xfrm>
            <a:off x="7955280" y="2304000"/>
            <a:ext cx="3926880" cy="361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Rectangle 112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ectangle 113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ectangle 114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115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116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117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118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119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120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121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122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123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124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125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126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127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ounded Rectangle 50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6" name="TextBox 22"/>
          <p:cNvSpPr/>
          <p:nvPr/>
        </p:nvSpPr>
        <p:spPr>
          <a:xfrm>
            <a:off x="2667240" y="1005840"/>
            <a:ext cx="5635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TextBox 23"/>
          <p:cNvSpPr/>
          <p:nvPr/>
        </p:nvSpPr>
        <p:spPr>
          <a:xfrm>
            <a:off x="2033640" y="2074680"/>
            <a:ext cx="6918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Rounded Rectangle 51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ounded Rectangle 52"/>
          <p:cNvSpPr/>
          <p:nvPr/>
        </p:nvSpPr>
        <p:spPr>
          <a:xfrm>
            <a:off x="685800" y="2971800"/>
            <a:ext cx="35139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0" name="Rounded Rectangle 53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ounded Rectangle 54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Rounded Rectangle 55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ounded Rectangle 56"/>
          <p:cNvSpPr/>
          <p:nvPr/>
        </p:nvSpPr>
        <p:spPr>
          <a:xfrm>
            <a:off x="7955280" y="2971800"/>
            <a:ext cx="3469320" cy="296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Rectangle 128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ectangle 129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ectangle 130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ectangle 131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132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ectangle 133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134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135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136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137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138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139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140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141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142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143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ounded Rectangle 57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2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TextBox 26"/>
          <p:cNvSpPr/>
          <p:nvPr/>
        </p:nvSpPr>
        <p:spPr>
          <a:xfrm>
            <a:off x="3007440" y="2194560"/>
            <a:ext cx="495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Rounded Rectangle 58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ounded Rectangle 59"/>
          <p:cNvSpPr/>
          <p:nvPr/>
        </p:nvSpPr>
        <p:spPr>
          <a:xfrm>
            <a:off x="685800" y="3108960"/>
            <a:ext cx="3515040" cy="328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6" name="Rounded Rectangle 60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ounded Rectangle 61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Rounded Rectangle 62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ounded Rectangle 63"/>
          <p:cNvSpPr/>
          <p:nvPr/>
        </p:nvSpPr>
        <p:spPr>
          <a:xfrm>
            <a:off x="7955280" y="2743200"/>
            <a:ext cx="347040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0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Rectangle 176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ectangle 177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ectangle 178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ectangle 179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ectangle 180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ectangle 181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182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ectangle 183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ectangle 184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ectangle 185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ectangle 186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187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188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189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190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191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ounded Rectangle 78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8" name="TextBox 34"/>
          <p:cNvSpPr/>
          <p:nvPr/>
        </p:nvSpPr>
        <p:spPr>
          <a:xfrm>
            <a:off x="1285920" y="1005840"/>
            <a:ext cx="839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TÜR DÖNÜŞÜMÜ (TYPE CASTING)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TextBox 35"/>
          <p:cNvSpPr/>
          <p:nvPr/>
        </p:nvSpPr>
        <p:spPr>
          <a:xfrm>
            <a:off x="1716840" y="2057400"/>
            <a:ext cx="7609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type casting, bir veri tipini başka bir veri tipine dönüştürme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İki türü vardır: örtük (otomatik) ve açık (manuel) dönüşüm.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Rounded Rectangle 79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ounded Rectangle 80"/>
          <p:cNvSpPr/>
          <p:nvPr/>
        </p:nvSpPr>
        <p:spPr>
          <a:xfrm>
            <a:off x="685800" y="2971800"/>
            <a:ext cx="351612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– 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tarafından otomatik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– 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büyük veri tiplerini daha küçük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2" name="Rounded Rectangle 81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ounded Rectangle 82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(Otomatik)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(Manuel)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Rounded Rectangle 83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ounded Rectangle 84"/>
          <p:cNvSpPr/>
          <p:nvPr/>
        </p:nvSpPr>
        <p:spPr>
          <a:xfrm>
            <a:off x="7955280" y="2971800"/>
            <a:ext cx="370008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TurDonusumuOrnek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yeniFiyat = (int) fiyat;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System.out.println(yeniFiyat);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Rectangle 192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8" name="Rectangle 193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9" name="Rectangle 194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0" name="Rectangle 195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1" name="Rectangle 196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2" name="Rectangle 197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3" name="Rectangle 198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ectangle 199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5" name="Rectangle 200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6" name="Rectangle 201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7" name="Rectangle 202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ectangle 203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9" name="Rectangle 204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ectangle 205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ectangle 206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ectangle 207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3" name="Rounded Rectangle 85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TextBox 37"/>
          <p:cNvSpPr/>
          <p:nvPr/>
        </p:nvSpPr>
        <p:spPr>
          <a:xfrm>
            <a:off x="1504080" y="900360"/>
            <a:ext cx="79610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(Otomatik Dönüşüm)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TextBox 38"/>
          <p:cNvSpPr/>
          <p:nvPr/>
        </p:nvSpPr>
        <p:spPr>
          <a:xfrm>
            <a:off x="2681280" y="1600200"/>
            <a:ext cx="565380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casting, Java’nın daha küçük bir veri tipini otomatik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olarak daha büyük bir veri tipine dönüştürmesi durumunda gerçekleşir.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 güvenlidir çünkü daha büyük veri tipi, daha küçük veri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tipinin tüm değerlerini veri kaybı olmadan saklayabilir.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Rounded Rectangle 86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7" name="Rounded Rectangle 87"/>
          <p:cNvSpPr/>
          <p:nvPr/>
        </p:nvSpPr>
        <p:spPr>
          <a:xfrm>
            <a:off x="595440" y="2743200"/>
            <a:ext cx="351684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Casting, Java’da daha küçük bir veri tipinin daha büyük bir veri tipine otomatik olarak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veri kaybı riski olmadığında otomatik olarak gerçekleştirir.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Ayrıca Genişletme Dönüşümü (Widening Casting) olarak da adlandırılır.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tarafından otomatik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Manuel dönüşüm gerekmez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8" name="Rounded Rectangle 88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ounded Rectangle 89"/>
          <p:cNvSpPr/>
          <p:nvPr/>
        </p:nvSpPr>
        <p:spPr>
          <a:xfrm>
            <a:off x="4343400" y="2880360"/>
            <a:ext cx="36550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Akışı (Genişletme Dönüşümü)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adım, önceki veri tipini güvenli şekilde saklayabilen bir veri tipini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Rounded Rectangle 90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1" name="Rounded Rectangle 91"/>
          <p:cNvSpPr/>
          <p:nvPr/>
        </p:nvSpPr>
        <p:spPr>
          <a:xfrm>
            <a:off x="8229600" y="2972880"/>
            <a:ext cx="3655080" cy="319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int'ten double'a otomatik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System.out.println("Sayı: " + sayi);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System.out.println("Dönüştürülen değer: " + 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Rectangle 208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4" name="Rectangle 209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5" name="Rectangle 210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6" name="Rectangle 211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7" name="Rectangle 212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8" name="Rectangle 213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9" name="Rectangle 214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ectangle 215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1" name="Rectangle 216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2" name="Rectangle 217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3" name="Rectangle 218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ectangle 219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5" name="Rectangle 220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ectangle 221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ectangle 222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ectangle 223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9" name="Rounded Rectangle 92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0" name="TextBox 40"/>
          <p:cNvSpPr/>
          <p:nvPr/>
        </p:nvSpPr>
        <p:spPr>
          <a:xfrm>
            <a:off x="1417320" y="685800"/>
            <a:ext cx="826452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JAVA AÇIK TÜR DÖNÜŞÜMÜ (EXPLICIT CASTING)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TextBox 41"/>
          <p:cNvSpPr/>
          <p:nvPr/>
        </p:nvSpPr>
        <p:spPr>
          <a:xfrm>
            <a:off x="2008800" y="1371600"/>
            <a:ext cx="7133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casting, Java’da daha büyük bir veri tipinin daha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küçük bir veri tipine manuel olarak dönüştürülmesidir.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dönüşüm, veri kaybı veya hassasiyet kaybı riski olduğunda gereklidir.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Rounded Rectangle 93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3" name="Rounded Rectangle 94"/>
          <p:cNvSpPr/>
          <p:nvPr/>
        </p:nvSpPr>
        <p:spPr>
          <a:xfrm>
            <a:off x="457200" y="2743200"/>
            <a:ext cx="374580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Casting, daha büyük bir veri tipinin daha küçük bir veri tipine manuel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otomatik olarak yapmaz, çünkü küçük veri tipi tüm değerleri saklayamayabilir.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Buna ayrıca Narrowing Casting (Daraltma Dönüşümü) denir.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sayısal veri tiplerini daha küçük olanlara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4" name="Rounded Rectangle 95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ounded Rectangle 96"/>
          <p:cNvSpPr/>
          <p:nvPr/>
        </p:nvSpPr>
        <p:spPr>
          <a:xfrm>
            <a:off x="4434840" y="2971800"/>
            <a:ext cx="328860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Akışı (Daraltma)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adımda değer daha küçük bir veri tipine dönüştürülür, bu da ondalık kısmın kaybolmasına veya taşmaya neden olabilir.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6" name="Rounded Rectangle 97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7" name="Rounded Rectangle 98"/>
          <p:cNvSpPr/>
          <p:nvPr/>
        </p:nvSpPr>
        <p:spPr>
          <a:xfrm>
            <a:off x="7955280" y="2514600"/>
            <a:ext cx="392976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// double'dan int'e açık dönüşüm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System.out.println("Dönüştürülmüş değer: " + newPrice);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Rectangle 224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0" name="Rectangle 225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1" name="Rectangle 226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2" name="Rectangle 227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3" name="Rectangle 228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4" name="Rectangle 229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5" name="Rectangle 230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6" name="Rectangle 231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7" name="Rectangle 232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8" name="Rectangle 233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9" name="Rectangle 234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0" name="Rectangle 235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1" name="Rectangle 236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2" name="Rectangle 237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3" name="Rectangle 238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4" name="Rectangle 239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5" name="Rounded Rectangle 99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6" name="TextBox 43"/>
          <p:cNvSpPr/>
          <p:nvPr/>
        </p:nvSpPr>
        <p:spPr>
          <a:xfrm>
            <a:off x="915480" y="1005840"/>
            <a:ext cx="913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Örtük (Implicit) vs Açık (Explicit) Tür Dönüşümü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TextBox 44"/>
          <p:cNvSpPr/>
          <p:nvPr/>
        </p:nvSpPr>
        <p:spPr>
          <a:xfrm>
            <a:off x="2181960" y="2057400"/>
            <a:ext cx="6606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Örtük ve açık tür dönüşümü arasındaki farkı anlamak, veri kaybını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önlemeye ve Java’da doğru tür dönüşümü yapmaya yardımcı olur.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Rounded Rectangle 100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9" name="Rounded Rectangle 101"/>
          <p:cNvSpPr/>
          <p:nvPr/>
        </p:nvSpPr>
        <p:spPr>
          <a:xfrm>
            <a:off x="914400" y="3108960"/>
            <a:ext cx="328896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/ 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→ Büyük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yoktur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Ekstra yazım (syntax) gerekmez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/ 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Büyük → Küçük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Manuel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olabilir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(type) kullanımı gerekir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0" name="Rounded Rectangle 102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1" name="Rounded Rectangle 103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2" name="Rounded Rectangle 104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3" name="Rounded Rectangle 105"/>
          <p:cNvSpPr/>
          <p:nvPr/>
        </p:nvSpPr>
        <p:spPr>
          <a:xfrm>
            <a:off x="7955280" y="3108960"/>
            <a:ext cx="370152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Rectangle 240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6" name="Rectangle 241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7" name="Rectangle 242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8" name="Rectangle 243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9" name="Rectangle 244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0" name="Rectangle 245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1" name="Rectangle 246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2" name="Rectangle 247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3" name="Rectangle 248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4" name="Rectangle 249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5" name="Rectangle 250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6" name="Rectangle 251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7" name="Rectangle 252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8" name="Rectangle 253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9" name="Rectangle 254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0" name="Rectangle 255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1" name="Rounded Rectangle 106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2" name="TextBox 46"/>
          <p:cNvSpPr/>
          <p:nvPr/>
        </p:nvSpPr>
        <p:spPr>
          <a:xfrm>
            <a:off x="1320840" y="1005840"/>
            <a:ext cx="833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VERİ KAYBI &amp; HASSASİYET KAYBI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TextBox 47"/>
          <p:cNvSpPr/>
          <p:nvPr/>
        </p:nvSpPr>
        <p:spPr>
          <a:xfrm>
            <a:off x="957240" y="1826640"/>
            <a:ext cx="9090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Tür dönüşümü sırasında, büyük veri tipinden küçük veri tipine geçerken veri kaybı oluşabilir.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 kısımlar silinebilir ve büyük değerlerde taşma meydana gelebilir.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Rounded Rectangle 107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5" name="Rounded Rectangle 108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(daraltma) casting sırasında oluşur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kesilir (yuvarlanmaz)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 tüm değeri saklayamaz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sonuçlara yol açabilir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Özellikle float → int dönüşümünde hassasiyet kaybı olur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6" name="Rounded Rectangle 109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7" name="Rounded Rectangle 110"/>
          <p:cNvSpPr/>
          <p:nvPr/>
        </p:nvSpPr>
        <p:spPr>
          <a:xfrm>
            <a:off x="4343400" y="3108960"/>
            <a:ext cx="338076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tamamen silinir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Yuvarlama yapılmaz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8" name="Rounded Rectangle 111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9" name="Rounded Rectangle 112"/>
          <p:cNvSpPr/>
          <p:nvPr/>
        </p:nvSpPr>
        <p:spPr>
          <a:xfrm>
            <a:off x="7955280" y="2971800"/>
            <a:ext cx="393048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VeriKaybiOrnegi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deger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(explicit) dönüşüm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(int) 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System.out.println("Dönüşüm sonrası: " + sonuc);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buyukDeger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donusturulen = (int) buyukDeger;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 değer: " + buyukDeger);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 değer: " + donusturulen);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Rectangle 256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2" name="Rectangle 257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3" name="Rectangle 258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4" name="Rectangle 259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5" name="Rectangle 260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6" name="Rectangle 261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7" name="Rectangle 262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8" name="Rectangle 263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9" name="Rectangle 264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0" name="Rectangle 265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1" name="Rectangle 266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2" name="Rectangle 267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3" name="Rectangle 268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4" name="Rectangle 269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5" name="Rectangle 270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6" name="Rectangle 271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7" name="Rounded Rectangle 113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8" name="TextBox 49"/>
          <p:cNvSpPr/>
          <p:nvPr/>
        </p:nvSpPr>
        <p:spPr>
          <a:xfrm>
            <a:off x="1611720" y="1005840"/>
            <a:ext cx="7746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İFADELERDE TÜR DÖNÜŞÜMÜ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TextBox 50"/>
          <p:cNvSpPr/>
          <p:nvPr/>
        </p:nvSpPr>
        <p:spPr>
          <a:xfrm>
            <a:off x="2283480" y="2194560"/>
            <a:ext cx="6405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Automatic type conversion during arithmetic operations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Rounded Rectangle 114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1" name="Rounded Rectangle 115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ifadelerde küçük veri tiplerini yükseltir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en büyük veri tipine göre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Çoğu durumda manuel dönüşüm gerekmez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byte, short → otomatik olarak int’e çevrilir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2" name="Rounded Rectangle 116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3" name="Rounded Rectangle 117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+ double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+ long →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short + short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= en büyük veri tipi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4" name="Rounded Rectangle 118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5" name="Rounded Rectangle 119"/>
          <p:cNvSpPr/>
          <p:nvPr/>
        </p:nvSpPr>
        <p:spPr>
          <a:xfrm>
            <a:off x="7955280" y="2971800"/>
            <a:ext cx="393084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 = 5.5;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a + b; // int → double (a otomatik olarak double’a çevrilir)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x = 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y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x + y; // byte → int (byte'lar otomatik int'e yükseltilir)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Rectangle 272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8" name="Rectangle 273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9" name="Rectangle 274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0" name="Rectangle 275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1" name="Rectangle 276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2" name="Rectangle 277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3" name="Rectangle 278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4" name="Rectangle 279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5" name="Rectangle 280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6" name="Rectangle 281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7" name="Rectangle 282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8" name="Rectangle 283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9" name="Rectangle 284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0" name="Rectangle 285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1" name="Rectangle 286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2" name="Rectangle 287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3" name="Rounded Rectangle 120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4" name="TextBox 52"/>
          <p:cNvSpPr/>
          <p:nvPr/>
        </p:nvSpPr>
        <p:spPr>
          <a:xfrm>
            <a:off x="2517120" y="1005840"/>
            <a:ext cx="5936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System – 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TextBox 53"/>
          <p:cNvSpPr/>
          <p:nvPr/>
        </p:nvSpPr>
        <p:spPr>
          <a:xfrm>
            <a:off x="848160" y="2074680"/>
            <a:ext cx="94629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Java’nın farklı dillerdeki metinleri tüm platformlarda tutarlı bir şekilde temsil etmesini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sağlayan evrensel bir karakter kodlama standardıdır.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Rounded Rectangle 121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7" name="Rounded Rectangle 122"/>
          <p:cNvSpPr/>
          <p:nvPr/>
        </p:nvSpPr>
        <p:spPr>
          <a:xfrm>
            <a:off x="914400" y="3108960"/>
            <a:ext cx="329004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Unicode, küresel bir karakter kümesidir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karakterin benzersiz bir kod noktası vardır (örn. \u0041)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ASCII ve ISO gibi eski kodlamaların yerini almıştır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Neredeyse tüm dünya dillerini destekler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Unicode’u dahili olarak kullanır (UTF-16)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8" name="Rounded Rectangle 123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9" name="Rounded Rectangle 124"/>
          <p:cNvSpPr/>
          <p:nvPr/>
        </p:nvSpPr>
        <p:spPr>
          <a:xfrm>
            <a:off x="4343400" y="3108960"/>
            <a:ext cx="3428280" cy="283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(UTF-16) → Java’da Saklanır →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0" name="Rounded Rectangle 125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1" name="Rounded Rectangle 126"/>
          <p:cNvSpPr/>
          <p:nvPr/>
        </p:nvSpPr>
        <p:spPr>
          <a:xfrm>
            <a:off x="7955280" y="3108960"/>
            <a:ext cx="370260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ch = '\u0041'; // 'A' için Unicode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System.out.println(ch);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symbol = '\u00AB'; // «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System.out.println(symbol);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2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3" name="" descr=""/>
          <p:cNvPicPr/>
          <p:nvPr/>
        </p:nvPicPr>
        <p:blipFill>
          <a:blip r:embed="rId1"/>
          <a:stretch/>
        </p:blipFill>
        <p:spPr>
          <a:xfrm>
            <a:off x="4434840" y="5029200"/>
            <a:ext cx="3264840" cy="685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Rectangle 288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5" name="Rectangle 289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6" name="Rectangle 290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7" name="Rectangle 291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8" name="Rectangle 292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9" name="Rectangle 293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0" name="Rectangle 294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1" name="Rectangle 295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2" name="Rectangle 296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3" name="Rectangle 297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4" name="Rectangle 298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5" name="Rectangle 299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6" name="Rectangle 300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7" name="Rectangle 301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8" name="Rectangle 302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9" name="Rectangle 303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0" name="Rounded Rectangle 127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1" name="TextBox 55"/>
          <p:cNvSpPr/>
          <p:nvPr/>
        </p:nvSpPr>
        <p:spPr>
          <a:xfrm>
            <a:off x="2827440" y="1005840"/>
            <a:ext cx="5317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Nasıl Çalışır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" name="TextBox 56"/>
          <p:cNvSpPr/>
          <p:nvPr/>
        </p:nvSpPr>
        <p:spPr>
          <a:xfrm>
            <a:off x="2654280" y="1846080"/>
            <a:ext cx="56624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platform, dil veya programdan bağımsız olarak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karaktere benzersiz bir sayı (kod noktası) atar.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Rounded Rectangle 128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4" name="Rounded Rectangle 129"/>
          <p:cNvSpPr/>
          <p:nvPr/>
        </p:nvSpPr>
        <p:spPr>
          <a:xfrm>
            <a:off x="685800" y="3108960"/>
            <a:ext cx="351900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 → Kod Noktası (U+XXXX formatı)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→ U+0041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 → U+00E7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😀 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U+1F600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evrenseldir → her yerde aynı anlam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Kodlama sistemleri (UTF-8, UTF-16, UTF-32) verinin nasıl saklanacağını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5" name="Rounded Rectangle 130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6" name="Rounded Rectangle 131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→ Binary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 → UTF-8 → 01000001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7" name="Rounded Rectangle 132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8" name="Rounded Rectangle 133"/>
          <p:cNvSpPr/>
          <p:nvPr/>
        </p:nvSpPr>
        <p:spPr>
          <a:xfrm>
            <a:off x="7955280" y="2514600"/>
            <a:ext cx="393156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codePoint = letter;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System.out.println("Karakter: " + letter);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Kod Noktası: U+" + Integer.toHexString(codePoint).toUpperCase());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Unicode escape kullanımı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unicodeChar = '\u0041';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Escape: " + unicodeChar);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9" name="TextBox 57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Rectangle 304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1" name="Rectangle 305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2" name="Rectangle 306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3" name="Rectangle 307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4" name="Rectangle 308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5" name="Rectangle 309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6" name="Rectangle 310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7" name="Rectangle 311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8" name="Rectangle 312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9" name="Rectangle 313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0" name="Rectangle 314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1" name="Rectangle 315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2" name="Rectangle 316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3" name="Rectangle 317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4" name="Rectangle 318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5" name="Rectangle 319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6" name="Rounded Rectangle 134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7" name="TextBox 58"/>
          <p:cNvSpPr/>
          <p:nvPr/>
        </p:nvSpPr>
        <p:spPr>
          <a:xfrm>
            <a:off x="1562760" y="1005840"/>
            <a:ext cx="78469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Kodlama (UTF-8 / UTF-16)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8" name="TextBox 59"/>
          <p:cNvSpPr/>
          <p:nvPr/>
        </p:nvSpPr>
        <p:spPr>
          <a:xfrm>
            <a:off x="1442520" y="1846080"/>
            <a:ext cx="80863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karakterleri saklamak için farklı encoding (kodlama) yöntemleri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9" name="Rounded Rectangle 135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0" name="Rounded Rectangle 136"/>
          <p:cNvSpPr/>
          <p:nvPr/>
        </p:nvSpPr>
        <p:spPr>
          <a:xfrm>
            <a:off x="685800" y="3108960"/>
            <a:ext cx="351900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1" name="Rounded Rectangle 137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2" name="Rounded Rectangle 138"/>
          <p:cNvSpPr/>
          <p:nvPr/>
        </p:nvSpPr>
        <p:spPr>
          <a:xfrm>
            <a:off x="4343400" y="2836080"/>
            <a:ext cx="3381840" cy="310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Karakter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Kod Noktası (U+XXXX)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Encoding seçilir (UTF-8 / UTF-16)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Binary veriye çevrilir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Bellekte saklanır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UTF-8 →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UTF-16 → 00000000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3" name="Rounded Rectangle 139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4" name="Rounded Rectangle 140"/>
          <p:cNvSpPr/>
          <p:nvPr/>
        </p:nvSpPr>
        <p:spPr>
          <a:xfrm>
            <a:off x="7955280" y="2514600"/>
            <a:ext cx="3931560" cy="3886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EncodingExample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"A";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UTF-8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utf8Bytes = text.getBytes(java.nio.charset.StandardCharsets.UTF_8);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UTF-16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utf16Bytes = text.getBytes(java.nio.charset.StandardCharsets.UTF_16);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System.out.println("UTF-8:");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utf8Bytes)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System.out.println("\nUTF-16:");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utf16Bytes)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5" name="TextBox 60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66" name="" descr=""/>
          <p:cNvPicPr/>
          <p:nvPr/>
        </p:nvPicPr>
        <p:blipFill>
          <a:blip r:embed="rId1"/>
          <a:stretch/>
        </p:blipFill>
        <p:spPr>
          <a:xfrm>
            <a:off x="757440" y="3356280"/>
            <a:ext cx="3357360" cy="2358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339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2026-04-05T22:18:57Z</dcterms:modified>
  <cp:revision>32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