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9E9B56E-9FDF-46C5-9F52-7699229CF0D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FB0C50-D118-4920-A723-DFFD5AF4E9B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38AA4C5-37E2-464D-8D7C-D6F774EFAD1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8C42628-08C0-41D7-8F90-3E39C801EA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2624ECE-7E71-4E0E-B7FE-3EED66D3E5C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A89956F-E8DB-4808-BBA7-0633A76AC8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D5FC5BF-3772-4B60-882A-B1056362E85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FC27631-FE68-45CC-9E0D-41BDB16131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44C9318-4D1B-4E88-B094-40D3017074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703E99-C16B-43C1-B641-AE6FD5A30DA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791291-A3FB-440B-84DB-9BA4E2BB0B5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B8D937-BF3D-4D28-9EC4-F0A0AD2945A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B73FD1-68D6-423C-9598-E7029BEEE11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5508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3070440" y="1495080"/>
            <a:ext cx="5937480" cy="12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tarih ve saat işlemleri, Java 8 ile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gelen java.time paketi kullanılarak yönetilir.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Eski tarih sınıflarının aksine, bu yeni API çok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daha güvenli (thread-safe), anlaşılır ve esnek bir yapı sunar.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8 ile birlikte gelen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paketi, bölgesel zamanı (Timezone) ve tarihleri hassas bir şekilde yönetmemizi sağlar.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ve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sınıfları kullanılarak, bulunduğunuz konumun (örneğin İstanbul, Türkiye) yerel saat dilimine ve güncel tarih verilerine anlık olarak ulaşılıp istenilen formatta yazdırılabilir.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Bölge (ZoneId) Tanımlanır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Güncel Zaman (ZonedDateTime) Alınır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Belirlenir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2292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Konum İstanbul olarak ayarlanır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İstanbul bölgesindeki güncel zaman alınır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İstenen formata göre (Örn: Salı, 28 Nisan 2026 saat 22:26 +03:00)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dd MMMM yyyy 'saat' HH:mm xxx", new Locale("tr", "TR"));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System.out.println("Şu anki zaman: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System.out.println("Mevcut konumun İstanbul, Türkiye olduğunu unutmayın.");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33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34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35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36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37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38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39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40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41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42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43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44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45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46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47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723240" y="914400"/>
            <a:ext cx="95234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Saat Dilimi (Timezone) ve Bölgesel Zaman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1778760" y="1828800"/>
            <a:ext cx="79322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saat dilimi yönetimi, farklı bölgelerin zamanını doğru şekilde hesaplamak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ZoneId ile bölge seçilir, ZonedDateTime ile o bölgenin güncel tarih ve saati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alınır. Bu yapı sayesinde global uygulamalarda her kullanıcıya doğru zaman gösterilir.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Saat dilimini temsil eder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Saat dilimi ile birlikte tarih ve saat bilgisini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bölge için farklı UTC offset otomatik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/ kış saati değişimleri otomatik yönetilir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Seçilir (ZoneId)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 Bölgeye Ait Zaman Alınır (ZonedDateTime)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69468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System.out.println("İstanbul Saati: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Saati: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1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1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2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2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2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2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2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2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2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2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2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2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3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3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942480" y="914400"/>
            <a:ext cx="90842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LocalDate, LocalTime ve LocalDateTime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914400" y="3108960"/>
            <a:ext cx="328212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Sadece tarih bilgisini tutar (yıl, ay, gün)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Sadece saat bilgisini tutar (saat, dakika, saniye)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Tarih ve saat bilgisini birlikte tutar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Saat dilimi (timezone) içermezler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basit ve performanslı kullanım sağlar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Uygun Sınıf Seçilir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Güncel Değer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/ Formatlama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694680" cy="3054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System.out.println("Saat: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ve Saat: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Rectangle 4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" name="Rectangle 5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" name="Rectangle 5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" name="Rectangle 5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" name="Rectangle 5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" name="Rectangle 5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" name="Rectangle 5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" name="Rectangle 5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" name="Rectangle 5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" name="Rectangle 5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" name="Rectangle 5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" name="Rectangle 6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" name="Rectangle 6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" name="Rectangle 6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" name="Rectangle 6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" name="Rectangle 6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" name="Rounded Rectangle 2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Box 10"/>
          <p:cNvSpPr/>
          <p:nvPr/>
        </p:nvSpPr>
        <p:spPr>
          <a:xfrm>
            <a:off x="2796840" y="914400"/>
            <a:ext cx="5374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DateTimeFormatter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Box 11"/>
          <p:cNvSpPr/>
          <p:nvPr/>
        </p:nvSpPr>
        <p:spPr>
          <a:xfrm>
            <a:off x="1149480" y="1828800"/>
            <a:ext cx="918936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tarih ve saat işlemleri sadece saat dilimine bağlı değildir. Bazı durumlarda sadece tarih, sadece saat ya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da ikisinin birleşimi gerekir. Bu ihtiyaçlar için LocalDate, LocalTime ve LocalDateTime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Rounded Rectangle 3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" name="Rounded Rectangle 31"/>
          <p:cNvSpPr/>
          <p:nvPr/>
        </p:nvSpPr>
        <p:spPr>
          <a:xfrm>
            <a:off x="914400" y="3108960"/>
            <a:ext cx="3282120" cy="3054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→ Tarih ve saat verilerini formatlar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Özel format desenlerini destekler (dd/MM/yyyy, HH:mm vb.)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LocalDateTime, ZonedDateTime gibi sınıflarla kullanılabilir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Yerel (locale) tabanlı formatlama sağlar (dil desteği)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Tarih-saat çıktısının okunabilirliğini artırır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Rounded Rectangle 3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" name="Rounded Rectangle 33"/>
          <p:cNvSpPr/>
          <p:nvPr/>
        </p:nvSpPr>
        <p:spPr>
          <a:xfrm>
            <a:off x="4434840" y="310896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Uygulama çalışır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Tarih/Saat bilgisine ihtiyaç duyulur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 bir format deseni belirlenir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veriyi işler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Okunabilir bir çıktı üretilir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kullanıcıya gösterilir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Rounded Rectangle 3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" name="Rounded Rectangle 35"/>
          <p:cNvSpPr/>
          <p:nvPr/>
        </p:nvSpPr>
        <p:spPr>
          <a:xfrm>
            <a:off x="7955280" y="2743200"/>
            <a:ext cx="3694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java.time.LocalDateTime;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java.time.format.DateTimeFormatter;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java.util.Locale;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LocaleFormatterExample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now = LocalDateTime.now();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formatterTR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 MMMM yyyy HH:mm", new Locale("tr", "TR"));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formatterUS =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DateTimeFormatter.ofPattern("MMMM dd, yyyy hh:mm a", Locale.US);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System.out.println("Türkçe Format: " + now.format(formatterTR));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System.out.println("ABD Formatı: " + now.format(formatterUS));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Rectangle 6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" name="Rectangle 6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" name="Rectangle 6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" name="Rectangle 6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" name="Rectangle 6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" name="Rectangle 7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" name="Rectangle 7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" name="Rectangle 7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" name="Rectangle 7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" name="Rectangle 7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" name="Rectangle 7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" name="Rectangle 7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" name="Rectangle 7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" name="Rectangle 7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" name="Rectangle 7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" name="Rectangle 8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" name="Rounded Rectangle 3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TextBox 13"/>
          <p:cNvSpPr/>
          <p:nvPr/>
        </p:nvSpPr>
        <p:spPr>
          <a:xfrm>
            <a:off x="2099160" y="914400"/>
            <a:ext cx="6772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Tarih ve Saat Parsing İşlemi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Box 14"/>
          <p:cNvSpPr/>
          <p:nvPr/>
        </p:nvSpPr>
        <p:spPr>
          <a:xfrm>
            <a:off x="1196640" y="1828800"/>
            <a:ext cx="909360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parsing, metin (String) formatındaki tarih değerlerini uygulama içinde kullanılabilecek yapılandırılmış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tarih-saat nesnelerine dönüştürme işlemidir.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Rounded Rectangle 3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5" name="Rounded Rectangle 38"/>
          <p:cNvSpPr/>
          <p:nvPr/>
        </p:nvSpPr>
        <p:spPr>
          <a:xfrm>
            <a:off x="457200" y="2514600"/>
            <a:ext cx="373932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Tarihler genellikle düz metin olarak gelir.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Metinler üzerinde hesaplama veya karşılaştırma yapılamaz.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yüzden gerçek bir tarih nesnesine dönüştürülmelidir.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pattern, metnin nasıl okunacağını belirler.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Formatter bu kurala sıkı sıkıya bağlı kalır.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Format eşleşirse dönüşüm başarılı olur.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Eşleşmezse hata oluşur.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Rounded Rectangle 3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7" name="Rounded Rectangle 40"/>
          <p:cNvSpPr/>
          <p:nvPr/>
        </p:nvSpPr>
        <p:spPr>
          <a:xfrm>
            <a:off x="4434840" y="2971800"/>
            <a:ext cx="328212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Ham metin veri sisteme girer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Sistem beklenen tarih yapısını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Bir dönüşüm kuralı (pattern) hazırlanır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bu kurala göre yorumlanır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Geçerli bir tarih-saat nesnesi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işlemler için kullanılabilir hale gelir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Rounded Rectangle 4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9" name="Rounded Rectangle 42"/>
          <p:cNvSpPr/>
          <p:nvPr/>
        </p:nvSpPr>
        <p:spPr>
          <a:xfrm>
            <a:off x="8001000" y="3200400"/>
            <a:ext cx="346716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ParsingExample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dateText = "28/04/2026";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DateTimeFormatter.ofPattern("dd/MM/yyyy");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LocalDate.parse(dateText, formatter);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System.out.println("Ayrıştırılmış Tarih: " + date);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0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Rectangle 8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2" name="Rectangle 8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3" name="Rectangle 8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4" name="Rectangle 8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5" name="Rectangle 8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6" name="Rectangle 8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7" name="Rectangle 8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8" name="Rectangle 8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79" name="Rectangle 8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0" name="Rectangle 9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1" name="Rectangle 9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2" name="Rectangle 9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3" name="Rectangle 9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4" name="Rectangle 9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5" name="Rectangle 9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6" name="Rectangle 9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87" name="Rounded Rectangle 43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8" name="TextBox 16"/>
          <p:cNvSpPr/>
          <p:nvPr/>
        </p:nvSpPr>
        <p:spPr>
          <a:xfrm>
            <a:off x="1540440" y="914400"/>
            <a:ext cx="78879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Period ve Duration (Zaman Farkı Hesaplama)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TextBox 17"/>
          <p:cNvSpPr/>
          <p:nvPr/>
        </p:nvSpPr>
        <p:spPr>
          <a:xfrm>
            <a:off x="880200" y="1600200"/>
            <a:ext cx="972612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iki tarih veya iki saat arasındaki zaman farkını ölçmek, tarihlere belirli süreler ekleyip çıkarmak için tarih bazlı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ölçümlerde Period, saat bazlı ölçümlerde ise Duration sınıfları kullanılır.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Rounded Rectangle 44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1" name="Rounded Rectangle 45"/>
          <p:cNvSpPr/>
          <p:nvPr/>
        </p:nvSpPr>
        <p:spPr>
          <a:xfrm>
            <a:off x="457200" y="2514600"/>
            <a:ext cx="3739320" cy="410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Period: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Tarihsel farkları (yıl, ay, gün) ifade eder. Genellikle LocalDate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Duration: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Zamansal farkları (saat, dakika, saniye, nanosaniye) ifade eder. Genellikle LocalTime veya LocalDateTime nesneleri ile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tarih/saat noktası arasındaki farkı bulmak için between() metodu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Mevcut bir tarihe süre eklemek veya çıkarmak için plus() ve minus() metotlarıyla birlikte kullanılabilirler.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Yaz saati gibi karmaşık durumları yönetirken manuel matematiksel hesaplamalar yerine bu API'leri kullanmak hataları önler.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Rounded Rectangle 46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3" name="Rounded Rectangle 47"/>
          <p:cNvSpPr/>
          <p:nvPr/>
        </p:nvSpPr>
        <p:spPr>
          <a:xfrm>
            <a:off x="4434840" y="2514600"/>
            <a:ext cx="3282120" cy="387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Başlangıç ve bitiş zamanları (Tarih/Saat nesneleri) oluşturulur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İhtiyaca göre uygun sınıf (Period veya Duration) seçilir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between() metodu çağrılarak iki zaman arasındaki fark hesaplanır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İlgili metotlar (örn: getDays(), toHours()) ile farkın detayı alınır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 veya farklı bir iş mantığında kullanılır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4" name="Rounded Rectangle 48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5" name="Rounded Rectangle 49"/>
          <p:cNvSpPr/>
          <p:nvPr/>
        </p:nvSpPr>
        <p:spPr>
          <a:xfrm>
            <a:off x="8001000" y="2514600"/>
            <a:ext cx="3467160" cy="387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DurationPeriodExample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PERIOD ÖRNEĞİ (Tarih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oldDate = LocalDate.of(2022, 5, 10);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currentDate = LocalDate.now(); // Örn: 28 Nisan 2024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Period period = Period.between(oldDate, currentDate);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System.out.println("Tarih Farkı: " + period.getYears() + " yıl,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period.getMonths() + " ay,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period.getDays() + " gün");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DURATION ÖRNEĞİ (Saat Farkı) ---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startTime = LocalTime.of(9, 30);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endTime = LocalTime.of(17, 15);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duration = Duration.between(startTime, endTime);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System.out.println("Geçen Süre: " + duration.toHours() + " saat, "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   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+ (duration.toMinutes() % 60) + " dakika");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6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Rectangle 9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8" name="Rectangle 9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99" name="Rectangle 9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0" name="Rectangle 10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1" name="Rectangle 10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2" name="Rectangle 10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3" name="Rectangle 10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4" name="Rectangle 10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5" name="Rectangle 10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6" name="Rectangle 10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7" name="Rectangle 10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8" name="Rectangle 10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09" name="Rectangle 10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0" name="Rectangle 11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1" name="Rectangle 11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2" name="Rectangle 11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3" name="Rounded Rectangle 50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4" name="TextBox 21"/>
          <p:cNvSpPr/>
          <p:nvPr/>
        </p:nvSpPr>
        <p:spPr>
          <a:xfrm>
            <a:off x="2106360" y="914400"/>
            <a:ext cx="6755760" cy="94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Kapsamlı Java Date &amp; Time Ekosistemi (Özet)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Box 22"/>
          <p:cNvSpPr/>
          <p:nvPr/>
        </p:nvSpPr>
        <p:spPr>
          <a:xfrm>
            <a:off x="1124280" y="1565280"/>
            <a:ext cx="92520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8 ile gelen java.time paketi, Java'da bir paradigma değişimidir. İnsan zamanını,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makine zamanını ve bunları birbirine bağlayan karmaşık coğrafi kuralları modellemek için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değiştirilemez (immutable), iş parçacığı güvenli (thread-safe) ve alan odaklı (domain-driven) bir yaklaşım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Rounded Rectangle 51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7" name="Rounded Rectangle 52"/>
          <p:cNvSpPr/>
          <p:nvPr/>
        </p:nvSpPr>
        <p:spPr>
          <a:xfrm>
            <a:off x="457200" y="2743200"/>
            <a:ext cx="3879360" cy="387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1: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İnsan Zaman Çizelgesi (Coğrafyadan Bağımsız)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LocalDate, LocalTime, LocalDateTime zamanı tam olarak bir duvar saatinde veya kağıt takvimde gördüğünüz gibi temsil eder. Dünyanın neresinde olduklarını bilmezler.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2: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Dünya Izgarası (Coğrafi Gerçeklik)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ZoneId ve ZonedDateTime, insan zaman çizelgesini Dünya üzerindeki belirli bir koordinata sabitler. Yaz Saati (DST) ve UTC farklarının yarattığı karmaşayı otomatik olarak yönetirler.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3: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Ölçüm (Anlar arasındaki boşluk)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Zaman sadece noktalardan ibaret değildir; mesafelerdir. Period takvimsel mesafeleri (yıl, ay, gün) ölçerken, Duration saat bazlı mesafeleri (saat, dakika, saniye) ölçer.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Boyut 4: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 Çeviri Katmanı (Köprü)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DateTimeFormatter, ham metin (Parsing) ile insan tarafından okunabilen kullanıcı arayüzü çıktıları (Formatting) arasında evrensel bir çevirmen görevi görür.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" name="Rounded Rectangle 53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19" name="Rounded Rectangle 54"/>
          <p:cNvSpPr/>
          <p:nvPr/>
        </p:nvSpPr>
        <p:spPr>
          <a:xfrm>
            <a:off x="4572000" y="2743200"/>
            <a:ext cx="342216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Ne tür bir zaman modellemeniz gerekiyor?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Coğrafya önemli mi? (Küresel Etkinlikler, Uçuşlar)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EVET ─&gt; ZoneId ile bağla ─&gt; ZonedDateTime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Sadece yerel/günlük bir kavram mı? (Doğum Günleri, Alarmlar)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Tarih mi Lazım? ─&gt; LocalDate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Sadece Saat mi Lazım? ─&gt; LocalTime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İkisi de mi Lazım? ─&gt; LocalDateTime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Evresi: Bununla ne yapmak istiyorsunuz? ]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Geri Sayım/Mesafe mi hesaplanacak?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Takvim bazlı mı? ─&gt; Period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Saat bazlı mı? ─&gt; Duration Kullan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&gt; Arayüze veya Veritabanına mı gönderilecek?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DateTimeFormatter ile dönüştür (Formatla / Ayrıştır)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0" name="Rounded Rectangle 55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1" name="Rounded Rectangle 56"/>
          <p:cNvSpPr/>
          <p:nvPr/>
        </p:nvSpPr>
        <p:spPr>
          <a:xfrm>
            <a:off x="8229600" y="2514600"/>
            <a:ext cx="3650760" cy="4107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ZamanEkoSistemi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İnsan Zaman Çizelgesi (Yerel)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yerelToplanti = LocalDateTime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.of(2025, 10, 15, 9, 0);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Dünya Izgarası (Bölgesel/Zoned)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nyBolgesi = ZoneId.of("America/New_York");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nyToplantisi = ZonedDateTime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.of(yerelToplanti, 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Çeviri Katmanı (Formatlama)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 = DateTimeFormatter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.ofPattern("dd MMM yyyy - HH:mm z");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System.out.println("Toplantı: "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+ nyToplantisi.format(format));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4. Ölçüm (Süre/Mesafe)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suAn = ZonedDateTime.now(nyBolgesi);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(nyToplantisi.isAfter(suAn))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Duration fark = Duration.between(suAn, nyToplantisi);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System.out.println(fark.toDays() + " gün kaldı!");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System.out.println("Toplantı tarihi geçmiş.");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Rectangle 11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4" name="Rectangle 11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5" name="Rectangle 11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6" name="Rectangle 11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7" name="Rectangle 11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8" name="Rectangle 11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29" name="Rectangle 11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0" name="Rectangle 12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1" name="Rectangle 12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2" name="Rectangle 12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3" name="Rectangle 12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4" name="Rectangle 12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5" name="Rectangle 12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6" name="Rectangle 12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7" name="Rectangle 12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8" name="Rectangle 12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39" name="Rounded Rectangle 57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0" name="TextBox 24"/>
          <p:cNvSpPr/>
          <p:nvPr/>
        </p:nvSpPr>
        <p:spPr>
          <a:xfrm>
            <a:off x="2324520" y="914400"/>
            <a:ext cx="63198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Temel Operatörlere Giriş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TextBox 25"/>
          <p:cNvSpPr/>
          <p:nvPr/>
        </p:nvSpPr>
        <p:spPr>
          <a:xfrm>
            <a:off x="2448360" y="1828800"/>
            <a:ext cx="65894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operatörler, değişkenler ve değerler üzerinde matematiksel, mantıksal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ilişkisel işlemler gerçekleştirmemizi sağlayan özel sembollerdir.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İşlem gören verilere ise "Operand" denir.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Rounded Rectangle 58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3" name="Rounded Rectangle 59"/>
          <p:cNvSpPr/>
          <p:nvPr/>
        </p:nvSpPr>
        <p:spPr>
          <a:xfrm>
            <a:off x="914400" y="3108960"/>
            <a:ext cx="328212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Terimler: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yapan sembol (+, *, 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Operand: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İşleme giren veri (x, 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(Örn: x + 5 ifadesinde + operatör, x ve 5 operanddır.)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Sık Kullanılan Operatör Türleri: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Matematiksel hesaplar yapar (+, -, *, /, % mod alma).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İlişkisel: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karşılaştırır, geriye true veya false döner (==, !=, &gt;, &lt;).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Koşulları birbirine bağlar (&amp;&amp; VE, || VEYA, ! DEĞİL).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Atama: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değeri soldaki değişkene aktarır (=, +=, *=).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Rounded Rectangle 60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5" name="Rounded Rectangle 61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Operatör İşlem Mantığı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Veriler (Operandlar) Hafızada Tanımlanır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Örn: int x = 10; int y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İfade (Expression) Değerlendirilir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Aritmetik: x + y (Sonuç: 15)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Mantıksal: x &gt; y (Sonuç: true)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Atama Operatörü Çalışır (=)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Hesaplanan sonuç yeni bir değişkene yazılır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Sonuç Çıktı Olarak Kullanılır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6" name="Rounded Rectangle 62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47" name="Rounded Rectangle 63"/>
          <p:cNvSpPr/>
          <p:nvPr/>
        </p:nvSpPr>
        <p:spPr>
          <a:xfrm>
            <a:off x="7955280" y="2743200"/>
            <a:ext cx="369468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OperatorGiris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Atama (Assignment) Operatörü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4;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Aritmetik (Arithmetic)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  // 19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  // 3 (Modülüs - kalanı bulur)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İlişkisel (Relational)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buyukMu = (a &gt; b); 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// false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Mantıksal (Logical) Operatörler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"a 10'dan büyük VE b çift sayı mı?"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sonuc = (a &gt; 10) &amp;&amp; (b % 2 == 0); // true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toplam);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System.out.println("Kalan: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System.out.println("Mantıksal Sonuç: " + sonuc);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8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Rectangle 12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0" name="Rectangle 13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1" name="Rectangle 13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2" name="Rectangle 13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3" name="Rectangle 13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4" name="Rectangle 13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5" name="Rectangle 13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6" name="Rectangle 13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7" name="Rectangle 13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8" name="Rectangle 13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59" name="Rectangle 13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0" name="Rectangle 14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1" name="Rectangle 14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2" name="Rectangle 14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3" name="Rectangle 14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4" name="Rectangle 14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5" name="Rounded Rectangle 64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TextBox 28"/>
          <p:cNvSpPr/>
          <p:nvPr/>
        </p:nvSpPr>
        <p:spPr>
          <a:xfrm>
            <a:off x="2585880" y="914400"/>
            <a:ext cx="579564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Aritmetik Operatörler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TextBox 29"/>
          <p:cNvSpPr/>
          <p:nvPr/>
        </p:nvSpPr>
        <p:spPr>
          <a:xfrm>
            <a:off x="2057400" y="1694880"/>
            <a:ext cx="74538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sayılar üzerinde toplama, çıkarma, çarpma gibi temel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matematiksel işlemleri gerçekleştirmek için kullanılır. Klasik matematikteki işlem önceliği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(çarpma/bölmenin toplamadan önce yapılması) Java'da da aynen geçerlidir.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Rounded Rectangle 65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69" name="Rounded Rectangle 66"/>
          <p:cNvSpPr/>
          <p:nvPr/>
        </p:nvSpPr>
        <p:spPr>
          <a:xfrm>
            <a:off x="914400" y="3108960"/>
            <a:ext cx="328212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+ (Toplama):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Sayıları toplar. (Ayrıca metinleri birleştirir).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- (Çıkarma):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Sağdaki sayıyı soldakinden çıkarır.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* (Çarpma):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İki değeri çarpar.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/ (Bölme):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Bölüm sonucunu verir. (Not: İki tam sayı bölünürse sonuç da tam sayı olur, ondalık kısım atılır. Örn: 5 / 2 = 2)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% (Mod Alma):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Bölme işleminden kalan sayıyı verir. Çift/tek sayı bulmada çok sık kullanılır.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Rounded Rectangle 67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1" name="Rounded Rectangle 68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İşlem Önceliği (Operator Precedence)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1. Parantez İçleri ()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Her zaman ilk olarak hesaplanır.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2. Artırma / Azaltma ++, --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3. Çarpma, Bölme, Mod *, /, %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(Soldan sağa doğru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4. Toplama ve Çıkarma +, -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(En son değerlendirilir)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Rounded Rectangle 69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3" name="Rounded Rectangle 70"/>
          <p:cNvSpPr/>
          <p:nvPr/>
        </p:nvSpPr>
        <p:spPr>
          <a:xfrm>
            <a:off x="8003880" y="2971800"/>
            <a:ext cx="3420360" cy="342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AritmetikIslemler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3;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Temel İşlemler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a + b; // 13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bolum = a / b;  // 3 (Ondalık kısım silinir)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kalan = a % b;  // 1 (10'un 3'e bölümünden kalan)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İşlem Önceliği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islemsiz = a + b * 2;   // 16 (Önce çarpma)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islemli = (a + b) * 2;  // 26 (Önce parantez)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Artırma Operatörü (Increment)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sayac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sayac++; // sayac'ın yeni değeri 6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System.out.println("Bölüm: " + bolum);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(Kalan): " + kalan);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System.out.println("Sayaç: " + sayac);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Rectangle 14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6" name="Rectangle 14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7" name="Rectangle 14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8" name="Rectangle 14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79" name="Rectangle 14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0" name="Rectangle 15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1" name="Rectangle 15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2" name="Rectangle 15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3" name="Rectangle 15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4" name="Rectangle 15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5" name="Rectangle 15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6" name="Rectangle 15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7" name="Rectangle 15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8" name="Rectangle 15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89" name="Rectangle 15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0" name="Rectangle 16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1" name="Rounded Rectangle 71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Box 31"/>
          <p:cNvSpPr/>
          <p:nvPr/>
        </p:nvSpPr>
        <p:spPr>
          <a:xfrm>
            <a:off x="959040" y="914400"/>
            <a:ext cx="9050760" cy="118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2: Prefix/Postfix)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Box 32"/>
          <p:cNvSpPr/>
          <p:nvPr/>
        </p:nvSpPr>
        <p:spPr>
          <a:xfrm>
            <a:off x="1267200" y="1694880"/>
            <a:ext cx="90342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en sık yapılan hatalar artırma/azaltma (++, --) operatörlerinin konumundan ve tam sayı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bölmesinden kaynaklanır. Operatörün değişkenin sağında veya solunda olması,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kodun çalışma sırasını tamamen değiştirir.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Rounded Rectangle 72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5" name="Rounded Rectangle 73"/>
          <p:cNvSpPr/>
          <p:nvPr/>
        </p:nvSpPr>
        <p:spPr>
          <a:xfrm>
            <a:off x="685800" y="2743200"/>
            <a:ext cx="3510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Prefix ve Postfix Mantığı: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Prefix (Önden - ++a)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: Önce değişkenin değerini 1 artırır, sonra o satırdaki diğer işlemleri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Postfix (Sondan - a++):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Önce değişkenin mevcut değerini kullanır (işleme sokar), satır bittikten sonra değerini 1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Bölme İşlemi Tuzakları: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tam sayı (int) bölünürse, Java ondalık kısmı yuvarlamaz, direkt çöpe atar. (Örn: 5 / 2 = 2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Küsuratlı sonucu tam olarak alabilmek için, işleme giren sayılardan en az birinin ondalıklı (double veya float) olması gerekir. (Örn: 5.0 / 2 = 2.5).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Rounded Rectangle 74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7" name="Rounded Rectangle 75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[ Prefix vs Postfix Çalışma Akışı ]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Tanımı: int x = 5;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Prefix Kullanım: int y = ++x;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Yeni x değerini y'ye ata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y = 6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&gt; Postfix Kullanım: int z = x++;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Mevcut x değerini z'ye ata (z=5)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x'in değerini artır (x=6 olur)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Sonuç: x = 6, z = 5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Rounded Rectangle 76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299" name="Rounded Rectangle 77"/>
          <p:cNvSpPr/>
          <p:nvPr/>
        </p:nvSpPr>
        <p:spPr>
          <a:xfrm>
            <a:off x="8003880" y="2743200"/>
            <a:ext cx="342036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PREFIX (Önce Artır, Sonra Kullan)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++a; // a=6 olur, b'ye 6 atanır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POSTFIX (Önce Kullan, Sonra Artır)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x++; // y'ye 5 atanır, sonra x=6 olur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TAM SAYI BÖLMESİ (Integer Division)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yanlisBolme = 5 / 2;     // Sonuç: 2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doubleHata = 5 / 2;   // Sonuç: 2.0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dogruBolme = 5.0 / 2; // Sonuç: 2.5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System.out.println("Prefix b: " + b);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System.out.println("Postfix y: " + y);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Bölme: " + dogruBolme);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Rectangle 16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2" name="Rectangle 16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3" name="Rectangle 16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4" name="Rectangle 16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5" name="Rectangle 16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6" name="Rectangle 16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7" name="Rectangle 16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8" name="Rectangle 16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09" name="Rectangle 16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0" name="Rectangle 17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1" name="Rectangle 17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2" name="Rectangle 17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3" name="Rectangle 17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4" name="Rectangle 17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5" name="Rectangle 17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6" name="Rectangle 17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17" name="Rounded Rectangle 7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TextBox 34"/>
          <p:cNvSpPr/>
          <p:nvPr/>
        </p:nvSpPr>
        <p:spPr>
          <a:xfrm>
            <a:off x="1221120" y="914400"/>
            <a:ext cx="85251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 (Bölüm 3: Kısaltmalar ve Metinler)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TextBox 35"/>
          <p:cNvSpPr/>
          <p:nvPr/>
        </p:nvSpPr>
        <p:spPr>
          <a:xfrm>
            <a:off x="1353600" y="1694880"/>
            <a:ext cx="88603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Java, matematik ve atama işlemlerini tek adımda birleştirerek kodu temiz tutan kısayol operatörleri sunar.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+ operatörünün çift kimliği vardır: Sayılar için toplama yaparken,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String'ler (metinler) için "yapıştırıcı" (birleştirme) görevi görür.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Rounded Rectangle 7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1" name="Rounded Rectangle 80"/>
          <p:cNvSpPr/>
          <p:nvPr/>
        </p:nvSpPr>
        <p:spPr>
          <a:xfrm>
            <a:off x="685800" y="2743200"/>
            <a:ext cx="3510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Bileşik Atama (Compound):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Aritmetik işlem ve atamayı birleştirir: +=, -=, *=, /=, %=.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x += 5 ifadesi, tam olarak x = x + 5 işleminin kısaltmasıdır.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İpucu: Arka planda otomatik tip dönüşümü (casting) yaparlar (hata fırlatmazlar).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+ Operatörünün İki Yüzü: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 + Sayı = Matematik (Toplama).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 + Herhangi Bir Şey = Metin (Birleştirme - Concatenation).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kesinlikle Soldan Sağa akar. Eğer işlem bir String ile başlarsa, sağındaki her şey metne dönüşür!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2" name="Rounded Rectangle 8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3" name="Rounded Rectangle 82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+ İşleminin Soldan Sağa Akışı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1: 10 + 5 + "A"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Matematik! 10 + 5 = 15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15 + "A" =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"15A"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Senaryo 2: "A" + 10 + 5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Metin! "A" + 10 = "A10"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Metin! "A10" + 5 = "A105"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Sonuç: "A105" (A15 DEĞİL!)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4" name="Rounded Rectangle 8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5" name="Rounded Rectangle 84"/>
          <p:cNvSpPr/>
          <p:nvPr/>
        </p:nvSpPr>
        <p:spPr>
          <a:xfrm>
            <a:off x="8001000" y="2971800"/>
            <a:ext cx="330948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AritmetikTuzaklar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skor + 10 (60)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skor / 2  (30)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METİN BİRLEŞTİRME TUZAKLARI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Sayıyla başlar -&gt; Önce Matematik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str1 = x + y + " Java"; // "10 Java"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Metinle başlar -&gt; Hepsi Metin olur!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str2 = "Java " + x + y; // "Java 55"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Parantez matematiği öne alır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str3 = "Java " + (x+y); // "Java 10"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System.out.println("Str2 Sonuç: " + str2);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6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Rectangle 17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8" name="Rectangle 17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29" name="Rectangle 17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0" name="Rectangle 18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1" name="Rectangle 18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2" name="Rectangle 18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3" name="Rectangle 18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4" name="Rectangle 18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5" name="Rectangle 18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6" name="Rectangle 18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7" name="Rectangle 18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8" name="Rectangle 18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39" name="Rectangle 18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0" name="Rectangle 19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1" name="Rectangle 19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2" name="Rectangle 19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3" name="Rounded Rectangle 8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4" name="TextBox 37"/>
          <p:cNvSpPr/>
          <p:nvPr/>
        </p:nvSpPr>
        <p:spPr>
          <a:xfrm>
            <a:off x="2731320" y="914400"/>
            <a:ext cx="550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İnce Detaylar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TextBox 38"/>
          <p:cNvSpPr/>
          <p:nvPr/>
        </p:nvSpPr>
        <p:spPr>
          <a:xfrm>
            <a:off x="674280" y="1694880"/>
            <a:ext cx="10218240" cy="57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işlemlerde veri tiplerinin arka planda nasıl davrandığını bilmek kritik hataları önler. Sıfıra bölünme tepkileri,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sayılara dönüşmesi ve küçük veri tiplerinin işlemler sırasında otomatik olarak büyümesi en bilinen tuzaklardır.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Rounded Rectangle 8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7" name="Rounded Rectangle 87"/>
          <p:cNvSpPr/>
          <p:nvPr/>
        </p:nvSpPr>
        <p:spPr>
          <a:xfrm>
            <a:off x="685800" y="2743200"/>
            <a:ext cx="3510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Sıfıra Bölünme (Zero Division):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Tam sayılar (int) 0'a bölünürse program çöker (ArithmeticException).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Ondalıklılar (double) 0'a bölünürse çökmez, Infinity (Sonsuz) veya NaN (Sayı Değil) verir.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Karakter (Char) Matematiği: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 tipleri arka planda sayı (ASCII değeri) tutar. İki char toplanırsa yan yana yazılmazlar, sayısal değerleri toplanır. (Örn: 'A' = 65).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3. Gizli Tip Terfisi (Promotion):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 byte veya short değişken toplanırken sonuç otomatik olarak int tipine yükseltilir. Sonucu direkt byte'a atamak hata verir!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8" name="Rounded Rectangle 88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49" name="Rounded Rectangle 89"/>
          <p:cNvSpPr/>
          <p:nvPr/>
        </p:nvSpPr>
        <p:spPr>
          <a:xfrm>
            <a:off x="443484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[ Arka Plandaki Veri Dönüşümleri ]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Sıfıra Bölünme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 / 0 ➔ HATA! (Crash)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5.0 / 0 ➔ Sonuç: Infinity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0.0 / 0 ➔ Sonuç: NaN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Char İşlemleri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+ 1 ➔ 65 + 1 = 66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&gt; Byte Toplaması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x = 10; byte y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 z = x + y; ➔ HATA! (Sonuç int olur)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0" name="Rounded Rectangle 90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1" name="Rounded Rectangle 91"/>
          <p:cNvSpPr/>
          <p:nvPr/>
        </p:nvSpPr>
        <p:spPr>
          <a:xfrm>
            <a:off x="8001000" y="2514600"/>
            <a:ext cx="3652920" cy="388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AritmetikDetaylar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SIFIRA BÖLÜNME TUZAĞI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hata = 5 / 0; // Kodu çökertir!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sonsuz = 5.0 / 0; // Infinity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belirsiz = 0.0 / 0.0; // NaN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CHAR (KARAKTER) MATEMATİĞİ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harf = 'A'; // ASCII değeri 65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charToplami = harf + 5; // Sonuç: 70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char siradakiHarf = (char) (harf + 1); // 'B'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INT TERFİSİ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b1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b2 = 20;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byte b3 = b1 + b2; // Derleme Hatası!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toplam = b1 + b2; // Doğrusu budur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System.out.println("5.0 / 0 = " + sonsuz);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System.out.println("0.0 / 0.0 = " + belirsiz);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System.out.println("Harf + 5 = " + charToplami);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2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Rectangle 19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4" name="Rectangle 19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5" name="Rectangle 19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6" name="Rectangle 19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7" name="Rectangle 19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8" name="Rectangle 19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59" name="Rectangle 19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0" name="Rectangle 20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1" name="Rectangle 20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2" name="Rectangle 20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3" name="Rectangle 20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4" name="Rectangle 20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5" name="Rectangle 20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6" name="Rectangle 20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7" name="Rectangle 20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8" name="Rectangle 20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69" name="Rounded Rectangle 92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Box 40"/>
          <p:cNvSpPr/>
          <p:nvPr/>
        </p:nvSpPr>
        <p:spPr>
          <a:xfrm>
            <a:off x="1557360" y="732600"/>
            <a:ext cx="78516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Restoran Adisyonu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Box 41"/>
          <p:cNvSpPr/>
          <p:nvPr/>
        </p:nvSpPr>
        <p:spPr>
          <a:xfrm>
            <a:off x="1082520" y="1600200"/>
            <a:ext cx="9401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aritmetik operatörler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motorudur. Bir restoran hesabını hesaplayan, indirim uygulayan,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bileşik operatörlerle vergi/bahşiş ekleyen ve son tutarı arkadaşlar arasında bölen mini bir uygulama tasarlayalım.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Rounded Rectangle 93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ounded Rectangle 94"/>
          <p:cNvSpPr/>
          <p:nvPr/>
        </p:nvSpPr>
        <p:spPr>
          <a:xfrm>
            <a:off x="685800" y="2971800"/>
            <a:ext cx="31960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Operatörleri İş Kurallarına Eşleme: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Biriktirme (+=):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Sepete veya dijital adisyona birden fazla ürün eklemek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İndirimler (-=):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Kupon veya promosyon indirimlerini toplamdan düşmek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Vergi &amp; Bahşiş (*=):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Yüzde uygulamak için kullanılır. Mevcut hesabı 1.25 ile çarpmak, toplama anında %25 ekler.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Adil Bölüşüm (/):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Çıkan nihai tutarı misafir sayısına bölmek için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4" name="Rounded Rectangle 95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ounded Rectangle 96"/>
          <p:cNvSpPr/>
          <p:nvPr/>
        </p:nvSpPr>
        <p:spPr>
          <a:xfrm>
            <a:off x="425736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[ Adisyon ve Hesap Akışı ]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1. Masayı Aç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= 0.0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2. Siparişleri Ekle (Biriktir)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+= urunFiyati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3. Kupon / İndirim Uygula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-= indirim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4. Vergi &amp; Bahşiş Ekle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hesap *= 1.25 (%25 ekler)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&gt; 5. Hesabı Misafirlere Böl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kisiBasi = hesap / kisiSayisi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6" name="Rounded Rectangle 9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ounded Rectangle 98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RestoranHesabi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1. Başlangıç Durumu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hesap = 0.0;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int kisi = 3;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2. Sipariş Ekle (Bileşik Toplama)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25.50; // Pizza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14.00; // Makarna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+= 10.50; // İçecekler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Ara toplam şu an 50.00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3. 5 TL'lik Kupon Uygula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-= 5.00;  // Ara toplam: 45.00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4. %25 Vergi ve Bahşiş Ekle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Mevcut hesabı 1.25 ile çarparız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hesap *= 1.25;  // Son toplam: 56.25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// 5. Hesabı kişiler arasında böl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double kisiBasi = hesap / kisi;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System.out.println("Toplam: " + hesap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System.out.println("Kişi Başı: " + kisiBasi + " TL");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6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8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Rectangle 20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21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21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21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21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21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ectangle 21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6" name="Rectangle 21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7" name="Rectangle 21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8" name="Rectangle 21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ectangle 21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0" name="Rectangle 22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ectangle 22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2" name="Rectangle 22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ectangle 22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4" name="Rectangle 22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5" name="Rounded Rectangle 9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Box 43"/>
          <p:cNvSpPr/>
          <p:nvPr/>
        </p:nvSpPr>
        <p:spPr>
          <a:xfrm>
            <a:off x="2174400" y="732600"/>
            <a:ext cx="6617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Aritmetik Operatörler: Genel Özet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Box 44"/>
          <p:cNvSpPr/>
          <p:nvPr/>
        </p:nvSpPr>
        <p:spPr>
          <a:xfrm>
            <a:off x="1950480" y="1600200"/>
            <a:ext cx="76654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operatörler, Java'daki veri manipülasyonunun ve iş mantığının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(business logic) temel taşıdır. Doğru operatörü seçmek,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veri tiplerine dikkat etmek ve işlem önceliğini bilmek hatasız kod yazmanın altın kurallarıdır.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Rounded Rectangle 10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ounded Rectangle 101"/>
          <p:cNvSpPr/>
          <p:nvPr/>
        </p:nvSpPr>
        <p:spPr>
          <a:xfrm>
            <a:off x="685800" y="2971800"/>
            <a:ext cx="31960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Unutulmaması Gereken Altın Kurallar: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Temel 5'li: +, -, *, / ve % (Mod).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İşlem Önceliği: Çarpma, bölme ve mod işlemleri daima toplama ve çıkarmadan önce yapılır. Parantezler () tüm kuralları ezer.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Bölme Kuralı: İki tam sayının (int) bölümü daima tam sayı çıkar (küsurat atılır). Hassas sonuç için en az biri double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Kısa Yollar: ++/-- (1 artır/azalt) ve +=/*= (işlemle atamayı birleştir) ifadeleri kodu daha okunabilir kılar.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Rounded Rectangle 10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ounded Rectangle 103"/>
          <p:cNvSpPr/>
          <p:nvPr/>
        </p:nvSpPr>
        <p:spPr>
          <a:xfrm>
            <a:off x="425736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Geliştirici Kontrol Listesi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Çift/Tek sayı kontrolü mü yapacaksın?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Kesinlikle % 2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Bölme işleminde küsurat lazım mı?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Sayılardan birini double (Örn: 2.0) yap!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İşlem sırasını değiştirmek mi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İşlemi parantez () içine al!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Bir değişkenin değerini güncelleyecek misin?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x = x + 5 yerine x += 5 kullan!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2" name="Rounded Rectangle 10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ounded Rectangle 105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AritmetikOzet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İşlem Önceliği ve Modulo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15'in 4'e bölümünden kalan = 3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(sayi + 5) % 4;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Ondalıklı Bölme (Hassasiyet)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4.0 yazarak int tuzağından kaçtık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bolme = sayi / 4.0; // 2.5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// 3. Bileşik Atama ve Artırma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 += 5; // 15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sayi++;    // 16 oldu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System.out.println("Mod Sonucu: " + sonuc);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System.out.println("Bölme: " + bolme);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Durum: " + sayi);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Rectangle 22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22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22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22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22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23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ectangle 23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2" name="Rectangle 23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3" name="Rectangle 23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4" name="Rectangle 23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ectangle 23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6" name="Rectangle 23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ectangle 23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8" name="Rectangle 23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ectangle 23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0" name="Rectangle 24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1" name="Rounded Rectangle 10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2" name="TextBox 46"/>
          <p:cNvSpPr/>
          <p:nvPr/>
        </p:nvSpPr>
        <p:spPr>
          <a:xfrm>
            <a:off x="2807280" y="732600"/>
            <a:ext cx="5350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Atama Operatörleri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TextBox 47"/>
          <p:cNvSpPr/>
          <p:nvPr/>
        </p:nvSpPr>
        <p:spPr>
          <a:xfrm>
            <a:off x="2300040" y="1451520"/>
            <a:ext cx="696600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operatörleri, hesaplanan değerleri değişkenlerde saklamak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Aritmetik işlemlerin aksine, atama işlemleri kesinlikle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Sağdan Sola doğru çalışır. Java ayrıca matematik ve atamayı tek adımda birleştiren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"bileşik" (compound) operatörler sunar.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Rounded Rectangle 10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ounded Rectangle 108"/>
          <p:cNvSpPr/>
          <p:nvPr/>
        </p:nvSpPr>
        <p:spPr>
          <a:xfrm>
            <a:off x="685800" y="2971800"/>
            <a:ext cx="3196080" cy="3424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Temel Atama (=):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Sağdaki değeri soldaki değişkene aktarır. Sol taraf kesinlikle bir değer değil, değişken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Zincirleme: Birden fazla değişkene tek satırda aynı değer atanabilir (Örn: a = b = 5;).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Bileşik Atama (+=, -=, *=, /=, %=):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 += 5 ifadesi, x = x + 5 ile tamamen aynıdır.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Önemli İpucu (Gizli Dönüşüm): Bileşik operatörler arka planda otomatik tip dönüşümü (casting) yapar. Normalde byte tipine int eklemek hata verirken, += kullanıldığında hata vermez!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6" name="Rounded Rectangle 10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ounded Rectangle 110"/>
          <p:cNvSpPr/>
          <p:nvPr/>
        </p:nvSpPr>
        <p:spPr>
          <a:xfrm>
            <a:off x="4257360" y="2971800"/>
            <a:ext cx="328212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Sağdan Sola Çalışma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Standart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 + 5;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Sağ tarafı hesapla (15)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15'i sol tarafa (x)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Bileşik (Compound) Atama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x += 5;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1. Adım: x = x + 5 olarak aç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2. Adım: 15 + 5 hesapla (20)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3. Adım: 20'yi tekrar x'e aktar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Rounded Rectangle 11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ounded Rectangle 112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AtamaOperatorleri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VE ZİNCİRLEME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a, b;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 = b = 10; // Sağdan Sola çalışır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BİLEŞİK (COMPOUND) ATAMA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skor = 50;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+= 10; // skor = 60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-= 20; // skor = 40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skor /= 2;  // skor = 20 oldu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GİZLİ DÖNÜŞÜM BÜYÜSÜ (Pro-Tip)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byte kucukSayi = 5;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kucukSayi = kucukSayi + 5;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kucukSayi += 5; // Hatasız çalışır (10)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 ve B: " + a);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System.out.println("Son Skor: " + skor);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System.out.println("Byte Değer: " + kucukSayi);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0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Rectangle 24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24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24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24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24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24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ectangle 24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8" name="Rectangle 24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9" name="Rectangle 24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0" name="Rectangle 25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ectangle 25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2" name="Rectangle 25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ectangle 25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4" name="Rectangle 25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ectangle 25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6" name="Rectangle 25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7" name="Rounded Rectangle 113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8" name="TextBox 49"/>
          <p:cNvSpPr/>
          <p:nvPr/>
        </p:nvSpPr>
        <p:spPr>
          <a:xfrm>
            <a:off x="1452240" y="732600"/>
            <a:ext cx="8060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2: Tuzaklar ve İleri Seviye)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TextBox 50"/>
          <p:cNvSpPr/>
          <p:nvPr/>
        </p:nvSpPr>
        <p:spPr>
          <a:xfrm>
            <a:off x="1226160" y="1451520"/>
            <a:ext cx="911340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işlemlerinde en büyük hatalar, atama (=) ile eşitlik kontrolünün (==) birbirine karıştırılmasından doğar.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Ayrıca atama operatörleri, sadece dört işlemle kalmaz; bit düzeyinde (binary)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işlemlerle de birleştirilerek ileri seviye hesaplamalarda kullanılabilir.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Rounded Rectangle 114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ounded Rectangle 115"/>
          <p:cNvSpPr/>
          <p:nvPr/>
        </p:nvSpPr>
        <p:spPr>
          <a:xfrm>
            <a:off x="685800" y="2743200"/>
            <a:ext cx="31960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En Büyük Tuzak (= vs ==):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 (Tek Eşittir): Atama yapar. Sağdaki değeri sola kopyalar.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== (Çift Eşittir): Kontrol eder. İki değer eşit mi diye bakar, true veya false döner.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Tehlike: if koşulu içine yanlışlıkla boolean bir atama yaparsanız Java hata vermez, atamayı yapar ve koşulu hep true sayar!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Bitwise (Bit Düzeyinde) Atamalar: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Sayıları arka planda 1 ve 0'lara (ikilik sisteme) çevirip işlem yapar.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&amp;= (Bitwise VE), |= (Bitwise VEYA), ^= (Bitwise XOR).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&lt;&lt;= (Sola Kaydır): Sayıyı 2 ile çarpmak için hızlı bir yoldur.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2" name="Rounded Rectangle 116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ounded Rectangle 117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= ve == Mantık Tuzağı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Yanlış Kullanım (Atama)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 true) ➔ DEĞERİ DEĞİŞTİRİR!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acik artık true olur ve blok ÇALIŞIR.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Doğru Kullanım (Kontrol)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boolean acik = false;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if (acik == true) ➔ SADECE KONTROL EDER!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Değer false olduğu için blok ÇALIŞMAZ.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4" name="Rounded Rectangle 118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ounded Rectangle 119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AtamaIleriSeviye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1. = ve == TUZAĞI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false;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EĞER == yerine = yazarsak: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 = true) { 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adminMi değeri true'ya dönüştü!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System.out.println("Sisteme girildi!");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2. BITWISE (BIT DÜZEYİ) ATAMA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x = 5;  // İkilik sistemde: 0101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x &amp;= 3;     // 3 (0011) ile VE işlemi yap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Sonuç: 0001 olur (Yani 1)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// 3. SOLA KAYDIRMA (SHIFT) ATAMASI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int y = 4;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y &lt;&lt;= 1; // Sola 1 bit kaydır (2 ile çarp)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System.out.println("Bitwise x: " + x);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System.out.println("Kaydırma y: " + y);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3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3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6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Rectangle 25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25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25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26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26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26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ectangle 26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4" name="Rectangle 26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5" name="Rectangle 26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6" name="Rectangle 26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ectangle 26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8" name="Rectangle 26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ectangle 26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0" name="Rectangle 27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ectangle 27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2" name="Rectangle 27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3" name="Rounded Rectangle 120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4" name="TextBox 52"/>
          <p:cNvSpPr/>
          <p:nvPr/>
        </p:nvSpPr>
        <p:spPr>
          <a:xfrm>
            <a:off x="1573200" y="732600"/>
            <a:ext cx="78177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 (Bölüm 3: Referanslar ve Bellek)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Box 53"/>
          <p:cNvSpPr/>
          <p:nvPr/>
        </p:nvSpPr>
        <p:spPr>
          <a:xfrm>
            <a:off x="1683720" y="1451520"/>
            <a:ext cx="819756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operatörü (=) ilkel veri tiplerinde (int, double) değerin birebir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kopyasını oluştururken; Diziler (Arrays) ve Nesneler (Objects) gibi gelişmiş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tiplerde veriyi kopyalamaz, bellekteki adresini (referansını) kopyalar. İkisi artık aynı veriye bağlanır.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Rounded Rectangle 121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ounded Rectangle 122"/>
          <p:cNvSpPr/>
          <p:nvPr/>
        </p:nvSpPr>
        <p:spPr>
          <a:xfrm>
            <a:off x="685800" y="2514600"/>
            <a:ext cx="319608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1. Değer vs. Referans Ataması: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 (Değer Kopyalama): int a = b; dediğinizde b'nin içindeki sayı a'ya kopyalanır. Biri değişirse diğeri etkilenmez (Bağımsızdırlar).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 (Adres Paylaşma): Dizi a = b; dediğinizde her ikisi de bellekte aynı kutuyu işaret eder. Birindeki değişiklik, diğerini de anında etkiler!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2. Atamanın Dönüş Değeri: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atama işlemi aslında atadığı değeri geriye döndürür.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Örn: System.out.println(x = 5); kodu hem x'e 5 atar, hem de ekrana 5 yazar. Zincirleme atamalar (a = b = 5) bu mantıkla çalışır.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Rounded Rectangle 123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ounded Rectangle 124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İlkel vs Referans Ataması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İlkel Tip (Bağımsız Kopya)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 x = 10; int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y = 20;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Sadece y değişir. (x hala 10'dur)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&gt; Referans Tip (Adres/Kumanda Paylaşımı)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{1, 2}; 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b[0] = 99;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İKİSİ DE DEĞİŞİR! (a[0] da 99 olur)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0" name="Rounded Rectangle 125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ounded Rectangle 126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AtamaReferans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(PRIMITIVE)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sayi1 = 10;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sayi2 = sayi1; // Değer kopyalandı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sayi2 = 50;        // sayi1 ETKİLENMEZ!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(NESNE/DİZİ) ATAMA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dizi1 = {1, 2, 3};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dizi2 = dizi1; // Hafıza adresi paylaşıldı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dizi2'de yapılan değişiklik dizi1'i vurur!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dizi2[0] = 99;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3. ATAMANIN DÖNÜŞ DEĞERİ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int x;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// Hem atar, hem ekrana basar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System.out.println("x değeri: " + (x = 5)); 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System.out.println("sayi1: " + sayi1);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System.out.println("dizi1[0]: " + dizi1[0]);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89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2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Rectangle 27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27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27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27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27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27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ectangle 27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0" name="Rectangle 28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1" name="Rectangle 28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2" name="Rectangle 28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ectangle 28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4" name="Rectangle 28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ectangle 28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6" name="Rectangle 28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ectangle 28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8" name="Rectangle 28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9" name="Rounded Rectangle 127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TextBox 55"/>
          <p:cNvSpPr/>
          <p:nvPr/>
        </p:nvSpPr>
        <p:spPr>
          <a:xfrm>
            <a:off x="1919520" y="732600"/>
            <a:ext cx="712440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Nesne Durumları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TextBox 56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Rounded Rectangle 128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ounded Rectangle 129"/>
          <p:cNvSpPr/>
          <p:nvPr/>
        </p:nvSpPr>
        <p:spPr>
          <a:xfrm>
            <a:off x="685800" y="2514600"/>
            <a:ext cx="319608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Değiştirmek vs Yeniden Atamak: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Değiştirmek (Mutating): Nesnenin iç verisini değiştirir, bellek adresi aynı kalır.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Yeniden Atamak (Reassigning): Değişkeni yepyeni bir nesneye bağlar, eski adres terk edilir.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Null Ataması: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Değişkene null atamak, onun nesneyle bağını tamamen koparır.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Bellekteki bir nesneyi hiçbir değişken işaret etmiyorsa, Çöp Toplayıcı (GC) onu silerek RAM'i temizler.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Final Referans Tuzağı: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referans final işaretlendiyse, = ile yeni bir bellek adresine atanamaz.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Ancak, içindeki verileri (durumunu) hala değiştirebilirsiniz!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Rounded Rectangle 130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ounded Rectangle 131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HAFIZA DURUM TAKİBİ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1: int[] x = {100};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2: int[] y = x;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----/ (Aynı adresi tutar)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ADIM 3: x = null;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[x] Değişkeni ----&gt; [ BOŞ / NULL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[y] Değişkeni ----&gt; (Hafıza: {100})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Veri silinmez, 'y' hala tutuyor!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Rounded Rectangle 132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ounded Rectangle 133"/>
          <p:cNvSpPr/>
          <p:nvPr/>
        </p:nvSpPr>
        <p:spPr>
          <a:xfrm>
            <a:off x="8001000" y="2514600"/>
            <a:ext cx="3423600" cy="3881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1: NULL'DAN KURTULAN VERİ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veriA = { 50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int[] veriB = veriA; // Adresi paylaş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veriA = null; // A'nın bağını tamamen kopar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Çöker mi? Hayır! B hala onu tutuyor.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System.out.println("VeriB: " + veriB[0]);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50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--- TEST 2: FINAL REFERANS TUZAĞI ---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HATA: Yeni bellek adresi atanamaz!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9 };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BAŞARI: İçindeki veri değiştirilebilir!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99; 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System.out.println("Kilitli: " + kilitli[0]);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&gt;&gt; Çıktı: 99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28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9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29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29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29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ectangle 29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6" name="Rectangle 29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7" name="Rectangle 29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8" name="Rectangle 29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ectangle 29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0" name="Rectangle 30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ectangle 30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2" name="Rectangle 30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ectangle 30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4" name="Rectangle 30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5" name="Rounded Rectangle 134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Box 58"/>
          <p:cNvSpPr/>
          <p:nvPr/>
        </p:nvSpPr>
        <p:spPr>
          <a:xfrm>
            <a:off x="1839240" y="732600"/>
            <a:ext cx="728604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Operatörleri: Bellek ve Referans Yönetimi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Box 59"/>
          <p:cNvSpPr/>
          <p:nvPr/>
        </p:nvSpPr>
        <p:spPr>
          <a:xfrm>
            <a:off x="1604880" y="1451520"/>
            <a:ext cx="8354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Nesnelerle çalışırken atama operatörü (=), değişkenin bellekte hangi adresi işaret edeceğini belirler.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Etkili bellek yönetimi için değişkeni nesneden ayırmayı (null)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veya bellek adresini kilitlemeyi (final) anlamak çok önemlidir.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Rounded Rectangle 135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ounded Rectangle 136"/>
          <p:cNvSpPr/>
          <p:nvPr/>
        </p:nvSpPr>
        <p:spPr>
          <a:xfrm>
            <a:off x="685800" y="2743200"/>
            <a:ext cx="3196080" cy="365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QUICK BITE (Kısa Özet)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tiplerde (int, double) = operatörü değeri kopyalar. Ancak nesnelerde (Object, Array) = operatörü sadece bellekteki "adresi" (referansı) kopyalar. Bir nesneyi bellekte yönetmek için = operatörünün davranışını bilmek şarttır.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KEY CONCEPTS (Kritik Kavramlar)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Değer Kopyalama (İlkel Tip): Tamamen bağımsız kopyalar oluşur. Birinin değişmesi diğerini etkilemez.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Paylaşımı (Nesne/Dizi): İki değişken aynı hafıza kutusuna bağlanır. Birindeki değişiklik anında diğerini de vurur!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Bağı Koparma (null): Değişkenin bellek adresiyle bağını keser. Hiçbir değişkenin tutmadığı nesneyi Çöp Toplayıcı (GC) anında siler.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Adresi Kilitleme (final): Değişkenin başka bir bellek adresine atanmasını yasaklar. Ama dikkat: Nesnenin içindeki veriler hâlâ değiştirilebilir.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Rounded Rectangle 137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ounded Rectangle 138"/>
          <p:cNvSpPr/>
          <p:nvPr/>
        </p:nvSpPr>
        <p:spPr>
          <a:xfrm>
            <a:off x="4257360" y="2743200"/>
            <a:ext cx="32821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Referansların Paylaşılması ve Değişimi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a = {5};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int[] b = a;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[a] -----&gt; (Hafıza Kutusu: { 5 })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[b] -----/ (İkisi de aynı yere bakar)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a[0] = 9;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(Hafıza Kutusu artık { 9 } oldu)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b[0] yazdırılırsa ekrana 9 çıkar!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Rounded Rectangle 139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ounded Rectangle 140"/>
          <p:cNvSpPr/>
          <p:nvPr/>
        </p:nvSpPr>
        <p:spPr>
          <a:xfrm>
            <a:off x="8001000" y="2286000"/>
            <a:ext cx="3655440" cy="4110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BellekYonetimi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İLKEL TİP (Bağımsız Kopya)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y = x;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y = 99; // x etkilenmez, x hala 10'dur!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REFERANS TİP (Ortak Hafıza Adresi)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99; // diziA'nın da içi 99 oldu!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BAĞ KOPARMA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diziB hala veriyi tuttuğu için silinmez.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KİLİTLİ ADRES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kilitli = { 5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kilitli = new int[]{ 1 }; // HATA VERİR!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kilitli[0] = 7; // BAŞARILI! İçerik değişti.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4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Rectangle 30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30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30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30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30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31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ectangle 31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2" name="Rectangle 31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3" name="Rectangle 31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4" name="Rectangle 31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ectangle 31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6" name="Rectangle 31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ectangle 31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8" name="Rectangle 31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ectangle 31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0" name="Rectangle 32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1" name="Rounded Rectangle 141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Box 61"/>
          <p:cNvSpPr/>
          <p:nvPr/>
        </p:nvSpPr>
        <p:spPr>
          <a:xfrm>
            <a:off x="2144880" y="732600"/>
            <a:ext cx="667332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Ortak Banka Hesapları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Box 62"/>
          <p:cNvSpPr/>
          <p:nvPr/>
        </p:nvSpPr>
        <p:spPr>
          <a:xfrm>
            <a:off x="2081520" y="1371600"/>
            <a:ext cx="7400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Bellek referanslarını anlamak için günlük bankacılık işlemlerini düşünün.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(primitives) ayrı cüzdanlardaki nakit para gibidir.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tipler ise tam olarak aynı ortak banka kasasına bağlı iki farklı banka kartı gibidir.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Rounded Rectangle 142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ounded Rectangle 143"/>
          <p:cNvSpPr/>
          <p:nvPr/>
        </p:nvSpPr>
        <p:spPr>
          <a:xfrm>
            <a:off x="685800" y="2743200"/>
            <a:ext cx="3198600" cy="3655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BANKACILIK ANALOJİSİ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Nakit Para (İlkel Tip): Sizin ve arkadaşınızın cebinde 100 TL var. Arkadaşınız kahve alırsa sizin paranız azalmaz. (Bağımsız kopyalar).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Ortak Hesap (Referans Tip): Eşlerin tek bir hesaba bağlı iki farklı kartı vardır. Biri 50 TL çekerse, diğerinin bakiyesi de anında düşer!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Kartı Kaybetmek (null): Eşlerden biri kartını kırıp atarsa (null), bankadaki kasa silinmez. Diğer eş paraya hâlâ ulaşabilir.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Sabit Hesap (final): Sadece belirli bir kasaya kilitlenmiş karttır. Kartı başka bankaya bağlayamazsınız ama kasanın içine hâlâ para ekleyip çıkarabilirsiniz.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Rounded Rectangle 144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ounded Rectangle 145"/>
          <p:cNvSpPr/>
          <p:nvPr/>
        </p:nvSpPr>
        <p:spPr>
          <a:xfrm>
            <a:off x="4267800" y="2971800"/>
            <a:ext cx="3056040" cy="297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 Ortak Hesap Mantığı ]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esKart1 = { 500 };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[1. Kart] -----&gt; (Kasa: 500 TL)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double[] esKart2 = esKart1;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[2. Kart] -----/ (Aynı Kasa)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esKart2[0] -= 100;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(Kasa 400 TL'ye düşer)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40" spc="-1" strike="noStrike">
                <a:solidFill>
                  <a:schemeClr val="lt1"/>
                </a:solidFill>
                <a:latin typeface="Calibri"/>
                <a:ea typeface="DejaVu Sans"/>
              </a:rPr>
              <a:t>Sonuç: Birinci eş bakiyesine baktığında 400 TL görür. Harcama ikisini de etkilemiştir!</a:t>
            </a:r>
            <a:endParaRPr b="0" lang="en-US" sz="164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8" name="Rounded Rectangle 146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ounded Rectangle 147"/>
          <p:cNvSpPr/>
          <p:nvPr/>
        </p:nvSpPr>
        <p:spPr>
          <a:xfrm>
            <a:off x="7772400" y="2286000"/>
            <a:ext cx="388440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BankaUygulamasi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1. NAKİT PARA (İlkel - Bağımsız)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cuzdanim = 100;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int arkadasCuzdani = cuzdanim;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arkadasCuzdani -= 20; // Benimki hala 100!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ORTAK HESAP (Referans - Paylaşımlı)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ortakKasa = { 1000.0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kartA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double[] kartB = ortakKasa;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kartB[0] -= 200; // B harcama yaptı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3. KAYIP KART (Null)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kartB = null; // Kart iptal edildi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Kasa güvende! A kartı hala 800.0 görür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System.out.println("Kart A: " + kartA[0] + " TL");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4. SABİT KART (Final)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final double[] sirketKasasi = { 5000.0 };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// sirketKasasi = new double[]{ 0 }; // HATA!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sirketKasasi[0] += 500; // BAŞARILI! (Para yattı)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9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0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Rectangle 321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322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323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324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325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326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ectangle 327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8" name="Rectangle 328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9" name="Rectangle 329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0" name="Rectangle 330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ectangle 331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2" name="Rectangle 332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ectangle 333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4" name="Rectangle 334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ectangle 335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6" name="Rectangle 336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7" name="Rounded Rectangle 148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8" name="TextBox 64"/>
          <p:cNvSpPr/>
          <p:nvPr/>
        </p:nvSpPr>
        <p:spPr>
          <a:xfrm>
            <a:off x="2431080" y="732600"/>
            <a:ext cx="61005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Atama ve Referans Yönetimi: Genel Özet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TextBox 65"/>
          <p:cNvSpPr/>
          <p:nvPr/>
        </p:nvSpPr>
        <p:spPr>
          <a:xfrm>
            <a:off x="1833840" y="1371600"/>
            <a:ext cx="78955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Atama operatörleri (=), verileri değişkenlere kaydetmenin ve belleği yönetmenin temelidir.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tiplerdeki değer kopyalama ile nesnelerdeki adres paylaşımı arasındaki kritik farkı bilmek,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hatasız kod yazmanın altın kuralıdır.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Rounded Rectangle 149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ounded Rectangle 150"/>
          <p:cNvSpPr/>
          <p:nvPr/>
        </p:nvSpPr>
        <p:spPr>
          <a:xfrm>
            <a:off x="685800" y="2743200"/>
            <a:ext cx="319860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GELİŞTİRİCİ KONTROL LİSTESİ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Sağdan Sola Akar: Atama işlemi her zaman önce sağ tarafı hesaplar, sonra sola yazar (a = 5 + 2;).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En Ölümcül Hata: if bloğu içinde == (kıyaslama) yerine yanlışlıkla = (atama) kullanmak, kodu çökertmez ama mantığı tamamen bozar.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Bileşik Güç: +=, -= operatörleri kodu kısaltır ve arka planda hayat kurtaran otomatik tip dönüşümleri yapar.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 vs Adres: İlkel tipler (int) tamamen bağımsızdır. Nesneler (dizi, sınıf) ise hafıza adresini (kumandayı) paylaşır.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Rounded Rectangle 151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ounded Rectangle 152"/>
          <p:cNvSpPr/>
          <p:nvPr/>
        </p:nvSpPr>
        <p:spPr>
          <a:xfrm>
            <a:off x="4267800" y="2971800"/>
            <a:ext cx="3056040" cy="297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Hata Ayıklama (Debugging) Haritası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diziyi diğerine kopyaladın, birini değiştirince diğeri de mi bozuldu?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Sebep: = sadece adresi kopyalar. Ortak kasaya bağlandılar!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tipine sayı eklerken derleme hatası mı alıyorsun?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x = x + 5 yerine x += 5 kullan, Java tip dönüşümünü halletsin!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Belleği şişiren bir nesneden kurtulmak mı istiyorsun?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Değişkene null ata. Çöp Toplayıcı (GC) onu RAM'den silsin.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Rounded Rectangle 153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ounded Rectangle 154"/>
          <p:cNvSpPr/>
          <p:nvPr/>
        </p:nvSpPr>
        <p:spPr>
          <a:xfrm>
            <a:off x="7772400" y="2286000"/>
            <a:ext cx="31989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AtamaOzet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BİLEŞİK ATAMA (Tip Dönüşümü)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byte b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 += 5; // b = b + 5 yazsak HATA verirdi!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TUZAĞI (= vs ==)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aktif = false;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if(aktif = true) -&gt; YANLIŞ KULLANIM!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(aktif == true) { /* Doğrusu */ 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REFERANS PAYLAŞIMI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diziA = { 1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int[] diziB = diziA; // Adres paylaşıldı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diziB[0] = 9; // diziA[0] da 9 oldu!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4. TEMİZLİK VE SABİTLEME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diziA = null; // A'nın bağını kopardık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final int[] sabit = { 5 };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sabit = new int[]{1}; // HATA! (Adres kilitli)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sabit[0] = 8; // BAŞARILI! (İçerik değişebilir)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6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Rectangle 337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338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339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340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341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342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ectangle 343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4" name="Rectangle 344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5" name="Rectangle 345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6" name="Rectangle 346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ectangle 347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8" name="Rectangle 348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ectangle 349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0" name="Rectangle 350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ectangle 351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2" name="Rectangle 352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3" name="Rounded Rectangle 155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4" name="TextBox 67"/>
          <p:cNvSpPr/>
          <p:nvPr/>
        </p:nvSpPr>
        <p:spPr>
          <a:xfrm>
            <a:off x="2220840" y="732600"/>
            <a:ext cx="652248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İlişkisel (Karşılaştırma) Operatörleri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TextBox 68"/>
          <p:cNvSpPr/>
          <p:nvPr/>
        </p:nvSpPr>
        <p:spPr>
          <a:xfrm>
            <a:off x="1467360" y="1371600"/>
            <a:ext cx="863028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İlişkisel operatörler, iki değeri birbiriyle kıyaslamak için kullanılır.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Operandlar arasındaki ilişkiyi değerlendirir ve her zaman mantıksal bir sonuç (true veya false) dönerler.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Bu yapı, programlamadaki karar mekanizmalarının (if-else blokları ve döngüler) temelini oluşturur.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Rounded Rectangle 156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ounded Rectangle 157"/>
          <p:cNvSpPr/>
          <p:nvPr/>
        </p:nvSpPr>
        <p:spPr>
          <a:xfrm>
            <a:off x="685800" y="2743200"/>
            <a:ext cx="319860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KARŞILAŞTIRMA KURALLARI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İlkel (Primitive) Değer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Tüm sayısal tiplerde (int, double, char) doğal olarak çalışır.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== (eşittir) ve != (eşit değildir).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&gt;, &lt;, &gt;=, &lt;= (sınır kontrolleri).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 tamamen matematiksel değere göre yapılır.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Referans / Nesne (Object) Kuralları: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Nesnelerde (String gibi), == sadece aynı bellek adresini paylaşıp paylaşmadıklarını kontrol eder (kimlik kontrolü).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İki nesnenin içeriklerinin aynı olup olmadığını kontrol etmek için == yerine kesinlikle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8" name="Rounded Rectangle 158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ounded Rectangle 159"/>
          <p:cNvSpPr/>
          <p:nvPr/>
        </p:nvSpPr>
        <p:spPr>
          <a:xfrm>
            <a:off x="4267800" y="2971800"/>
            <a:ext cx="3056040" cy="297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KOD ÇALIŞMA İZİ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Koşul: int x = 10; int y = 20;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1. İZLEME: x !=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!= 20 ➔ true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Değerler gerçekten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2. İZLEME: x &gt;= y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10 &gt;= 20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Güvenli. 10, 20'den büyük değil.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3. İZLEME: str1 == str2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Değerlendirme: AdresA == AdresB ➔ false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Karar: TUZAK! İçerikler aynı, adresler farklı.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0" name="Rounded Rectangle 160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ounded Rectangle 161"/>
          <p:cNvSpPr/>
          <p:nvPr/>
        </p:nvSpPr>
        <p:spPr>
          <a:xfrm>
            <a:off x="7772400" y="2286000"/>
            <a:ext cx="31989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Karsilastirma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int b = 20;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1. TEMEL KARŞILAŞTIRMALAR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esitMi = (a == b);   // false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farkliMi = (a != b);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kucukMu = (a &lt;= b);  // true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2. KONTROL BLOKLARI (IF-ELSE)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if (a &gt;= 10) {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System.out.println("A, 10 veya daha buyuk");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3. STRING (METİN) TUZAĞI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s1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s2 = new String("Java");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False! Farklı bellek adresleri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 = (s1 == 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// True! Doğru karşılaştırma yöntemi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s1.equals(s2);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Match: " + dogru);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2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353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54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5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56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57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58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59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360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361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362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363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364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365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366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367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ectangle 368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9" name="Rounded Rectangle 162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0" name="TextBox 70"/>
          <p:cNvSpPr/>
          <p:nvPr/>
        </p:nvSpPr>
        <p:spPr>
          <a:xfrm>
            <a:off x="1652400" y="626040"/>
            <a:ext cx="7659360" cy="51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2: İleri Seviye Tuzaklar)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Box 71"/>
          <p:cNvSpPr/>
          <p:nvPr/>
        </p:nvSpPr>
        <p:spPr>
          <a:xfrm>
            <a:off x="2426760" y="1222920"/>
            <a:ext cx="6725880" cy="10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sadece sayılarla sınırlı değildir.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Karakterlerin arka plandaki sayısal değerlerini kıyaslayabilirler.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Ancak nesne tabanlı sayılarda (Integer) ve çoklu koşullarda (zincirleme işlemler)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tehlikeli derleme ve mantık hatalarına yol açabilirler.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Rounded Rectangle 163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ounded Rectangle 164"/>
          <p:cNvSpPr/>
          <p:nvPr/>
        </p:nvSpPr>
        <p:spPr>
          <a:xfrm>
            <a:off x="685800" y="2514600"/>
            <a:ext cx="319860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CRITICAL TRAPS (Kritik Tuzaklar)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(Char) Kıyaslaması: Karakterler ('a', 'b') karşılaştırılırken arka plandaki ASCII sayısal değerleri kıyaslanır. (Örn: 'a' &lt; 'b' ifadesi arka planda 97 &lt; 98 olarak değerlendirilir ve true döner).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Zincirleme Hatası: Java'da matematiksel olarak 10 &lt; x &lt; 20 yazamazsınız (derleme hatası verir). Doğrusu mantıksal operatörle bağlamaktır: 10 &lt; x &amp;&amp; x &lt; 20.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Integer Önbellek (Caching) Tuzağı: Integer nesnelerini == ile kıyaslarken, sayılar sadece -128 ile 127 arasındaysa doğru çalışır. Bu sınırın dışındaki sayılarda nesne referansları farklı olduğu için == yanlış sonuç verir. Her zaman .equals() kullanılmalıdır.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4" name="Rounded Rectangle 165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ounded Rectangle 166"/>
          <p:cNvSpPr/>
          <p:nvPr/>
        </p:nvSpPr>
        <p:spPr>
          <a:xfrm>
            <a:off x="4267800" y="2971800"/>
            <a:ext cx="3056040" cy="297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DECISION MATRIX (Karar Matrisi)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Doğru Karşılaştırma Yöntemi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int, double (İlkel Sayılar)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== veya != (Tamamen güvenli)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char (Karakter)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&lt; veya &gt; (ASCII değerlerini kıyaslar)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Tipi: String veya Integer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(Nesneler)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Yöntem: Kesinlikle .equals() kullan! (Tuzaklardan kaçar)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6" name="Rounded Rectangle 167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ounded Rectangle 168"/>
          <p:cNvSpPr/>
          <p:nvPr/>
        </p:nvSpPr>
        <p:spPr>
          <a:xfrm>
            <a:off x="7772400" y="2286000"/>
            <a:ext cx="3198960" cy="4113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IleriKarsilastirma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1. KARAKTER (CHAR) KIYASLAMASI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c1 = 'a'; // ASCII: 97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char c2 = 'b'; // ASCII: 98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charKiyas = (c1 &lt; c2);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2. ZİNCİRLEME KARŞILAŞTIRMA TUZAĞI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 x = 15;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boolean hata = 10 &lt; x &lt; 20; // DERLEME HATASI!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 = (10 &lt; x) &amp;&amp; (x &lt; 20); // true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// 3. INTEGER ÖNBELLEK TUZAĞI (Integer Caching)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n1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n2 = 127;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esitSınır = (n1 == n2); // true (Önbellekte)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n3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n4 = 128;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esitTuzak = (n3 == n4); // false! (Bellek referansı)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dogruEsit = n3.equals(n4); // true (İçerik kıyası)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System.out.println("128 == 128: " + esitTuzak);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System.out.println("Doğru Eşitlik: " + dogruEsit);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77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77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8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Rectangle 369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370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371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372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373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374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375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376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377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378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379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380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381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82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83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ectangle 384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5" name="Rounded Rectangle 169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6" name="TextBox 73"/>
          <p:cNvSpPr/>
          <p:nvPr/>
        </p:nvSpPr>
        <p:spPr>
          <a:xfrm>
            <a:off x="1324800" y="626040"/>
            <a:ext cx="8314200" cy="48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İlişkisel Operatörler (Bölüm 3: Tip Kontrolleri ve Hassasiyet)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Box 74"/>
          <p:cNvSpPr/>
          <p:nvPr/>
        </p:nvSpPr>
        <p:spPr>
          <a:xfrm>
            <a:off x="2891160" y="1222920"/>
            <a:ext cx="579672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ilişkisel operatörler basit matematiğin ötesine geçer.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instanceof operatörü bir nesnenin tipini bir sınıfla karşılaştırmamızı sağlarken,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ondalıklı sayıları (double/float) karşılaştırmak ikilik sistemdeki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hassasiyet sınırları nedeniyle katı "hata payı" (delta/eşik) kontrolleri gerektirir.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Rounded Rectangle 170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ounded Rectangle 171"/>
          <p:cNvSpPr/>
          <p:nvPr/>
        </p:nvSpPr>
        <p:spPr>
          <a:xfrm>
            <a:off x="685800" y="2514600"/>
            <a:ext cx="3198600" cy="4114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Tip Karşılaştırma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 referansını bir sınıf tipiyle kıyaslar. Eğer nesne o sınıfın, alt sınıfının veya arayüzünün (interface) bir örneğiyse true döner.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Hassasiyet Tuzağı (Precision Trap):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Bilgisayarlar ondalıklı sayıları ikilik sistemde (IEEE 754) saklar. Bu durum yuvarlama hatalarına yol açar. Örneğin 0.1 + 0.2 işlemi tam olarak 0.3'e eşit değildir (arka planda 0.30000000000000004 olur).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Delta Kontrolü Çözümü: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Ondalıklı değerleri asla == ile karşılaştırmayın. Bunun yerine, iki sayı arasındaki mutlak farkın çok küçük bir eşik değerinden (tolerans payı, örn: 0.00001) küçük olup olmadığını kontrol edin.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0" name="Rounded Rectangle 172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ounded Rectangle 173"/>
          <p:cNvSpPr/>
          <p:nvPr/>
        </p:nvSpPr>
        <p:spPr>
          <a:xfrm>
            <a:off x="4267800" y="3200400"/>
            <a:ext cx="3056040" cy="251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Hassasiyet vs Tip Kontrolü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1: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Bir nesnenin String olup olmadığını kontrol et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obj instanceof String (Güvenle boolean döner)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►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Görev 2: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İki double değerini karşılaştır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Yanlış: a == b (Yuvarlama hatalarına açıktır)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➔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Doğru: Math.abs(a - b) &lt; 0.00001 (Eşik değer kontrolü)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2" name="Rounded Rectangle 174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ounded Rectangle 175"/>
          <p:cNvSpPr/>
          <p:nvPr/>
        </p:nvSpPr>
        <p:spPr>
          <a:xfrm>
            <a:off x="7772400" y="2743200"/>
            <a:ext cx="320004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HassasKarsilastirma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TİP KARŞILAŞTIRMA (instanceof)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metin = "Merhaba Dunya";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stringMi = metin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sayiMi = metin instanceof Number;   // false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ONDALIKLI SAYI HASSASİYET TUZAĞI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d1 = 0.1 + 0.2;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d2 = 0.3;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hataliKiyas = (d1 == d2); // false! (Tuzak)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DELTA (EŞİK) KONTROLÜ ÇÖZÜMÜ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epsilon = 0.00001; // tolerans payı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dogruKiyas = Math.abs(d1 - d2) &lt; epsilon;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System.out.println("0.1 + 0.2 == 0.3: " + hataliKiyas);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System.out.println("Dogru Karsilastirma: " + dogruKiyas);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4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Rectangle 385"/>
          <p:cNvSpPr/>
          <p:nvPr/>
        </p:nvSpPr>
        <p:spPr>
          <a:xfrm>
            <a:off x="0" y="0"/>
            <a:ext cx="12179160" cy="68482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386"/>
          <p:cNvSpPr/>
          <p:nvPr/>
        </p:nvSpPr>
        <p:spPr>
          <a:xfrm>
            <a:off x="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387"/>
          <p:cNvSpPr/>
          <p:nvPr/>
        </p:nvSpPr>
        <p:spPr>
          <a:xfrm>
            <a:off x="914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388"/>
          <p:cNvSpPr/>
          <p:nvPr/>
        </p:nvSpPr>
        <p:spPr>
          <a:xfrm>
            <a:off x="1828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389"/>
          <p:cNvSpPr/>
          <p:nvPr/>
        </p:nvSpPr>
        <p:spPr>
          <a:xfrm>
            <a:off x="2743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390"/>
          <p:cNvSpPr/>
          <p:nvPr/>
        </p:nvSpPr>
        <p:spPr>
          <a:xfrm>
            <a:off x="3657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391"/>
          <p:cNvSpPr/>
          <p:nvPr/>
        </p:nvSpPr>
        <p:spPr>
          <a:xfrm>
            <a:off x="4572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392"/>
          <p:cNvSpPr/>
          <p:nvPr/>
        </p:nvSpPr>
        <p:spPr>
          <a:xfrm>
            <a:off x="5486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393"/>
          <p:cNvSpPr/>
          <p:nvPr/>
        </p:nvSpPr>
        <p:spPr>
          <a:xfrm>
            <a:off x="6400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394"/>
          <p:cNvSpPr/>
          <p:nvPr/>
        </p:nvSpPr>
        <p:spPr>
          <a:xfrm>
            <a:off x="7315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395"/>
          <p:cNvSpPr/>
          <p:nvPr/>
        </p:nvSpPr>
        <p:spPr>
          <a:xfrm>
            <a:off x="82296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396"/>
          <p:cNvSpPr/>
          <p:nvPr/>
        </p:nvSpPr>
        <p:spPr>
          <a:xfrm>
            <a:off x="91440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397"/>
          <p:cNvSpPr/>
          <p:nvPr/>
        </p:nvSpPr>
        <p:spPr>
          <a:xfrm>
            <a:off x="100584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398"/>
          <p:cNvSpPr/>
          <p:nvPr/>
        </p:nvSpPr>
        <p:spPr>
          <a:xfrm>
            <a:off x="109728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399"/>
          <p:cNvSpPr/>
          <p:nvPr/>
        </p:nvSpPr>
        <p:spPr>
          <a:xfrm>
            <a:off x="11887200" y="0"/>
            <a:ext cx="8640" cy="68482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ectangle 400"/>
          <p:cNvSpPr/>
          <p:nvPr/>
        </p:nvSpPr>
        <p:spPr>
          <a:xfrm>
            <a:off x="0" y="0"/>
            <a:ext cx="310320" cy="68482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1" name="Rounded Rectangle 176"/>
          <p:cNvSpPr/>
          <p:nvPr/>
        </p:nvSpPr>
        <p:spPr>
          <a:xfrm>
            <a:off x="9875520" y="365760"/>
            <a:ext cx="2001960" cy="4932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2" name="TextBox 76"/>
          <p:cNvSpPr/>
          <p:nvPr/>
        </p:nvSpPr>
        <p:spPr>
          <a:xfrm>
            <a:off x="2232000" y="626040"/>
            <a:ext cx="6499440" cy="486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f5f5f5"/>
                </a:solidFill>
                <a:latin typeface="Calibri"/>
                <a:ea typeface="DejaVu Sans"/>
              </a:rPr>
              <a:t>Gerçek Hayat Örneği: Kullanıcı Erişim Kontrolü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Box 77"/>
          <p:cNvSpPr/>
          <p:nvPr/>
        </p:nvSpPr>
        <p:spPr>
          <a:xfrm>
            <a:off x="2929680" y="1222920"/>
            <a:ext cx="5719320" cy="94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Gerçek dünya uygulamalarında ilişkisel operatörler; kullanıcı kayıt süreçlerini,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güvenlik sınırlarını ve rol tabanlı erişim yetkilerini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 </a:t>
            </a: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(Role-based access control) doğrulamak 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aaaaaa"/>
                </a:solidFill>
                <a:latin typeface="Calibri"/>
                <a:ea typeface="DejaVu Sans"/>
              </a:rPr>
              <a:t>için yazılan tüm iş kurallarının (business rules) temelini oluşturur.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Rounded Rectangle 177"/>
          <p:cNvSpPr/>
          <p:nvPr/>
        </p:nvSpPr>
        <p:spPr>
          <a:xfrm>
            <a:off x="98748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ounded Rectangle 178"/>
          <p:cNvSpPr/>
          <p:nvPr/>
        </p:nvSpPr>
        <p:spPr>
          <a:xfrm>
            <a:off x="685800" y="2971800"/>
            <a:ext cx="3200400" cy="320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Yaş Sınırı Doğrulama (&gt;=):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sisteme kayıt olabilmesi için yasal yaş sınırında (örn: 18) olup olmadığını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Şifre Eşleştirme (.equals()):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Kullanıcının girdiği şifreyi, bellekteki adresine göre değil, karakter karakter doğruluğuna göre güvenli bir şekilde eşleştirir.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Yetki Rolü Kontrolü (instanceof):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Sisteme giriş yapan nesnenin "Yönetici (Admin)" rolüne veya sınıfına ait olup olmadığını çalışma zamanında doğrular.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Rounded Rectangle 179"/>
          <p:cNvSpPr/>
          <p:nvPr/>
        </p:nvSpPr>
        <p:spPr>
          <a:xfrm>
            <a:off x="450792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ounded Rectangle 180"/>
          <p:cNvSpPr/>
          <p:nvPr/>
        </p:nvSpPr>
        <p:spPr>
          <a:xfrm>
            <a:off x="4267800" y="2743200"/>
            <a:ext cx="305604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[ Kullanıcı Giriş Akışı ]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Girdiler: yas = 20, sifre = "Sifre123", Kullanıcı Nesnesi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1. Yaş Kontrolü: yas &gt;= 18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(Yaş Sınırı Geçildi)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2. Şifre Kontrolü: girilen.equals(kayitli)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Sonuç: true (Şifre Eşleşti)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&gt; 3. Yetki Rolü Kontrolü: kullanici instanceof Admin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Evet (true) ➔ Yönetici Paneline Yönlendir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└──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Hayır (false) ➔ Standart Kullanıcı Arayüzünü Aç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8" name="Rounded Rectangle 181"/>
          <p:cNvSpPr/>
          <p:nvPr/>
        </p:nvSpPr>
        <p:spPr>
          <a:xfrm>
            <a:off x="8028360" y="3182040"/>
            <a:ext cx="3282120" cy="27334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ounded Rectangle 182"/>
          <p:cNvSpPr/>
          <p:nvPr/>
        </p:nvSpPr>
        <p:spPr>
          <a:xfrm>
            <a:off x="7772400" y="2743200"/>
            <a:ext cx="365760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ErisimKontrolu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1. KULLANICI GİRDİLERİ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20;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girilenSifre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kayitliSifre = new String("Sifre123");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Object aktifKullanici = "YoneticiNesnesi"; // Örnek nesne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2. YAŞ VE ŞİFRE DOĞRULAMA (İlişkisel)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yasBasarili = (yas &gt;= 18);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sifreBasarili = girilenSifre.equals(kayitliSifre);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3. ROL / TİP KONTROLÜ (Type Check)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// Aktif kullanıcı bir String (Yönetici) mi?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adminMi = aktifKullanici instanceof String; // true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(yasBasarili &amp;&amp; sifreBasarili)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System.out.println("Giris Basarili!");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if (adminMi) {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System.out.println("Yonetici paneli aktif.");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0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541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2026-05-31T02:05:31Z</dcterms:modified>
  <cp:revision>42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