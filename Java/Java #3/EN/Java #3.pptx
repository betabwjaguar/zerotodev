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A38027-2AB6-44FC-BC6F-9AEB43EEE6D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FEE2B5E-02BF-4053-93CF-D0416ECFFBF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B248F49-474D-4205-9826-9A457CACD4C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F035550-6D69-4FD0-B01E-E83E8548A40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A38B024-732E-4169-80F3-6C10CBE9C0E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97E120A-106B-4C44-88F7-106A7D9EE14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E6B5B0C-787A-4D6F-BE67-B311B756A8B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53A3D66-6CA8-433D-8365-B3752B6EA1A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52E544E-E01F-4E78-AF50-C3A428CDE58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0E22E2D-3C28-495D-8D3E-7810386D237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A5C4806-487D-488E-BF6F-C972AC1A976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B052F07-C319-42DC-9C29-F63EA58C058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F048CEC-79AA-43BC-8C5E-5D4BB5697E6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4741F23-678F-4DDF-A19A-2E1037AFC5E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7C59E37-A180-4933-9B79-EFD9EC782A1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3485D97-C1B1-4DDF-8C86-0CCA625D816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5EAC9CF-B775-4B70-8E58-88CA6E551E7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08EBBBD-C9EC-48B9-AB05-5DE37E5CDB0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347118F-7EB9-46ED-8F4E-A35D1FD27DE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0AA2D80-7F29-4C39-965B-51C24BAD6FE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583D3C2-2207-49BC-A29D-72F29DDD875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2580BB0-22F3-48E8-900F-9F52F1C80BD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AFC2B73-7CA3-4B2E-B0CC-562AE04D127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48F5340-654C-4496-BC14-0AB00893E48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3C1941E-66EB-4383-9B12-F6612C54A81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8E850B4-13C2-429B-99DF-5080D361BC8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A0EFCBF-12DB-4597-B322-FB9F68BD9ED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87B4C23-C252-40D8-B7D2-5CF6C570429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78105E3-6617-459B-8DE2-C63DA7A542F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A7140A2-4683-4EC0-980E-3DB83A485DA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FC3FDEE-18EC-4D20-8DBC-A0AC1935128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9B156F5-F553-448F-9912-743D9E7432C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62D9B68-CAD4-44BB-9033-1963D52EBD4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0D21EF1-A25D-4F90-AB39-A5DEDE09377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66F895B-B0C0-4900-8462-AC7D04EA3FC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5BA99B6-ADD9-4077-80FC-B8DB113A8F6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67C0EF6-DA89-456E-BBE2-27650F539A0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B8B587F-FE65-4B5D-834D-0C5EBD8A5A0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851D75A-AB88-40BE-89AB-330636C92EA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F87CC12-52C0-4D82-B32E-67F035EAB07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BECE65A-0F40-47C5-8C38-D98F975484C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6E9C8AE-47E5-4222-B44D-15FD8FD2785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9EFBD2A-FBC5-477E-B2A0-E4CD9B791DE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F64FBAA-8556-4A5B-A3B7-841452691F4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F2EBA39-DE6B-4410-8998-50D1492DA5E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4A5E6F9-5DDA-4CFA-B486-EBD5AC10268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459130F-0C36-44E0-990A-FEF1EAD3A93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E0013BD-4A94-412B-848C-35F4A8B83B2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BB7EC6E-6080-40DA-AD0F-350678D23FF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400BD7F-A80C-4527-A38C-503CBAF21E3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0A780D2-AA36-4C80-9327-34F2C7BCB90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363A9EC-C0A9-4DC6-807A-09FE08D9738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3251B01-C289-4971-96D7-437C606EA31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3A33D4F-1324-491D-8840-A503837E7C2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9550C11-81AA-49B4-8373-48BFD29185F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C5F8D8A-2439-4E1F-BC0E-FC8CF1143A9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84CD3DD-D5C5-4715-8C4A-F20FAB85304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AAFF1D3-0F9B-4C9C-A867-70D84F325A7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DACC21F-8198-410B-8C9E-9A53E2D2CD8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61D0A3E-E820-4BA1-82E4-1C5D04F94D4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1ABDE87-2BE5-4E65-93A6-32B962B9B85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B1575C6-0B5F-479C-A5CD-456D4EA20B5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426AD3-1A3B-46B0-9408-DBB3DDDB661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EBA8058-4CCD-4AA4-912F-CE494A6144D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0F0B056-61A6-40FD-AFB1-4E5A0E0AA10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2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3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4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5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6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7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8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9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10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11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12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13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14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15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16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17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18"/>
          <p:cNvSpPr/>
          <p:nvPr/>
        </p:nvSpPr>
        <p:spPr>
          <a:xfrm>
            <a:off x="3340800" y="1005840"/>
            <a:ext cx="4289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Box 19"/>
          <p:cNvSpPr/>
          <p:nvPr/>
        </p:nvSpPr>
        <p:spPr>
          <a:xfrm>
            <a:off x="1470960" y="2057400"/>
            <a:ext cx="9501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Variables are named memory locations used to store data 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every variable must have a specific data type that defines what kind of data it can store.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Rounded Rectangle 20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21"/>
          <p:cNvSpPr/>
          <p:nvPr/>
        </p:nvSpPr>
        <p:spPr>
          <a:xfrm>
            <a:off x="914400" y="3108960"/>
            <a:ext cx="328932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Definition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is a named memory location used to store data.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Requirement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every variable must be declared with a specific data type.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type determines the type of value and the memory size.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Example Data Types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example, int stores whole numbers, double stores decimals, and String stores text.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Flexibility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allow programs to store and modify data during execution.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Rounded Rectangle 22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ounded Rectangle 23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(data type + name)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(print / calculate)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Rounded Rectangle 24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ounded Rectangle 25"/>
          <p:cNvSpPr/>
          <p:nvPr/>
        </p:nvSpPr>
        <p:spPr>
          <a:xfrm>
            <a:off x="7955280" y="3108960"/>
            <a:ext cx="347328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VariableExample{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br>
              <a:rPr sz="1400"/>
            </a:b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32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33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34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35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36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37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38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39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40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41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42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43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44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45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46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47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8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4"/>
          <p:cNvSpPr/>
          <p:nvPr/>
        </p:nvSpPr>
        <p:spPr>
          <a:xfrm>
            <a:off x="2652120" y="1005840"/>
            <a:ext cx="5667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5"/>
          <p:cNvSpPr/>
          <p:nvPr/>
        </p:nvSpPr>
        <p:spPr>
          <a:xfrm>
            <a:off x="712800" y="2057400"/>
            <a:ext cx="1101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classified based on where they are declared and how they are used within a class or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Rounded Rectangle 9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10"/>
          <p:cNvSpPr/>
          <p:nvPr/>
        </p:nvSpPr>
        <p:spPr>
          <a:xfrm>
            <a:off x="931680" y="2925720"/>
            <a:ext cx="3181680" cy="347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are declared inside a method, constructor, or block. They can only be accessed within that specific method or block where they are created.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 are declared inside a class but outside methods. Each object of the class has its own copy of these variables.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 are declared using the static keyword. They belong to the class itself and are shared among all objects of that class.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Rounded Rectangle 11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ounded Rectangle 12"/>
          <p:cNvSpPr/>
          <p:nvPr/>
        </p:nvSpPr>
        <p:spPr>
          <a:xfrm>
            <a:off x="4434840" y="3108960"/>
            <a:ext cx="328932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Method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Rounded Rectangle 13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ounded Rectangle 14"/>
          <p:cNvSpPr/>
          <p:nvPr/>
        </p:nvSpPr>
        <p:spPr>
          <a:xfrm>
            <a:off x="7955280" y="3108960"/>
            <a:ext cx="347328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VariableTypes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instanceVar = 10;        // instance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staticVar = 20;   // static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showVariables()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localVar = 30;       // local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System.out.println(localVar);        System.out.println(instanceVar);        System.out.println(staticVar);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48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49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50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51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52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53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54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55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56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57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58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59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60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61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62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63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15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7"/>
          <p:cNvSpPr/>
          <p:nvPr/>
        </p:nvSpPr>
        <p:spPr>
          <a:xfrm>
            <a:off x="1629000" y="1005840"/>
            <a:ext cx="7714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PRIMITIVE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8"/>
          <p:cNvSpPr/>
          <p:nvPr/>
        </p:nvSpPr>
        <p:spPr>
          <a:xfrm>
            <a:off x="1870560" y="1846080"/>
            <a:ext cx="7289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data types are the basic data types in Java used to store simple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values such as numbers, characters, and boolean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Rounded Rectangle 16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18"/>
          <p:cNvSpPr/>
          <p:nvPr/>
        </p:nvSpPr>
        <p:spPr>
          <a:xfrm>
            <a:off x="685800" y="2743200"/>
            <a:ext cx="351792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numeric data types such as byte, short, int, long, float, and double to store different kinds of numbers.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char data type is used to store a single character based on the Unicode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boolean data type represents logical values and can only store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Memory Efficiency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stored directly in memory and are faster and more memory-efficient than reference types.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Rounded Rectangle 19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ounded Rectangle 26"/>
          <p:cNvSpPr/>
          <p:nvPr/>
        </p:nvSpPr>
        <p:spPr>
          <a:xfrm>
            <a:off x="4343400" y="2743200"/>
            <a:ext cx="338076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Rounded Rectangle 27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ounded Rectangle 28"/>
          <p:cNvSpPr/>
          <p:nvPr/>
        </p:nvSpPr>
        <p:spPr>
          <a:xfrm>
            <a:off x="7955280" y="2971800"/>
            <a:ext cx="370188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  System.out.println(grade);    System.out.println(isStudent);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Rectangle 80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81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82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83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84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85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86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87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88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89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90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91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92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93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94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95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36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13"/>
          <p:cNvSpPr/>
          <p:nvPr/>
        </p:nvSpPr>
        <p:spPr>
          <a:xfrm>
            <a:off x="2400480" y="1005840"/>
            <a:ext cx="617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REFERENCE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14"/>
          <p:cNvSpPr/>
          <p:nvPr/>
        </p:nvSpPr>
        <p:spPr>
          <a:xfrm>
            <a:off x="2493720" y="2194560"/>
            <a:ext cx="59835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data types store references (memory addresses)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to objects rather than the actual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Rounded Rectangle 37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38"/>
          <p:cNvSpPr/>
          <p:nvPr/>
        </p:nvSpPr>
        <p:spPr>
          <a:xfrm>
            <a:off x="685800" y="3108960"/>
            <a:ext cx="351828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Object-Based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represent objects created from classes.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Memory Reference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store the memory address of the object instead of the actual data.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include String, arrays, classes, and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Flexible Structure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allow storing complex data structures and multiple values.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Rounded Rectangle 39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ounded Rectangle 40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Classes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ounded Rectangle 41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42"/>
          <p:cNvSpPr/>
          <p:nvPr/>
        </p:nvSpPr>
        <p:spPr>
          <a:xfrm>
            <a:off x="7955280" y="3108960"/>
            <a:ext cx="370224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ReferenceExample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Rectangle 64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65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66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67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68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69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70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71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72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73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74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75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76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77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78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79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29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10"/>
          <p:cNvSpPr/>
          <p:nvPr/>
        </p:nvSpPr>
        <p:spPr>
          <a:xfrm>
            <a:off x="1342800" y="1005840"/>
            <a:ext cx="828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PRIMITIVE VS REFERENCE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11"/>
          <p:cNvSpPr/>
          <p:nvPr/>
        </p:nvSpPr>
        <p:spPr>
          <a:xfrm>
            <a:off x="1143000" y="2057400"/>
            <a:ext cx="9273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data types are divided into primitive types and reference types.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types store actual values, while reference types store memory addresses of objects.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Rounded Rectangle 30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31"/>
          <p:cNvSpPr/>
          <p:nvPr/>
        </p:nvSpPr>
        <p:spPr>
          <a:xfrm>
            <a:off x="457200" y="2971800"/>
            <a:ext cx="374688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store the actual value directly in memory. Examples include int, double, char, and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store the memory address of an object. Examples include String, arrays, and class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Storage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values are stored directly, while reference types point to objects in memory.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Usage Difference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used for simple values, while reference types handle complex data and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Rounded Rectangle 32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ounded Rectangle 33"/>
          <p:cNvSpPr/>
          <p:nvPr/>
        </p:nvSpPr>
        <p:spPr>
          <a:xfrm>
            <a:off x="4343400" y="2971800"/>
            <a:ext cx="342792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Rounded Rectangle 34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35"/>
          <p:cNvSpPr/>
          <p:nvPr/>
        </p:nvSpPr>
        <p:spPr>
          <a:xfrm>
            <a:off x="7955280" y="3108960"/>
            <a:ext cx="370224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   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"Java";    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{1, 2, 3};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96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97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98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99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00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01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02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03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04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05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06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07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08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09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10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11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43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16"/>
          <p:cNvSpPr/>
          <p:nvPr/>
        </p:nvSpPr>
        <p:spPr>
          <a:xfrm>
            <a:off x="2108520" y="1005840"/>
            <a:ext cx="675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NAMING RULES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Box 17"/>
          <p:cNvSpPr/>
          <p:nvPr/>
        </p:nvSpPr>
        <p:spPr>
          <a:xfrm>
            <a:off x="2305080" y="1826640"/>
            <a:ext cx="65052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naming rules specify how variables should be written 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ensure valid and readable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Rounded Rectangle 44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45"/>
          <p:cNvSpPr/>
          <p:nvPr/>
        </p:nvSpPr>
        <p:spPr>
          <a:xfrm>
            <a:off x="475560" y="2514600"/>
            <a:ext cx="372888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Letter, _ or $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name must start with a letter, underscore _, or dollar sign $.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 Allowed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cannot contain spaces.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variable names are case sensitive (age and Age are different).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Use Keywords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reserved keywords such as int, class, or public cannot be used as variable names.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Meaningful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should be meaningful and descriptive to improve code readability.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Rounded Rectangle 46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ounded Rectangle 47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 Rules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 / _ / $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Not a keyword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meaningful names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Rounded Rectangle 48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49"/>
          <p:cNvSpPr/>
          <p:nvPr/>
        </p:nvSpPr>
        <p:spPr>
          <a:xfrm>
            <a:off x="7955280" y="2514600"/>
            <a:ext cx="3702600" cy="3408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VariableNaming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         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studentCount = 30;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2age = 20;      // invalid (cannot start with number)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student age = 5; // invalid (space not allowed)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// invalid (keyword)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 System.out.println(studentCount);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112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113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114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115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116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17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18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19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20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21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22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23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24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25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26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27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50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21"/>
          <p:cNvSpPr/>
          <p:nvPr/>
        </p:nvSpPr>
        <p:spPr>
          <a:xfrm>
            <a:off x="2159640" y="1005840"/>
            <a:ext cx="665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INITIALIZATION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Box 22"/>
          <p:cNvSpPr/>
          <p:nvPr/>
        </p:nvSpPr>
        <p:spPr>
          <a:xfrm>
            <a:off x="2057400" y="2074680"/>
            <a:ext cx="6872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initialization is the process of assigning a value to a variable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when it is declared or before it is used.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Rounded Rectangle 51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52"/>
          <p:cNvSpPr/>
          <p:nvPr/>
        </p:nvSpPr>
        <p:spPr>
          <a:xfrm>
            <a:off x="685800" y="2971800"/>
            <a:ext cx="351864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must first be declared with a data type and name.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 means assigning an initial value to the variable.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Default Values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Some variables receive default values automatically depending on their type.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Usage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must be initialized before they are used in a program.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Rounded Rectangle 53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ounded Rectangle 54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Initialization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age;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age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System.out.println(age);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Rounded Rectangle 55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56"/>
          <p:cNvSpPr/>
          <p:nvPr/>
        </p:nvSpPr>
        <p:spPr>
          <a:xfrm>
            <a:off x="7955280" y="2971800"/>
            <a:ext cx="3474000" cy="297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VariableInitialization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age;      // declaration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age = 20;     //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// declaration +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Rectangle 128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129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130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131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132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33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34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35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36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37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38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39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40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41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142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143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57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24"/>
          <p:cNvSpPr/>
          <p:nvPr/>
        </p:nvSpPr>
        <p:spPr>
          <a:xfrm>
            <a:off x="2999160" y="1005840"/>
            <a:ext cx="49755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CLASSES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Box 25"/>
          <p:cNvSpPr/>
          <p:nvPr/>
        </p:nvSpPr>
        <p:spPr>
          <a:xfrm>
            <a:off x="1873440" y="2194560"/>
            <a:ext cx="722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classes allow primitive data types to be used as objects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Rounded Rectangle 58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59"/>
          <p:cNvSpPr/>
          <p:nvPr/>
        </p:nvSpPr>
        <p:spPr>
          <a:xfrm>
            <a:off x="685800" y="3108960"/>
            <a:ext cx="3519360" cy="329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 convert primitive values into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commonly used in collections and object-based operations.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provide useful methods for conversion and data handling.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Rounded Rectangle 60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ounded Rectangle 61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 Conversion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Object Representation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Use in Collections / Methods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Rounded Rectangle 62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63"/>
          <p:cNvSpPr/>
          <p:nvPr/>
        </p:nvSpPr>
        <p:spPr>
          <a:xfrm>
            <a:off x="7955280" y="3108960"/>
            <a:ext cx="3474720" cy="329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autoboxing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TextBox 27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2026-03-12T19:46:14Z</dcterms:modified>
  <cp:revision>10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