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79A0A4D-B414-4AA6-BAC8-29272661924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2C6585D-2F71-4F40-9D1E-0A96D478D32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1CF55B0-9B68-4269-AE40-E2F58B3B31A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7A25052-C07B-4D83-BCDB-761C99E0C6D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624656C-B03A-45D7-9744-A09C66A7B44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52A86E1-0C33-4105-BC88-C9D59ECE393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8E97B05-70B6-4FDB-9BEB-3B4B86B10F4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20CC49B-D488-4B27-818E-B26CA59AD62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D644F75-D9F8-41F3-ACF3-84DB20D7CB8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8FB8E66-DB71-4400-9D1A-151DC4E122E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1246BBB-8BD4-433B-88E7-315D2CA030D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3E62F11-7351-47A3-9B46-5A45F9E2371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66FDA48-5087-4C75-B88F-590DEC230EC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ectangle 5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" name="Rectangle 6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Rectangle 7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" name="Rectangle 8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ectangle 9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Rectangle 10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ectangle 11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" name="Rectangle 12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ectangle 13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" name="Rectangle 14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" name="Rectangle 15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6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ounded Rectangle 17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Rounded Rectangle 20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ounded Rectangle 21"/>
          <p:cNvSpPr/>
          <p:nvPr/>
        </p:nvSpPr>
        <p:spPr>
          <a:xfrm>
            <a:off x="914400" y="310896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Rounded Rectangle 22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ounded Rectangle 23"/>
          <p:cNvSpPr/>
          <p:nvPr/>
        </p:nvSpPr>
        <p:spPr>
          <a:xfrm>
            <a:off x="4434840" y="310896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Rounded Rectangle 24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ounded Rectangle 25"/>
          <p:cNvSpPr/>
          <p:nvPr/>
        </p:nvSpPr>
        <p:spPr>
          <a:xfrm>
            <a:off x="7955280" y="2971800"/>
            <a:ext cx="3922560" cy="364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32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17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18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19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ectangle 20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" name="Rectangle 21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" name="Rectangle 22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" name="Rectangle 23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ectangle 24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" name="Rectangle 25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ectangle 26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" name="Rectangle 27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ectangle 28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" name="Rectangle 29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30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31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ounded Rectangle 8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Rounded Rectangle 9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ounded Rectangle 10"/>
          <p:cNvSpPr/>
          <p:nvPr/>
        </p:nvSpPr>
        <p:spPr>
          <a:xfrm>
            <a:off x="914400" y="3108960"/>
            <a:ext cx="3281760" cy="3054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Rounded Rectangle 11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ounded Rectangle 12"/>
          <p:cNvSpPr/>
          <p:nvPr/>
        </p:nvSpPr>
        <p:spPr>
          <a:xfrm>
            <a:off x="4434840" y="2971800"/>
            <a:ext cx="3281760" cy="342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Rounded Rectangle 13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ounded Rectangle 14"/>
          <p:cNvSpPr/>
          <p:nvPr/>
        </p:nvSpPr>
        <p:spPr>
          <a:xfrm>
            <a:off x="7955280" y="3108960"/>
            <a:ext cx="3694320" cy="3054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33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34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35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36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37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38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ectangle 39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40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ectangle 41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Rectangle 42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ectangle 43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" name="Rectangle 44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ectangle 45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" name="Rectangle 46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ectangle 47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48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ounded Rectangle 15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Rounded Rectangle 16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ounded Rectangle 18"/>
          <p:cNvSpPr/>
          <p:nvPr/>
        </p:nvSpPr>
        <p:spPr>
          <a:xfrm>
            <a:off x="685800" y="2971800"/>
            <a:ext cx="3510360" cy="319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Rounded Rectangle 19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ounded Rectangle 26"/>
          <p:cNvSpPr/>
          <p:nvPr/>
        </p:nvSpPr>
        <p:spPr>
          <a:xfrm>
            <a:off x="4434840" y="2971800"/>
            <a:ext cx="3281760" cy="342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Rounded Rectangle 27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ounded Rectangle 28"/>
          <p:cNvSpPr/>
          <p:nvPr/>
        </p:nvSpPr>
        <p:spPr>
          <a:xfrm>
            <a:off x="7955280" y="3108960"/>
            <a:ext cx="3694320" cy="3054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 49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50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51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52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53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54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55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56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57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58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59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60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61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62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63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64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ounded Rectangle 29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Box 10"/>
          <p:cNvSpPr/>
          <p:nvPr/>
        </p:nvSpPr>
        <p:spPr>
          <a:xfrm>
            <a:off x="2845800" y="914400"/>
            <a:ext cx="527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Box 11"/>
          <p:cNvSpPr/>
          <p:nvPr/>
        </p:nvSpPr>
        <p:spPr>
          <a:xfrm>
            <a:off x="1726200" y="1828800"/>
            <a:ext cx="8034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Rounded Rectangle 30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ounded Rectangle 31"/>
          <p:cNvSpPr/>
          <p:nvPr/>
        </p:nvSpPr>
        <p:spPr>
          <a:xfrm>
            <a:off x="685800" y="2971800"/>
            <a:ext cx="3510360" cy="319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Rounded Rectangle 32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ounded Rectangle 33"/>
          <p:cNvSpPr/>
          <p:nvPr/>
        </p:nvSpPr>
        <p:spPr>
          <a:xfrm>
            <a:off x="4434840" y="2971800"/>
            <a:ext cx="3281760" cy="342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Rounded Rectangle 34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ounded Rectangle 35"/>
          <p:cNvSpPr/>
          <p:nvPr/>
        </p:nvSpPr>
        <p:spPr>
          <a:xfrm>
            <a:off x="7955280" y="2743200"/>
            <a:ext cx="3923640" cy="387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65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66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67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68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69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70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71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72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73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74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75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76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77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78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79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80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ounded Rectangle 36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Box 14"/>
          <p:cNvSpPr/>
          <p:nvPr/>
        </p:nvSpPr>
        <p:spPr>
          <a:xfrm>
            <a:off x="2278800" y="1828800"/>
            <a:ext cx="69292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Rounded Rectangle 37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ounded Rectangle 38"/>
          <p:cNvSpPr/>
          <p:nvPr/>
        </p:nvSpPr>
        <p:spPr>
          <a:xfrm>
            <a:off x="457200" y="2743200"/>
            <a:ext cx="3738960" cy="387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Rounded Rectangle 39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ounded Rectangle 40"/>
          <p:cNvSpPr/>
          <p:nvPr/>
        </p:nvSpPr>
        <p:spPr>
          <a:xfrm>
            <a:off x="4434840" y="2971800"/>
            <a:ext cx="3281760" cy="342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Rounded Rectangle 41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ounded Rectangle 42"/>
          <p:cNvSpPr/>
          <p:nvPr/>
        </p:nvSpPr>
        <p:spPr>
          <a:xfrm>
            <a:off x="8001000" y="3200400"/>
            <a:ext cx="3466800" cy="2735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Rectangle 81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82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83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84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85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86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87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88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89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90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91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92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93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94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95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96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ounded Rectangle 43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Box 17"/>
          <p:cNvSpPr/>
          <p:nvPr/>
        </p:nvSpPr>
        <p:spPr>
          <a:xfrm>
            <a:off x="668520" y="1600200"/>
            <a:ext cx="103525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Rounded Rectangle 44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ounded Rectangle 45"/>
          <p:cNvSpPr/>
          <p:nvPr/>
        </p:nvSpPr>
        <p:spPr>
          <a:xfrm>
            <a:off x="457200" y="2514600"/>
            <a:ext cx="3738600" cy="410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Rounded Rectangle 46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ounded Rectangle 47"/>
          <p:cNvSpPr/>
          <p:nvPr/>
        </p:nvSpPr>
        <p:spPr>
          <a:xfrm>
            <a:off x="4434840" y="2514600"/>
            <a:ext cx="3281400" cy="387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Rounded Rectangle 48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ounded Rectangle 49"/>
          <p:cNvSpPr/>
          <p:nvPr/>
        </p:nvSpPr>
        <p:spPr>
          <a:xfrm>
            <a:off x="8001000" y="2286000"/>
            <a:ext cx="3650040" cy="410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Rectangle 97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98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99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00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101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102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103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104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105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106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107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108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109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110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111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12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ounded Rectangle 50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TextBox 21"/>
          <p:cNvSpPr/>
          <p:nvPr/>
        </p:nvSpPr>
        <p:spPr>
          <a:xfrm>
            <a:off x="1466280" y="914400"/>
            <a:ext cx="80359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Box 22"/>
          <p:cNvSpPr/>
          <p:nvPr/>
        </p:nvSpPr>
        <p:spPr>
          <a:xfrm>
            <a:off x="1767600" y="1694880"/>
            <a:ext cx="7950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Rounded Rectangle 51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ounded Rectangle 52"/>
          <p:cNvSpPr/>
          <p:nvPr/>
        </p:nvSpPr>
        <p:spPr>
          <a:xfrm>
            <a:off x="457200" y="2743200"/>
            <a:ext cx="3879000" cy="387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Rounded Rectangle 53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ounded Rectangle 54"/>
          <p:cNvSpPr/>
          <p:nvPr/>
        </p:nvSpPr>
        <p:spPr>
          <a:xfrm>
            <a:off x="4572000" y="2743200"/>
            <a:ext cx="342180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Rounded Rectangle 55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ounded Rectangle 56"/>
          <p:cNvSpPr/>
          <p:nvPr/>
        </p:nvSpPr>
        <p:spPr>
          <a:xfrm>
            <a:off x="8229600" y="2514600"/>
            <a:ext cx="3650400" cy="4107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Rectangle 113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14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15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16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117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118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119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120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121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122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123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124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125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126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127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28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ounded Rectangle 57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TextBox 24"/>
          <p:cNvSpPr/>
          <p:nvPr/>
        </p:nvSpPr>
        <p:spPr>
          <a:xfrm>
            <a:off x="1737720" y="914400"/>
            <a:ext cx="74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 to Basic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Box 25"/>
          <p:cNvSpPr/>
          <p:nvPr/>
        </p:nvSpPr>
        <p:spPr>
          <a:xfrm>
            <a:off x="1964160" y="1664640"/>
            <a:ext cx="7572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operators are special symbols used to perform mathematical, logical, or relational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operations on variables and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data items that operators act upon are called "Operands".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Rounded Rectangle 58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ounded Rectangle 59"/>
          <p:cNvSpPr/>
          <p:nvPr/>
        </p:nvSpPr>
        <p:spPr>
          <a:xfrm>
            <a:off x="914400" y="2743200"/>
            <a:ext cx="328140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Basic Terminology: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Operator: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symbol performing the action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being manipulated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(e.g., In x + 5, + is the operator, x and 5 are operands.)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Common Operator Types: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Performs math calculations (+, -, *, /, % modulo).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Compares two values, returns true or false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Logical: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Combines multiple boolean conditions (&amp;&amp; AND, || OR, ! NOT).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Assignment: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Assigns the right-side value to the left-side variable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Rounded Rectangle 60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ounded Rectangle 61"/>
          <p:cNvSpPr/>
          <p:nvPr/>
        </p:nvSpPr>
        <p:spPr>
          <a:xfrm>
            <a:off x="4434840" y="2743200"/>
            <a:ext cx="328140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Execution Flow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Data (Operands) defined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e.g.,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Expression is evaluated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 x + y (Result: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 x &gt; y (Result: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Assignment Operator executes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result is stored in a variable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Result is ready for output/processing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Rounded Rectangle 62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ounded Rectangle 63"/>
          <p:cNvSpPr/>
          <p:nvPr/>
        </p:nvSpPr>
        <p:spPr>
          <a:xfrm>
            <a:off x="7955280" y="2743200"/>
            <a:ext cx="369396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OperatorIntro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Assignment Operator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Arithmetic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    // 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remain = a % b;  // 3 (Modulus - remainder)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Relational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(a &gt; b); // true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// false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Logical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"Is 'a' &gt; 10 AND 'b' an even number?"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result = (a &gt; 10) &amp;&amp; (b % 2 == 0);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System.out.println("Sum: " + sum);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System.out.println("Remainder: " + remain);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System.out.println("Logical Result: " + result);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Rectangle 129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30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31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32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133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134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135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136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137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38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39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40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41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42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43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44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ounded Rectangle 64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Box 28"/>
          <p:cNvSpPr/>
          <p:nvPr/>
        </p:nvSpPr>
        <p:spPr>
          <a:xfrm>
            <a:off x="2699280" y="914400"/>
            <a:ext cx="55684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29"/>
          <p:cNvSpPr/>
          <p:nvPr/>
        </p:nvSpPr>
        <p:spPr>
          <a:xfrm>
            <a:off x="2148480" y="1694880"/>
            <a:ext cx="7270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used to perform basic mathematical operations on numbers.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Standard mathematical precedence (e.g., multiplication is evaluated before addition)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strictly applies in Java just like in algebra.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Rounded Rectangle 65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ounded Rectangle 66"/>
          <p:cNvSpPr/>
          <p:nvPr/>
        </p:nvSpPr>
        <p:spPr>
          <a:xfrm>
            <a:off x="914400" y="3108960"/>
            <a:ext cx="3281040" cy="328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(Addition):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Adds numbers together. (Also concatenates Strings).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(Subtraction):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Subtracts the right operand from the left.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(Multiplication):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Multiplies two values.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(Division):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quotient. (Note: Integer division drops decimals. Ex: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(Modulo):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remainder of a division. Widely used to check odd/even numbers.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Rounded Rectangle 67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ounded Rectangle 68"/>
          <p:cNvSpPr/>
          <p:nvPr/>
        </p:nvSpPr>
        <p:spPr>
          <a:xfrm>
            <a:off x="4434840" y="3200400"/>
            <a:ext cx="3281040" cy="3192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Precedence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Parentheses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first, always.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Increment / Decrement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Multiply, Divide, Modulo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from left to right.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and Subtract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last.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Rounded Rectangle 69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ounded Rectangle 70"/>
          <p:cNvSpPr/>
          <p:nvPr/>
        </p:nvSpPr>
        <p:spPr>
          <a:xfrm>
            <a:off x="8003880" y="2971800"/>
            <a:ext cx="3419280" cy="342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Basic Operations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div = a / b; // 3 (Decimals dropped)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mod = a % b; // 1 (Remainder of 10/3)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Precedence Rules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noParen = a + b * 2;  // 16 (Multiply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paren = (a + b) * 2;  // 26 (Brackets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Increment Operator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counter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counter++; // Value is now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mod);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System.out.println("Counter: " + counter);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Rectangle 145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46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47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48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149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150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151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152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153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154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155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156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157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158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159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60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ounded Rectangle 71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Box 31"/>
          <p:cNvSpPr/>
          <p:nvPr/>
        </p:nvSpPr>
        <p:spPr>
          <a:xfrm>
            <a:off x="1072440" y="914400"/>
            <a:ext cx="8822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2: Prefix &amp; 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32"/>
          <p:cNvSpPr/>
          <p:nvPr/>
        </p:nvSpPr>
        <p:spPr>
          <a:xfrm>
            <a:off x="2043720" y="1694880"/>
            <a:ext cx="7481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common arithmetic bugs stem from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placement of increment/decrement operators (++, --) and integer division.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Placing the operator before or after the variable completely changes the execution order.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Rounded Rectangle 72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ounded Rectangle 73"/>
          <p:cNvSpPr/>
          <p:nvPr/>
        </p:nvSpPr>
        <p:spPr>
          <a:xfrm>
            <a:off x="685800" y="2743200"/>
            <a:ext cx="351000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vs. Postfix Logic: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Prefix (++a)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: Increases the value by 1 first, then uses the new value in the current expression.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(a++):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Uses the current value in the expression first, then increases it by 1 afterwards..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Integer Division Traps: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If two integers (int) are divided, Java doesn't round; it truncates (throws away the decimal part). (Ex: 5 / 2 = 2).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get a precise decimal result, at least one operand must be a decimal type (double or float). (Ex: 5.0 / 2 = 2.5).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Rounded Rectangle 74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ounded Rectangle 75"/>
          <p:cNvSpPr/>
          <p:nvPr/>
        </p:nvSpPr>
        <p:spPr>
          <a:xfrm>
            <a:off x="4434840" y="2971800"/>
            <a:ext cx="328140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Execution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Base Variable: int x 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Usage: int y = ++x;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Assign new x to 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y = 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Usage: int z = x++;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Assign current x to z (z = 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z =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Rounded Rectangle 76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ounded Rectangle 77"/>
          <p:cNvSpPr/>
          <p:nvPr/>
        </p:nvSpPr>
        <p:spPr>
          <a:xfrm>
            <a:off x="8001000" y="2743200"/>
            <a:ext cx="342288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ArithmeticDetails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(Increment First, Use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a=6, then b is assigned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(Use First, Increment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 gets 5, then x becomes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DIVISION TRAP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badDiv = 5 / 2;      // Result: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trapDiv = 5 / 2;  // Result: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goodDiv = 5.0 / 2;// Result: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Div: " + goodDiv);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Rectangle 161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62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63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64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5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66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67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68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169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170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171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172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173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174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175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76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ounded Rectangle 78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Box 34"/>
          <p:cNvSpPr/>
          <p:nvPr/>
        </p:nvSpPr>
        <p:spPr>
          <a:xfrm>
            <a:off x="705600" y="914400"/>
            <a:ext cx="955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3: Shortcuts &amp; Strings)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35"/>
          <p:cNvSpPr/>
          <p:nvPr/>
        </p:nvSpPr>
        <p:spPr>
          <a:xfrm>
            <a:off x="1482480" y="1694880"/>
            <a:ext cx="8602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offers shortcut operators to combine math and assignment into a single step, keeping code clean.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the + operator has a dual identity: it performs mathematical addition for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numbers, but acts as a "glue" (concatenation) for Strings.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Rounded Rectangle 79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ounded Rectangle 80"/>
          <p:cNvSpPr/>
          <p:nvPr/>
        </p:nvSpPr>
        <p:spPr>
          <a:xfrm>
            <a:off x="685800" y="2743200"/>
            <a:ext cx="351000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Compound Assignment: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Combines arithmetic with assignment: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Ex: x += 5 is the exact shorthand for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Pro-Tip: They automatically handle type casting behind the scenes (e.g., adding an int to a byte without errors).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The Dual Role of +: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Number + Number = Math (Addition).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Anything = Text (Concatenation).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flows strictly from Left to Right. If a String appears first, everything after it turns into text!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Rounded Rectangle 81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ounded Rectangle 82"/>
          <p:cNvSpPr/>
          <p:nvPr/>
        </p:nvSpPr>
        <p:spPr>
          <a:xfrm>
            <a:off x="4434840" y="2971800"/>
            <a:ext cx="328140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Left-to-Right Execution of +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1: 10 + 5 + "A"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Math! 10 + 5 = 15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15 + "A" =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2: "A" + 10 + 5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Text! "A" + 10 = "A10"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"A10" + 5 = "A105"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"A105" (Not A15!)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Rounded Rectangle 83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ounded Rectangle 84"/>
          <p:cNvSpPr/>
          <p:nvPr/>
        </p:nvSpPr>
        <p:spPr>
          <a:xfrm>
            <a:off x="8001000" y="2743200"/>
            <a:ext cx="342288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ArithmeticTricks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score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score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CONCATENATION TRAPS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numbers -&gt;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String -&gt; All Text!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Brackets force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Rectangle 177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178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179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180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81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82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83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84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85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86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87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88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89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90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91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92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ounded Rectangle 85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TextBox 37"/>
          <p:cNvSpPr/>
          <p:nvPr/>
        </p:nvSpPr>
        <p:spPr>
          <a:xfrm>
            <a:off x="2768400" y="914400"/>
            <a:ext cx="54298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Tricky Details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Box 38"/>
          <p:cNvSpPr/>
          <p:nvPr/>
        </p:nvSpPr>
        <p:spPr>
          <a:xfrm>
            <a:off x="1257120" y="1694880"/>
            <a:ext cx="90522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data types behave behind the scenes during math operations prevents critical bugs.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Division by zero rules, character arithmetic, and implicit type promotion are the most common traps in Java.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Rounded Rectangle 86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87"/>
          <p:cNvSpPr/>
          <p:nvPr/>
        </p:nvSpPr>
        <p:spPr>
          <a:xfrm>
            <a:off x="685800" y="2743200"/>
            <a:ext cx="351000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Zero Division (The Crash Trap):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an integer (int) by 0 crashes the app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 decimal (double) by 0 does not crash; it safely returns Infinity or NaN (Not a Number).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Char Arithmetic: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types hold numeric values (ASCII) behind the scenes. Adding chars performs math, it does not concatenate text. (Ex: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Implicit Type Promotion: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When adding two byte or short values, Java automatically promotes the result to an int. Assigning the result directly back to a byte causes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Rounded Rectangle 88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ounded Rectangle 89"/>
          <p:cNvSpPr/>
          <p:nvPr/>
        </p:nvSpPr>
        <p:spPr>
          <a:xfrm>
            <a:off x="4434840" y="2971800"/>
            <a:ext cx="328140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Behind the Scenes Data Conversions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Division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ERROR!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Result: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Result: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Math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Addition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ERROR! (Result is int)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Rounded Rectangle 90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ounded Rectangle 91"/>
          <p:cNvSpPr/>
          <p:nvPr/>
        </p:nvSpPr>
        <p:spPr>
          <a:xfrm>
            <a:off x="8001000" y="2514600"/>
            <a:ext cx="3652200" cy="388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ArithmeticNuances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1. ZERO DIVISION TRAP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crash = 5 / 0; // Throws Exception!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infinity = 5.0 / 0;   // Infinity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undefined = 0.0 / 0.0;// NaN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MATH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 // ASCII value is 65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charSum = letter + 5; // Result: 70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nextLetter = (char) (letter + 1); // 'B'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3. IMPLICIT INT PROMOTION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Compile Error!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total = b1 + b2; // Correct way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infinity);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undefined);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System.out.println("Char + 5 = " + charSum);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Rectangle 193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194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195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196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97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98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99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200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201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202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203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204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205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206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207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08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ounded Rectangle 92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TextBox 40"/>
          <p:cNvSpPr/>
          <p:nvPr/>
        </p:nvSpPr>
        <p:spPr>
          <a:xfrm>
            <a:off x="1534680" y="914400"/>
            <a:ext cx="7897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Math: Restaurant Bill Splitter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Box 41"/>
          <p:cNvSpPr/>
          <p:nvPr/>
        </p:nvSpPr>
        <p:spPr>
          <a:xfrm>
            <a:off x="1296000" y="1694880"/>
            <a:ext cx="8974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arithmetic operators are the engine of business logic. Let's build a mini-app that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calculates a restaurant bill, applies a discount, adds tax/tip using compound operators,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and safely splits the final cost among friends.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Rounded Rectangle 93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94"/>
          <p:cNvSpPr/>
          <p:nvPr/>
        </p:nvSpPr>
        <p:spPr>
          <a:xfrm>
            <a:off x="685800" y="2971800"/>
            <a:ext cx="319536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Mapping Operators to Business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Accumulation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add multiple items to a shopping cart or a digital bill.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Discounts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subtract coupons or promotional deductions.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Tax &amp; Tip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apply percentages. Multiplying by 1.25 instantly adds a 25% increase to the existing total.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Fair Split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divide the final double amount by the number of guests.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Rounded Rectangle 95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ounded Rectangle 96"/>
          <p:cNvSpPr/>
          <p:nvPr/>
        </p:nvSpPr>
        <p:spPr>
          <a:xfrm>
            <a:off x="4257360" y="2971800"/>
            <a:ext cx="328140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Billing Workflow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Open Table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Add Orders (Accumulate)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+= itemPrice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Apply Promo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-= discount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Tax &amp;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*= 1.25 (adds 25%)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Split the Bill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perPerson = bill / guests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Rounded Rectangle 97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ounded Rectangle 98"/>
          <p:cNvSpPr/>
          <p:nvPr/>
        </p:nvSpPr>
        <p:spPr>
          <a:xfrm>
            <a:off x="8001000" y="2514600"/>
            <a:ext cx="3422880" cy="3881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RestaurantBill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Initial State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bill = 0.0;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guests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Add Items (Compound Addition)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25.50; // Pizza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14.00; // Pasta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10.50; // Drinks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Subtotal is now 50.00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Apply a $5 Coupon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-= 5.00;  // Subtotal is 45.00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Apply 25% Tax &amp; Tip together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Multiplies current bill by 1.25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*= 1.25;  // Final total: 56.25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5. Split among guests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perPerson = bill / guests;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System.out.println("Total: $" + bill);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System.out.println("Each pays: $" + perPerson);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Rectangle 209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10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11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12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213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214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215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216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217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218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219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220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221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222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223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24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ounded Rectangle 99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TextBox 43"/>
          <p:cNvSpPr/>
          <p:nvPr/>
        </p:nvSpPr>
        <p:spPr>
          <a:xfrm>
            <a:off x="1859040" y="732600"/>
            <a:ext cx="724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Final Summary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44"/>
          <p:cNvSpPr/>
          <p:nvPr/>
        </p:nvSpPr>
        <p:spPr>
          <a:xfrm>
            <a:off x="876240" y="1600200"/>
            <a:ext cx="9814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the foundation of data manipulation and business logic in Java. Choosing the right operator,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watching your data types, and understanding execution precedence are the golden rules for bug-free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Rounded Rectangle 100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ounded Rectangle 101"/>
          <p:cNvSpPr/>
          <p:nvPr/>
        </p:nvSpPr>
        <p:spPr>
          <a:xfrm>
            <a:off x="685800" y="2971800"/>
            <a:ext cx="319536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Golden Rules to Remember: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5: +, -, *, /, and % (Modulo).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Precedence: Multiplication, division, and modulo always run before addition/subtraction. Parentheses () override all rules.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Division Trap: Dividing two integers (int) always drops the decimal. For precision, at least one operand must be a double.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Shortcuts: ++/-- (increment/decrement) and +=/*= (compound assignments) make code much cleaner and easier to read.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Rounded Rectangle 102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ounded Rectangle 103"/>
          <p:cNvSpPr/>
          <p:nvPr/>
        </p:nvSpPr>
        <p:spPr>
          <a:xfrm>
            <a:off x="4257360" y="2971800"/>
            <a:ext cx="328140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Developer's Checklist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Checking for Odd or Even?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% 2!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Need decimals in a division?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Make one number a double (e.g., 2.0)!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Want to force execution order?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 the math in parentheses ()!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Updating an existing variable?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Use x += 5 instead of x = x + 5!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Rounded Rectangle 104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ounded Rectangle 105"/>
          <p:cNvSpPr/>
          <p:nvPr/>
        </p:nvSpPr>
        <p:spPr>
          <a:xfrm>
            <a:off x="8001000" y="2514600"/>
            <a:ext cx="3422880" cy="3881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ArithmeticSummary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Precedence &amp;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Remainder of 15 / 4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(num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Decimal Division (Precision)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Using 4.0 prevents int truncation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div = num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Compound &amp; Increment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 += 5; // Becomes 15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num++;    // Becomes 16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result);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Num: " + num);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Rectangle 225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26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27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28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229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230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231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232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233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234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235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236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237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238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239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40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ounded Rectangle 106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TextBox 46"/>
          <p:cNvSpPr/>
          <p:nvPr/>
        </p:nvSpPr>
        <p:spPr>
          <a:xfrm>
            <a:off x="2597400" y="732600"/>
            <a:ext cx="577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47"/>
          <p:cNvSpPr/>
          <p:nvPr/>
        </p:nvSpPr>
        <p:spPr>
          <a:xfrm>
            <a:off x="522720" y="1600200"/>
            <a:ext cx="10521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are used to store values into variables. Unlike arithmetic operations, assignment evaluates strictly from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Right to Left. Java also provides "compound" operators that merge math and assignment into a single step.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Rounded Rectangle 107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ounded Rectangle 108"/>
          <p:cNvSpPr/>
          <p:nvPr/>
        </p:nvSpPr>
        <p:spPr>
          <a:xfrm>
            <a:off x="685800" y="2971800"/>
            <a:ext cx="319536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Basic Assignment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Assigns the right-side value to the left-side variable. The left side must be a variable, not a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Chaining: You can assign multiple variables at once (e.g.,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Compound Assignment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is exactly the same as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 (Implicit Casting): Compound operators automatically convert data types behind the scenes. Adding an int to a byte using += will not throw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Rounded Rectangle 109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ounded Rectangle 110"/>
          <p:cNvSpPr/>
          <p:nvPr/>
        </p:nvSpPr>
        <p:spPr>
          <a:xfrm>
            <a:off x="4257360" y="2971800"/>
            <a:ext cx="328140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Right-to-Left Execution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Calculate right side (15)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Store 15 into left side (x)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Compound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Expand to x = x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Calculate 15 + 5 (20)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3: Store 20 back into x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Rounded Rectangle 111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ounded Rectangle 112"/>
          <p:cNvSpPr/>
          <p:nvPr/>
        </p:nvSpPr>
        <p:spPr>
          <a:xfrm>
            <a:off x="8001000" y="2514600"/>
            <a:ext cx="3422880" cy="3881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&amp; CHAINED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Evaluates Right-to-Left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60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-= 20; // score = 40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20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CASTING MAGIC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tinyNum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tinyNum = tinyNum + 5; // Compile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tinyNum += 5; // Works perfectly! (Becomes 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and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value: " + tinyNum);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Rectangle 241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42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43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44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245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246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247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248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249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250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251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252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253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254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255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56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ounded Rectangle 113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TextBox 49"/>
          <p:cNvSpPr/>
          <p:nvPr/>
        </p:nvSpPr>
        <p:spPr>
          <a:xfrm>
            <a:off x="1756800" y="732600"/>
            <a:ext cx="7452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2: Traps &amp; Advanced)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Box 50"/>
          <p:cNvSpPr/>
          <p:nvPr/>
        </p:nvSpPr>
        <p:spPr>
          <a:xfrm>
            <a:off x="926280" y="1466280"/>
            <a:ext cx="9729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critical bugs in assignments arise from confusing the assignment operator (=) with the equality check (==).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compound assignments aren't limited to basic math; they can also be combined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bitwise operators for advanced binary calculations.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Rounded Rectangle 114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ounded Rectangle 115"/>
          <p:cNvSpPr/>
          <p:nvPr/>
        </p:nvSpPr>
        <p:spPr>
          <a:xfrm>
            <a:off x="685800" y="2743200"/>
            <a:ext cx="31953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The Ultimate Trap (= vs ==):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 (Single Equals): Assigns a value. Copies the right side to the left.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(Double Equals): Compares values. Evaluates to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Danger: If you accidentally assign a boolean inside an if statement, Java won't crash; it performs the assignment and automatically executes the block!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Assignments: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Operates on numbers at the raw binary level (1s and 0s).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AND), |= (Bitwise OR), ^= (Bitwise XOR).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(Left Shift): A highly optimized, fast way to multiply a number by powers of 2.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Rounded Rectangle 116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ounded Rectangle 117"/>
          <p:cNvSpPr/>
          <p:nvPr/>
        </p:nvSpPr>
        <p:spPr>
          <a:xfrm>
            <a:off x="4257360" y="2743200"/>
            <a:ext cx="328140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= vs == Logic Trap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Wrong (Assignment inside if)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 true) ➔ CHANGES VALUE!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isOpen becomes true, block RUNS.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Correct (Comparison)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== true) ➔ ONLY CHECKS!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Condition is false, block SKIPS.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Rounded Rectangle 118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ounded Rectangle 119"/>
          <p:cNvSpPr/>
          <p:nvPr/>
        </p:nvSpPr>
        <p:spPr>
          <a:xfrm>
            <a:off x="8001000" y="2514600"/>
            <a:ext cx="3422880" cy="3881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AdvancedAssignments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THE = vs == TRAP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Accidental assignment instead of ==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isAdmin is now true!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System.out.println("Access Granted!");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Binary: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AND operation with 3 (0011)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Result becomes 0001 (Which is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SHIFT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Shift left by 1 (Multiply by 2)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System.out.println("Shifted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Rectangle 257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58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59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60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261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262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263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264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265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266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267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68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69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70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71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72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ounded Rectangle 120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TextBox 52"/>
          <p:cNvSpPr/>
          <p:nvPr/>
        </p:nvSpPr>
        <p:spPr>
          <a:xfrm>
            <a:off x="1433520" y="732600"/>
            <a:ext cx="8100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3: References &amp; Memory)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Box 53"/>
          <p:cNvSpPr/>
          <p:nvPr/>
        </p:nvSpPr>
        <p:spPr>
          <a:xfrm>
            <a:off x="921960" y="1466280"/>
            <a:ext cx="9736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 assignment operator (=) creates a perfect, independent copy of the value for primitive types (int, double),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it behaves differently for Arrays and Objects. For these complex types, it only copies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memory address (reference), meaning both variables will point to the exact same data.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Rounded Rectangle 121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ounded Rectangle 122"/>
          <p:cNvSpPr/>
          <p:nvPr/>
        </p:nvSpPr>
        <p:spPr>
          <a:xfrm>
            <a:off x="685800" y="2743200"/>
            <a:ext cx="31953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Value vs. Reference Assignment: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Primitives (Value Copy): int a = b; copies the actual number. Changing one does not affect the other. They are fully independent.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References (Shared Address): int[] a = b; shares the same memory box. Modifying one variable instantly modifies the other!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Assignment Evaluates to a Value: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Every assignment in Java evaluates to the value being assigned.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Ex: System.out.println(x = 5); assigns 5 to x AND prints 5 to the console. This rule is what makes chained assignments (a = b = 5) possible.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Rounded Rectangle 123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ounded Rectangle 124"/>
          <p:cNvSpPr/>
          <p:nvPr/>
        </p:nvSpPr>
        <p:spPr>
          <a:xfrm>
            <a:off x="4257360" y="2743200"/>
            <a:ext cx="328140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Primitive vs Reference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Primitive Type (Independent)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Only y changes. (x remains 10)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Reference Type (Shared Memory)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BOTH CHANGE! (a[0] becomes 99 too)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Rounded Rectangle 125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ounded Rectangle 126"/>
          <p:cNvSpPr/>
          <p:nvPr/>
        </p:nvSpPr>
        <p:spPr>
          <a:xfrm>
            <a:off x="8001000" y="2514600"/>
            <a:ext cx="3422880" cy="3881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AssignReferences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num2 = num1; // Value is copied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(ARRAY)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arr2 = arr1; // Address is shared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Modifying arr2 also modifies arr1!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arr2[0]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RETURN VALUE OF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Assigns 5 to x AND prints it directly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is: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System.out.println("num1: " + num1);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System.out.println("arr1[0]: " + arr1[0]);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Rectangle 273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274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275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276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277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278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279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280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281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282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283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284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285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286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287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288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ounded Rectangle 127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TextBox 55"/>
          <p:cNvSpPr/>
          <p:nvPr/>
        </p:nvSpPr>
        <p:spPr>
          <a:xfrm>
            <a:off x="1849680" y="732600"/>
            <a:ext cx="72662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Object States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56"/>
          <p:cNvSpPr/>
          <p:nvPr/>
        </p:nvSpPr>
        <p:spPr>
          <a:xfrm>
            <a:off x="1215000" y="1466280"/>
            <a:ext cx="91497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dictates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to detach a variable from an object (using 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 lock its memory address (using final) is crucial for effective memory management.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Rounded Rectangle 128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ounded Rectangle 129"/>
          <p:cNvSpPr/>
          <p:nvPr/>
        </p:nvSpPr>
        <p:spPr>
          <a:xfrm>
            <a:off x="685800" y="2514600"/>
            <a:ext cx="3195360" cy="4111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1. Mutating vs. Reassigning: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Mutating: Changing the internal data of an existing object (e.g., arr[0] = 5;). The memory address stays the same.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Reassigning: Pointing the variable to a completely new object (e.g., arr = new int[]{1, 2};). The old memory address is abandoned.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2. The null Assignment: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Assigning null to a reference variable completely disconnects it from the object.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an object in memory has zero variables pointing to it, the Garbage Collector (GC) automatically deletes it to free up RAM.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3. The final Reference Trap: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 reference variable is marked final, you cannot reassign it to a new memory address using =.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However, you can still mutate (modify) its internal data!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Rounded Rectangle 130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ounded Rectangle 131"/>
          <p:cNvSpPr/>
          <p:nvPr/>
        </p:nvSpPr>
        <p:spPr>
          <a:xfrm>
            <a:off x="4257360" y="2743200"/>
            <a:ext cx="328140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MEMORY STATE TRACKER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1: int[] x = {100};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2: int[]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3: x = null;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[ NULL / EMPTY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Data survives because 'y' still holds it!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Rounded Rectangle 132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ounded Rectangle 133"/>
          <p:cNvSpPr/>
          <p:nvPr/>
        </p:nvSpPr>
        <p:spPr>
          <a:xfrm>
            <a:off x="8001000" y="2514600"/>
            <a:ext cx="3422880" cy="3881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1: SURVIVING NULL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dataA = { 50 };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dataB = dataA; // Share address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dataA = null; // Cut connection for A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Will this crash? No! B still has it.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System.out.println("DataB: " + dataB[0]);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50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2: FINAL REFERENCE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final StringBuilder text = new StringBuilder("A");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ERROR: Cannot assign new memory!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text = new StringBuilder("B");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SUCCESS: Can mutate internal state!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text.append("B");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System.out.println("Text: " + text);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AB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Rectangle 289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290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291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292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293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294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295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296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297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298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299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300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301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302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303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04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ounded Rectangle 134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TextBox 58"/>
          <p:cNvSpPr/>
          <p:nvPr/>
        </p:nvSpPr>
        <p:spPr>
          <a:xfrm>
            <a:off x="1361880" y="732600"/>
            <a:ext cx="8241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Reference Management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Box 59"/>
          <p:cNvSpPr/>
          <p:nvPr/>
        </p:nvSpPr>
        <p:spPr>
          <a:xfrm>
            <a:off x="1068120" y="1466280"/>
            <a:ext cx="9442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determines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effective memory management, understanding how to detach 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from an object (null) or lock its memory address (final) is crucial.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Rounded Rectangle 135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ounded Rectangle 136"/>
          <p:cNvSpPr/>
          <p:nvPr/>
        </p:nvSpPr>
        <p:spPr>
          <a:xfrm>
            <a:off x="685800" y="2514600"/>
            <a:ext cx="3195360" cy="4111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For primitive types (int, double), the = operator copies the value. However, for objects (Object, Array), it only copies the "address" (reference) in memory. Knowing this behavior is essential to manage objects in memory properly.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Copy (Primitives): Creates fully independent copies. Changing one doesn't affect the other.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Sharing (Objects): Two variables link to the same memory box. A change in one instantly hits the other!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Detaching (null): Cuts the variable's link to the memory address. Objects with no variables holding them are deleted by the Garbage Collector (GC).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Locking Address (final): Forbids assigning the variable to a new memory address. But beware: Data inside the object can still be modified.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Rounded Rectangle 137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ounded Rectangle 138"/>
          <p:cNvSpPr/>
          <p:nvPr/>
        </p:nvSpPr>
        <p:spPr>
          <a:xfrm>
            <a:off x="4485960" y="2976120"/>
            <a:ext cx="2826360" cy="2964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Reference Sharing &amp; Mutation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(Memory Box is now { 9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Printing b[0] outputs 9!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Rounded Rectangle 139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ounded Rectangle 140"/>
          <p:cNvSpPr/>
          <p:nvPr/>
        </p:nvSpPr>
        <p:spPr>
          <a:xfrm>
            <a:off x="8001000" y="2514600"/>
            <a:ext cx="3422880" cy="3881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MemoryManagement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(Independent Copy)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is unaffected, still 10!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(Shared Address)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99; // arrA's content is also 99!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DETACHING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the link for 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arrB still holds data, so it survives.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ADDRESS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 1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7; // SUCCESS! Content changed.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Rectangle 305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06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07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08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309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310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311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312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313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314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315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316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317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318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319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20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ounded Rectangle 141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TextBox 61"/>
          <p:cNvSpPr/>
          <p:nvPr/>
        </p:nvSpPr>
        <p:spPr>
          <a:xfrm>
            <a:off x="2553480" y="732600"/>
            <a:ext cx="58579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Example: Joint Bank Accounts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62"/>
          <p:cNvSpPr/>
          <p:nvPr/>
        </p:nvSpPr>
        <p:spPr>
          <a:xfrm>
            <a:off x="2229120" y="1466280"/>
            <a:ext cx="71200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To understand memory references, think of everyday banking. Primitives are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like cash in separate wallets; spending from one doesn't affect the other.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types are like two debit cards linked to the exact same joint bank account.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Rounded Rectangle 142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ounded Rectangle 143"/>
          <p:cNvSpPr/>
          <p:nvPr/>
        </p:nvSpPr>
        <p:spPr>
          <a:xfrm>
            <a:off x="688320" y="2743920"/>
            <a:ext cx="319536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BANKING ANALOGY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Cash (Primitives): You and a friend both have a $100 bill. If your friend buys a coffee, your $100 is perfectly safe. (Independent copies).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Joint Account (References): A husband and wife have different debit cards pointing to one account. If the husband withdraws $50, the wife's balance instantly drops too!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Losing a Card (null): If the husband destroys his card (null), the actual bank vault isn't deleted. The wife can still access the money.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Fixed Account (final): A card strictly locked to one specific vault. You can't link it to a new bank, but you can still add/remove money from that vault.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Rounded Rectangle 144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ounded Rectangle 145"/>
          <p:cNvSpPr/>
          <p:nvPr/>
        </p:nvSpPr>
        <p:spPr>
          <a:xfrm>
            <a:off x="4485960" y="2976120"/>
            <a:ext cx="2826360" cy="3193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Joint Account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wifeCard = { 500 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[Wife's Card] -----&gt; (Vault: $500)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husbandCard = wifeCard;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[Husband's Card] --/ (Same Vault)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husbandCard[0] -= 100;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(Vault drops to $400)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The wife checks her balance and sees $400. The spending affected both!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Rounded Rectangle 146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ounded Rectangle 147"/>
          <p:cNvSpPr/>
          <p:nvPr/>
        </p:nvSpPr>
        <p:spPr>
          <a:xfrm>
            <a:off x="7772400" y="2514600"/>
            <a:ext cx="3883680" cy="4112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BankingApp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CASH (Primitive - Independent)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myWallet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friendWallet = myWallet;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friendWallet -= 20; // My wallet is still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JOINT ACCOUNT (Reference - Shared)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jointAccount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wifeCard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husbandCard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husbandCard[0] -= 200; // Husband spends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LOST CARD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 = null; // Card destroyed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Vault is safe! Wife still sees 800.0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System.out.println("Wife: $" + wifeCard[0]);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CARD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businessVault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businessVault = new double[]{ 0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businessVault[0] += 500; // SUCCESS! (Deposit)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Rectangle 321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322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323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324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325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326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327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328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329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330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331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332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333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334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335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36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ounded Rectangle 148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TextBox 64"/>
          <p:cNvSpPr/>
          <p:nvPr/>
        </p:nvSpPr>
        <p:spPr>
          <a:xfrm>
            <a:off x="1654920" y="732600"/>
            <a:ext cx="7656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&amp; Reference Management: Final Summary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TextBox 65"/>
          <p:cNvSpPr/>
          <p:nvPr/>
        </p:nvSpPr>
        <p:spPr>
          <a:xfrm>
            <a:off x="2430360" y="1371600"/>
            <a:ext cx="672228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(=) are the foundation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of storing data and managing memory. Knowing the critical difference between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value copying in primitives and address sharing in objects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is the golden rule of bug-free Java coding.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Rounded Rectangle 149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ounded Rectangle 150"/>
          <p:cNvSpPr/>
          <p:nvPr/>
        </p:nvSpPr>
        <p:spPr>
          <a:xfrm>
            <a:off x="688680" y="2820240"/>
            <a:ext cx="319536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 CHECKLIST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Flows Right-to-Left: Assignment always calculates the right side first, then writes the result to the left (a = 5 + 2;).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Ultimate Trap: Using = (assignment) instead of == (comparison) inside if statements won't crash the code, but completely ruins the logic.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Compound Power: Operators like += shorten your code and perform crucial automatic type casting behind the scenes.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vs. Address: Primitives (int) are fully independent. Objects (arrays, classes) share the exact same memory address.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Rounded Rectangle 151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ounded Rectangle 152"/>
          <p:cNvSpPr/>
          <p:nvPr/>
        </p:nvSpPr>
        <p:spPr>
          <a:xfrm>
            <a:off x="4343400" y="2976120"/>
            <a:ext cx="2826360" cy="3193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The Debugging Map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Did you copy an array, and changing one modified the other?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Cause: = only copies the address. They are linked to the same vault!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Getting a compile error when adding numbers to a byte?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Use x += 5 instead of x = x + 5. Java handles the casting!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Want to get rid of a memory-heavy object?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Assign null to the variable. Let the Garbage Collector (GC) erase it.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Rounded Rectangle 153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ounded Rectangle 154"/>
          <p:cNvSpPr/>
          <p:nvPr/>
        </p:nvSpPr>
        <p:spPr>
          <a:xfrm>
            <a:off x="7671960" y="2286360"/>
            <a:ext cx="3527280" cy="4112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AssignmentSummary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 (Auto Casting)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would throw an ERROR!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THE LOGIC TRAP (= vs ==)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active = false;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if(active = true) -&gt; WRONG USE!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(active == true) { /* Correct */ 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REFERENCE SHARING (Shared Address)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 // Address shared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9; // arrA[0] becomes 9 too!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MEMORY CLEANUP &amp; LOCK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connection (ready for GC)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int[]{1}; // ERROR! (Address locked)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8; // SUCCESS! (Content mutable)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Rectangle 337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338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339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340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341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342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343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344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345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346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347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348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349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350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351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52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ounded Rectangle 155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TextBox 67"/>
          <p:cNvSpPr/>
          <p:nvPr/>
        </p:nvSpPr>
        <p:spPr>
          <a:xfrm>
            <a:off x="3484440" y="732600"/>
            <a:ext cx="39956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in Java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68"/>
          <p:cNvSpPr/>
          <p:nvPr/>
        </p:nvSpPr>
        <p:spPr>
          <a:xfrm>
            <a:off x="1586160" y="1371600"/>
            <a:ext cx="8410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are used to compare two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They evaluate the relationship between operands and always return a boolean result (true or false),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forming the backbone of decision-making (if-else blocks and loops) in programming.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Rounded Rectangle 156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ounded Rectangle 157"/>
          <p:cNvSpPr/>
          <p:nvPr/>
        </p:nvSpPr>
        <p:spPr>
          <a:xfrm>
            <a:off x="688680" y="2820240"/>
            <a:ext cx="319536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COMPARISON RULES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Primitive Value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Works natively on all numeric types (int, double, char).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(is equal) and != (not equal).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(boundary checks).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Evaluates purely based on the mathematical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Reference / Object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 Objects (like Strings), == only checks if they share the same memory address (identity).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check if the actual text content of two objects is identical, you must bypass == and use .equals().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Rounded Rectangle 158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ounded Rectangle 159"/>
          <p:cNvSpPr/>
          <p:nvPr/>
        </p:nvSpPr>
        <p:spPr>
          <a:xfrm>
            <a:off x="4343400" y="2976120"/>
            <a:ext cx="2826360" cy="3193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LOGIC EVALUATION TRACE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Context: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1: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They are indeed different.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2: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10 is not greater than 20.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3: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AddressA == AddressB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TRAP! Contents match, but pointers differ.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8" name="Rounded Rectangle 160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ounded Rectangle 161"/>
          <p:cNvSpPr/>
          <p:nvPr/>
        </p:nvSpPr>
        <p:spPr>
          <a:xfrm>
            <a:off x="7671960" y="2286000"/>
            <a:ext cx="3527640" cy="4112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RelationalOps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COMPARISONS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 // false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isNotEqual = (a != b);//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 = (a &lt;= b);    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CONDITIONAL BLOCKS (IF-ELSE)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is 10 or more");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STRING TRAP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Different memory addresses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badCompare = (s1 == 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Correct way to compare text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goodCompare = s1.equals(s2);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System.out.println("Good Match: " + goodCompare);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Rectangle 353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354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355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356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357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358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359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360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361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362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363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364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365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366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367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68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ounded Rectangle 162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8" name="TextBox 70"/>
          <p:cNvSpPr/>
          <p:nvPr/>
        </p:nvSpPr>
        <p:spPr>
          <a:xfrm>
            <a:off x="2286000" y="656640"/>
            <a:ext cx="64112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(Part 2: Advanced Traps)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TextBox 71"/>
          <p:cNvSpPr/>
          <p:nvPr/>
        </p:nvSpPr>
        <p:spPr>
          <a:xfrm>
            <a:off x="1828800" y="1222920"/>
            <a:ext cx="81594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relational operators are not limited to numbers; they can also compare characters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using their underlying ASCII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However, using these operators on object-based numbers (Integer) or writing chained conditions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mathematically can lead to critical compile-time or logic errors.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Rounded Rectangle 163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ounded Rectangle 164"/>
          <p:cNvSpPr/>
          <p:nvPr/>
        </p:nvSpPr>
        <p:spPr>
          <a:xfrm>
            <a:off x="688680" y="2514600"/>
            <a:ext cx="3424680" cy="388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CRITICAL TRAPS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Comparison: Comparing characters (like 'a', 'b') actually compares their underlying ASCII decimal values. (Ex: 'a' &lt; 'b' evaluates to 97 &lt; 98, returning true).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 Error: In Java, you cannot write 10 &lt; x &lt; 20 mathematically (causes a compile error). You must combine individual boundaries using logical operators: 10 &lt; x &amp;&amp; x &lt; 20.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Integer Caching Trap: When comparing Integer objects with ==, it only works for values between -128 and 127 due to caching. Outside this range, == compares memory references and fails. Always use .equals().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Rounded Rectangle 165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ounded Rectangle 166"/>
          <p:cNvSpPr/>
          <p:nvPr/>
        </p:nvSpPr>
        <p:spPr>
          <a:xfrm>
            <a:off x="4441680" y="2967120"/>
            <a:ext cx="2826360" cy="3193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DECISION MATRIX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Safe Comparison Methods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int, double (Primitives)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== or != (Always 100% safe)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char (Characters)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&lt; or &gt; (Compares ASCII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String or Integer (Objects)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Always use .equals()! (Avoids memory traps)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4" name="Rounded Rectangle 167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ounded Rectangle 168"/>
          <p:cNvSpPr/>
          <p:nvPr/>
        </p:nvSpPr>
        <p:spPr>
          <a:xfrm>
            <a:off x="7671960" y="2286000"/>
            <a:ext cx="3527640" cy="4112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AdvancedRelational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CHAR COMPARISON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char c1 = 'a'; // ASCII: 97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char c2 = 'b'; // ASCII: 98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charComp = (c1 &lt; c2);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CHAINING TRAP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15;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boolean error = 10 &lt; x &lt; 20; // COMPILE ERROR!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correct = (10 &lt; x) &amp;&amp; (x &lt; 20);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CACHING TRAP (-128 to 127)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n1 = 127;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n2 = 127;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equalCached = (n1 == n2);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n3 = 128;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n4 = 128;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equalTrap = (n3 == n4); // false! (Trap)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properEqual = n3.equals(n4);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System.out.println("128 == 128: " + equalTrap);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Match: " + properEqual);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Rectangle 369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370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371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372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373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374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375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376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377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378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379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380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381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382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383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384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ounded Rectangle 169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4" name="TextBox 73"/>
          <p:cNvSpPr/>
          <p:nvPr/>
        </p:nvSpPr>
        <p:spPr>
          <a:xfrm>
            <a:off x="1711440" y="656640"/>
            <a:ext cx="7560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(Part 3: Type Checks &amp; Precision)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TextBox 74"/>
          <p:cNvSpPr/>
          <p:nvPr/>
        </p:nvSpPr>
        <p:spPr>
          <a:xfrm>
            <a:off x="991800" y="1222920"/>
            <a:ext cx="98330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in Java extend beyond simple math.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instanceof operator allows us to compare an object's type against a class,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comparing floating-point numbers (double/float) requires strict delta checks due to binary precision limitations.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Rounded Rectangle 170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ounded Rectangle 171"/>
          <p:cNvSpPr/>
          <p:nvPr/>
        </p:nvSpPr>
        <p:spPr>
          <a:xfrm>
            <a:off x="688680" y="2514600"/>
            <a:ext cx="3424680" cy="388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Type Comparison (instanceof):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Compares an object reference to a class type. Returns true if the object is an instance of that class, subclass, or interface.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Floating-Point Precision Trap: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Computers store decimals in binary (IEEE 754). This causes rounding issues. For example, 0.1 + 0.2 does not exactly equal 0.3 (it equals 0.30000000000000004).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Delta Check Solution: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Never compare floats/doubles with ==. Instead, check if the absolute difference between them is smaller than a tiny threshold (epsilon, e.g., 0.00001).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Rounded Rectangle 172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ounded Rectangle 173"/>
          <p:cNvSpPr/>
          <p:nvPr/>
        </p:nvSpPr>
        <p:spPr>
          <a:xfrm>
            <a:off x="4581000" y="2967120"/>
            <a:ext cx="2826360" cy="274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Precision vs Type Checks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ask 1: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Check if a generic object is a String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obj instanceof String (Safely returns boolean)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Task 2: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Compare double values a and 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Wrong: a == b (Vulnerable to binary rounding errors)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Right: Math.abs(a - b) &lt; 0.00001 (Delta threshold check)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Rounded Rectangle 174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ounded Rectangle 175"/>
          <p:cNvSpPr/>
          <p:nvPr/>
        </p:nvSpPr>
        <p:spPr>
          <a:xfrm>
            <a:off x="7900560" y="2286000"/>
            <a:ext cx="2842560" cy="3885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PrecisionInstanceof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TYPE COMPARISON (instanceof)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Object text = "Hello World";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isString = text instanceof String;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isNumber = text instanceof Number; // false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FLOATING-POINT PRECISION TRAP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badCompare = (d1 == d2); // false! (Trap)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DELTA CHECK SOLUTION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epsilon = 0.00001; // tolerance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goodCompare = Math.abs(d1 - d2) &lt; epsilon;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System.out.println("0.1 + 0.2 == 0.3: " + badCompare);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Match: " + goodCompare);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Rectangle 385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386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387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388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389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390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391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392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393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394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395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396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397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398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399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400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ounded Rectangle 176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0" name="TextBox 76"/>
          <p:cNvSpPr/>
          <p:nvPr/>
        </p:nvSpPr>
        <p:spPr>
          <a:xfrm>
            <a:off x="2580840" y="656640"/>
            <a:ext cx="58208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Example: User Access Control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TextBox 77"/>
          <p:cNvSpPr/>
          <p:nvPr/>
        </p:nvSpPr>
        <p:spPr>
          <a:xfrm>
            <a:off x="2959560" y="1222920"/>
            <a:ext cx="5896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relational operators form the foundation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of business rules writtento validate user registration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processes, security boundaries, and role-based access control (RBAC).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Rounded Rectangle 177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ounded Rectangle 178"/>
          <p:cNvSpPr/>
          <p:nvPr/>
        </p:nvSpPr>
        <p:spPr>
          <a:xfrm>
            <a:off x="685800" y="2743200"/>
            <a:ext cx="3425400" cy="319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Age Verification (&gt;=):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Validates whether a user meets the legal age limit (e.g., 18) required to register or access restricted areas.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Password Matching (.equals()):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Securely matches the entered password character-by-character, rather than comparing its volatile memory address.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Role Validation (instanceof):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Dynamically verifies at runtime whether the logged-in user object belongs to the "Admin" class or role.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4" name="Rounded Rectangle 179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ounded Rectangle 180"/>
          <p:cNvSpPr/>
          <p:nvPr/>
        </p:nvSpPr>
        <p:spPr>
          <a:xfrm>
            <a:off x="4580640" y="2743200"/>
            <a:ext cx="2742480" cy="319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[ User Login Workflow ]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Inputs: age = 20, password = "Pass123", User Object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1. Age Check: age &gt;= 18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(Age Limit Passed)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2. Password Check: entered.equals(stored)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(Password Matches)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3. Role Check: user instanceof Admin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Yes (true) ➔ Redirect to Admin Panel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No (false) ➔ Load Standard UI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6" name="Rounded Rectangle 181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ounded Rectangle 182"/>
          <p:cNvSpPr/>
          <p:nvPr/>
        </p:nvSpPr>
        <p:spPr>
          <a:xfrm>
            <a:off x="7790040" y="2514600"/>
            <a:ext cx="3639240" cy="365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AccessControl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USER DATA INPUTS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20;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String enteredPass = new String("Pass123");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storedPass = new String("Pass123");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Object activeUser = "AdminObject"; // Mock object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VALIDATION (Relational &amp; Content check)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agePassed = (age &gt;= 18);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passPassed = enteredPass.equals(storedPass);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ROLE CHECK (Type Check)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Is activeUser a String (representing Admin)?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activeUser instanceof String;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if (agePassed &amp;&amp; passPassed)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System.out.println("Login Successful!");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System.out.println("Admin panel unlocked.");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TextBox 7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Rectangle 401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402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403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404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405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406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407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408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409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410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411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412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413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414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415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416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ounded Rectangle 183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6" name="TextBox 79"/>
          <p:cNvSpPr/>
          <p:nvPr/>
        </p:nvSpPr>
        <p:spPr>
          <a:xfrm>
            <a:off x="1536840" y="457200"/>
            <a:ext cx="79092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Operators: Final Summary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TextBox 80"/>
          <p:cNvSpPr/>
          <p:nvPr/>
        </p:nvSpPr>
        <p:spPr>
          <a:xfrm>
            <a:off x="1600200" y="1438920"/>
            <a:ext cx="801396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manage decision-making and flow control in programming.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they compare raw values for primitive types,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we must watch out for Java's internal memory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logic when comparing objects, Strings, and floating-point numbers.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Rounded Rectangle 184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ounded Rectangle 185"/>
          <p:cNvSpPr/>
          <p:nvPr/>
        </p:nvSpPr>
        <p:spPr>
          <a:xfrm>
            <a:off x="685800" y="2853360"/>
            <a:ext cx="3518640" cy="365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Value vs. Address: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While == compares raw values for primitives, it compares memory addresses for objects (Strings, Integers). Always use .equals() for structural content checks.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Precision Boundary: 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Floating-point numbers (double/float) should never be compared with ==. Instead, check if the absolute difference between them is smaller than a tiny tolerance value (epsilon).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Type Validation: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The instanceof operator is used at runtime to safely check whether an object belongs to a specific class, subclass, or interface.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Integer Caching: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Comparing Integer objects with == is only reliable between -128 and 127. Outside this boundary, it falls back to reference checking and fails.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Rounded Rectangle 186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ounded Rectangle 187"/>
          <p:cNvSpPr/>
          <p:nvPr/>
        </p:nvSpPr>
        <p:spPr>
          <a:xfrm>
            <a:off x="4572000" y="3108960"/>
            <a:ext cx="342828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Quick Comparison Map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two primitive numbers?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 == b or a &lt; b (Fast and 100% safe)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two String objects (text)?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s1.equals(s2)!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double/float decimals?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Math.abs(a - b) &lt; 0.00001 (Delta threshold)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Validate an object's class type?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obj instanceof ClassName (Safe runtime check)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2" name="Rounded Rectangle 188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ounded Rectangle 189"/>
          <p:cNvSpPr/>
          <p:nvPr/>
        </p:nvSpPr>
        <p:spPr>
          <a:xfrm>
            <a:off x="8246880" y="2286000"/>
            <a:ext cx="3656880" cy="4114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RelationalSummary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COMPARISON (Primitive)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 = (x &lt; 20);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STRING &amp; OBJECT COMPARISON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s1.equals("Java") -&gt; CORRECT METHOD!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s1 == "Java"      -&gt; WRONG / RISKY!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3. TYPE CHECKING (instanceof)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Object obj = "Test";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isStr = obj instanceof String;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4. FLOATING-POINT PRECISION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properComp = Math.abs(d1 - d2) &lt; 1e-5;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System.out.println("Matches: " + properComp);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4" name="TextBox 8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Rectangle 417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ectangle 418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419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ectangle 420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421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422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423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424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425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426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427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428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429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430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431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432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ounded Rectangle 190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2" name="TextBox 82"/>
          <p:cNvSpPr/>
          <p:nvPr/>
        </p:nvSpPr>
        <p:spPr>
          <a:xfrm>
            <a:off x="2265120" y="457200"/>
            <a:ext cx="6452280" cy="6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Comparison Operators in Java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TextBox 83"/>
          <p:cNvSpPr/>
          <p:nvPr/>
        </p:nvSpPr>
        <p:spPr>
          <a:xfrm>
            <a:off x="1600200" y="1328040"/>
            <a:ext cx="812880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Comparison operators are used to evaluate the relationship between two values.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They test for equality, inequality, or size differences, always returning 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logical boolean decision (true or false) to guide program execution.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Rounded Rectangle 191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ounded Rectangle 192"/>
          <p:cNvSpPr/>
          <p:nvPr/>
        </p:nvSpPr>
        <p:spPr>
          <a:xfrm>
            <a:off x="685800" y="3061800"/>
            <a:ext cx="3200400" cy="2861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Equality &amp; Inequality: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== (equal to) and != (not equal to) directly compare raw values.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Boundary Checks: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&gt;, &lt;, &gt;=, &lt;= test for size relationships (greater than, less than, or equal bounds).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Return Type: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The output of any comparison operation is always a primitive boolean value.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String Warning: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For object and text comparison, always use .equals() instead of == to verify the actual content rather than memory addresses.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6" name="Rounded Rectangle 193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ounded Rectangle 194"/>
          <p:cNvSpPr/>
          <p:nvPr/>
        </p:nvSpPr>
        <p:spPr>
          <a:xfrm>
            <a:off x="4344120" y="2971800"/>
            <a:ext cx="342828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Comparison &amp; Logical Decision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Inputs: x = 25, y = 20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Equality Check: x ==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false (Numbers are not equal)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Boundary Check: x &gt;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(25 is greater than 20)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Decision Making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resulting true/false directs conditional blocks (if-else).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8" name="Rounded Rectangle 195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ounded Rectangle 196"/>
          <p:cNvSpPr/>
          <p:nvPr/>
        </p:nvSpPr>
        <p:spPr>
          <a:xfrm>
            <a:off x="8246880" y="2286000"/>
            <a:ext cx="3656880" cy="4114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ComparisonIntro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25;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20;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1. Equality &amp; Inequality Checks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(x == y);   // false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isDifferent = (x != y);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2. Boundary (Size) Checks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(x &gt; y);  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isLessOrEqual = (x &lt;= y); // false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3. Use in Conditional Blocks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if (isGreater)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is greater than Y.");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 equal: " + isEqual);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 different: " + isDifferent);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TextBox 8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294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2026-06-05T02:09:15Z</dcterms:modified>
  <cp:revision>49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