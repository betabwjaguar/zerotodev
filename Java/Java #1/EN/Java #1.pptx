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56CAC4-8D08-4257-950E-A6D582C351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53691F-23FF-4AC5-924B-AD219EF1978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E8CA10-118A-412D-A285-697B49DDCF5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27F1FEC-9495-4851-B20E-32F7897F6B6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27488F-CF66-463D-A29B-C37948CE0D3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9463F3-C262-437A-B51F-E0B351E21E5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549E1CD-1024-49A4-96E2-E3206F8820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ED141B-B81B-4CCE-85A9-05A5C2ED454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7C56A6-C39B-426B-9063-49796E51CB2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402B08-2C97-43E7-AA28-136525DAB7F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ACF1AC-BE47-4CA5-A0FC-01EE2311306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CC0BB2-4970-4C96-BF2D-333F29D5587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29DFFE7-CC70-4AD0-9283-043BFBEAA84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ECC2934-24FA-47E4-8805-172A42CB3CB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C3A7A38-4AE5-4AB0-B986-0E99EFD73E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3153A39-9B6C-46E4-89E2-7879FE3AB01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059FDD6-C9EA-4FB3-A06C-3E1DC2F166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68E1647-B05F-4DAB-B3D3-94221C917AC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75E52CD-4D14-4F14-9E7C-C5E64A1136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3D66A8B-667E-4F4E-B6E4-A35CF6AA6B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93FB2B5-BC2F-4B0D-83D7-D78AC9F678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0FD9270-F786-4BEE-9A1C-9D686F4675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9CC4A46-6423-4292-B4D0-19F21B4B1ED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719347B-2E90-4202-83C8-683514B51E5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204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252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7A287C-E83B-4E67-B59B-B075B2711CA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252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168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216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493BBE-4708-4718-AD82-84C4C4DC8E5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216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144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4376880" y="110700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1824120" y="22662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1006560" y="34257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886640" y="34257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br>
              <a:rPr sz="1800"/>
            </a:b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...more!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8767440" y="34257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144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4249800" y="110700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3414600" y="22662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100656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8866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8767440" y="34257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144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3248280" y="110700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3017520" y="22662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1006560" y="34257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88664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144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4443480" y="1107000"/>
            <a:ext cx="320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890720" y="22662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100656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8866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144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634120" y="1107000"/>
            <a:ext cx="682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3651840" y="2266200"/>
            <a:ext cx="5437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679680" y="3273840"/>
            <a:ext cx="4026600" cy="316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886640" y="34257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144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43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1678320" y="1107000"/>
            <a:ext cx="8742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4784760" y="2266200"/>
            <a:ext cx="3169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4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5"/>
          <p:cNvSpPr/>
          <p:nvPr/>
        </p:nvSpPr>
        <p:spPr>
          <a:xfrm>
            <a:off x="10065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6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8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ounded Rectangle 49"/>
          <p:cNvSpPr/>
          <p:nvPr/>
        </p:nvSpPr>
        <p:spPr>
          <a:xfrm>
            <a:off x="8767440" y="34257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Box 2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ounded Rectangle 1"/>
          <p:cNvSpPr/>
          <p:nvPr/>
        </p:nvSpPr>
        <p:spPr>
          <a:xfrm>
            <a:off x="4941000" y="344988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144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47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1764720" y="1107360"/>
            <a:ext cx="8575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3970080" y="2266200"/>
            <a:ext cx="479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0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1"/>
          <p:cNvSpPr/>
          <p:nvPr/>
        </p:nvSpPr>
        <p:spPr>
          <a:xfrm>
            <a:off x="100656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2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3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ounded Rectangle 54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Box 2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Rounded Rectangle 55"/>
          <p:cNvSpPr/>
          <p:nvPr/>
        </p:nvSpPr>
        <p:spPr>
          <a:xfrm>
            <a:off x="4941000" y="34495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144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6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179640" y="1107360"/>
            <a:ext cx="11750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3797640" y="2266200"/>
            <a:ext cx="514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7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8"/>
          <p:cNvSpPr/>
          <p:nvPr/>
        </p:nvSpPr>
        <p:spPr>
          <a:xfrm>
            <a:off x="100656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59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0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ounded Rectangle 61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Box 2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Rounded Rectangle 62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3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3444480" y="1107360"/>
            <a:ext cx="5216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4513680" y="2266200"/>
            <a:ext cx="371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4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5"/>
          <p:cNvSpPr/>
          <p:nvPr/>
        </p:nvSpPr>
        <p:spPr>
          <a:xfrm>
            <a:off x="100656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6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7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ounded Rectangle 68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Rounded Rectangle 69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0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2260440" y="1107360"/>
            <a:ext cx="758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4847040" y="2266200"/>
            <a:ext cx="3046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1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2"/>
          <p:cNvSpPr/>
          <p:nvPr/>
        </p:nvSpPr>
        <p:spPr>
          <a:xfrm>
            <a:off x="10065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3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4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ounded Rectangle 75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Rounded Rectangle 76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61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2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3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4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5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6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67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68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69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0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1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2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3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74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75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76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7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78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ounded Rectangle 79"/>
          <p:cNvSpPr/>
          <p:nvPr/>
        </p:nvSpPr>
        <p:spPr>
          <a:xfrm>
            <a:off x="10065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ounded Rectangle 80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81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ounded Rectangle 82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Rounded Rectangle 83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77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78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79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0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1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2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3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4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5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6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87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88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9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0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1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2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84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38"/>
          <p:cNvSpPr/>
          <p:nvPr/>
        </p:nvSpPr>
        <p:spPr>
          <a:xfrm>
            <a:off x="4301280" y="2266200"/>
            <a:ext cx="41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85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86"/>
          <p:cNvSpPr/>
          <p:nvPr/>
        </p:nvSpPr>
        <p:spPr>
          <a:xfrm>
            <a:off x="10065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ounded Rectangle 87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88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ounded Rectangle 89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Rounded Rectangle 90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93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4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5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6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97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98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99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0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1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2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3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4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5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06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07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08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91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40"/>
          <p:cNvSpPr/>
          <p:nvPr/>
        </p:nvSpPr>
        <p:spPr>
          <a:xfrm>
            <a:off x="2151360" y="1107360"/>
            <a:ext cx="7810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1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ounded Rectangle 92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93"/>
          <p:cNvSpPr/>
          <p:nvPr/>
        </p:nvSpPr>
        <p:spPr>
          <a:xfrm>
            <a:off x="10065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 (What emerged):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(Inversion of Control, Dependency Injection)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(Object–Relational Mapping)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(Annotations replace XML-heavy configs)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(Component-based UI)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(Standard build &amp; dependency management)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ounded Rectangle 94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95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ounded Rectangle 96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Rounded Rectangle 97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this era mattered: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XML-heavy enterprise Java was simplified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Boilerplate code dramatically reduced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Loose coupling became standard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and layered architecture spread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gained productivity and flexibility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Before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complex, verbose, hard to maintain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After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cleaner, modular, framework-driven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Rectangle 209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0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1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2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3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4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5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6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17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18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19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0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1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22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23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24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98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43"/>
          <p:cNvSpPr/>
          <p:nvPr/>
        </p:nvSpPr>
        <p:spPr>
          <a:xfrm>
            <a:off x="2586960" y="1107360"/>
            <a:ext cx="6940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&amp; Cloud Era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44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99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100"/>
          <p:cNvSpPr/>
          <p:nvPr/>
        </p:nvSpPr>
        <p:spPr>
          <a:xfrm>
            <a:off x="10209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(Key technologies):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(Lambdas, Streams)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Rounded Rectangle 101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102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ounded Rectangle 103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Rounded Rectangle 104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apps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Fast deployment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Functional programming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(LTS)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225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6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27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28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29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0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1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2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3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4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5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6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37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38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39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40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105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6"/>
          <p:cNvSpPr/>
          <p:nvPr/>
        </p:nvSpPr>
        <p:spPr>
          <a:xfrm>
            <a:off x="3785400" y="1107360"/>
            <a:ext cx="45428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After 2015: 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7"/>
          <p:cNvSpPr/>
          <p:nvPr/>
        </p:nvSpPr>
        <p:spPr>
          <a:xfrm>
            <a:off x="4500360" y="2266200"/>
            <a:ext cx="373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grows up: faster, cleaner, smarter.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106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7"/>
          <p:cNvSpPr/>
          <p:nvPr/>
        </p:nvSpPr>
        <p:spPr>
          <a:xfrm>
            <a:off x="10209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Functional Interfaces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(Async programming)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(immutable data carriers)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08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09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ounded Rectangle 110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Rounded Rectangle 111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More expressive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Less boilerplate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Better performance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Parallel &amp; async processing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programming paradigms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Readability + maintainability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 8: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Imperative, verbose, loop-heavy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After Java 8+: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Declarative, functional, fluent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241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2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3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4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5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6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47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48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9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0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1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2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3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54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55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56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12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49"/>
          <p:cNvSpPr/>
          <p:nvPr/>
        </p:nvSpPr>
        <p:spPr>
          <a:xfrm>
            <a:off x="1012680" y="1107360"/>
            <a:ext cx="10091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Today: Enterprise, Cloud &amp; Beyond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0"/>
          <p:cNvSpPr/>
          <p:nvPr/>
        </p:nvSpPr>
        <p:spPr>
          <a:xfrm>
            <a:off x="3928320" y="2266200"/>
            <a:ext cx="488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no longer just enterprise — it’s everywhere.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13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14"/>
          <p:cNvSpPr/>
          <p:nvPr/>
        </p:nvSpPr>
        <p:spPr>
          <a:xfrm>
            <a:off x="10209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backends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High-performance APIs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Financial systems &amp; banking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Big data &amp; streaming platforms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(core language roots)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Game servers &amp; real-time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15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16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ounded Rectangle 117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ResponseEntity.ok("Service is running");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Rounded Rectangle 118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Reactive programming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Kubernetes-native deployments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Observability (metrics, 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stability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257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58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59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0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1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2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3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4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5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6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7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68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69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70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71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2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119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52"/>
          <p:cNvSpPr/>
          <p:nvPr/>
        </p:nvSpPr>
        <p:spPr>
          <a:xfrm>
            <a:off x="2129400" y="1107360"/>
            <a:ext cx="785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in Practice: From Idea to Code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53"/>
          <p:cNvSpPr/>
          <p:nvPr/>
        </p:nvSpPr>
        <p:spPr>
          <a:xfrm>
            <a:off x="2773080" y="2266200"/>
            <a:ext cx="719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focuses on turning ideas into clean, structured, and maintainable code.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20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121"/>
          <p:cNvSpPr/>
          <p:nvPr/>
        </p:nvSpPr>
        <p:spPr>
          <a:xfrm>
            <a:off x="10209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for clarity and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typing prevents many runtime errors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Code readability improves long-term maintenance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Suitable for large and long-lived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22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123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ounded Rectangle 124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Rounded Rectangle 125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Definition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Solution Planning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Class &amp; Method Design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273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4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5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6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77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78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79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0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1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2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3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4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5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286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287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288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6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55"/>
          <p:cNvSpPr/>
          <p:nvPr/>
        </p:nvSpPr>
        <p:spPr>
          <a:xfrm>
            <a:off x="2240640" y="1107360"/>
            <a:ext cx="7633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Core Features – An Overview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56"/>
          <p:cNvSpPr/>
          <p:nvPr/>
        </p:nvSpPr>
        <p:spPr>
          <a:xfrm>
            <a:off x="3222000" y="2266200"/>
            <a:ext cx="6295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A first look at the fundamental features that shape Java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27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128"/>
          <p:cNvSpPr/>
          <p:nvPr/>
        </p:nvSpPr>
        <p:spPr>
          <a:xfrm>
            <a:off x="10209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with a set of core features that help developers write programs in a clear, structured, and predictable way.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These features reduce common programming errors, improve code readability, and make applications easier to maintain over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Rather than focusing on low-level system details, Java allows developers to concentrate on program logic and problem-solving.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129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130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ounded Rectangle 131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 number");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Rounded Rectangle 132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Want to Do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Java Allows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 Must Write It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It Executes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Get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289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0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1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2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3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4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5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6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97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98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99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0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1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02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03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04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33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58"/>
          <p:cNvSpPr/>
          <p:nvPr/>
        </p:nvSpPr>
        <p:spPr>
          <a:xfrm>
            <a:off x="4180320" y="1107360"/>
            <a:ext cx="3753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Object-Oriented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59"/>
          <p:cNvSpPr/>
          <p:nvPr/>
        </p:nvSpPr>
        <p:spPr>
          <a:xfrm>
            <a:off x="2378880" y="2266200"/>
            <a:ext cx="7982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an object-oriented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means Java programs are built using objects, which represent real-world things.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134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35"/>
          <p:cNvSpPr/>
          <p:nvPr/>
        </p:nvSpPr>
        <p:spPr>
          <a:xfrm>
            <a:off x="10209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in Java is based on classes and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class is a blueprint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 object is a real instance of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 makes programs easier to understand and manage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Student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136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137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ounded Rectangle 138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Rounded Rectangle 139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Real World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Logic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Explanation: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First, we define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Then, we create objects from that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Objects are used inside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305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6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07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08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09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0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1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2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3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4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5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6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17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18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19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20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40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61"/>
          <p:cNvSpPr/>
          <p:nvPr/>
        </p:nvSpPr>
        <p:spPr>
          <a:xfrm>
            <a:off x="5227200" y="1107360"/>
            <a:ext cx="1659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Secure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2"/>
          <p:cNvSpPr/>
          <p:nvPr/>
        </p:nvSpPr>
        <p:spPr>
          <a:xfrm>
            <a:off x="651600" y="2266200"/>
            <a:ext cx="11437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designed to be a secure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It allows developers to build virus-free and tamper-free applications.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security is based on strong concepts like public-key encryption, bytecode verification, and controlled memory access.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41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142"/>
          <p:cNvSpPr/>
          <p:nvPr/>
        </p:nvSpPr>
        <p:spPr>
          <a:xfrm>
            <a:off x="10209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allow direct memory access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pointers like in C/C++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run inside the Java Virtual Machine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is verified before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problems like: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- Memory leaks</a:t>
            </a:r>
            <a:br>
              <a:rPr sz="1400"/>
            </a:b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Additional security advantages: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exception handling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garbage collection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class loading mechanism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143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144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ounded Rectangle 145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System.out.println("Error handled safely");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Rounded Rectangle 146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Compiler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Security Check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Safe Execution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321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2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3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4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5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6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27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28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29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0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1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2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3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34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35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36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47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64"/>
          <p:cNvSpPr/>
          <p:nvPr/>
        </p:nvSpPr>
        <p:spPr>
          <a:xfrm>
            <a:off x="4704480" y="1107360"/>
            <a:ext cx="270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65"/>
          <p:cNvSpPr/>
          <p:nvPr/>
        </p:nvSpPr>
        <p:spPr>
          <a:xfrm>
            <a:off x="2012400" y="2266200"/>
            <a:ext cx="8714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code is executed through an intermediate step instead of running directly on hardware.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48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49"/>
          <p:cNvSpPr/>
          <p:nvPr/>
        </p:nvSpPr>
        <p:spPr>
          <a:xfrm>
            <a:off x="1020960" y="342432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is first compiled into Bytecode, not machine code.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Bytecode is translated on the fly into native machine instructions while the program runs.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translated instructions are not stored permanently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Because of this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Development is faster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 and linking are lightweight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Code analysis and debugging become easier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50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51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ounded Rectangle 152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runs through the JVM");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Rounded Rectangle 153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How Java Executes: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Instructions (runtime)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337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38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39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0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1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2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3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4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5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6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47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48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49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50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51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52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154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67"/>
          <p:cNvSpPr/>
          <p:nvPr/>
        </p:nvSpPr>
        <p:spPr>
          <a:xfrm>
            <a:off x="2430720" y="1107360"/>
            <a:ext cx="7254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High Performance &amp; Distributed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8"/>
          <p:cNvSpPr/>
          <p:nvPr/>
        </p:nvSpPr>
        <p:spPr>
          <a:xfrm>
            <a:off x="3008160" y="2266200"/>
            <a:ext cx="6722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combines performance and networking support in its core design.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155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56"/>
          <p:cNvSpPr/>
          <p:nvPr/>
        </p:nvSpPr>
        <p:spPr>
          <a:xfrm>
            <a:off x="1020960" y="2971800"/>
            <a:ext cx="3619440" cy="346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achieves high performance using Just-In-Time (JIT) compilation.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JVM compiles frequently used Bytecode into optimized native code while the program is running.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JIT optimizations include: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 inlining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Dead code elimination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Constant folding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Optimized method calls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Faster execution over time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Near native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157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158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ounded Rectangle 159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System.out.println("Fast and distributed Java applications");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TextBox 6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Rounded Rectangle 160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is designed for distributed environments, especially the Internet.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It provides built-in support for: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Networking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Remote method calls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 systems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applications can easily communicate over networks and run on multiple machines.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353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4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5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6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57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58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59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0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1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2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3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4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5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66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67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68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161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70"/>
          <p:cNvSpPr/>
          <p:nvPr/>
        </p:nvSpPr>
        <p:spPr>
          <a:xfrm>
            <a:off x="1630080" y="1107360"/>
            <a:ext cx="8855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Some Other Important Features of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71"/>
          <p:cNvSpPr/>
          <p:nvPr/>
        </p:nvSpPr>
        <p:spPr>
          <a:xfrm>
            <a:off x="1341720" y="2266200"/>
            <a:ext cx="1005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provides several unique features that help developers write clean, stable, and maintainable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162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63"/>
          <p:cNvSpPr/>
          <p:nvPr/>
        </p:nvSpPr>
        <p:spPr>
          <a:xfrm>
            <a:off x="1020960" y="2971800"/>
            <a:ext cx="3619440" cy="346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Simple &amp; Easy to Learn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a clear and readable syntax. Complex features like pointers are removed, making it easier for beginners.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Strongly Typed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Every variable has a defined type. This helps detect errors at compile time instead of runtime.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automatically manages memory using Garbage Collection, so developers do not need to free memory manually.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Multithreaded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supports multithreading, allowing programs to perform multiple tasks at the same 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a large set of built-in libraries for collections, file handling, networking, and more.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164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165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ounded Rectangle 166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easy and powerful");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TextBox 7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Rounded Rectangle 167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Simple Syntax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Easy to Learn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Strong Typing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Automatic Memory Management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Multithreading Support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Rich Standard Library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Clean &amp; Maintainable Java Programs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369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0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1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2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3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4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5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6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77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78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79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0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1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82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83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84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68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73"/>
          <p:cNvSpPr/>
          <p:nvPr/>
        </p:nvSpPr>
        <p:spPr>
          <a:xfrm>
            <a:off x="3201840" y="1107360"/>
            <a:ext cx="5710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A High-Level Comparison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74"/>
          <p:cNvSpPr/>
          <p:nvPr/>
        </p:nvSpPr>
        <p:spPr>
          <a:xfrm>
            <a:off x="2435040" y="2266200"/>
            <a:ext cx="786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169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70"/>
          <p:cNvSpPr/>
          <p:nvPr/>
        </p:nvSpPr>
        <p:spPr>
          <a:xfrm>
            <a:off x="1020960" y="2971800"/>
            <a:ext cx="3619440" cy="346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Runs on the Java Virtual Machine (JVM)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(Write Once, Run Anywhere)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safety, portability, and maintainability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enterprise, web, and cloud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Compiled directly to native machine code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Platform-dependent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Manual memory management (pointers, memory allocation)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performance and low-level control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system software, game engines, embedded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171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72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ounded Rectangle 173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hides complexity"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Box 7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Rounded Rectangle 174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Java Source → Bytecode → JVM → Any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C++ Source  → Native Code → Specific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385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6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87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88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89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0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1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2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3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4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5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6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397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398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399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00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175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76"/>
          <p:cNvSpPr/>
          <p:nvPr/>
        </p:nvSpPr>
        <p:spPr>
          <a:xfrm>
            <a:off x="1291320" y="1107360"/>
            <a:ext cx="9532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Advantages &amp; Disadvantages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77"/>
          <p:cNvSpPr/>
          <p:nvPr/>
        </p:nvSpPr>
        <p:spPr>
          <a:xfrm>
            <a:off x="2435040" y="2266200"/>
            <a:ext cx="786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76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77"/>
          <p:cNvSpPr/>
          <p:nvPr/>
        </p:nvSpPr>
        <p:spPr>
          <a:xfrm>
            <a:off x="1020960" y="3506040"/>
            <a:ext cx="3619440" cy="289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– 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independent (Write Once, Run Anywhere)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Safer execution (no pointers, JVM security checks)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Easier to learn and read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 and frameworks</a:t>
            </a:r>
            <a:br>
              <a:rPr sz="1180"/>
            </a:b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Ideal for large, long-term, enterprise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Slightly slower than native C++ in some cases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Less control over hardware and memory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JVM overhead (startup time, memory usage)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178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179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ounded Rectangle 180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class JavaApp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focuses on safety and portability");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TextBox 7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Rounded Rectangle 181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Problem Type?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portability?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(Java runs everywhere)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(Low-level control)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safety &amp; maintainability?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401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2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3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4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5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6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07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08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09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0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1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2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3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414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415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416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182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79"/>
          <p:cNvSpPr/>
          <p:nvPr/>
        </p:nvSpPr>
        <p:spPr>
          <a:xfrm>
            <a:off x="1291320" y="1107360"/>
            <a:ext cx="9532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Advantages &amp; Disadvantages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80"/>
          <p:cNvSpPr/>
          <p:nvPr/>
        </p:nvSpPr>
        <p:spPr>
          <a:xfrm>
            <a:off x="2435040" y="2266200"/>
            <a:ext cx="786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83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84"/>
          <p:cNvSpPr/>
          <p:nvPr/>
        </p:nvSpPr>
        <p:spPr>
          <a:xfrm>
            <a:off x="1020960" y="3506040"/>
            <a:ext cx="3619440" cy="289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Very high performance (native execution)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Full control over memory and hardware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No virtual machine overhead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Ideal for system-level and performance-critical software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game engines and embedded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 dependent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Manual memory management (risk of memory leaks)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More complex syntax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Harder to learn and maintain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Higher chance of runtime errors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185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186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ounded Rectangle 187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#include &lt;iostream&gt;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using namespace std;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 main()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cout &lt;&lt; "C++ focuses on performance and control";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0;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TextBox 8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Rounded Rectangle 188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Application Requirement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Need low-level memory control?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System / Game / Embedded?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417"/>
          <p:cNvSpPr/>
          <p:nvPr/>
        </p:nvSpPr>
        <p:spPr>
          <a:xfrm>
            <a:off x="16920" y="1800"/>
            <a:ext cx="13426920" cy="7550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18"/>
          <p:cNvSpPr/>
          <p:nvPr/>
        </p:nvSpPr>
        <p:spPr>
          <a:xfrm>
            <a:off x="144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19"/>
          <p:cNvSpPr/>
          <p:nvPr/>
        </p:nvSpPr>
        <p:spPr>
          <a:xfrm>
            <a:off x="100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0"/>
          <p:cNvSpPr/>
          <p:nvPr/>
        </p:nvSpPr>
        <p:spPr>
          <a:xfrm>
            <a:off x="201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1"/>
          <p:cNvSpPr/>
          <p:nvPr/>
        </p:nvSpPr>
        <p:spPr>
          <a:xfrm>
            <a:off x="302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2"/>
          <p:cNvSpPr/>
          <p:nvPr/>
        </p:nvSpPr>
        <p:spPr>
          <a:xfrm>
            <a:off x="402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3"/>
          <p:cNvSpPr/>
          <p:nvPr/>
        </p:nvSpPr>
        <p:spPr>
          <a:xfrm>
            <a:off x="503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4"/>
          <p:cNvSpPr/>
          <p:nvPr/>
        </p:nvSpPr>
        <p:spPr>
          <a:xfrm>
            <a:off x="604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5"/>
          <p:cNvSpPr/>
          <p:nvPr/>
        </p:nvSpPr>
        <p:spPr>
          <a:xfrm>
            <a:off x="705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6"/>
          <p:cNvSpPr/>
          <p:nvPr/>
        </p:nvSpPr>
        <p:spPr>
          <a:xfrm>
            <a:off x="806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27"/>
          <p:cNvSpPr/>
          <p:nvPr/>
        </p:nvSpPr>
        <p:spPr>
          <a:xfrm>
            <a:off x="9069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28"/>
          <p:cNvSpPr/>
          <p:nvPr/>
        </p:nvSpPr>
        <p:spPr>
          <a:xfrm>
            <a:off x="10077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29"/>
          <p:cNvSpPr/>
          <p:nvPr/>
        </p:nvSpPr>
        <p:spPr>
          <a:xfrm>
            <a:off x="11085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430"/>
          <p:cNvSpPr/>
          <p:nvPr/>
        </p:nvSpPr>
        <p:spPr>
          <a:xfrm>
            <a:off x="12093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431"/>
          <p:cNvSpPr/>
          <p:nvPr/>
        </p:nvSpPr>
        <p:spPr>
          <a:xfrm>
            <a:off x="13101480" y="1800"/>
            <a:ext cx="11160" cy="7550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432"/>
          <p:cNvSpPr/>
          <p:nvPr/>
        </p:nvSpPr>
        <p:spPr>
          <a:xfrm>
            <a:off x="1440" y="1800"/>
            <a:ext cx="343080" cy="7550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189"/>
          <p:cNvSpPr/>
          <p:nvPr/>
        </p:nvSpPr>
        <p:spPr>
          <a:xfrm>
            <a:off x="10884960" y="401400"/>
            <a:ext cx="220752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Box 82"/>
          <p:cNvSpPr/>
          <p:nvPr/>
        </p:nvSpPr>
        <p:spPr>
          <a:xfrm>
            <a:off x="2846520" y="1107360"/>
            <a:ext cx="6420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When to Choose Java vs C++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83"/>
          <p:cNvSpPr/>
          <p:nvPr/>
        </p:nvSpPr>
        <p:spPr>
          <a:xfrm>
            <a:off x="1255680" y="2266200"/>
            <a:ext cx="10227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Making the right language choice depends on performance needs, portability, and long-term maintainability.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190"/>
          <p:cNvSpPr/>
          <p:nvPr/>
        </p:nvSpPr>
        <p:spPr>
          <a:xfrm>
            <a:off x="108684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191"/>
          <p:cNvSpPr/>
          <p:nvPr/>
        </p:nvSpPr>
        <p:spPr>
          <a:xfrm>
            <a:off x="1020960" y="3506040"/>
            <a:ext cx="3619440" cy="289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Programming languages are designed for different goals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prioritizes portability, safety, and maintainability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C++ prioritizes performance and low-level control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correct choice depends on the problem domain, not popularity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There is no “best language” — only the right tool for the job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192"/>
          <p:cNvSpPr/>
          <p:nvPr/>
        </p:nvSpPr>
        <p:spPr>
          <a:xfrm>
            <a:off x="49683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193"/>
          <p:cNvSpPr/>
          <p:nvPr/>
        </p:nvSpPr>
        <p:spPr>
          <a:xfrm>
            <a:off x="8849160" y="3506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ounded Rectangle 194"/>
          <p:cNvSpPr/>
          <p:nvPr/>
        </p:nvSpPr>
        <p:spPr>
          <a:xfrm>
            <a:off x="8767440" y="3425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Java: Focus on safety and portability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ChoiceExample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System.out.println("Choose Java for scalable and maintainable systems");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TextBox 8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Rounded Rectangle 195"/>
          <p:cNvSpPr/>
          <p:nvPr/>
        </p:nvSpPr>
        <p:spPr>
          <a:xfrm>
            <a:off x="4941000" y="345096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What is your main goal?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portability &amp; long-term maintenance?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 &amp; hardware control?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safety, scalability, enterprise support?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Rectangle 433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4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5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6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37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38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39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0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1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2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3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4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5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446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447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448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196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Box 85"/>
          <p:cNvSpPr/>
          <p:nvPr/>
        </p:nvSpPr>
        <p:spPr>
          <a:xfrm>
            <a:off x="1178280" y="1107360"/>
            <a:ext cx="97596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Abstraction Level: What Do Java and C++ Hide, What Do They Expose?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86"/>
          <p:cNvSpPr/>
          <p:nvPr/>
        </p:nvSpPr>
        <p:spPr>
          <a:xfrm>
            <a:off x="4612680" y="2266200"/>
            <a:ext cx="351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Same system, different perspectives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ounded Rectangle 197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198"/>
          <p:cNvSpPr/>
          <p:nvPr/>
        </p:nvSpPr>
        <p:spPr>
          <a:xfrm>
            <a:off x="1020960" y="3506040"/>
            <a:ext cx="3619080" cy="289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What Is Abstraction?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Abstraction is the hiding of complexity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developer writes what is done, not how it is done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But not every language provides the same level of abstraction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critical difference here: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hides the system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C++ exposes the system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Rounded Rectangle 199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200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ounded Rectangle 201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JOR JAVA: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new int[5];</a:t>
            </a:r>
            <a:br>
              <a:rPr sz="2100"/>
            </a:b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FOR C++:</a:t>
            </a:r>
            <a:br>
              <a:rPr sz="2100"/>
            </a:b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int* numbers = new int[5];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// memory responsibility is on the developer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TextBox 8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Rounded Rectangle 202"/>
          <p:cNvSpPr/>
          <p:nvPr/>
        </p:nvSpPr>
        <p:spPr>
          <a:xfrm>
            <a:off x="4968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Developer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JVM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Operating System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Hardware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"/>
          <p:cNvSpPr/>
          <p:nvPr/>
        </p:nvSpPr>
        <p:spPr>
          <a:xfrm>
            <a:off x="6968880" y="3657600"/>
            <a:ext cx="1260360" cy="25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Developer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Operating System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Hardware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Rectangle 449"/>
          <p:cNvSpPr/>
          <p:nvPr/>
        </p:nvSpPr>
        <p:spPr>
          <a:xfrm>
            <a:off x="16920" y="1800"/>
            <a:ext cx="13426560" cy="7549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450"/>
          <p:cNvSpPr/>
          <p:nvPr/>
        </p:nvSpPr>
        <p:spPr>
          <a:xfrm>
            <a:off x="144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451"/>
          <p:cNvSpPr/>
          <p:nvPr/>
        </p:nvSpPr>
        <p:spPr>
          <a:xfrm>
            <a:off x="100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452"/>
          <p:cNvSpPr/>
          <p:nvPr/>
        </p:nvSpPr>
        <p:spPr>
          <a:xfrm>
            <a:off x="201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453"/>
          <p:cNvSpPr/>
          <p:nvPr/>
        </p:nvSpPr>
        <p:spPr>
          <a:xfrm>
            <a:off x="302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454"/>
          <p:cNvSpPr/>
          <p:nvPr/>
        </p:nvSpPr>
        <p:spPr>
          <a:xfrm>
            <a:off x="402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455"/>
          <p:cNvSpPr/>
          <p:nvPr/>
        </p:nvSpPr>
        <p:spPr>
          <a:xfrm>
            <a:off x="503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456"/>
          <p:cNvSpPr/>
          <p:nvPr/>
        </p:nvSpPr>
        <p:spPr>
          <a:xfrm>
            <a:off x="604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457"/>
          <p:cNvSpPr/>
          <p:nvPr/>
        </p:nvSpPr>
        <p:spPr>
          <a:xfrm>
            <a:off x="705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458"/>
          <p:cNvSpPr/>
          <p:nvPr/>
        </p:nvSpPr>
        <p:spPr>
          <a:xfrm>
            <a:off x="806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459"/>
          <p:cNvSpPr/>
          <p:nvPr/>
        </p:nvSpPr>
        <p:spPr>
          <a:xfrm>
            <a:off x="9069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460"/>
          <p:cNvSpPr/>
          <p:nvPr/>
        </p:nvSpPr>
        <p:spPr>
          <a:xfrm>
            <a:off x="10077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461"/>
          <p:cNvSpPr/>
          <p:nvPr/>
        </p:nvSpPr>
        <p:spPr>
          <a:xfrm>
            <a:off x="11085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462"/>
          <p:cNvSpPr/>
          <p:nvPr/>
        </p:nvSpPr>
        <p:spPr>
          <a:xfrm>
            <a:off x="12093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463"/>
          <p:cNvSpPr/>
          <p:nvPr/>
        </p:nvSpPr>
        <p:spPr>
          <a:xfrm>
            <a:off x="13101480" y="1800"/>
            <a:ext cx="10800" cy="7549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464"/>
          <p:cNvSpPr/>
          <p:nvPr/>
        </p:nvSpPr>
        <p:spPr>
          <a:xfrm>
            <a:off x="1440" y="1800"/>
            <a:ext cx="342720" cy="7549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ounded Rectangle 203"/>
          <p:cNvSpPr/>
          <p:nvPr/>
        </p:nvSpPr>
        <p:spPr>
          <a:xfrm>
            <a:off x="10884960" y="401400"/>
            <a:ext cx="220716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TextBox 88"/>
          <p:cNvSpPr/>
          <p:nvPr/>
        </p:nvSpPr>
        <p:spPr>
          <a:xfrm>
            <a:off x="1008000" y="1107360"/>
            <a:ext cx="1010088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Understanding Java = Thinking with the Right Abstraction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extBox 89"/>
          <p:cNvSpPr/>
          <p:nvPr/>
        </p:nvSpPr>
        <p:spPr>
          <a:xfrm>
            <a:off x="4121280" y="2266200"/>
            <a:ext cx="44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Not learning a language, but gaining a mindset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Rounded Rectangle 204"/>
          <p:cNvSpPr/>
          <p:nvPr/>
        </p:nvSpPr>
        <p:spPr>
          <a:xfrm>
            <a:off x="108684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205"/>
          <p:cNvSpPr/>
          <p:nvPr/>
        </p:nvSpPr>
        <p:spPr>
          <a:xfrm>
            <a:off x="1020960" y="3506040"/>
            <a:ext cx="3619080" cy="289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What Did We Gain in This Section?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We saw why Java exists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We understood what problem Java is trying to solve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We learned the design philosophy behind the language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is not just a “coding language”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It is a way of thinking about systems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Rounded Rectangle 206"/>
          <p:cNvSpPr/>
          <p:nvPr/>
        </p:nvSpPr>
        <p:spPr>
          <a:xfrm>
            <a:off x="49683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ounded Rectangle 207"/>
          <p:cNvSpPr/>
          <p:nvPr/>
        </p:nvSpPr>
        <p:spPr>
          <a:xfrm>
            <a:off x="8849160" y="3506040"/>
            <a:ext cx="3618720" cy="3013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ounded Rectangle 208"/>
          <p:cNvSpPr/>
          <p:nvPr/>
        </p:nvSpPr>
        <p:spPr>
          <a:xfrm>
            <a:off x="8767440" y="342504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exists to reduce complexity.");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9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Rounded Rectangle 209"/>
          <p:cNvSpPr/>
          <p:nvPr/>
        </p:nvSpPr>
        <p:spPr>
          <a:xfrm>
            <a:off x="4968000" y="3450960"/>
            <a:ext cx="3619080" cy="301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Problem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Abstraction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Class &amp; Object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Safe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Sustainable System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2026-01-23T15:35:39Z</dcterms:modified>
  <cp:revision>75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