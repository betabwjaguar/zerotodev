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9A2B8B-FC11-4C4C-B41D-A58B4D4AC3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142B5D-73C3-48CD-A480-6C53EE0C82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7319A3-0ED6-4885-90C8-41152021EA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AAAA7D-F827-4B57-8D97-7B7FED5C96A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1019E8-2EDC-457B-8E02-E3BA36DDAD3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BED873-80C8-4B7A-9BA1-D115CE42E2E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89777B-4201-42CE-A435-7FEE871318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F66CFB-C062-469C-A96C-11529D445F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82EAB0-8D50-4616-99BB-48A3E34B2A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A82380-9EBA-4AF3-A248-F7B642C166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789425-B1FF-4141-A345-31A085FA000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4C5476-7C56-49E5-A52D-8C0D4DC0E4D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EFFEACD-B11E-4139-BA63-611CD85344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1A2DE39-6F15-4102-A275-B335496073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2F8CB6-9699-421C-889E-3F00BCB9DC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AE232CD-CA21-4B50-89CC-876686DE38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7A2B9E-6E68-4FCD-92FD-4E401EED9C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F8C92B7-6813-436E-8930-6D90380D2F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7880B7-9239-4B55-AE97-32B13BBE62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6B498CC-836C-497F-8E15-CFE57711AC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4193D5D-C958-4DE4-9433-F0B158B6E3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EB59A8-76C4-4CD3-A4B7-8722F6F0D2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F3219C-4B2F-499E-9D37-E3C76DB8E6C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932C4B-CFCE-4F73-A734-60B7F7D0312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E6F598-3935-4C8D-AC27-74074378639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C81C3DD-CA32-4E94-918E-77229C413C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3647BEE-3EE6-4841-A797-039F46398F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11FA12B-2581-43D4-A908-1FC7E71CCA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4339379-6556-4502-9F71-D969E4AE6E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5682C9E-BE83-47A9-8535-E89FB1C35D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D7623C1-FF77-49C5-AF92-6A08B64782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21AA7E9-C0D7-491E-B6EF-D14C512784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2CFC533-ABBF-483F-A6E9-382CC7AF88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10394D2-6408-4401-903E-5AC88A1030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379C067-EC13-43A4-9E58-90ACB59AF0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4C5F64A-3D33-43C2-A6F0-4BECB72594B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20056C-5145-45BB-B2EF-78A7A58ED5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3B867D2-19F6-4171-AFB9-85C8059C95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39FC038-098E-41B6-8456-B76A30B8FD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77F3FBC-FC2D-4831-957C-445EF05A54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4195338-B173-43A1-AFF6-753B4DB6D0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BBFEEA-760D-4CFB-9493-1B9BD60F66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7241745-4842-4447-8E6C-F4CE60BF60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DFB6A13-8554-4F8A-B4BC-32A3F4A56B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3D364EF-8358-44C9-A150-BC59623A95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189FE6D-BF70-4944-9866-244EA92D32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DBFE0BC-AFC9-441B-9610-011051A1FA2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827715-DD61-40CC-8DDE-CC02F82DBFC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682732-7F03-4AE9-88A0-54AB148DBE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1FAEBD-9DF2-481C-9BB2-BC1B3CA59B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E1E5A29-BD71-4E78-BDD9-532DE42A44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EDDD3E9-102C-4D68-9699-59B271621D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08FB1E7-1C1F-410D-B4AC-543BA5EB38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F192D68-75F5-4390-AED3-3F34F6204A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11B186C-65B8-48EB-B352-2CDB41E261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9B24D65-8573-4A30-9720-2006176BEC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E8E698C-36D9-43A0-B53E-A626740A60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E0B4BB6-7C30-4C7B-852B-B9A8FA18E6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0B67E0D-6FCC-4C7E-B6D3-D0F1488C0E0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DE793CB-453F-4E6A-B512-60A6CD730B8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6F71AF8-157F-4E86-AAF1-0EEE368472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7C9A5FE-6198-4C46-B198-07C28E494B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F92F2FF-B16D-4A00-9A80-ACDF2CD183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0E91A81-D1A4-479A-8DF1-F2B7363F6AA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5242582-7F45-44BB-A140-41E955F632D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430247B-F789-428E-92DE-C6E8D53CBCC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00BD96-E981-43B3-8EAD-76B91782AA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CA9D7EC-A268-43C2-9FA0-AAD4847F1A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543AE71-7AA3-490D-A157-D30B908A99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9314484-705E-4575-BC77-0F4430187F3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94C2BC3-E4A2-44B7-9324-C70737724DD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9071D01-2387-402F-978E-FF9EECE7301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AC628D3-6EB3-4A25-8415-444AFF3C04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B9E0F7B-C19E-47C3-94FA-75B6F428AA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E6CD6C0-D806-4069-8F12-E19388C22E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A44065C-934D-4210-A1FE-D93F8D0304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3B8E121-ADE1-4123-BD74-94BEA40D80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FDE45E7-DA5B-4ED5-B3C2-BDFDDF77D2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262BD87-9C61-4642-8E80-AE7A5CA1F5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3B97393-204B-4B70-A8B3-04419825FD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3E91434-619B-4C52-A50F-9AB3C05905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56FE3E1-5DA9-4A9A-A6C7-76A2B6994D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365205F-C3F2-476E-9214-BF0A0DE22C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F62A820-9AA7-4B73-9AAB-AD78926DD3B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9283265-57D0-428F-9106-247D4635C9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CDCF009-2C67-4E19-AE22-5833703EA4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5FC38E5-F817-4AD9-B65B-437AA5FEBE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5C55F44-8380-4BAD-9B51-E2D37EFC6C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2B906FD-0F2F-4526-B70D-E8369BF2D4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9E42900-6E70-44C4-A3E0-95FC577066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21A530D-D1F3-4A7C-A5A9-3F9FB6DEF0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08C6E9C-0128-45E9-8FF7-B77837A08D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54DAB7D-D12B-4C6B-A97E-F047EAB04A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089828F-8AB5-490E-9D37-86DDF5258C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764BDDE-05A5-4C7E-901B-35161416163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D03538B-57E1-43E1-BA22-8AEE0FD25C8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993B40-8D70-4EC4-BA17-CFB9EE799E0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E2F0C0-52D4-4EB4-BC4D-C1B84A4C4A6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CFDC3F-59EF-4184-86A8-80BC8CB8F37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D09912-892F-4CD3-B487-61E79DCC0FB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EF4D68-B912-4284-B8F5-417BF86C66A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0A5200-8D1A-483E-A7C5-C84A9AB8945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51113C-48DB-4116-AE7E-9F97AA018B7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9C27CA-DE2F-494F-BFCE-F32B130CC40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1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2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21"/>
          <p:cNvSpPr/>
          <p:nvPr/>
        </p:nvSpPr>
        <p:spPr>
          <a:xfrm>
            <a:off x="685800" y="2521440"/>
            <a:ext cx="3423600" cy="332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ounded Rectangle 2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2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ounded Rectangle 2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25"/>
          <p:cNvSpPr/>
          <p:nvPr/>
        </p:nvSpPr>
        <p:spPr>
          <a:xfrm>
            <a:off x="795528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3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3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3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3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3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3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3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3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4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4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4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4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4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4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4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10"/>
          <p:cNvSpPr/>
          <p:nvPr/>
        </p:nvSpPr>
        <p:spPr>
          <a:xfrm>
            <a:off x="91440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1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12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ounded Rectangle 1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14"/>
          <p:cNvSpPr/>
          <p:nvPr/>
        </p:nvSpPr>
        <p:spPr>
          <a:xfrm>
            <a:off x="795528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48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49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50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51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52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53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54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55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56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57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58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59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60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61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62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63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1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1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18"/>
          <p:cNvSpPr/>
          <p:nvPr/>
        </p:nvSpPr>
        <p:spPr>
          <a:xfrm>
            <a:off x="475560" y="2743200"/>
            <a:ext cx="3724560" cy="310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Rounded Rectangle 1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26"/>
          <p:cNvSpPr/>
          <p:nvPr/>
        </p:nvSpPr>
        <p:spPr>
          <a:xfrm>
            <a:off x="4343400" y="2918520"/>
            <a:ext cx="3514320" cy="292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2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28"/>
          <p:cNvSpPr/>
          <p:nvPr/>
        </p:nvSpPr>
        <p:spPr>
          <a:xfrm>
            <a:off x="8023680" y="2743200"/>
            <a:ext cx="383580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64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65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66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67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68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69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70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71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72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73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74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75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76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77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78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79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2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3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31"/>
          <p:cNvSpPr/>
          <p:nvPr/>
        </p:nvSpPr>
        <p:spPr>
          <a:xfrm>
            <a:off x="685800" y="3108960"/>
            <a:ext cx="35146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3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3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ounded Rectangle 3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35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80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81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82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83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84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85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86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87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88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89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90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91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2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3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94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95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36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ounded Rectangle 37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38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ounded Rectangle 3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40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Rounded Rectangle 41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42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Rectangle 1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3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3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9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43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Rounded Rectangle 44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45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ounded Rectangle 46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47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Rounded Rectangle 48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49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Rectangle 9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9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9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0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0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0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0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0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0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0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0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0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0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1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12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50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ounded Rectangle 51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52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53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54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Rounded Rectangle 55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56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113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14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15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16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17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18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19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20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21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22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23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24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25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26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27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28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5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58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59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Rounded Rectangle 60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61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Rounded Rectangle 62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63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29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30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31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32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33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34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35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36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37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38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39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40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41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42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43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44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64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Box 28"/>
          <p:cNvSpPr/>
          <p:nvPr/>
        </p:nvSpPr>
        <p:spPr>
          <a:xfrm>
            <a:off x="2915280" y="1005840"/>
            <a:ext cx="513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9"/>
          <p:cNvSpPr/>
          <p:nvPr/>
        </p:nvSpPr>
        <p:spPr>
          <a:xfrm>
            <a:off x="907200" y="2194560"/>
            <a:ext cx="9169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65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66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67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68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Rounded Rectangle 69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70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45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46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47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48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49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50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51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52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53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54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55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56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57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58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59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60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71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32"/>
          <p:cNvSpPr/>
          <p:nvPr/>
        </p:nvSpPr>
        <p:spPr>
          <a:xfrm>
            <a:off x="2434680" y="2194560"/>
            <a:ext cx="611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Rounded Rectangle 72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73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ounded Rectangle 74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75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Rounded Rectangle 76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77"/>
          <p:cNvSpPr/>
          <p:nvPr/>
        </p:nvSpPr>
        <p:spPr>
          <a:xfrm>
            <a:off x="7955280" y="3108960"/>
            <a:ext cx="328680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6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6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6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6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6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6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6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6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7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7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7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7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7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7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7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35"/>
          <p:cNvSpPr/>
          <p:nvPr/>
        </p:nvSpPr>
        <p:spPr>
          <a:xfrm>
            <a:off x="2746440" y="2194560"/>
            <a:ext cx="5490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7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80"/>
          <p:cNvSpPr/>
          <p:nvPr/>
        </p:nvSpPr>
        <p:spPr>
          <a:xfrm>
            <a:off x="457200" y="2971800"/>
            <a:ext cx="378180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ounded Rectangle 8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82"/>
          <p:cNvSpPr/>
          <p:nvPr/>
        </p:nvSpPr>
        <p:spPr>
          <a:xfrm>
            <a:off x="4434840" y="3108960"/>
            <a:ext cx="3286800" cy="283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ounded Rectangle 8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84"/>
          <p:cNvSpPr/>
          <p:nvPr/>
        </p:nvSpPr>
        <p:spPr>
          <a:xfrm>
            <a:off x="8001000" y="2971800"/>
            <a:ext cx="3426120" cy="3039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Rectangle 17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7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7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8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8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8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8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8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8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8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8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8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8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9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9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9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8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ounded Rectangle 8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87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88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89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Rounded Rectangle 90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91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Rectangle 19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9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9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9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9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9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0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0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0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0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0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0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0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0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0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92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41"/>
          <p:cNvSpPr/>
          <p:nvPr/>
        </p:nvSpPr>
        <p:spPr>
          <a:xfrm>
            <a:off x="1653840" y="2194560"/>
            <a:ext cx="7662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Rounded Rectangle 93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94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Rounded Rectangle 95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96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Rounded Rectangle 9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ounded Rectangle 98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Rectangle 22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2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2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22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22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23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23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23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23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23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23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3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3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3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3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4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10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46"/>
          <p:cNvSpPr/>
          <p:nvPr/>
        </p:nvSpPr>
        <p:spPr>
          <a:xfrm>
            <a:off x="2931480" y="1005840"/>
            <a:ext cx="510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BASIC SYNTAX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47"/>
          <p:cNvSpPr/>
          <p:nvPr/>
        </p:nvSpPr>
        <p:spPr>
          <a:xfrm>
            <a:off x="2680560" y="2194560"/>
            <a:ext cx="5609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Basic Syntax defines the fundamental rules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required to write and execute a Java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Rounded Rectangle 10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108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Basic Syntax refers to the core writing rules of Java programs.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is written inside a 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starts from the main() method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end with semicolon ( ; 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Curly braces { } define code blocks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Rounded Rectangle 10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10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Method Executes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Run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End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Rounded Rectangle 11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ounded Rectangle 112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Rectangle 20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1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1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1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1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21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21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1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1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1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1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2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2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2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2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2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9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43"/>
          <p:cNvSpPr/>
          <p:nvPr/>
        </p:nvSpPr>
        <p:spPr>
          <a:xfrm>
            <a:off x="3177000" y="1005840"/>
            <a:ext cx="4615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IDENTIFIERS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44"/>
          <p:cNvSpPr/>
          <p:nvPr/>
        </p:nvSpPr>
        <p:spPr>
          <a:xfrm>
            <a:off x="1739880" y="2194560"/>
            <a:ext cx="7490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ounded Rectangle 10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101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Rules for Java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Must start with a letter, $ or _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After first character, any combination is allowed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Keywords cannot be used as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identifiers are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Names should be meaningful and readable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10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0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Name Declared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First Character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Reserved Keywords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Valid Identifier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Used in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Rounded Rectangle 10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105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Illegal examples: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25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5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5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6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6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6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6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6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6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6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6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6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6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7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7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7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12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52"/>
          <p:cNvSpPr/>
          <p:nvPr/>
        </p:nvSpPr>
        <p:spPr>
          <a:xfrm>
            <a:off x="3572280" y="550800"/>
            <a:ext cx="3825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53"/>
          <p:cNvSpPr/>
          <p:nvPr/>
        </p:nvSpPr>
        <p:spPr>
          <a:xfrm>
            <a:off x="1828800" y="1388880"/>
            <a:ext cx="7490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Rounded Rectangle 12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122"/>
          <p:cNvSpPr/>
          <p:nvPr/>
        </p:nvSpPr>
        <p:spPr>
          <a:xfrm>
            <a:off x="685800" y="2286000"/>
            <a:ext cx="3517560" cy="4342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Modifiers define access level and behavior of classes, methods, and variables.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They control: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Inheritance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Method overriding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everywhere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Only inside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Package + subclasses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Same package only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Cannot be changed / overridden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Must be implemented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Belongs to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Ensures memory 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12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24"/>
          <p:cNvSpPr/>
          <p:nvPr/>
        </p:nvSpPr>
        <p:spPr>
          <a:xfrm>
            <a:off x="4434840" y="2286000"/>
            <a:ext cx="328896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Rounded Rectangle 12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126"/>
          <p:cNvSpPr/>
          <p:nvPr/>
        </p:nvSpPr>
        <p:spPr>
          <a:xfrm>
            <a:off x="7955280" y="2743200"/>
            <a:ext cx="328896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// 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// Non-access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System.out.println("Brand: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Rectangle 24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4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4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4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4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4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4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4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4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5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5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5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5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5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5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5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11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49"/>
          <p:cNvSpPr/>
          <p:nvPr/>
        </p:nvSpPr>
        <p:spPr>
          <a:xfrm>
            <a:off x="3630240" y="1005840"/>
            <a:ext cx="3709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50"/>
          <p:cNvSpPr/>
          <p:nvPr/>
        </p:nvSpPr>
        <p:spPr>
          <a:xfrm>
            <a:off x="2311200" y="2013840"/>
            <a:ext cx="63475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named memory locations used to store data.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Each variable has a data type and determines how information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is stored, accessed, and manipulated within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1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115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Types of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during method execution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each object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with static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Shared among all objects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11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117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Categories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Arrays,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Rounded Rectangle 11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119"/>
          <p:cNvSpPr/>
          <p:nvPr/>
        </p:nvSpPr>
        <p:spPr>
          <a:xfrm>
            <a:off x="7955280" y="2971800"/>
            <a:ext cx="328896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     // 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     // 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27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7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7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7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8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8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28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28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8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8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8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28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8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12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55"/>
          <p:cNvSpPr/>
          <p:nvPr/>
        </p:nvSpPr>
        <p:spPr>
          <a:xfrm>
            <a:off x="3756960" y="1005840"/>
            <a:ext cx="3457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ENUMS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56"/>
          <p:cNvSpPr/>
          <p:nvPr/>
        </p:nvSpPr>
        <p:spPr>
          <a:xfrm>
            <a:off x="955800" y="1828800"/>
            <a:ext cx="100170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enum (short for Enumeration) is a special data type in Java used to define a fixed set of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part of Java syntax because it defines a new type, just like class, int, or String.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Enums help make programs safer and more readable by restricting values to predefined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ounded Rectangle 12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129"/>
          <p:cNvSpPr/>
          <p:nvPr/>
        </p:nvSpPr>
        <p:spPr>
          <a:xfrm>
            <a:off x="685800" y="2971800"/>
            <a:ext cx="35186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What is an Enum?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 special reference type.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Used to represent a group of fixed constants.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Defined using the enum keyword.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type safety.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Why Do We Use Enums?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Using a normal String: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String day = "MONDA";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This compiles, but it is wrong.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Day day = Day.MONDAY;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you write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MONDA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, the compiler gives an error.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That means enums prevent invalid values at compile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13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13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enum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Java creates constant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Access using EnumName.VALUE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4. Only defined values are allowed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Rounded Rectangle 13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133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enum Level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LOW,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MEDIUM,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HIGH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Test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Level myLevel = Level.MEDIUM;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System.out.println(myLevel);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Rectangle 28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9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9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9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9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9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9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9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9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29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29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30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30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30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30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30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13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58"/>
          <p:cNvSpPr/>
          <p:nvPr/>
        </p:nvSpPr>
        <p:spPr>
          <a:xfrm>
            <a:off x="3253680" y="1005840"/>
            <a:ext cx="4463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KEYWORDS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Box 59"/>
          <p:cNvSpPr/>
          <p:nvPr/>
        </p:nvSpPr>
        <p:spPr>
          <a:xfrm>
            <a:off x="3926160" y="1906200"/>
            <a:ext cx="31600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Reserved Words &amp; Description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ounded Rectangle 13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136"/>
          <p:cNvSpPr/>
          <p:nvPr/>
        </p:nvSpPr>
        <p:spPr>
          <a:xfrm>
            <a:off x="685800" y="2286000"/>
            <a:ext cx="351756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Are Java Keywords?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Keywords are reserved words that have a predefined meaning in the Java language.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These words: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used as variable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used as class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redefined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Have special meaning for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define: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Access levels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Class structure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behavior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currently has 50+ reserved keywords.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Rounded Rectangle 13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ounded Rectangle 138"/>
          <p:cNvSpPr/>
          <p:nvPr/>
        </p:nvSpPr>
        <p:spPr>
          <a:xfrm>
            <a:off x="4434840" y="3108960"/>
            <a:ext cx="3288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      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      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     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    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CONTROL       OOP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           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else          extends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           new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Rounded Rectangle 13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ounded Rectangle 140"/>
          <p:cNvSpPr/>
          <p:nvPr/>
        </p:nvSpPr>
        <p:spPr>
          <a:xfrm>
            <a:off x="8001000" y="2057400"/>
            <a:ext cx="3657240" cy="4571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name;      // private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protected int age;        // protected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Student(String name, int age)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this.name = name;     // this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this.age = age;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printInfo()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if(age &gt; 18) {        // if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System.out.println("Adult");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System.out.println("Minor");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Rectangle 30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30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30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30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30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31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31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31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31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31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31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31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31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31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31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32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141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61"/>
          <p:cNvSpPr/>
          <p:nvPr/>
        </p:nvSpPr>
        <p:spPr>
          <a:xfrm>
            <a:off x="2823480" y="1005840"/>
            <a:ext cx="532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COMMENTS IN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extBox 62"/>
          <p:cNvSpPr/>
          <p:nvPr/>
        </p:nvSpPr>
        <p:spPr>
          <a:xfrm>
            <a:off x="2652120" y="1828800"/>
            <a:ext cx="580608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Comments are non-executable lines used to explain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improve readability and help developers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 logic without affecting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Rounded Rectangle 142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ounded Rectangle 143"/>
          <p:cNvSpPr/>
          <p:nvPr/>
        </p:nvSpPr>
        <p:spPr>
          <a:xfrm>
            <a:off x="685800" y="2971800"/>
            <a:ext cx="351756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comments are ignored by the compiler.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written only for developers.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three types of comments: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Single-line comment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Multi-line comment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Documentation comment (Javadoc)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Comments make code cleaner, more maintainable, and easier to understand in team projects.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Rounded Rectangle 144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ounded Rectangle 145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 Explanation Using Comments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Compiler Ignores Comments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Executes Normally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Improve readability without changing behavior.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Rounded Rectangle 146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ounded Rectangle 147"/>
          <p:cNvSpPr/>
          <p:nvPr/>
        </p:nvSpPr>
        <p:spPr>
          <a:xfrm>
            <a:off x="7955280" y="3108960"/>
            <a:ext cx="3474720" cy="283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CommentExample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Single-line comment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/* Multi-line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comment */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Java"); // Comment at end of line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2026-02-28T01:07:45Z</dcterms:modified>
  <cp:revision>36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