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2D24AE-4BED-4660-B85F-6FCB0A8E5DA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AED82AC-BCAF-4A98-ADB9-391D199FE0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6B0418E-6314-490D-8B2D-A3967E09CA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9D0549-EB27-45C1-9E09-515E2745F41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967A05-BA51-492E-B732-30FB4FB6B37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929D99-364A-4E1F-A3E9-79DBB5A98DC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C39047B-3FF7-4235-B30E-4229B8DD82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12DD22-04EF-404D-B12B-4CBEBC1467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737A45-DC81-4EDD-A701-13458CDD657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035D08-E508-4CAF-B805-679BF84B259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8A460CC-1283-4164-86EE-4A1D03EA702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DD7960-A4AD-4E3A-8B82-745EBA62B1C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C0030AD-EF65-4D0C-9675-5EBEF613520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C1599D9-5A39-4312-BA0F-29DFD25F88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FB582B1-7CB5-4BC5-BA05-AD8158BE3A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F3C19B0-DE37-490B-B7F7-65B5E0D6ED4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7EB8F7E-0DC8-4ECD-9409-A457C0E1154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9445CB3-4416-46F0-9E99-E35F1AE94B6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7E416D1-3745-4CBC-9B58-DA895D5CF4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DE6BEFC-5193-4EDB-8160-BC2A61A5962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8B5F6FC-16CE-4146-BAD7-EDC87D7EFB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E06ABBE-8CCB-48E7-A186-914C880A484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99513F6-571F-477E-9701-84888533546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E3A57B6-B65E-4E68-9BCC-60039F07FC6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9674662-A8F3-478F-BB31-016D2C6F67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8825F30-12D7-4FCD-A7AF-665829D9E76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1FB37A8-6DB4-40A4-AB8F-704B29E1E40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FF54A4C-45A7-4E34-B525-F2DE20FB1D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21B4705-778D-42F3-8873-1E348BF2CBD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9310261-0AB0-41D8-8CD2-352A36532FA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785AAF4-7917-4391-B63D-57E5584D57A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E514F0C-80CB-4BFC-A16D-1D83A4433C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20FC942-4366-4D97-8C83-6A5AEF6DD9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559AB64-895E-4034-B413-2E5C4866E13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2290C0B-C17E-45B2-B7BE-84AFDA32AA0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316B776-E99F-4C2B-9249-44A53C4FFD0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C6FEC15-0962-4AC6-B975-279D394B8CC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38312D7-B610-45D5-AC42-26D10F0B5BB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4CE1BBF-1C16-48FD-A28A-31805C9122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1358D04-F035-408E-AE93-8CF2EF2F76A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266F7CC-0D23-4020-B1A3-5C9A48D60DF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A046C47-12C7-46EE-B105-4E7ACCEC413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7EF8D05-9B12-4C28-BB43-26D78DFAD5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F7F97A4-0C71-4653-B548-6EFC6F9361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094F4E1-6505-4F41-8D50-CFA96B24B39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3020A8E-01CC-43D4-B339-220B8CDE472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493F13B-0480-45CD-9D07-C34BE9742F1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C85A221-1B06-42AF-A78C-0DFA0FBA411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6AAE62C-7A69-41DD-A4D4-EAADC957D80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41350AD-5AA0-4A75-957B-B594E98091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1945548-E9B9-4C10-98D3-1A0F19F400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2AF2572-9284-4278-AC6C-FFB9EE22988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E43A0A6-5070-4189-8290-EB08EFE99E2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D580FAD-E824-4E09-B0E1-A15C7C265CF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1A8DA56-E509-419C-AFE0-9F338EEE3A2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857C20C-2C76-4178-9AAD-F156B51C63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77D5AE7-4B58-4479-909B-EEB19A1EDC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E8932F8-50DD-437F-A4C7-379BC93A5B3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8AE98DD-1B7A-4FE8-82BF-7FCD96755F0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8A5811F-B6D4-4266-A9F5-E25AD87899A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2B624B0-C125-427A-B156-3DA848A4194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D3D8E33-34BD-40B0-B4DB-42BCAC1883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12BDFBA-FA18-4FD1-BB7D-0F895A1A8C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6C0DF5B-A86F-440E-95ED-D7D18187647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BBC3BBE-0571-43A9-A656-B6D2551163E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47BAFD5-8E40-40C3-961C-C2E52ADB339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C98FC19-DCA6-4D72-A090-1E4200155EF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03831A8-A00D-44A1-B1AA-9AF13E3708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CC8727F-8EC3-424C-826C-F6F207A71C4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F86DA98-982A-4F1B-95C2-36F878F03CB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79DEFF7-CA60-47DF-B122-CA402F06734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47122EA-DB14-4E8A-913C-5C88C010687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C51C3B0-9A71-47B6-A769-93B79861301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CD46B3A-1B99-4E97-9DF4-3DF032C6B86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F2C46E9-9DEE-4DD3-8E43-B8E195683C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EF629E3-76CD-4DF4-BA81-295D4B7DD3C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AB193CE-1527-492F-9ED3-0EF8ADE1230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9769EC3-5BD6-457C-9D7F-C8257F5957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F908F43-FE9F-49BA-B9A0-113A661031C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3A721A7-9DCB-46CB-A153-CAE548A9C6B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C49AE8E-70BE-4821-B4E4-2602A81500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F4FF3F9-91C3-4290-A94A-D309AD5952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483D367-05C5-41D4-A870-247756D9927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2D779DF-0D6D-4149-B78B-0FFC10F8E57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F9A0F56-003B-4676-AA02-94BB62E43E7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6DC3C5-93A9-4E6F-A95B-ED2F39B9041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69A137-F4F4-4D79-85DC-EB28FF34498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A5D3B1-67A1-4EB5-8781-1A682276132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CF6C56-1A1B-4F65-B33D-7FC4A11AB97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57B1C41-DD57-4D8E-B0D5-EAFABF54DB2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BB996DC-D725-42BE-9E11-31E1B1A986A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2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3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4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5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6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7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8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9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0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1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2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5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17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8"/>
          <p:cNvSpPr/>
          <p:nvPr/>
        </p:nvSpPr>
        <p:spPr>
          <a:xfrm>
            <a:off x="1730160" y="1005840"/>
            <a:ext cx="7509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SANAL MAKİNESİ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19"/>
          <p:cNvSpPr/>
          <p:nvPr/>
        </p:nvSpPr>
        <p:spPr>
          <a:xfrm>
            <a:off x="3707640" y="2057400"/>
            <a:ext cx="3555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çalıştıran motor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20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21"/>
          <p:cNvSpPr/>
          <p:nvPr/>
        </p:nvSpPr>
        <p:spPr>
          <a:xfrm>
            <a:off x="685800" y="2521440"/>
            <a:ext cx="3425040" cy="332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Sanal Makinesi (JVM), Java bytecode’unu çalıştıran sanal bir çalışma zamanı motorudur.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programlarının herhangi bir platformda çalışmasına olanak sağlar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makine koduna değil, bytecode’a derlenir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bytecode’u makineye özgü talimatlara çevirir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JVM’in Sorumlulukları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bağımsızlığı (Bir Kez Yaz, Her Yerde Çalıştır)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Bytecode’un çalıştırılması (Yorumlayıcı + JIT Derleyici)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Otomatik bellek yönetimi (Çöp Toplama / 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Kontrollü bir çalışma ortamı sayesinde güvenlik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JVM, Java programları ile işletim sistemi arasında bir köprü görevi görür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22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23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⬇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İşletim Sistemi / CPU için Makine Kodu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24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25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32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33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34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35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36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37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38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39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40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41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42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43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44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45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46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47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8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4"/>
          <p:cNvSpPr/>
          <p:nvPr/>
        </p:nvSpPr>
        <p:spPr>
          <a:xfrm>
            <a:off x="3660120" y="1005840"/>
            <a:ext cx="3649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Mimarisi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5"/>
          <p:cNvSpPr/>
          <p:nvPr/>
        </p:nvSpPr>
        <p:spPr>
          <a:xfrm>
            <a:off x="3961440" y="2194560"/>
            <a:ext cx="30477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SANAL MAKİNESİNİN İÇİ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9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10"/>
          <p:cNvSpPr/>
          <p:nvPr/>
        </p:nvSpPr>
        <p:spPr>
          <a:xfrm>
            <a:off x="91440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 mimarisi, Java programlarını çalıştırmak için birlikte çalışan temel bileşenlerden oluşur.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Loader, sınıf dosyalarını belleğe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Areas, çalışma sırasında verileri depolar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Engine, bytecode’u çalıştırır (Yorumlayıcı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Collector, kullanılmayan nesneleri otomatik olarak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bileşenler, Java programlarının işletim sisteminden bağımsız olarak güvenli, verimli ve kararlı şekilde çalışmasını sağlar.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11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12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Çalışma Zamanı Veri Alanları (Runtime Data Areas)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(Yorumlayıcı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Çöp Toplayıcı (Garbage Collector)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13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14"/>
          <p:cNvSpPr/>
          <p:nvPr/>
        </p:nvSpPr>
        <p:spPr>
          <a:xfrm>
            <a:off x="795528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Çalışıyor");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Süreç Akışı: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Yükle ⇒ Belleğe Kaydet ⇒ Çalıştır ⇒ Belleği Temizle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48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7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8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20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21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22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23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24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25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26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27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28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29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30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31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15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1713960" y="1005840"/>
            <a:ext cx="7543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Yürütme Süreci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8"/>
          <p:cNvSpPr/>
          <p:nvPr/>
        </p:nvSpPr>
        <p:spPr>
          <a:xfrm>
            <a:off x="2170440" y="2194560"/>
            <a:ext cx="66308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JVM’in bir Java programını arka planda adım adım nasıl çalıştırdığı.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16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18"/>
          <p:cNvSpPr/>
          <p:nvPr/>
        </p:nvSpPr>
        <p:spPr>
          <a:xfrm>
            <a:off x="475560" y="2743200"/>
            <a:ext cx="3726360" cy="310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Bir Java programı başladığında, JVM akıllı bir yürütme süreci 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Class Loader, derlenmiş .class dosyalarını belleğe yükler ve güvenlik açısından kontrol eder.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bellek, Heap (nesneler için) ve Stack (metot çağrıları ve değişkenler için) gibi alanlara ayrılır.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Ardından Execution Engine programı çalıştırır.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Interpreter bytecode’u satır satır okur, JIT Compiler ise sık kullanılan kodları daha hızlı çalışması için makine koduna çevirir.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Son olarak Garbage Collector, kullanılmayan nesneleri bellekten otomatik olarak temizler.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Bu süreç sayesinde Java programları güvenli, verimli bir şekilde ve JVM bulunan her sistemde çalışır.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19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26"/>
          <p:cNvSpPr/>
          <p:nvPr/>
        </p:nvSpPr>
        <p:spPr>
          <a:xfrm>
            <a:off x="4343400" y="2918520"/>
            <a:ext cx="3516120" cy="292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Derleyicisi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sınıfları yükler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Çalıştırma Motoru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Makine Kodu Çalıştırma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belleği temizler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27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28"/>
          <p:cNvSpPr/>
          <p:nvPr/>
        </p:nvSpPr>
        <p:spPr>
          <a:xfrm>
            <a:off x="8023680" y="2743200"/>
            <a:ext cx="383760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mesaj = "JVM Yürütme Başladı";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System.out.println(mesaj);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sayilariTopla(5,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sonuc);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sayilariTopla(int sayi1, int sayi2)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sayi1 + sayi2;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64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49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50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51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52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53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54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55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56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57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58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59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60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61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62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63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29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11"/>
          <p:cNvSpPr/>
          <p:nvPr/>
        </p:nvSpPr>
        <p:spPr>
          <a:xfrm>
            <a:off x="3609720" y="2194560"/>
            <a:ext cx="37504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Java’nın Temel Bileşenlerini Anlamak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3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31"/>
          <p:cNvSpPr/>
          <p:nvPr/>
        </p:nvSpPr>
        <p:spPr>
          <a:xfrm>
            <a:off x="685800" y="2971800"/>
            <a:ext cx="351648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Java, uygulamaları geliştirmek ve çalıştırmak için birlikte çalışan üç temel katmandan oluşur.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Sanal Makinesi)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bytecode’u çalıştırır ve Java’yı platformdan bağımsız hale getirir.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Çalışma Ortamı)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uygulamalarını çalıştırmak için gereken her şeyi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Geliştirme Kiti)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uygulamaları geliştirmek için gerekli araçları sağlar.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Şöyle düşünebilirsin: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Motor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Motor + Yakıt Sistemi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Tüm Arabanın Üretildiği Fabrika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3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33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Kaynak Kodu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(Derleyici + Geliştirme Araçları)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dosyaları)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(Kütüphaneler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(Çalıştırma Motoru)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Makine Kodu (İşletim Sistemi / 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3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35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JDK ile derleme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JRE üzerinden çalıştırma (arka planda JVM kullanılır)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System.out.println("JDK, JRE ve JVM’i Anlıyoruz!");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80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65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66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67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68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69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70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71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72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73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74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75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76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77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78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79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36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13"/>
          <p:cNvSpPr/>
          <p:nvPr/>
        </p:nvSpPr>
        <p:spPr>
          <a:xfrm>
            <a:off x="2175120" y="1005840"/>
            <a:ext cx="662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KURULUMU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14"/>
          <p:cNvSpPr/>
          <p:nvPr/>
        </p:nvSpPr>
        <p:spPr>
          <a:xfrm>
            <a:off x="2093040" y="2194560"/>
            <a:ext cx="67845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programlarını derlemek ve çalıştırmak için sistemi hazırlar.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Bunu, JDK’yı kurarak ve sistem değişkenlerini yapılandırarak yaparız.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37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38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derleyici (javac) ve çalıştırma ortamını (java) içerir.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ve JAVA_HOME gibi sistem değişkenleri, komut satırının Java’yı bulmasını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kurulum sayesinde Java programları sistemin her yerinden derlenip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3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40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indir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Bilgisayarına kur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bin klasörünü PATH değişkenine ekle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Terminalden doğrula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41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42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Komut İstemine şunları yaz: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8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8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8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8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8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8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8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8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8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9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9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9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9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9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9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9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43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16"/>
          <p:cNvSpPr/>
          <p:nvPr/>
        </p:nvSpPr>
        <p:spPr>
          <a:xfrm>
            <a:off x="1023840" y="1005840"/>
            <a:ext cx="8922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ORTAM DEĞİŞKENLERİNİ YAPILANDIRMA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17"/>
          <p:cNvSpPr/>
          <p:nvPr/>
        </p:nvSpPr>
        <p:spPr>
          <a:xfrm>
            <a:off x="-904320" y="2194560"/>
            <a:ext cx="127936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Ortam değişkenleri, Java’nın sistemde nerede kurulu olduğunu belirtir ve araçların ile komutların herhangi bir klasörden düzgün çalışmasını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44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45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JAVA_HOME, JDK’nın kurulu olduğu klasörü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PATH, Java’nın bin klasörünü içerir, böylece Java araçları terminal/komut istemcisinden çalıştırılabilir.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Bunlar ayarlanmazsa Java komutları çalışmayabilir.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46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47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Kuruldu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C:\Program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PATH’e ekle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 javac komutlarını çalıştır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48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49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97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98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99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00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01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02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03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04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05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06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07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08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09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10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11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12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50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1706400" y="1005840"/>
            <a:ext cx="7557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KURULDUKTAN SONRA NE OLUR?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22"/>
          <p:cNvSpPr/>
          <p:nvPr/>
        </p:nvSpPr>
        <p:spPr>
          <a:xfrm>
            <a:off x="4241160" y="2194560"/>
            <a:ext cx="24962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Ortam Kurulumundan Sonra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51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52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kurulduktan ve yapılandırıldıktan sonra, sisteminiz artık Java programlarını derleyip çalıştırmaya hazırdır.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.java uzantılı kaynak dosyalar oluşturabilirsiniz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javac derleyicisi, kaynak kodu bytecode (.class) dosyasına çevirir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JVM, bu bytecode'u çalıştırır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Programınız artık JVM bulunan herhangi bir sistemde çalışabilir.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Kurulum tamamlandı — artık Java geliştirmeye başlayabilirsiniz.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53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54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Yaz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javac ile Derle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Dosyası Oluşur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komutu ile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Programı Çalıştırır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 Ekranda Görünür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55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56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ortamı hazır!");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113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114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15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16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17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18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19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120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121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122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123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124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25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126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127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128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57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24"/>
          <p:cNvSpPr/>
          <p:nvPr/>
        </p:nvSpPr>
        <p:spPr>
          <a:xfrm>
            <a:off x="2983320" y="1005840"/>
            <a:ext cx="500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GELİŞTİRME İŞ AKIŞI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25"/>
          <p:cNvSpPr/>
          <p:nvPr/>
        </p:nvSpPr>
        <p:spPr>
          <a:xfrm>
            <a:off x="1775880" y="2057400"/>
            <a:ext cx="743400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slayt, ortam kurulumu tamamlandıktan sonra geliştiricilerin Java programlarını oluşturmak,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test etmek ve geliştirmek için izlediği temel adım adım süreci açıklar.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58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59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Kurulumdan sonra Java programlama şu basit geliştirme döngüsünü izler: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yaz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derle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 çalıştır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Gerekirse hataları düzelt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Süreci tekrarla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döngü, gerçek dünyadaki Java yazılımlarının nasıl geliştirildiğini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60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61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Kodu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Çalıştır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Çıktıyı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Varsa → Kodu Düzelt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Tekrar Derle ve Çalıştır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62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63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System.out.println("Sonuç: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129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30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31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32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33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34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35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136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137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138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139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140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41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42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43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44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64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28"/>
          <p:cNvSpPr/>
          <p:nvPr/>
        </p:nvSpPr>
        <p:spPr>
          <a:xfrm>
            <a:off x="3053160" y="1005840"/>
            <a:ext cx="4862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KURULUM TÜRLERİ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29"/>
          <p:cNvSpPr/>
          <p:nvPr/>
        </p:nvSpPr>
        <p:spPr>
          <a:xfrm>
            <a:off x="1154520" y="2194560"/>
            <a:ext cx="8674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Farklı Java dağıtımları ve kurulum türleri, geliştirme veya üretim (production) ihtiyaçlarına göre esneklik sağlar.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65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66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Java’yı kurmanın birden fazla yolu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(Resmi dağıtım)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(Açık kaynak sürüm)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(Uzun Süreli Destek) sürümleri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olmayan sürümler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sürümleri (örneğin Java 17, 21) kararlılık ve uzun vadeli projeler için önerilir.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dağıtımı seçmek; uyumluluk, güvenlik güncellemeleri ve uzun süreli destek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67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68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Sürüm Seç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Dağıtımı İndir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JDK’yı 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Ayarla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Güncelle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Kurulumu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69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70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Detaylı sürüm bilgisi kontrolü: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145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46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47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48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49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150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151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52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53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54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55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56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57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58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59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60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71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31"/>
          <p:cNvSpPr/>
          <p:nvPr/>
        </p:nvSpPr>
        <p:spPr>
          <a:xfrm>
            <a:off x="1023120" y="1005840"/>
            <a:ext cx="8924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YAYGIN KURULUM SORUNLARI VE ÇÖZÜMLERİ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32"/>
          <p:cNvSpPr/>
          <p:nvPr/>
        </p:nvSpPr>
        <p:spPr>
          <a:xfrm>
            <a:off x="2109960" y="2194560"/>
            <a:ext cx="67633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Yanlış ortam (environment) yapılandırması, Java’nın düzgün çalışmasını engelleyebilir.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72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73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Sorunlar: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 hatası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JAVA_HOME yolu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değişkeninin güncellenmemesi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Birden fazla Java sürümünün çakışması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yerine sadece JRE’nin kurulmuş olması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Çoğu sorun, ortam değişkenlerinin hatalı ayarlanmasından kaynaklanır.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74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75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Hata ortaya çıkar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doğrula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kontrol 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Sorun çözülür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76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77"/>
          <p:cNvSpPr/>
          <p:nvPr/>
        </p:nvSpPr>
        <p:spPr>
          <a:xfrm>
            <a:off x="7955280" y="3108960"/>
            <a:ext cx="3288240" cy="306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400"/>
            </a:b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Geçici olarak JAVA_HOME ayarlama (Linux/Mac):</a:t>
            </a:r>
            <a:br>
              <a:rPr sz="1400"/>
            </a:b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16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6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6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6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6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6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6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6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6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7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7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7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7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7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7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7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78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34"/>
          <p:cNvSpPr/>
          <p:nvPr/>
        </p:nvSpPr>
        <p:spPr>
          <a:xfrm>
            <a:off x="3134520" y="1005840"/>
            <a:ext cx="469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SÜRÜM YÖNETİMİ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35"/>
          <p:cNvSpPr/>
          <p:nvPr/>
        </p:nvSpPr>
        <p:spPr>
          <a:xfrm>
            <a:off x="2258640" y="2194560"/>
            <a:ext cx="64677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Birden fazla Java sürümünü yönetmek ve aralarında güvenli şekilde geçiş yapmak.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79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80"/>
          <p:cNvSpPr/>
          <p:nvPr/>
        </p:nvSpPr>
        <p:spPr>
          <a:xfrm>
            <a:off x="457200" y="2971800"/>
            <a:ext cx="378324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Bazen aynı sistemde birden fazla Java sürümü yüklü olabilir.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 – Uzun Süreli Destek)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eski sürüm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Farklı projeler farklı sürümler gerektirebilir.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Sürümler doğru şekilde yönetilmezse: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çakışmaları oluşur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JDK proje derler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araçları (Maven / Gradle) hata verir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 sürüm yönetimi çakışmaları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81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82"/>
          <p:cNvSpPr/>
          <p:nvPr/>
        </p:nvSpPr>
        <p:spPr>
          <a:xfrm>
            <a:off x="4434840" y="3108960"/>
            <a:ext cx="3288240" cy="283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Yüklü sürümleri kontrol et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klasörlerini bul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değişkenini güncelle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Terminali yeniden başlat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Şu komutlarla doğrula: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83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84"/>
          <p:cNvSpPr/>
          <p:nvPr/>
        </p:nvSpPr>
        <p:spPr>
          <a:xfrm>
            <a:off x="8001000" y="2743200"/>
            <a:ext cx="342756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Mevcut sürümü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Aktif JAVA_HOME değişkenini göster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Örnek sürüm klasörleri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Sürüm değişiminden sonra kontrol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17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78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79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80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81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82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83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84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85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86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87"/>
          <p:cNvSpPr/>
          <p:nvPr/>
        </p:nvSpPr>
        <p:spPr>
          <a:xfrm>
            <a:off x="821232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88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89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90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91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92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85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38"/>
          <p:cNvSpPr/>
          <p:nvPr/>
        </p:nvSpPr>
        <p:spPr>
          <a:xfrm>
            <a:off x="1742040" y="2013840"/>
            <a:ext cx="76294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Java geliştiricisinin yazdığı ilk programdır.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 Java uygulamasının temel yapısını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tanıtır ve kodun Java Sanal Makinesi (JVM) içinde nasıl çalıştırıldığını gösterir.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86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87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Java programı bir class ile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Programın çalışması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çıktıyı konsola yazdırır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 bytecode’a derlenir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Bytecode, JVM içerisinde çalıştırılır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World, Java kaynak kodunun nasıl çalışabilir çıktıya dönüştüğünü gösterir.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88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89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Kodunu Yaz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Derle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ile Çalıştır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Konsol Çıktısı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90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91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193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94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95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96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97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98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99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200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201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202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203"/>
          <p:cNvSpPr/>
          <p:nvPr/>
        </p:nvSpPr>
        <p:spPr>
          <a:xfrm>
            <a:off x="821232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204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205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206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207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208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92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40"/>
          <p:cNvSpPr/>
          <p:nvPr/>
        </p:nvSpPr>
        <p:spPr>
          <a:xfrm>
            <a:off x="658080" y="1005840"/>
            <a:ext cx="96552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 PROGRAMINI ANLAMAK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41"/>
          <p:cNvSpPr/>
          <p:nvPr/>
        </p:nvSpPr>
        <p:spPr>
          <a:xfrm>
            <a:off x="2366640" y="2013840"/>
            <a:ext cx="6379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Hello World programı basit görünse de, her Java uygulamasının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temel yapısını ve çalışma mantığını içerir.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93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94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programı çalışmaya main() metodundan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her yerden erişilebilir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nesne oluşturmadan çalışır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metod geriye değer döndürmez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komut satırı parametreleri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Ana Fikir: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metodu, Java uygulamasının başlangıç noktasıdır.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95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96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main() metodunu arar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içindeki komutlar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çalışır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Metin konsolda görüntülenir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97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98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225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209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210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211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212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213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214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215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216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217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218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219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220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221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222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223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99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43"/>
          <p:cNvSpPr/>
          <p:nvPr/>
        </p:nvSpPr>
        <p:spPr>
          <a:xfrm>
            <a:off x="2463840" y="1005840"/>
            <a:ext cx="6044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TEMEL SÖZDİZİMİ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44"/>
          <p:cNvSpPr/>
          <p:nvPr/>
        </p:nvSpPr>
        <p:spPr>
          <a:xfrm>
            <a:off x="2525760" y="2194560"/>
            <a:ext cx="5920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Temel Sözdizimi, bir Java programını yazmak ve çalıştırmak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için gereken temel kuralları ve yapıyı ifade eder.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00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01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Temel Sözdizimi, Java programlarının temel yazım kurallarıdır.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Tüm kodlar bir class içinde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Program main() metodu ile başlar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Kod satırları noktalı virgül ( ; ) ile biter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{ } işaretleri kod bloklarını belirtir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büyük/küçük harfe duyarlıdır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02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03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Yüklenir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Metodu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 Satırları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Biter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04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05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BasicSyntax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System.out.println("Selam Java!");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45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224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226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227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228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229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230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231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232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233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234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235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236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237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238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239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240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106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46"/>
          <p:cNvSpPr/>
          <p:nvPr/>
        </p:nvSpPr>
        <p:spPr>
          <a:xfrm>
            <a:off x="802080" y="1005840"/>
            <a:ext cx="93679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TANIMLAYICILAR (IDENTIFIERS)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47"/>
          <p:cNvSpPr/>
          <p:nvPr/>
        </p:nvSpPr>
        <p:spPr>
          <a:xfrm>
            <a:off x="1519920" y="2194560"/>
            <a:ext cx="793224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Tanımlayıcılar, Java’da sınıf, değişken ve metot gibi elemanlara verilen isimlerdir.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07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08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Tanımlayıcıları için Kurallar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harf, $ veya _ ile başlamalıdır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 karakterden sonra her türlü kombinasyon kullanılabilir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(keywords) tanımlayıcı olarak kullanılamaz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tanımlayıcıları büyük/küçük harfe duyarlıdır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İsimler anlamlı ve okunabilir olmalıdır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09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10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İsim Tanımlanır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 Karakter Kontrol Edilir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Kontrol Edilir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Tanımlayıcı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İçinde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11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12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$salary = 5000;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_value = 10;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__1_value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Geçersiz örnekler: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123abc;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-salary;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48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2026-02-19T00:49:53Z</dcterms:modified>
  <cp:revision>29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