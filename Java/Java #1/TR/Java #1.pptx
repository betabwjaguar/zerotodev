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3F4AA80-55C8-4BC1-BBCB-5354A6334CE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579F02-DDB3-4F4B-B197-357E1DF7147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F75A65-A95B-42D1-ABBC-9BCE32930E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83D08F-CC2E-43FE-9998-FFDFE5ECF43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65686B-0915-4DEF-8171-39FB806FC2C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7DAF45-52C1-421D-891A-C897AA52737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575D9C-B2C9-4EEF-9566-DE927FFF1B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5DA153-CFB9-455D-BC35-37687BCA60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097D4FF-7742-46FA-AD50-5FCA94FA1B1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DE7301-53FC-43A1-8E8A-B4B0159051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17E733D-8FEF-4536-ABA3-F88C43C7298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0395FF-8336-4F87-A447-0D9276FC6AF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06E330D-69B4-4519-B6A1-09ECF5D275C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C5FD0FF-5480-498D-B233-B7616C30A3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922EF8A-D69E-4B96-A76B-5ED1A4A9C5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57A6A88-494C-4C68-BEB0-0C411B4E6D1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FE7B8CA-A4D5-4CF8-8520-E1E5A85BE1F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1241C1D-F860-48C7-88FE-645AEA531A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A422BE-A631-4162-B8AD-8341B64A9DD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C1ADA8E-56A1-49A6-B12D-6CACE25232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F2434A1-C70D-480F-9B88-DB506BB5E7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2FFF592-266A-4D6B-BA50-8A1A1C1A2B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8B07646-4235-45DF-B77B-6728DDFD5D7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672A4E7-23D4-4FFB-AA9C-7ABECC7E217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3914D27-5877-4640-90D2-704EF9E3CCF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E5FFE6C-3189-4661-9507-DA539B5F86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DF34320-6D22-4196-9E67-22E3537C1DA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33BE27E-0603-40E7-9CC0-1663DB90E7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F4372A0-6454-4D66-A09A-0CED76E0261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FF88A7A-1F38-44AC-BF6F-08123FCB20E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55F57A4-1736-4181-87B5-A339A4E4F5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FF55D2E-3B9E-41CB-847A-F324862073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81BBD00-E48A-4C58-858C-6A21CAD04A3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06E4AAF-65A4-40F4-B6FC-1E6F7A5270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E3A21F5-9173-4244-9170-296E1B8D211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5035A1C-4E6B-4947-8B44-A51FE9D5A76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8B5A4A3-D6B6-45A5-85D9-3068C74B4E3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F1C088-9421-473F-916A-C35FAA808E7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E8CCC52-0F75-4BF2-B1E0-9730EA8BD0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F682A68-442F-4009-9AD1-89C0DEAB44F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DDCF790-B96F-4291-ABC6-006560F2C38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A67C740-A948-4F91-B6D6-4D21167D854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2B29733-039D-4D8E-832A-5295C8A2C7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99973BA-0FDC-42DF-8447-E985D613E9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20D3457-5FC7-4123-A350-194F092ECE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64CF566-E1D5-4A8F-8A34-4E023DE287C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456089A-FC27-4BD8-8389-32253C09269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89980C2-BCEA-44D6-837A-0B486536517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BA40C80-9883-4639-8E2A-1E89AB22819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D7B155F-E1D6-46F6-96B3-B54AAE053D5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28F3FD9-0382-463A-AB41-0A6995EA3B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7AAC788-1117-49B2-871C-D48306E905F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4DAF5FD-8BDB-40CF-853B-38DE255CDED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AFD6C97-43CF-4DFC-A99B-3C4A3728D6A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6CD5EA6-8C6C-4B05-A081-9D44B2182A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8B96699-5FD7-459A-A1B6-40EE2D0C30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BF45E59-08E3-4269-89C8-FCCA5109A1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591024F-7F49-4964-BDAC-E2D251C925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D67E9BC-B0C1-4CC3-A111-266C8779B7B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5653363-1630-4782-BCA0-9D9DC6E108E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3219750-A92B-4516-B6AA-C9CC30A1C31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2AB0E84-B597-4D37-BC74-34208D98695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D6C0BD8-DE93-4EBA-9331-C901EA36794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0E29606-E824-4149-9A9F-B20CA2823D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3C12670-A74B-4D3A-80BA-D0E30985F15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8CE8B36-00C6-465C-B835-855D64999CC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4EFCBE9-1394-4BEC-A219-C0975B6300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5524C87-B78B-45AE-860C-1C9476B425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AD89E35-A863-4977-A0FA-A44447E5D7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D7A0360-73FA-402D-97E7-48E4E0BF64C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FEFB79C-1315-4B36-BED3-45C536787AC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4995EA7-03EC-4A30-9F98-13595282E6D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5D3B7AE-678B-4E0D-B862-3730274832F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7699237-F706-4BC0-AEF0-F827D71C9E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DEF61B5-9A26-4DD9-B68A-E4C6C873CD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9F75E36-982D-4DFB-84B4-4B39ECB5047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589C7DF-0C46-4331-BAFA-017F5C0F540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ED9E4B6-F936-467A-9599-BB8B99647AA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29E3E19-E8EA-4305-9C05-A24A0F423B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06A576E-93B5-4E61-80F1-E8768AA2D8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0299F36-352D-41AD-8168-6FF8291BAE2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BA47AA9-3CF0-46B5-B840-8452287339C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06D02F0-85C0-46F8-AF5C-54ED31F28BC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89B6065-9D15-407F-8DDA-2B2FBF50932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8132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4180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5903BA7-57A8-41DF-A866-9569EF0D0F1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4180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348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5E400E-AAD2-4963-92D0-C9D290A1F90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442320" y="7005240"/>
            <a:ext cx="318420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722304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BF9B30-ADD1-4B24-B969-91755A3F3D3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50292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442320" y="7005240"/>
            <a:ext cx="318456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722304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945B1C2-2840-4DAF-8235-009C97A825E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50292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442320" y="7005240"/>
            <a:ext cx="318456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722304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E7EF8A-3EC6-470C-A369-5AE0BDB8408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502920" y="7005240"/>
            <a:ext cx="2345040" cy="394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442320" y="7005240"/>
            <a:ext cx="318492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722304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799185-FDE7-4218-A548-088209B4A5B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50292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442320" y="7005240"/>
            <a:ext cx="318492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722304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297EA9-3DD7-430B-B088-D0A2D216200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502920" y="7005240"/>
            <a:ext cx="2345400" cy="395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"/>
          <p:cNvSpPr/>
          <p:nvPr/>
        </p:nvSpPr>
        <p:spPr>
          <a:xfrm>
            <a:off x="1800" y="1800"/>
            <a:ext cx="1342188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2"/>
          <p:cNvSpPr/>
          <p:nvPr/>
        </p:nvSpPr>
        <p:spPr>
          <a:xfrm>
            <a:off x="1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3"/>
          <p:cNvSpPr/>
          <p:nvPr/>
        </p:nvSpPr>
        <p:spPr>
          <a:xfrm>
            <a:off x="10047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4"/>
          <p:cNvSpPr/>
          <p:nvPr/>
        </p:nvSpPr>
        <p:spPr>
          <a:xfrm>
            <a:off x="20124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30200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6"/>
          <p:cNvSpPr/>
          <p:nvPr/>
        </p:nvSpPr>
        <p:spPr>
          <a:xfrm>
            <a:off x="40276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"/>
          <p:cNvSpPr/>
          <p:nvPr/>
        </p:nvSpPr>
        <p:spPr>
          <a:xfrm>
            <a:off x="50353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8"/>
          <p:cNvSpPr/>
          <p:nvPr/>
        </p:nvSpPr>
        <p:spPr>
          <a:xfrm>
            <a:off x="60429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9"/>
          <p:cNvSpPr/>
          <p:nvPr/>
        </p:nvSpPr>
        <p:spPr>
          <a:xfrm>
            <a:off x="70506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0"/>
          <p:cNvSpPr/>
          <p:nvPr/>
        </p:nvSpPr>
        <p:spPr>
          <a:xfrm>
            <a:off x="80582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1"/>
          <p:cNvSpPr/>
          <p:nvPr/>
        </p:nvSpPr>
        <p:spPr>
          <a:xfrm>
            <a:off x="90658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2"/>
          <p:cNvSpPr/>
          <p:nvPr/>
        </p:nvSpPr>
        <p:spPr>
          <a:xfrm>
            <a:off x="100735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"/>
          <p:cNvSpPr/>
          <p:nvPr/>
        </p:nvSpPr>
        <p:spPr>
          <a:xfrm>
            <a:off x="11080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"/>
          <p:cNvSpPr/>
          <p:nvPr/>
        </p:nvSpPr>
        <p:spPr>
          <a:xfrm>
            <a:off x="120884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5"/>
          <p:cNvSpPr/>
          <p:nvPr/>
        </p:nvSpPr>
        <p:spPr>
          <a:xfrm>
            <a:off x="130960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"/>
          <p:cNvSpPr/>
          <p:nvPr/>
        </p:nvSpPr>
        <p:spPr>
          <a:xfrm>
            <a:off x="1800" y="1800"/>
            <a:ext cx="34344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17"/>
          <p:cNvSpPr/>
          <p:nvPr/>
        </p:nvSpPr>
        <p:spPr>
          <a:xfrm>
            <a:off x="10880640" y="401400"/>
            <a:ext cx="220716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8"/>
          <p:cNvSpPr/>
          <p:nvPr/>
        </p:nvSpPr>
        <p:spPr>
          <a:xfrm>
            <a:off x="5377320" y="1107360"/>
            <a:ext cx="1327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20"/>
          <p:cNvSpPr/>
          <p:nvPr/>
        </p:nvSpPr>
        <p:spPr>
          <a:xfrm>
            <a:off x="108612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21"/>
          <p:cNvSpPr/>
          <p:nvPr/>
        </p:nvSpPr>
        <p:spPr>
          <a:xfrm>
            <a:off x="1019520" y="342684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22"/>
          <p:cNvSpPr/>
          <p:nvPr/>
        </p:nvSpPr>
        <p:spPr>
          <a:xfrm>
            <a:off x="496620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23"/>
          <p:cNvSpPr/>
          <p:nvPr/>
        </p:nvSpPr>
        <p:spPr>
          <a:xfrm>
            <a:off x="4884480" y="342684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24"/>
          <p:cNvSpPr/>
          <p:nvPr/>
        </p:nvSpPr>
        <p:spPr>
          <a:xfrm>
            <a:off x="884556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25"/>
          <p:cNvSpPr/>
          <p:nvPr/>
        </p:nvSpPr>
        <p:spPr>
          <a:xfrm>
            <a:off x="8763840" y="342684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32"/>
          <p:cNvSpPr/>
          <p:nvPr/>
        </p:nvSpPr>
        <p:spPr>
          <a:xfrm>
            <a:off x="1800" y="1800"/>
            <a:ext cx="1342188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33"/>
          <p:cNvSpPr/>
          <p:nvPr/>
        </p:nvSpPr>
        <p:spPr>
          <a:xfrm>
            <a:off x="1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34"/>
          <p:cNvSpPr/>
          <p:nvPr/>
        </p:nvSpPr>
        <p:spPr>
          <a:xfrm>
            <a:off x="10047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35"/>
          <p:cNvSpPr/>
          <p:nvPr/>
        </p:nvSpPr>
        <p:spPr>
          <a:xfrm>
            <a:off x="20124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36"/>
          <p:cNvSpPr/>
          <p:nvPr/>
        </p:nvSpPr>
        <p:spPr>
          <a:xfrm>
            <a:off x="30200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37"/>
          <p:cNvSpPr/>
          <p:nvPr/>
        </p:nvSpPr>
        <p:spPr>
          <a:xfrm>
            <a:off x="40276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38"/>
          <p:cNvSpPr/>
          <p:nvPr/>
        </p:nvSpPr>
        <p:spPr>
          <a:xfrm>
            <a:off x="50353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39"/>
          <p:cNvSpPr/>
          <p:nvPr/>
        </p:nvSpPr>
        <p:spPr>
          <a:xfrm>
            <a:off x="60429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40"/>
          <p:cNvSpPr/>
          <p:nvPr/>
        </p:nvSpPr>
        <p:spPr>
          <a:xfrm>
            <a:off x="70506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41"/>
          <p:cNvSpPr/>
          <p:nvPr/>
        </p:nvSpPr>
        <p:spPr>
          <a:xfrm>
            <a:off x="80582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42"/>
          <p:cNvSpPr/>
          <p:nvPr/>
        </p:nvSpPr>
        <p:spPr>
          <a:xfrm>
            <a:off x="90658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43"/>
          <p:cNvSpPr/>
          <p:nvPr/>
        </p:nvSpPr>
        <p:spPr>
          <a:xfrm>
            <a:off x="100735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44"/>
          <p:cNvSpPr/>
          <p:nvPr/>
        </p:nvSpPr>
        <p:spPr>
          <a:xfrm>
            <a:off x="11080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45"/>
          <p:cNvSpPr/>
          <p:nvPr/>
        </p:nvSpPr>
        <p:spPr>
          <a:xfrm>
            <a:off x="120884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46"/>
          <p:cNvSpPr/>
          <p:nvPr/>
        </p:nvSpPr>
        <p:spPr>
          <a:xfrm>
            <a:off x="130960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47"/>
          <p:cNvSpPr/>
          <p:nvPr/>
        </p:nvSpPr>
        <p:spPr>
          <a:xfrm>
            <a:off x="1800" y="1800"/>
            <a:ext cx="34344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8"/>
          <p:cNvSpPr/>
          <p:nvPr/>
        </p:nvSpPr>
        <p:spPr>
          <a:xfrm>
            <a:off x="10880640" y="401400"/>
            <a:ext cx="220716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4"/>
          <p:cNvSpPr/>
          <p:nvPr/>
        </p:nvSpPr>
        <p:spPr>
          <a:xfrm>
            <a:off x="4506120" y="1107360"/>
            <a:ext cx="3072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5"/>
          <p:cNvSpPr/>
          <p:nvPr/>
        </p:nvSpPr>
        <p:spPr>
          <a:xfrm>
            <a:off x="3046320" y="226692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9"/>
          <p:cNvSpPr/>
          <p:nvPr/>
        </p:nvSpPr>
        <p:spPr>
          <a:xfrm>
            <a:off x="108612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10"/>
          <p:cNvSpPr/>
          <p:nvPr/>
        </p:nvSpPr>
        <p:spPr>
          <a:xfrm>
            <a:off x="1005840" y="3426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11"/>
          <p:cNvSpPr/>
          <p:nvPr/>
        </p:nvSpPr>
        <p:spPr>
          <a:xfrm>
            <a:off x="496620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12"/>
          <p:cNvSpPr/>
          <p:nvPr/>
        </p:nvSpPr>
        <p:spPr>
          <a:xfrm>
            <a:off x="4884480" y="3426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13"/>
          <p:cNvSpPr/>
          <p:nvPr/>
        </p:nvSpPr>
        <p:spPr>
          <a:xfrm>
            <a:off x="884556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14"/>
          <p:cNvSpPr/>
          <p:nvPr/>
        </p:nvSpPr>
        <p:spPr>
          <a:xfrm>
            <a:off x="8763840" y="342684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7"/>
          <p:cNvSpPr/>
          <p:nvPr/>
        </p:nvSpPr>
        <p:spPr>
          <a:xfrm>
            <a:off x="1800" y="1800"/>
            <a:ext cx="1342188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8"/>
          <p:cNvSpPr/>
          <p:nvPr/>
        </p:nvSpPr>
        <p:spPr>
          <a:xfrm>
            <a:off x="1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"/>
          <p:cNvSpPr/>
          <p:nvPr/>
        </p:nvSpPr>
        <p:spPr>
          <a:xfrm>
            <a:off x="10047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20"/>
          <p:cNvSpPr/>
          <p:nvPr/>
        </p:nvSpPr>
        <p:spPr>
          <a:xfrm>
            <a:off x="20124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21"/>
          <p:cNvSpPr/>
          <p:nvPr/>
        </p:nvSpPr>
        <p:spPr>
          <a:xfrm>
            <a:off x="30200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22"/>
          <p:cNvSpPr/>
          <p:nvPr/>
        </p:nvSpPr>
        <p:spPr>
          <a:xfrm>
            <a:off x="40276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23"/>
          <p:cNvSpPr/>
          <p:nvPr/>
        </p:nvSpPr>
        <p:spPr>
          <a:xfrm>
            <a:off x="50353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24"/>
          <p:cNvSpPr/>
          <p:nvPr/>
        </p:nvSpPr>
        <p:spPr>
          <a:xfrm>
            <a:off x="60429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25"/>
          <p:cNvSpPr/>
          <p:nvPr/>
        </p:nvSpPr>
        <p:spPr>
          <a:xfrm>
            <a:off x="70506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26"/>
          <p:cNvSpPr/>
          <p:nvPr/>
        </p:nvSpPr>
        <p:spPr>
          <a:xfrm>
            <a:off x="80582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27"/>
          <p:cNvSpPr/>
          <p:nvPr/>
        </p:nvSpPr>
        <p:spPr>
          <a:xfrm>
            <a:off x="90658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28"/>
          <p:cNvSpPr/>
          <p:nvPr/>
        </p:nvSpPr>
        <p:spPr>
          <a:xfrm>
            <a:off x="100735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29"/>
          <p:cNvSpPr/>
          <p:nvPr/>
        </p:nvSpPr>
        <p:spPr>
          <a:xfrm>
            <a:off x="11080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30"/>
          <p:cNvSpPr/>
          <p:nvPr/>
        </p:nvSpPr>
        <p:spPr>
          <a:xfrm>
            <a:off x="120884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31"/>
          <p:cNvSpPr/>
          <p:nvPr/>
        </p:nvSpPr>
        <p:spPr>
          <a:xfrm>
            <a:off x="130960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48"/>
          <p:cNvSpPr/>
          <p:nvPr/>
        </p:nvSpPr>
        <p:spPr>
          <a:xfrm>
            <a:off x="1800" y="1800"/>
            <a:ext cx="34344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15"/>
          <p:cNvSpPr/>
          <p:nvPr/>
        </p:nvSpPr>
        <p:spPr>
          <a:xfrm>
            <a:off x="10880640" y="401400"/>
            <a:ext cx="220716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3482280" y="1107360"/>
            <a:ext cx="512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16"/>
          <p:cNvSpPr/>
          <p:nvPr/>
        </p:nvSpPr>
        <p:spPr>
          <a:xfrm>
            <a:off x="108612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18"/>
          <p:cNvSpPr/>
          <p:nvPr/>
        </p:nvSpPr>
        <p:spPr>
          <a:xfrm>
            <a:off x="1005840" y="342684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19"/>
          <p:cNvSpPr/>
          <p:nvPr/>
        </p:nvSpPr>
        <p:spPr>
          <a:xfrm>
            <a:off x="496620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26"/>
          <p:cNvSpPr/>
          <p:nvPr/>
        </p:nvSpPr>
        <p:spPr>
          <a:xfrm>
            <a:off x="4884480" y="342540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27"/>
          <p:cNvSpPr/>
          <p:nvPr/>
        </p:nvSpPr>
        <p:spPr>
          <a:xfrm>
            <a:off x="884556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28"/>
          <p:cNvSpPr/>
          <p:nvPr/>
        </p:nvSpPr>
        <p:spPr>
          <a:xfrm>
            <a:off x="8763840" y="3426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49"/>
          <p:cNvSpPr/>
          <p:nvPr/>
        </p:nvSpPr>
        <p:spPr>
          <a:xfrm>
            <a:off x="1800" y="1800"/>
            <a:ext cx="1342188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50"/>
          <p:cNvSpPr/>
          <p:nvPr/>
        </p:nvSpPr>
        <p:spPr>
          <a:xfrm>
            <a:off x="1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51"/>
          <p:cNvSpPr/>
          <p:nvPr/>
        </p:nvSpPr>
        <p:spPr>
          <a:xfrm>
            <a:off x="10047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52"/>
          <p:cNvSpPr/>
          <p:nvPr/>
        </p:nvSpPr>
        <p:spPr>
          <a:xfrm>
            <a:off x="20124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53"/>
          <p:cNvSpPr/>
          <p:nvPr/>
        </p:nvSpPr>
        <p:spPr>
          <a:xfrm>
            <a:off x="30200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54"/>
          <p:cNvSpPr/>
          <p:nvPr/>
        </p:nvSpPr>
        <p:spPr>
          <a:xfrm>
            <a:off x="40276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55"/>
          <p:cNvSpPr/>
          <p:nvPr/>
        </p:nvSpPr>
        <p:spPr>
          <a:xfrm>
            <a:off x="50353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56"/>
          <p:cNvSpPr/>
          <p:nvPr/>
        </p:nvSpPr>
        <p:spPr>
          <a:xfrm>
            <a:off x="604296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57"/>
          <p:cNvSpPr/>
          <p:nvPr/>
        </p:nvSpPr>
        <p:spPr>
          <a:xfrm>
            <a:off x="70506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58"/>
          <p:cNvSpPr/>
          <p:nvPr/>
        </p:nvSpPr>
        <p:spPr>
          <a:xfrm>
            <a:off x="80582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59"/>
          <p:cNvSpPr/>
          <p:nvPr/>
        </p:nvSpPr>
        <p:spPr>
          <a:xfrm>
            <a:off x="90658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60"/>
          <p:cNvSpPr/>
          <p:nvPr/>
        </p:nvSpPr>
        <p:spPr>
          <a:xfrm>
            <a:off x="1007352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61"/>
          <p:cNvSpPr/>
          <p:nvPr/>
        </p:nvSpPr>
        <p:spPr>
          <a:xfrm>
            <a:off x="1108080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62"/>
          <p:cNvSpPr/>
          <p:nvPr/>
        </p:nvSpPr>
        <p:spPr>
          <a:xfrm>
            <a:off x="1208844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63"/>
          <p:cNvSpPr/>
          <p:nvPr/>
        </p:nvSpPr>
        <p:spPr>
          <a:xfrm>
            <a:off x="13096080" y="1800"/>
            <a:ext cx="1152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64"/>
          <p:cNvSpPr/>
          <p:nvPr/>
        </p:nvSpPr>
        <p:spPr>
          <a:xfrm>
            <a:off x="1800" y="1800"/>
            <a:ext cx="34344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29"/>
          <p:cNvSpPr/>
          <p:nvPr/>
        </p:nvSpPr>
        <p:spPr>
          <a:xfrm>
            <a:off x="10880640" y="401400"/>
            <a:ext cx="2207160" cy="544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10"/>
          <p:cNvSpPr/>
          <p:nvPr/>
        </p:nvSpPr>
        <p:spPr>
          <a:xfrm>
            <a:off x="4171320" y="110736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30"/>
          <p:cNvSpPr/>
          <p:nvPr/>
        </p:nvSpPr>
        <p:spPr>
          <a:xfrm>
            <a:off x="108612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31"/>
          <p:cNvSpPr/>
          <p:nvPr/>
        </p:nvSpPr>
        <p:spPr>
          <a:xfrm>
            <a:off x="1005840" y="3426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32"/>
          <p:cNvSpPr/>
          <p:nvPr/>
        </p:nvSpPr>
        <p:spPr>
          <a:xfrm>
            <a:off x="496620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33"/>
          <p:cNvSpPr/>
          <p:nvPr/>
        </p:nvSpPr>
        <p:spPr>
          <a:xfrm>
            <a:off x="4884480" y="3426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34"/>
          <p:cNvSpPr/>
          <p:nvPr/>
        </p:nvSpPr>
        <p:spPr>
          <a:xfrm>
            <a:off x="8845560" y="3507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35"/>
          <p:cNvSpPr/>
          <p:nvPr/>
        </p:nvSpPr>
        <p:spPr>
          <a:xfrm>
            <a:off x="8763840" y="3426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65"/>
          <p:cNvSpPr/>
          <p:nvPr/>
        </p:nvSpPr>
        <p:spPr>
          <a:xfrm>
            <a:off x="1800" y="1800"/>
            <a:ext cx="1342224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66"/>
          <p:cNvSpPr/>
          <p:nvPr/>
        </p:nvSpPr>
        <p:spPr>
          <a:xfrm>
            <a:off x="1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67"/>
          <p:cNvSpPr/>
          <p:nvPr/>
        </p:nvSpPr>
        <p:spPr>
          <a:xfrm>
            <a:off x="10047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68"/>
          <p:cNvSpPr/>
          <p:nvPr/>
        </p:nvSpPr>
        <p:spPr>
          <a:xfrm>
            <a:off x="20124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69"/>
          <p:cNvSpPr/>
          <p:nvPr/>
        </p:nvSpPr>
        <p:spPr>
          <a:xfrm>
            <a:off x="30200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70"/>
          <p:cNvSpPr/>
          <p:nvPr/>
        </p:nvSpPr>
        <p:spPr>
          <a:xfrm>
            <a:off x="40276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71"/>
          <p:cNvSpPr/>
          <p:nvPr/>
        </p:nvSpPr>
        <p:spPr>
          <a:xfrm>
            <a:off x="50353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72"/>
          <p:cNvSpPr/>
          <p:nvPr/>
        </p:nvSpPr>
        <p:spPr>
          <a:xfrm>
            <a:off x="60429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73"/>
          <p:cNvSpPr/>
          <p:nvPr/>
        </p:nvSpPr>
        <p:spPr>
          <a:xfrm>
            <a:off x="70506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74"/>
          <p:cNvSpPr/>
          <p:nvPr/>
        </p:nvSpPr>
        <p:spPr>
          <a:xfrm>
            <a:off x="80582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75"/>
          <p:cNvSpPr/>
          <p:nvPr/>
        </p:nvSpPr>
        <p:spPr>
          <a:xfrm>
            <a:off x="90658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76"/>
          <p:cNvSpPr/>
          <p:nvPr/>
        </p:nvSpPr>
        <p:spPr>
          <a:xfrm>
            <a:off x="100735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77"/>
          <p:cNvSpPr/>
          <p:nvPr/>
        </p:nvSpPr>
        <p:spPr>
          <a:xfrm>
            <a:off x="11080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78"/>
          <p:cNvSpPr/>
          <p:nvPr/>
        </p:nvSpPr>
        <p:spPr>
          <a:xfrm>
            <a:off x="120884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79"/>
          <p:cNvSpPr/>
          <p:nvPr/>
        </p:nvSpPr>
        <p:spPr>
          <a:xfrm>
            <a:off x="130960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80"/>
          <p:cNvSpPr/>
          <p:nvPr/>
        </p:nvSpPr>
        <p:spPr>
          <a:xfrm>
            <a:off x="1800" y="1800"/>
            <a:ext cx="34380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36"/>
          <p:cNvSpPr/>
          <p:nvPr/>
        </p:nvSpPr>
        <p:spPr>
          <a:xfrm>
            <a:off x="10880640" y="401400"/>
            <a:ext cx="220752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13"/>
          <p:cNvSpPr/>
          <p:nvPr/>
        </p:nvSpPr>
        <p:spPr>
          <a:xfrm>
            <a:off x="2801160" y="1107360"/>
            <a:ext cx="6482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37"/>
          <p:cNvSpPr/>
          <p:nvPr/>
        </p:nvSpPr>
        <p:spPr>
          <a:xfrm>
            <a:off x="108612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38"/>
          <p:cNvSpPr/>
          <p:nvPr/>
        </p:nvSpPr>
        <p:spPr>
          <a:xfrm>
            <a:off x="679320" y="3274920"/>
            <a:ext cx="4025880" cy="3166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39"/>
          <p:cNvSpPr/>
          <p:nvPr/>
        </p:nvSpPr>
        <p:spPr>
          <a:xfrm>
            <a:off x="496620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40"/>
          <p:cNvSpPr/>
          <p:nvPr/>
        </p:nvSpPr>
        <p:spPr>
          <a:xfrm>
            <a:off x="4884480" y="342684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41"/>
          <p:cNvSpPr/>
          <p:nvPr/>
        </p:nvSpPr>
        <p:spPr>
          <a:xfrm>
            <a:off x="884556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42"/>
          <p:cNvSpPr/>
          <p:nvPr/>
        </p:nvSpPr>
        <p:spPr>
          <a:xfrm>
            <a:off x="8763840" y="3426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81"/>
          <p:cNvSpPr/>
          <p:nvPr/>
        </p:nvSpPr>
        <p:spPr>
          <a:xfrm>
            <a:off x="1800" y="1800"/>
            <a:ext cx="13422240" cy="7553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82"/>
          <p:cNvSpPr/>
          <p:nvPr/>
        </p:nvSpPr>
        <p:spPr>
          <a:xfrm>
            <a:off x="1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83"/>
          <p:cNvSpPr/>
          <p:nvPr/>
        </p:nvSpPr>
        <p:spPr>
          <a:xfrm>
            <a:off x="10047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84"/>
          <p:cNvSpPr/>
          <p:nvPr/>
        </p:nvSpPr>
        <p:spPr>
          <a:xfrm>
            <a:off x="20124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85"/>
          <p:cNvSpPr/>
          <p:nvPr/>
        </p:nvSpPr>
        <p:spPr>
          <a:xfrm>
            <a:off x="30200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86"/>
          <p:cNvSpPr/>
          <p:nvPr/>
        </p:nvSpPr>
        <p:spPr>
          <a:xfrm>
            <a:off x="40276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87"/>
          <p:cNvSpPr/>
          <p:nvPr/>
        </p:nvSpPr>
        <p:spPr>
          <a:xfrm>
            <a:off x="50353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88"/>
          <p:cNvSpPr/>
          <p:nvPr/>
        </p:nvSpPr>
        <p:spPr>
          <a:xfrm>
            <a:off x="604296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89"/>
          <p:cNvSpPr/>
          <p:nvPr/>
        </p:nvSpPr>
        <p:spPr>
          <a:xfrm>
            <a:off x="70506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90"/>
          <p:cNvSpPr/>
          <p:nvPr/>
        </p:nvSpPr>
        <p:spPr>
          <a:xfrm>
            <a:off x="80582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91"/>
          <p:cNvSpPr/>
          <p:nvPr/>
        </p:nvSpPr>
        <p:spPr>
          <a:xfrm>
            <a:off x="90658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92"/>
          <p:cNvSpPr/>
          <p:nvPr/>
        </p:nvSpPr>
        <p:spPr>
          <a:xfrm>
            <a:off x="1007352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93"/>
          <p:cNvSpPr/>
          <p:nvPr/>
        </p:nvSpPr>
        <p:spPr>
          <a:xfrm>
            <a:off x="1108080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94"/>
          <p:cNvSpPr/>
          <p:nvPr/>
        </p:nvSpPr>
        <p:spPr>
          <a:xfrm>
            <a:off x="1208844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95"/>
          <p:cNvSpPr/>
          <p:nvPr/>
        </p:nvSpPr>
        <p:spPr>
          <a:xfrm>
            <a:off x="13096080" y="1800"/>
            <a:ext cx="11880" cy="7553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96"/>
          <p:cNvSpPr/>
          <p:nvPr/>
        </p:nvSpPr>
        <p:spPr>
          <a:xfrm>
            <a:off x="1800" y="1800"/>
            <a:ext cx="343800" cy="7553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1"/>
          <p:cNvSpPr/>
          <p:nvPr/>
        </p:nvSpPr>
        <p:spPr>
          <a:xfrm>
            <a:off x="10880640" y="401400"/>
            <a:ext cx="220752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16"/>
          <p:cNvSpPr/>
          <p:nvPr/>
        </p:nvSpPr>
        <p:spPr>
          <a:xfrm>
            <a:off x="2592360" y="110736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43"/>
          <p:cNvSpPr/>
          <p:nvPr/>
        </p:nvSpPr>
        <p:spPr>
          <a:xfrm>
            <a:off x="108612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44"/>
          <p:cNvSpPr/>
          <p:nvPr/>
        </p:nvSpPr>
        <p:spPr>
          <a:xfrm>
            <a:off x="1005840" y="342540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45"/>
          <p:cNvSpPr/>
          <p:nvPr/>
        </p:nvSpPr>
        <p:spPr>
          <a:xfrm>
            <a:off x="496620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46"/>
          <p:cNvSpPr/>
          <p:nvPr/>
        </p:nvSpPr>
        <p:spPr>
          <a:xfrm>
            <a:off x="8845560" y="3507120"/>
            <a:ext cx="361836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47"/>
          <p:cNvSpPr/>
          <p:nvPr/>
        </p:nvSpPr>
        <p:spPr>
          <a:xfrm>
            <a:off x="8763840" y="342684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Rounded Rectangle 48"/>
          <p:cNvSpPr/>
          <p:nvPr/>
        </p:nvSpPr>
        <p:spPr>
          <a:xfrm>
            <a:off x="4938840" y="345096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97"/>
          <p:cNvSpPr/>
          <p:nvPr/>
        </p:nvSpPr>
        <p:spPr>
          <a:xfrm>
            <a:off x="1800" y="1800"/>
            <a:ext cx="1342260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98"/>
          <p:cNvSpPr/>
          <p:nvPr/>
        </p:nvSpPr>
        <p:spPr>
          <a:xfrm>
            <a:off x="1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99"/>
          <p:cNvSpPr/>
          <p:nvPr/>
        </p:nvSpPr>
        <p:spPr>
          <a:xfrm>
            <a:off x="10047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00"/>
          <p:cNvSpPr/>
          <p:nvPr/>
        </p:nvSpPr>
        <p:spPr>
          <a:xfrm>
            <a:off x="20124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01"/>
          <p:cNvSpPr/>
          <p:nvPr/>
        </p:nvSpPr>
        <p:spPr>
          <a:xfrm>
            <a:off x="30200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02"/>
          <p:cNvSpPr/>
          <p:nvPr/>
        </p:nvSpPr>
        <p:spPr>
          <a:xfrm>
            <a:off x="40276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03"/>
          <p:cNvSpPr/>
          <p:nvPr/>
        </p:nvSpPr>
        <p:spPr>
          <a:xfrm>
            <a:off x="50353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04"/>
          <p:cNvSpPr/>
          <p:nvPr/>
        </p:nvSpPr>
        <p:spPr>
          <a:xfrm>
            <a:off x="60429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05"/>
          <p:cNvSpPr/>
          <p:nvPr/>
        </p:nvSpPr>
        <p:spPr>
          <a:xfrm>
            <a:off x="70506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06"/>
          <p:cNvSpPr/>
          <p:nvPr/>
        </p:nvSpPr>
        <p:spPr>
          <a:xfrm>
            <a:off x="80582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07"/>
          <p:cNvSpPr/>
          <p:nvPr/>
        </p:nvSpPr>
        <p:spPr>
          <a:xfrm>
            <a:off x="90658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08"/>
          <p:cNvSpPr/>
          <p:nvPr/>
        </p:nvSpPr>
        <p:spPr>
          <a:xfrm>
            <a:off x="100735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09"/>
          <p:cNvSpPr/>
          <p:nvPr/>
        </p:nvSpPr>
        <p:spPr>
          <a:xfrm>
            <a:off x="11080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10"/>
          <p:cNvSpPr/>
          <p:nvPr/>
        </p:nvSpPr>
        <p:spPr>
          <a:xfrm>
            <a:off x="120884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11"/>
          <p:cNvSpPr/>
          <p:nvPr/>
        </p:nvSpPr>
        <p:spPr>
          <a:xfrm>
            <a:off x="130960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12"/>
          <p:cNvSpPr/>
          <p:nvPr/>
        </p:nvSpPr>
        <p:spPr>
          <a:xfrm>
            <a:off x="1800" y="1800"/>
            <a:ext cx="34416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49"/>
          <p:cNvSpPr/>
          <p:nvPr/>
        </p:nvSpPr>
        <p:spPr>
          <a:xfrm>
            <a:off x="10880640" y="401400"/>
            <a:ext cx="220788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2608920" y="1107720"/>
            <a:ext cx="6882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22"/>
          <p:cNvSpPr/>
          <p:nvPr/>
        </p:nvSpPr>
        <p:spPr>
          <a:xfrm>
            <a:off x="3687120" y="2266920"/>
            <a:ext cx="535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50"/>
          <p:cNvSpPr/>
          <p:nvPr/>
        </p:nvSpPr>
        <p:spPr>
          <a:xfrm>
            <a:off x="108612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51"/>
          <p:cNvSpPr/>
          <p:nvPr/>
        </p:nvSpPr>
        <p:spPr>
          <a:xfrm>
            <a:off x="1005840" y="3426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52"/>
          <p:cNvSpPr/>
          <p:nvPr/>
        </p:nvSpPr>
        <p:spPr>
          <a:xfrm>
            <a:off x="496620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53"/>
          <p:cNvSpPr/>
          <p:nvPr/>
        </p:nvSpPr>
        <p:spPr>
          <a:xfrm>
            <a:off x="884556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54"/>
          <p:cNvSpPr/>
          <p:nvPr/>
        </p:nvSpPr>
        <p:spPr>
          <a:xfrm>
            <a:off x="8763840" y="3426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Rounded Rectangle 55"/>
          <p:cNvSpPr/>
          <p:nvPr/>
        </p:nvSpPr>
        <p:spPr>
          <a:xfrm>
            <a:off x="4938840" y="345060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113"/>
          <p:cNvSpPr/>
          <p:nvPr/>
        </p:nvSpPr>
        <p:spPr>
          <a:xfrm>
            <a:off x="1800" y="1800"/>
            <a:ext cx="1342260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14"/>
          <p:cNvSpPr/>
          <p:nvPr/>
        </p:nvSpPr>
        <p:spPr>
          <a:xfrm>
            <a:off x="1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15"/>
          <p:cNvSpPr/>
          <p:nvPr/>
        </p:nvSpPr>
        <p:spPr>
          <a:xfrm>
            <a:off x="10047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16"/>
          <p:cNvSpPr/>
          <p:nvPr/>
        </p:nvSpPr>
        <p:spPr>
          <a:xfrm>
            <a:off x="20124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17"/>
          <p:cNvSpPr/>
          <p:nvPr/>
        </p:nvSpPr>
        <p:spPr>
          <a:xfrm>
            <a:off x="30200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18"/>
          <p:cNvSpPr/>
          <p:nvPr/>
        </p:nvSpPr>
        <p:spPr>
          <a:xfrm>
            <a:off x="40276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19"/>
          <p:cNvSpPr/>
          <p:nvPr/>
        </p:nvSpPr>
        <p:spPr>
          <a:xfrm>
            <a:off x="50353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20"/>
          <p:cNvSpPr/>
          <p:nvPr/>
        </p:nvSpPr>
        <p:spPr>
          <a:xfrm>
            <a:off x="604296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21"/>
          <p:cNvSpPr/>
          <p:nvPr/>
        </p:nvSpPr>
        <p:spPr>
          <a:xfrm>
            <a:off x="70506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22"/>
          <p:cNvSpPr/>
          <p:nvPr/>
        </p:nvSpPr>
        <p:spPr>
          <a:xfrm>
            <a:off x="80582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23"/>
          <p:cNvSpPr/>
          <p:nvPr/>
        </p:nvSpPr>
        <p:spPr>
          <a:xfrm>
            <a:off x="90658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24"/>
          <p:cNvSpPr/>
          <p:nvPr/>
        </p:nvSpPr>
        <p:spPr>
          <a:xfrm>
            <a:off x="1007352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25"/>
          <p:cNvSpPr/>
          <p:nvPr/>
        </p:nvSpPr>
        <p:spPr>
          <a:xfrm>
            <a:off x="1108080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26"/>
          <p:cNvSpPr/>
          <p:nvPr/>
        </p:nvSpPr>
        <p:spPr>
          <a:xfrm>
            <a:off x="1208844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27"/>
          <p:cNvSpPr/>
          <p:nvPr/>
        </p:nvSpPr>
        <p:spPr>
          <a:xfrm>
            <a:off x="13096080" y="1800"/>
            <a:ext cx="1224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28"/>
          <p:cNvSpPr/>
          <p:nvPr/>
        </p:nvSpPr>
        <p:spPr>
          <a:xfrm>
            <a:off x="1800" y="1800"/>
            <a:ext cx="34416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56"/>
          <p:cNvSpPr/>
          <p:nvPr/>
        </p:nvSpPr>
        <p:spPr>
          <a:xfrm>
            <a:off x="10880640" y="401400"/>
            <a:ext cx="220788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24"/>
          <p:cNvSpPr/>
          <p:nvPr/>
        </p:nvSpPr>
        <p:spPr>
          <a:xfrm>
            <a:off x="562680" y="1107720"/>
            <a:ext cx="1098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57"/>
          <p:cNvSpPr/>
          <p:nvPr/>
        </p:nvSpPr>
        <p:spPr>
          <a:xfrm>
            <a:off x="108612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58"/>
          <p:cNvSpPr/>
          <p:nvPr/>
        </p:nvSpPr>
        <p:spPr>
          <a:xfrm>
            <a:off x="1005840" y="3426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59"/>
          <p:cNvSpPr/>
          <p:nvPr/>
        </p:nvSpPr>
        <p:spPr>
          <a:xfrm>
            <a:off x="496620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60"/>
          <p:cNvSpPr/>
          <p:nvPr/>
        </p:nvSpPr>
        <p:spPr>
          <a:xfrm>
            <a:off x="8845560" y="3507120"/>
            <a:ext cx="361872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61"/>
          <p:cNvSpPr/>
          <p:nvPr/>
        </p:nvSpPr>
        <p:spPr>
          <a:xfrm>
            <a:off x="8763840" y="342612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Rounded Rectangle 62"/>
          <p:cNvSpPr/>
          <p:nvPr/>
        </p:nvSpPr>
        <p:spPr>
          <a:xfrm>
            <a:off x="4938840" y="3452040"/>
            <a:ext cx="361908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129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30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31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32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33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34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35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36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37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38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39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40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41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42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43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44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63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28"/>
          <p:cNvSpPr/>
          <p:nvPr/>
        </p:nvSpPr>
        <p:spPr>
          <a:xfrm>
            <a:off x="2558160" y="1107360"/>
            <a:ext cx="698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Kurumsal Dünyaya Giriyor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29"/>
          <p:cNvSpPr/>
          <p:nvPr/>
        </p:nvSpPr>
        <p:spPr>
          <a:xfrm>
            <a:off x="4201920" y="2266200"/>
            <a:ext cx="433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büyük ölçekli sistemlere nasıl girdiği.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64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65"/>
          <p:cNvSpPr/>
          <p:nvPr/>
        </p:nvSpPr>
        <p:spPr>
          <a:xfrm>
            <a:off x="100656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1990’ların sonlarında internet hızla büyüdü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Şirketlerin ölçeklenebilir yazılımlara ihtiyacı vardı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kritik bir gereklilik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farklı işletim sistemlerinde çalışması gerekiyordu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sorunları şu özelliklerle çözdü: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bağımsızlık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nesne yönelimli tasarım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özellikleri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kurumsal sistemler için tercih edilen dil hâline geldi.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66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67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68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kurumsal dünyaya giriyor!");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Rounded Rectangle 69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benimsenme yolu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uygulamaları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145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46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47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48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49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150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151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52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53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54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55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56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57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58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59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60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70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31"/>
          <p:cNvSpPr/>
          <p:nvPr/>
        </p:nvSpPr>
        <p:spPr>
          <a:xfrm>
            <a:off x="2953800" y="1107360"/>
            <a:ext cx="6199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Java Sürümleri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32"/>
          <p:cNvSpPr/>
          <p:nvPr/>
        </p:nvSpPr>
        <p:spPr>
          <a:xfrm>
            <a:off x="4707360" y="2266200"/>
            <a:ext cx="332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adım adım nasıl ilerlediği.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71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72"/>
          <p:cNvSpPr/>
          <p:nvPr/>
        </p:nvSpPr>
        <p:spPr>
          <a:xfrm>
            <a:off x="10065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1994’ten sonra Java yön değiştirdi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Dilin adı Oak’tan Java’ya değiştirildi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Web için geliştirilmeye başlandı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Microsystems, Java’yı herkese açık olarak yayımlamaya karar verdi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noktadan sonra Java sürümleri ortaya çıkmaya başladı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Temel fikir: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sürüm, eskilerini bozmadan Java’yı geliştirdi.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73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74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75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sürüm sürüm gelişmeye devam ediyor.");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Rounded Rectangle 76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sürümleri baştan yazım değildir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Kademeli iyileştirmelerdir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Yeni özellikler + aynı temel fikir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Felsefe: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sonsuza kadar geliştir.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161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62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63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64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65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66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67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68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69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70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71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72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73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74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75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76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77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34"/>
          <p:cNvSpPr/>
          <p:nvPr/>
        </p:nvSpPr>
        <p:spPr>
          <a:xfrm>
            <a:off x="1916280" y="1107360"/>
            <a:ext cx="827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Kurumsal Patlama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35"/>
          <p:cNvSpPr/>
          <p:nvPr/>
        </p:nvSpPr>
        <p:spPr>
          <a:xfrm>
            <a:off x="3533400" y="2266200"/>
            <a:ext cx="567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kurumsal yazılımların belkemiği hâline nasıl geldiği.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78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79"/>
          <p:cNvSpPr/>
          <p:nvPr/>
        </p:nvSpPr>
        <p:spPr>
          <a:xfrm>
            <a:off x="10065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2000’lerin başı: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kullanımı patlama yaşadı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E-ticaret büyümeye başladı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 büyük ölçekli sistemlere ihtiyaç duydu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şu özelliklere sahip olması gerekiyordu: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Ölçeklenebilir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80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81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82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(sistemOnline)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"Kurumsal sistemler 7/24 çalışıyor."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Rounded Rectangle 83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neden bu döneme damga vurdu: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Platformu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sunucu tarafı programlama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Çok katmanlı mimari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modeli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odaklı uygulamalar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177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78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79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80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81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82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83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84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85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86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87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88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89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90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91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92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84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37"/>
          <p:cNvSpPr/>
          <p:nvPr/>
        </p:nvSpPr>
        <p:spPr>
          <a:xfrm>
            <a:off x="1708920" y="1107360"/>
            <a:ext cx="8695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2000–2005 Arası Java Teknolojileri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38"/>
          <p:cNvSpPr/>
          <p:nvPr/>
        </p:nvSpPr>
        <p:spPr>
          <a:xfrm>
            <a:off x="4586400" y="2266200"/>
            <a:ext cx="356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Modern kurumsal Java’nın temelleri.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85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86"/>
          <p:cNvSpPr/>
          <p:nvPr/>
        </p:nvSpPr>
        <p:spPr>
          <a:xfrm>
            <a:off x="10065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87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88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89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Rounded Rectangle 90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 teknolojiler sayesinde: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Dinamik web uygulamaları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tabanlı sistemler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(transaction) yönetimi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Dağıtık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ölçekte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93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94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95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96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97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98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99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200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201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202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203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204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205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206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207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208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91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40"/>
          <p:cNvSpPr/>
          <p:nvPr/>
        </p:nvSpPr>
        <p:spPr>
          <a:xfrm>
            <a:off x="2097720" y="1107360"/>
            <a:ext cx="79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Teknolojileri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41"/>
          <p:cNvSpPr/>
          <p:nvPr/>
        </p:nvSpPr>
        <p:spPr>
          <a:xfrm>
            <a:off x="5367240" y="2266200"/>
            <a:ext cx="200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92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93"/>
          <p:cNvSpPr/>
          <p:nvPr/>
        </p:nvSpPr>
        <p:spPr>
          <a:xfrm>
            <a:off x="10065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 (Ortaya çıkanlar):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(Kontrolün Tersine Çevrilmesi – IoC, Bağımlılık Enjeksiyonu – DI)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(Nesne-İlişkisel Eşleme – ORM)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(XML ağırlıklı yapılandırmaların yerini anotasyonlar aldı)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(Bileşen tabanlı kullanıcı arayüzü)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(Standart derleme ve bağımlılık yönetimi)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94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95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96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Rounded Rectangle 97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 dönem neden önemliydi: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 ağırlıklı kurumsal Java yapıları sadeleştirildi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Gereksiz tekrar kod ciddi şekilde azaldı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Gevşek bağlılık  standart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ve katmanlı mimari yaygınlaştı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üretkenlik ve esneklik kazandı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öncesi: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karmaşık, uzun, bakımı zor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sonrası: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daha temiz, modüler, framework odaklı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209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210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211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212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213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214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215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216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217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218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219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220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221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222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223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224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98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43"/>
          <p:cNvSpPr/>
          <p:nvPr/>
        </p:nvSpPr>
        <p:spPr>
          <a:xfrm>
            <a:off x="2808000" y="1107360"/>
            <a:ext cx="6498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ve Bulut Çağı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44"/>
          <p:cNvSpPr/>
          <p:nvPr/>
        </p:nvSpPr>
        <p:spPr>
          <a:xfrm>
            <a:off x="5367240" y="2266200"/>
            <a:ext cx="2004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99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00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(Temel teknolojiler):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API’ler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 ifadeleri, Stream API)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01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02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03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Rounded Rectangle 104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Bulut uyumlu (cloud-native)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 mimarisi ile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Hızlı dağıtım (deployment)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Fonksiyonel programlama yaklaşımı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Uzun süreli destek (LTS – Long Term Support)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225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226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227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228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229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230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231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232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233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234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235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236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237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238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239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240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05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46"/>
          <p:cNvSpPr/>
          <p:nvPr/>
        </p:nvSpPr>
        <p:spPr>
          <a:xfrm>
            <a:off x="3957120" y="1107360"/>
            <a:ext cx="419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2015 Sonrası Java: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47"/>
          <p:cNvSpPr/>
          <p:nvPr/>
        </p:nvSpPr>
        <p:spPr>
          <a:xfrm>
            <a:off x="4066200" y="2266200"/>
            <a:ext cx="460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büyüyor: daha hızlı, daha temiz, daha akıllı.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06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07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İfadeleri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Fonksiyonel Arayüzler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(Asenkron programlama)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(değiştirilemez veri taşıyıcıları)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08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09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10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Rounded Rectangle 111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ifade gücü yüksek kode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az tekrar (boilerplate)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iyi performans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Paralel ve asenkron işlem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programlama paradigmaları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Okunabilirlik + sürdürülebilirlik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Öncesi: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Emredici (imperative), uzun, döngü ağırlıklı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Sonrası: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Bildirime dayalı, fonksiyonel, akıcı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241"/>
          <p:cNvSpPr/>
          <p:nvPr/>
        </p:nvSpPr>
        <p:spPr>
          <a:xfrm>
            <a:off x="16920" y="1800"/>
            <a:ext cx="1342944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242"/>
          <p:cNvSpPr/>
          <p:nvPr/>
        </p:nvSpPr>
        <p:spPr>
          <a:xfrm>
            <a:off x="144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243"/>
          <p:cNvSpPr/>
          <p:nvPr/>
        </p:nvSpPr>
        <p:spPr>
          <a:xfrm>
            <a:off x="100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244"/>
          <p:cNvSpPr/>
          <p:nvPr/>
        </p:nvSpPr>
        <p:spPr>
          <a:xfrm>
            <a:off x="201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245"/>
          <p:cNvSpPr/>
          <p:nvPr/>
        </p:nvSpPr>
        <p:spPr>
          <a:xfrm>
            <a:off x="302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246"/>
          <p:cNvSpPr/>
          <p:nvPr/>
        </p:nvSpPr>
        <p:spPr>
          <a:xfrm>
            <a:off x="402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247"/>
          <p:cNvSpPr/>
          <p:nvPr/>
        </p:nvSpPr>
        <p:spPr>
          <a:xfrm>
            <a:off x="503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248"/>
          <p:cNvSpPr/>
          <p:nvPr/>
        </p:nvSpPr>
        <p:spPr>
          <a:xfrm>
            <a:off x="604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249"/>
          <p:cNvSpPr/>
          <p:nvPr/>
        </p:nvSpPr>
        <p:spPr>
          <a:xfrm>
            <a:off x="705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250"/>
          <p:cNvSpPr/>
          <p:nvPr/>
        </p:nvSpPr>
        <p:spPr>
          <a:xfrm>
            <a:off x="806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251"/>
          <p:cNvSpPr/>
          <p:nvPr/>
        </p:nvSpPr>
        <p:spPr>
          <a:xfrm>
            <a:off x="9069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252"/>
          <p:cNvSpPr/>
          <p:nvPr/>
        </p:nvSpPr>
        <p:spPr>
          <a:xfrm>
            <a:off x="10077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253"/>
          <p:cNvSpPr/>
          <p:nvPr/>
        </p:nvSpPr>
        <p:spPr>
          <a:xfrm>
            <a:off x="11085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254"/>
          <p:cNvSpPr/>
          <p:nvPr/>
        </p:nvSpPr>
        <p:spPr>
          <a:xfrm>
            <a:off x="12093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255"/>
          <p:cNvSpPr/>
          <p:nvPr/>
        </p:nvSpPr>
        <p:spPr>
          <a:xfrm>
            <a:off x="13101480" y="1800"/>
            <a:ext cx="1368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256"/>
          <p:cNvSpPr/>
          <p:nvPr/>
        </p:nvSpPr>
        <p:spPr>
          <a:xfrm>
            <a:off x="1440" y="1800"/>
            <a:ext cx="34560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12"/>
          <p:cNvSpPr/>
          <p:nvPr/>
        </p:nvSpPr>
        <p:spPr>
          <a:xfrm>
            <a:off x="10884960" y="401400"/>
            <a:ext cx="221004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49"/>
          <p:cNvSpPr/>
          <p:nvPr/>
        </p:nvSpPr>
        <p:spPr>
          <a:xfrm>
            <a:off x="1362960" y="1107360"/>
            <a:ext cx="93898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Bugünün Java’sı: Kurumsal, Bulut ve Ötesi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50"/>
          <p:cNvSpPr/>
          <p:nvPr/>
        </p:nvSpPr>
        <p:spPr>
          <a:xfrm>
            <a:off x="4168080" y="2266200"/>
            <a:ext cx="4403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artık sadece kurumsal değil — her yerde.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13"/>
          <p:cNvSpPr/>
          <p:nvPr/>
        </p:nvSpPr>
        <p:spPr>
          <a:xfrm>
            <a:off x="108684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14"/>
          <p:cNvSpPr/>
          <p:nvPr/>
        </p:nvSpPr>
        <p:spPr>
          <a:xfrm>
            <a:off x="1020960" y="342432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Bulut-yerel (cloud-native) backend’ler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performanslı API’ler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Finansal sistemler ve bankacılık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veri ve akış (streaming) platformları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(çekirdek dil temelleri)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Oyun sunucuları ve gerçek zamanlı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15"/>
          <p:cNvSpPr/>
          <p:nvPr/>
        </p:nvSpPr>
        <p:spPr>
          <a:xfrm>
            <a:off x="49683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16"/>
          <p:cNvSpPr/>
          <p:nvPr/>
        </p:nvSpPr>
        <p:spPr>
          <a:xfrm>
            <a:off x="8849160" y="3506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17"/>
          <p:cNvSpPr/>
          <p:nvPr/>
        </p:nvSpPr>
        <p:spPr>
          <a:xfrm>
            <a:off x="8767440" y="3425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ResponseEntity.ok("Servis çalışıyor");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Rounded Rectangle 118"/>
          <p:cNvSpPr/>
          <p:nvPr/>
        </p:nvSpPr>
        <p:spPr>
          <a:xfrm>
            <a:off x="4941000" y="345096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Modern Java Ekosistemi;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Reaktif programlama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Kubernetes-yerel dağıtımlar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Gözlemlenebilirlik (metrikler, izleme/tracing)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Uzun dönem destek (LTS) kararlılığı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257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258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259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260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261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262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263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264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265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266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267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268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269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270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271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272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19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52"/>
          <p:cNvSpPr/>
          <p:nvPr/>
        </p:nvSpPr>
        <p:spPr>
          <a:xfrm>
            <a:off x="2818440" y="1107360"/>
            <a:ext cx="64792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Pratik: Fikirden Koda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53"/>
          <p:cNvSpPr/>
          <p:nvPr/>
        </p:nvSpPr>
        <p:spPr>
          <a:xfrm>
            <a:off x="2823120" y="2266200"/>
            <a:ext cx="7093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fikirleri temiz, düzenli ve sürdürülebilir koda dönüştürmeye odaklanır.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20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21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okunabilirliği ve yapısal düzeni ön planda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sistemi, birçok çalışma zamanı hatasını önler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okunabilirliği, uzun vadeli bakımı kolaylaştırır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 uzun ömürlü sistemler için uygundur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22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23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24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Rounded Rectangle 125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Tanımı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Çözüm Planlaması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Sınıf ve Metot Tasarımı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Uygulama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Çalıştırılması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273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274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275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276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277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278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279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280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281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282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283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284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285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286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287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288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126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55"/>
          <p:cNvSpPr/>
          <p:nvPr/>
        </p:nvSpPr>
        <p:spPr>
          <a:xfrm>
            <a:off x="1771920" y="1107360"/>
            <a:ext cx="857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Çekirdek Özellikleri – Genel Bakış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56"/>
          <p:cNvSpPr/>
          <p:nvPr/>
        </p:nvSpPr>
        <p:spPr>
          <a:xfrm>
            <a:off x="3605040" y="2266200"/>
            <a:ext cx="5529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şekillendiren temel özelliklere ilk bakış.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127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28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geliştiricilerin programları anlaşılır, yapılı ve öngörülebilir bir şekilde yazmasına yardımcı olan bir dizi çekirdek özellikle tasarlanmıştır.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özellikler, yaygın programlama hatalarını azaltır, kodun okunabilirliğini artırır ve uygulamaların zaman içinde daha kolay bakımını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Düşük seviyeli sistem detaylarına odaklanmak yerine, Java geliştiricilerin program mantığına ve problem çözmeye yoğunlaşmasına olanak tanır..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129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130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31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 sayı");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Rounded Rectangle 132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yapmak istiyorum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izin verdikleri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yazmam gerekir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çalıştırılır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elde ederim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Rectangle 289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290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291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292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293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294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295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296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297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298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299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300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301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302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303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304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133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58"/>
          <p:cNvSpPr/>
          <p:nvPr/>
        </p:nvSpPr>
        <p:spPr>
          <a:xfrm>
            <a:off x="4195440" y="1107360"/>
            <a:ext cx="3724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Nesne Yönelimli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59"/>
          <p:cNvSpPr/>
          <p:nvPr/>
        </p:nvSpPr>
        <p:spPr>
          <a:xfrm>
            <a:off x="1016640" y="2266200"/>
            <a:ext cx="1070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nesne yönelimli bir programlama dilidir.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Bu, Java programlarının gerçek dünyadaki varlıkları temsil eden nesneler kullanılarak oluşturulduğu anlamına gelir.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ounded Rectangle 134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35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her şey sınıflar ve nesneler üzerine kuruludur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sınıf bir şablondur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nesne, bir sınıfın gerçek (somut) örneğidir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OOP, programların daha kolay anlaşılmasını ve yönetilmesini sağlar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Araba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Öğrenci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Rounded Rectangle 136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137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38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Rounded Rectangle 139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Dünya Nesnesi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Nesene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Mantığı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Açıklama: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Önce bir sınıf tanımlarız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Sonra o sınıftan nesneler oluştururuz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program içinde kullanılır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Rectangle 305"/>
          <p:cNvSpPr/>
          <p:nvPr/>
        </p:nvSpPr>
        <p:spPr>
          <a:xfrm>
            <a:off x="16920" y="1800"/>
            <a:ext cx="13429800" cy="7553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306"/>
          <p:cNvSpPr/>
          <p:nvPr/>
        </p:nvSpPr>
        <p:spPr>
          <a:xfrm>
            <a:off x="144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307"/>
          <p:cNvSpPr/>
          <p:nvPr/>
        </p:nvSpPr>
        <p:spPr>
          <a:xfrm>
            <a:off x="100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308"/>
          <p:cNvSpPr/>
          <p:nvPr/>
        </p:nvSpPr>
        <p:spPr>
          <a:xfrm>
            <a:off x="201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309"/>
          <p:cNvSpPr/>
          <p:nvPr/>
        </p:nvSpPr>
        <p:spPr>
          <a:xfrm>
            <a:off x="302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310"/>
          <p:cNvSpPr/>
          <p:nvPr/>
        </p:nvSpPr>
        <p:spPr>
          <a:xfrm>
            <a:off x="402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311"/>
          <p:cNvSpPr/>
          <p:nvPr/>
        </p:nvSpPr>
        <p:spPr>
          <a:xfrm>
            <a:off x="503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312"/>
          <p:cNvSpPr/>
          <p:nvPr/>
        </p:nvSpPr>
        <p:spPr>
          <a:xfrm>
            <a:off x="604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313"/>
          <p:cNvSpPr/>
          <p:nvPr/>
        </p:nvSpPr>
        <p:spPr>
          <a:xfrm>
            <a:off x="705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314"/>
          <p:cNvSpPr/>
          <p:nvPr/>
        </p:nvSpPr>
        <p:spPr>
          <a:xfrm>
            <a:off x="806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315"/>
          <p:cNvSpPr/>
          <p:nvPr/>
        </p:nvSpPr>
        <p:spPr>
          <a:xfrm>
            <a:off x="9069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316"/>
          <p:cNvSpPr/>
          <p:nvPr/>
        </p:nvSpPr>
        <p:spPr>
          <a:xfrm>
            <a:off x="10077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317"/>
          <p:cNvSpPr/>
          <p:nvPr/>
        </p:nvSpPr>
        <p:spPr>
          <a:xfrm>
            <a:off x="11085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318"/>
          <p:cNvSpPr/>
          <p:nvPr/>
        </p:nvSpPr>
        <p:spPr>
          <a:xfrm>
            <a:off x="12093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319"/>
          <p:cNvSpPr/>
          <p:nvPr/>
        </p:nvSpPr>
        <p:spPr>
          <a:xfrm>
            <a:off x="13101480" y="1800"/>
            <a:ext cx="14040" cy="7553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320"/>
          <p:cNvSpPr/>
          <p:nvPr/>
        </p:nvSpPr>
        <p:spPr>
          <a:xfrm>
            <a:off x="1440" y="1800"/>
            <a:ext cx="345960" cy="7553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140"/>
          <p:cNvSpPr/>
          <p:nvPr/>
        </p:nvSpPr>
        <p:spPr>
          <a:xfrm>
            <a:off x="10884960" y="401400"/>
            <a:ext cx="2210400" cy="546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Box 61"/>
          <p:cNvSpPr/>
          <p:nvPr/>
        </p:nvSpPr>
        <p:spPr>
          <a:xfrm>
            <a:off x="4156560" y="1107360"/>
            <a:ext cx="380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Güvenli (Secure)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62"/>
          <p:cNvSpPr/>
          <p:nvPr/>
        </p:nvSpPr>
        <p:spPr>
          <a:xfrm>
            <a:off x="945720" y="2266200"/>
            <a:ext cx="108489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güvenli bir programlama dili olacak şekilde tasarlanmıştır.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Geliştiricilerin virüssüz ve kurcalamaya karşı dayanıklı uygulamalar geliştirmesine olanak tanır.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güvenliği; açık anahtar şifreleme, bytecode doğrulama ve kontrollü bellek erişimi gibi güçlü kavramlara dayanır.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Rounded Rectangle 141"/>
          <p:cNvSpPr/>
          <p:nvPr/>
        </p:nvSpPr>
        <p:spPr>
          <a:xfrm>
            <a:off x="108684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42"/>
          <p:cNvSpPr/>
          <p:nvPr/>
        </p:nvSpPr>
        <p:spPr>
          <a:xfrm>
            <a:off x="1020960" y="342432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doğrudan bellek erişimine izin vermez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C/C++’taki gibi pointer (işaretçi) kullanımı yoktur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Programlar Java Virtual Machine (JVM) içinde çalışır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çalıştırılmadan önce doğrulanır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 büyük ölçüde engellenir: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- Bellek sızıntıları (memory leaks)</a:t>
            </a:r>
            <a:br>
              <a:rPr sz="1300"/>
            </a:b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Ek Güvenlik Avantajları: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exception (istisna)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çöp toplama (Garbage Collection)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sınıf yükleme mekanizması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ounded Rectangle 143"/>
          <p:cNvSpPr/>
          <p:nvPr/>
        </p:nvSpPr>
        <p:spPr>
          <a:xfrm>
            <a:off x="49683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144"/>
          <p:cNvSpPr/>
          <p:nvPr/>
        </p:nvSpPr>
        <p:spPr>
          <a:xfrm>
            <a:off x="8849160" y="3506040"/>
            <a:ext cx="3621960" cy="3017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45"/>
          <p:cNvSpPr/>
          <p:nvPr/>
        </p:nvSpPr>
        <p:spPr>
          <a:xfrm>
            <a:off x="8767440" y="342504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System.out.println("Hata güvenli şekilde yakalandı");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Rounded Rectangle 146"/>
          <p:cNvSpPr/>
          <p:nvPr/>
        </p:nvSpPr>
        <p:spPr>
          <a:xfrm>
            <a:off x="4941000" y="3450960"/>
            <a:ext cx="3622320" cy="301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Güvenlik Kontrolü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Çalıştırma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2026-01-09T14:47:45Z</dcterms:modified>
  <cp:revision>106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