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</p:sld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3B7231-8D8E-45F5-B93C-95C3E43D592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53518A-B6AD-4DE0-94C8-57AF3D12A08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96174A-F86D-4D2F-94F5-5B67A94C1C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9E4CC6-9841-4EB7-9131-B6A7B5399D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E7CD74-C3E6-49B7-B42B-39B4C5E4A7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87CD26-7C7C-4D5B-BEC1-06B75093AC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8D275D1-97BA-44AB-8ED0-A7D709CBEA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BB2C70-110C-4921-B281-402E669B81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B2EA8B-1872-4B01-B1FD-EA5B167B24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2AF674-DCE1-4EC0-8280-69C104688E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238760-D277-441F-97CB-D7CCA5E7D2E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32FE73-9063-4ECF-B462-8A86DEB3806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5E1FC3-1C9C-43B5-A939-B9D934BC9A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12A9A2-1E83-4FE0-BEA8-6795732983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7ECD0B-DED8-4CB7-A235-6544FF2764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1ADDEB1-4406-4D16-BE6D-181F03E462C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08512AD-3B6F-47CD-BE2C-211E5D7741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A7E424-B5ED-404D-81BB-0E99298679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DCCDC1-E105-4E9E-B15B-3CE1D6B450F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5F2844-0F90-4570-A5DF-41F27C325F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76CA6B-057A-4CB5-8BA7-59DD6015D5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2C805C-25F5-49C7-BA0A-555777E263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1DE03E-FD5D-4DCC-A2A5-6428157820B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0FBC53-1F73-4C85-9509-D6151F1E8D7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BA91151-3647-4916-AAA9-23A0950BC3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B825766-76A6-4203-B544-F875FA6EAC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7DBA086-25C6-44EB-8D0D-4B3FC6020E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692DC3F-3DA7-47E5-83E4-C4CECEA22B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BBE45B9-B03D-4C2D-8419-91B0F466B7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A3F79B8-CF9E-4B97-A66E-1CD701D688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04C350E-01FA-46B6-950E-AB0B37D785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417C724-301D-49C3-B8E2-1A3E615154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963A727-97CE-44E3-A980-BCCED2A824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4FC1B69-8DB6-4E2F-A105-BC77F2323AE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5ABC3D9-CFCD-4272-802F-A4804C7DBE3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BBE2E77-EEBD-4D89-B833-B2A2D651422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AB35F23-50F5-4A30-9E20-847F151198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145D65A-8200-4BB1-A94E-58C1827185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DD3EB71-3D39-47E1-920A-2625051FF2B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7AD627-5FBE-4CC0-B78C-76781A2B39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E5873C4-BA26-4008-8285-B9AD328D1A1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079DD86-E412-4BF8-B462-0846921BC4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4649870-8ABE-46B6-91B5-D41187479E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242C3D3-7DC6-4C0C-B4F9-99498D4768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8756B23-3810-47E9-8375-4A461797CD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034364B-306B-4F97-9BF2-8031D3AE8F8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322CEEC-25C9-4E21-B523-5A3C6CFDD47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FFB47A6-A414-4E5F-AE37-6BE7F1D7109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E39A7BC-1D4D-476E-A910-7F42B0E914F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440F368-89F9-4B25-918D-0075137A80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A436067-34D2-4982-8A10-08996C22C0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CB2A388-0CA8-4DD9-8752-EE4EEA9165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D44DBD8-BAF8-445E-8402-80CA21FAE7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54DDCA3-1277-4EB5-88A8-BD0352029A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A95B1F1-1FAA-4B1E-8F84-32B07B8B2E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9CBF546-3A66-4C72-9530-6FE6F6E536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9B47CA8-E43D-4FBB-BFDE-C0FC818CA2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3D9B84C-B464-4C38-8EBC-586286804E7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4DA1026-0530-45CC-8737-FE9AC294B75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19D29E6-9ECE-47EA-B264-55E802C3550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4EFE913-07B6-4C0A-8B75-7A0DD396BC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8C76858-2CD1-4305-B79E-96D71D6D35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50C11C9-41FF-4087-A97E-FB7C47CA5F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3B6972E-B1FD-4C40-9701-51AF3408EA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BFE233E-CADB-4E14-91A3-0E19C2B9D4F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154F257-E84B-408E-985E-A34CAB5608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8B8BDEE-2C77-4CD1-8C07-01154145DB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1B0C884-50CF-49C8-81FD-3EAD0B3BA2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CB981B5-1DAA-4FDD-8998-DB7A3E6977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6E0FA14-7CBB-4FDC-88B1-3B9512E3DB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A60DD75-46FA-4858-9F77-182193F953D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305835F-CEC7-42F1-BE9B-97F6E8EF160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73962E6-9ED3-405A-B716-67518A285C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8D41F25-1597-4A72-93DF-37B6CC0C24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A4B9619-6AF3-4852-8369-8150F3CF84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55C8E1B-19CA-424C-A14F-C25A067CA7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8A902C9-A569-4EC2-A31C-11DF4A36BF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E12DB29-553F-4E54-9FE9-EBE9F806545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7565314-20D4-4F82-B8B8-DCDAF8CEDE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7659C93-6AAF-4D99-932F-C64D0E5D9A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2A6BFAF-FBD6-4613-8D5A-9EBC22E786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BA21CB8-77CA-44A5-801B-F8F4851DC8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8F97CAC-42BA-4DCD-B1D2-93116E6687E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A510692-5C03-4661-9998-69B59D38E80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B163265-0BD8-49BB-8254-BBB2F45870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8EADCF7-DF55-438B-9AF8-E1A11F977F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D080846-4A83-4E41-AEB7-213BD64BFE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C23E8D3-4EA7-48D6-8469-B120DFB7266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F90E9DE-1A2B-400C-AF9C-4CE3A8BB42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E4A5CFF-398B-4699-85A5-74B6CE3AA6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DC9683C-864F-454A-8758-511D624698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70B2E86-3F05-46B2-9817-D58639F401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735ED95-808E-4DF7-AEB2-63AD098D17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5E33445-6541-4307-8053-9D85FC312D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3846666-5974-4BC4-AB27-ECD4982846E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988349F-1ABE-411A-B6C1-091CFCAB6E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9477007-D704-4AE9-A91D-C82013A5ED3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3E74118-AFB5-4075-B222-85B278BA6B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C2ECB01-D3DB-46B0-91DE-4A8E83F18A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FC9290F-9252-4E5E-939A-9905C78ADE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6238CC5-7634-40D2-BA18-CFEBD8105AD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C5A20F3-7CD0-4F82-B2C4-BFCA0695CD9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6C86B5F-13BD-44A2-8FC4-32E4EA4F1E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F50F8A7-BFB9-4D19-A894-DFE72E4D69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7E33ABD-1300-4BE4-9417-2D2ECC1BF6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BE055F2-236B-45A0-8DC8-33C0735BE5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5D808D2-3F8A-4005-879F-1F25A12E0C7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1B81974-7B6E-422C-B781-A00C34EBBE8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0EC8DA7-2FD7-4E4F-A072-BC91366D74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E37B47C-F77B-4333-9B2F-1EB78A2CD6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75A288D-4CF2-448E-AF9F-B60769C442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998E173-8A33-4F95-8A33-C6D6C56761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FFC888A-0E98-47DE-828C-D90208B9AFB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03E46E2-C0D5-43EB-A768-2D37F13B6C6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AA32996-509E-43AA-ABD4-EDEB3E93FE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4FB7AA0-3E2E-4C95-A988-B2C87AE523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BB1E974-E5ED-482E-9910-4EA1E578B40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D12FBD8-BCF6-4709-BF69-F4E24B48EEE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9355F58-97A5-4D36-8F19-16B8EEEA10F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AE1B903-F715-44BB-AFA1-74BA63F6A2C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7B09969-DAE9-450F-9894-D0F2AC1B58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0C0A11C-C767-4062-AEB3-E107C16D0C2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083162E-299C-43AC-B237-57148F6D62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82D8D46-B028-42AF-87D4-4ACF78DC933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3BABD18-2964-4D71-BD40-D4143252A4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CE5F96-AC94-4FD7-A9F1-BD1DF6096D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42D3A8F-6437-4048-B624-BC78FB3EC3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2B456FB-E335-4FAF-9899-BE8E9CE91F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6655DA9-4464-4863-BFC1-5B45CBD4C6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2D69982-40D3-4BBD-89C2-226C41C87C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870E6C7-08F0-499B-9D5A-4D3310A363E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C4C998E-0F68-4645-AA8D-26ABEB190E2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128C9E6-C226-4F67-9D4B-DFAF9E3627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5D251C5-6CD9-4842-9B8F-89B3CBEAB8D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ECE65C0-B322-4400-8645-59481446BB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9A452B4-9D65-48DA-B384-8A3B7A932AB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4514A09-503A-4530-BC59-7CB9EDEAC2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33D67ED-504F-4EEB-935D-B4E8DFAED9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AEB56A8-8A5C-45C6-8655-F53318BD1E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6418DDC1-6A73-42A4-AC09-F5BA5021D5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568A086-8AB5-46F5-9351-CA1B3D13A7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A2BA62A-9603-422D-8D3F-9EDA0F27F6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E91EA2B-271E-43FD-B055-B648D51DC25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EE6561F-5584-4A61-B22D-C3499FD4140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5BFBAE6-3CD4-4E1D-8BBB-07E15AE1DA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FB518DC-92EC-41C8-8DC0-8337FA23F89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3D2F1CA-FCDB-4B62-AFE5-38CA3E6974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47471A8-7AE4-4119-864D-1DA2B0F2E5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64940A9-3743-4C19-819B-F33D0BC29E4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BC9E239-7AD9-45E2-A9D7-4EDCF2C960A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846461C-FA67-483B-BA7A-F77C9959EB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76F1100-9322-4D66-A4C6-23FEC96122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A933BF6-7E6C-4D6C-A626-CF77D373AF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70CBC78-00D9-40F6-976A-41125B2265A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29AE52A-DE9F-4D8C-A1EC-AF7D7CB79C1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AF1F7E7-9ED5-45BA-9966-7C7B958D00A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78ADD9B-F4F8-49FD-9C20-8A337B7807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AADAE11-1DDF-4006-89BA-19162D18F1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420F9B5-B9B7-4473-B4C1-B09B3D5302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56CD59D-8780-412C-A5CC-D1B986FDDC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AA30B76-CC3C-4F5C-B0C8-0A20C86E63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2EC0241-C7DF-49BF-B938-DE86B87FAC1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A407384-CFA5-464A-A7DC-17D339A31E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B91CAFF-1AC1-48F3-A723-BA7D304529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6632E51-ABDC-49E0-B1B3-C6BF1D91F1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C75914F-DBA7-49AF-87BE-0D40BBCA92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705BB72-3799-4F33-8B8D-1CFDEABC1EB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0FF008B-6517-40AA-9FA3-C0BA46BEA2F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98F413C9-3F58-4A8F-BA6A-5635F3B214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F96ED2BA-5AEE-417E-B619-FC45F743F4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87D5331-7707-446D-B64F-42946BBB4E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64BA8E1-E2B7-4984-8875-34BD84973EF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B8C50EA-9EDE-4ECC-A3BC-CEBFEF2550B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5024382-E55D-48DF-A350-FC345525D78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90914E5-2972-4BBA-9568-A31D60CEFE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DA66F691-7321-410E-901E-512247CF6E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6DCAB05-9B59-40D3-9088-2431FE2922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52B093C-DE19-40AF-9D7A-EAD10790E0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F56D999-716D-410D-9F97-39F4D4E0C0A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6E663C3C-33C1-401C-B8AC-723542034A8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3576F0-054D-4204-8925-0D40C47D540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CECC60-266C-44DF-BD89-6172D36EAA9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B8A0E5-D3AE-4425-AA7F-BDD1DB839B3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F85E93-EAB3-422E-A67B-3CEDECD185C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3B3A5B-4259-46DE-80FE-2E6FBEE544A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4D5A38-0673-406A-B89B-F4CBC766624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C108CF-1F80-4C9B-85F5-92CD8D272FC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8E20E5-9234-49AA-8733-050BAE6DF96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2F1573-A108-495F-918D-28410509678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2AA7EE-BD6C-4B01-B62E-AED33CAC9CD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DE3CC4-39CB-4D1A-BDDE-40F41520B5D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C0789D-B85E-4294-BCDC-9FF9B9D464C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0AA461-24E9-4991-88C6-531D4911F1F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6F214A-90D0-449A-8A53-4E539E4EF75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3002CD-15DC-451A-9D08-C26FCD37677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Rectangle 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ounded Rectangle 17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Rounded Rectangle 20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21"/>
          <p:cNvSpPr/>
          <p:nvPr/>
        </p:nvSpPr>
        <p:spPr>
          <a:xfrm>
            <a:off x="914400" y="3108960"/>
            <a:ext cx="328464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Rounded Rectangle 22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23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Rounded Rectangle 24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ounded Rectangle 25"/>
          <p:cNvSpPr/>
          <p:nvPr/>
        </p:nvSpPr>
        <p:spPr>
          <a:xfrm>
            <a:off x="7955280" y="3108960"/>
            <a:ext cx="346860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Rectangle 32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3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4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5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6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8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9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40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41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42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43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44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45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46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47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ounded Rectangle 8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8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Rounded Rectangle 9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0"/>
          <p:cNvSpPr/>
          <p:nvPr/>
        </p:nvSpPr>
        <p:spPr>
          <a:xfrm>
            <a:off x="826200" y="2925720"/>
            <a:ext cx="3388320" cy="369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Rounded Rectangle 11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12"/>
          <p:cNvSpPr/>
          <p:nvPr/>
        </p:nvSpPr>
        <p:spPr>
          <a:xfrm>
            <a:off x="4434840" y="3108960"/>
            <a:ext cx="328464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Rounded Rectangle 13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ounded Rectangle 14"/>
          <p:cNvSpPr/>
          <p:nvPr/>
        </p:nvSpPr>
        <p:spPr>
          <a:xfrm>
            <a:off x="7955280" y="3108960"/>
            <a:ext cx="346860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Rectangle 160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61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62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63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64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65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66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67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168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169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170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171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172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173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174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75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ounded Rectangle 71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32"/>
          <p:cNvSpPr/>
          <p:nvPr/>
        </p:nvSpPr>
        <p:spPr>
          <a:xfrm>
            <a:off x="2312280" y="1679400"/>
            <a:ext cx="6373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Rounded Rectangle 72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ounded Rectangle 73"/>
          <p:cNvSpPr/>
          <p:nvPr/>
        </p:nvSpPr>
        <p:spPr>
          <a:xfrm>
            <a:off x="685800" y="2971800"/>
            <a:ext cx="351540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Rounded Rectangle 74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ounded Rectangle 75"/>
          <p:cNvSpPr/>
          <p:nvPr/>
        </p:nvSpPr>
        <p:spPr>
          <a:xfrm>
            <a:off x="4434840" y="3108960"/>
            <a:ext cx="32868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Rounded Rectangle 76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ounded Rectangle 77"/>
          <p:cNvSpPr/>
          <p:nvPr/>
        </p:nvSpPr>
        <p:spPr>
          <a:xfrm>
            <a:off x="7955280" y="2971800"/>
            <a:ext cx="369936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Rectangle 144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45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46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47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48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49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50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51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152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153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154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155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156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157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158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159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ounded Rectangle 64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Rounded Rectangle 65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ounded Rectangle 66"/>
          <p:cNvSpPr/>
          <p:nvPr/>
        </p:nvSpPr>
        <p:spPr>
          <a:xfrm>
            <a:off x="685800" y="3108960"/>
            <a:ext cx="351504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Rounded Rectangle 67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ounded Rectangle 68"/>
          <p:cNvSpPr/>
          <p:nvPr/>
        </p:nvSpPr>
        <p:spPr>
          <a:xfrm>
            <a:off x="4434840" y="3108960"/>
            <a:ext cx="32864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Rounded Rectangle 69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ounded Rectangle 70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Rectangle 48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49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50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51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52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53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54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55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56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57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58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59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60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61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62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63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ounded Rectangle 15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Rounded Rectangle 16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ounded Rectangle 18"/>
          <p:cNvSpPr/>
          <p:nvPr/>
        </p:nvSpPr>
        <p:spPr>
          <a:xfrm>
            <a:off x="685800" y="2743200"/>
            <a:ext cx="351324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Rounded Rectangle 19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ounded Rectangle 26"/>
          <p:cNvSpPr/>
          <p:nvPr/>
        </p:nvSpPr>
        <p:spPr>
          <a:xfrm>
            <a:off x="4343400" y="2743200"/>
            <a:ext cx="33760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Rounded Rectangle 27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ounded Rectangle 28"/>
          <p:cNvSpPr/>
          <p:nvPr/>
        </p:nvSpPr>
        <p:spPr>
          <a:xfrm>
            <a:off x="7955280" y="2971800"/>
            <a:ext cx="369720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Rectangle 80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81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82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83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84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85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86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87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88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89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90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91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92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93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94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95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ounded Rectangle 36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Rounded Rectangle 37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ounded Rectangle 38"/>
          <p:cNvSpPr/>
          <p:nvPr/>
        </p:nvSpPr>
        <p:spPr>
          <a:xfrm>
            <a:off x="685800" y="3108960"/>
            <a:ext cx="351360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Rounded Rectangle 3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ounded Rectangle 40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Rounded Rectangle 41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ounded Rectangle 42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Rectangle 64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65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66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67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68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69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70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71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72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73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74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75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76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77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78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79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ounded Rectangle 29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Rounded Rectangle 3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ounded Rectangle 31"/>
          <p:cNvSpPr/>
          <p:nvPr/>
        </p:nvSpPr>
        <p:spPr>
          <a:xfrm>
            <a:off x="457200" y="2971800"/>
            <a:ext cx="37422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Rounded Rectangle 3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ounded Rectangle 33"/>
          <p:cNvSpPr/>
          <p:nvPr/>
        </p:nvSpPr>
        <p:spPr>
          <a:xfrm>
            <a:off x="4343400" y="2971800"/>
            <a:ext cx="342324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Rounded Rectangle 3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ounded Rectangle 35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Rectangle 96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97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98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99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100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101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102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103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104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105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106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107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108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109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110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111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ounded Rectangle 43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Rounded Rectangle 44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ounded Rectangle 45"/>
          <p:cNvSpPr/>
          <p:nvPr/>
        </p:nvSpPr>
        <p:spPr>
          <a:xfrm>
            <a:off x="475560" y="2514600"/>
            <a:ext cx="372420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Rounded Rectangle 46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ounded Rectangle 47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Rounded Rectangle 48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ounded Rectangle 49"/>
          <p:cNvSpPr/>
          <p:nvPr/>
        </p:nvSpPr>
        <p:spPr>
          <a:xfrm>
            <a:off x="7955280" y="2514600"/>
            <a:ext cx="3697920" cy="3404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Rectangle 11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113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114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115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116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117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118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119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120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121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122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123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124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125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126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127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ounded Rectangle 50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Rounded Rectangle 51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ounded Rectangle 52"/>
          <p:cNvSpPr/>
          <p:nvPr/>
        </p:nvSpPr>
        <p:spPr>
          <a:xfrm>
            <a:off x="685800" y="2971800"/>
            <a:ext cx="351396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Rounded Rectangle 53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ounded Rectangle 54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Rounded Rectangle 55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ounded Rectangle 56"/>
          <p:cNvSpPr/>
          <p:nvPr/>
        </p:nvSpPr>
        <p:spPr>
          <a:xfrm>
            <a:off x="7955280" y="2971800"/>
            <a:ext cx="3469320" cy="296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Rectangle 128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129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130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131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132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133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134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135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136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137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138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139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140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141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142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143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ounded Rectangle 5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Rounded Rectangle 58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ounded Rectangle 59"/>
          <p:cNvSpPr/>
          <p:nvPr/>
        </p:nvSpPr>
        <p:spPr>
          <a:xfrm>
            <a:off x="685800" y="3108960"/>
            <a:ext cx="351468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0" name="Rounded Rectangle 60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ounded Rectangle 61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Rounded Rectangle 62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ounded Rectangle 63"/>
          <p:cNvSpPr/>
          <p:nvPr/>
        </p:nvSpPr>
        <p:spPr>
          <a:xfrm>
            <a:off x="7955280" y="3108960"/>
            <a:ext cx="347004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Rectangle 176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177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178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179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180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181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182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183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184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185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186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187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188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189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190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191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ounded Rectangle 7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TextBox 35"/>
          <p:cNvSpPr/>
          <p:nvPr/>
        </p:nvSpPr>
        <p:spPr>
          <a:xfrm>
            <a:off x="2356200" y="2057400"/>
            <a:ext cx="632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Rounded Rectangle 7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ounded Rectangle 80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6" name="Rounded Rectangle 8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ounded Rectangle 82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Rounded Rectangle 8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ounded Rectangle 84"/>
          <p:cNvSpPr/>
          <p:nvPr/>
        </p:nvSpPr>
        <p:spPr>
          <a:xfrm>
            <a:off x="7955280" y="2971800"/>
            <a:ext cx="369936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Rectangle 19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19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19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19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19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19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19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19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20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20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20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20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20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20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20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20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ounded Rectangle 85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TextBox 37"/>
          <p:cNvSpPr/>
          <p:nvPr/>
        </p:nvSpPr>
        <p:spPr>
          <a:xfrm>
            <a:off x="1242720" y="900360"/>
            <a:ext cx="8483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Rounded Rectangle 86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ounded Rectangle 87"/>
          <p:cNvSpPr/>
          <p:nvPr/>
        </p:nvSpPr>
        <p:spPr>
          <a:xfrm>
            <a:off x="595440" y="2743200"/>
            <a:ext cx="351576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Rounded Rectangle 88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ounded Rectangle 89"/>
          <p:cNvSpPr/>
          <p:nvPr/>
        </p:nvSpPr>
        <p:spPr>
          <a:xfrm>
            <a:off x="4343400" y="2880360"/>
            <a:ext cx="3654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Rounded Rectangle 90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ounded Rectangle 91"/>
          <p:cNvSpPr/>
          <p:nvPr/>
        </p:nvSpPr>
        <p:spPr>
          <a:xfrm>
            <a:off x="8229600" y="2972880"/>
            <a:ext cx="365400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Rectangle 20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20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1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21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21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21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21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21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21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21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21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21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22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22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22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22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ounded Rectangle 92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TextBox 41"/>
          <p:cNvSpPr/>
          <p:nvPr/>
        </p:nvSpPr>
        <p:spPr>
          <a:xfrm>
            <a:off x="2647440" y="1600200"/>
            <a:ext cx="5809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Rounded Rectangle 93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ounded Rectangle 94"/>
          <p:cNvSpPr/>
          <p:nvPr/>
        </p:nvSpPr>
        <p:spPr>
          <a:xfrm>
            <a:off x="457200" y="2743200"/>
            <a:ext cx="374472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Rounded Rectangle 95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ounded Rectangle 96"/>
          <p:cNvSpPr/>
          <p:nvPr/>
        </p:nvSpPr>
        <p:spPr>
          <a:xfrm>
            <a:off x="4434840" y="2971800"/>
            <a:ext cx="32875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Rounded Rectangle 9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ounded Rectangle 98"/>
          <p:cNvSpPr/>
          <p:nvPr/>
        </p:nvSpPr>
        <p:spPr>
          <a:xfrm>
            <a:off x="7955280" y="2514600"/>
            <a:ext cx="392868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2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Rectangle 224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225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226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227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228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229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230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231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232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233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234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235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236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237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238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239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ounded Rectangle 9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Box 44"/>
          <p:cNvSpPr/>
          <p:nvPr/>
        </p:nvSpPr>
        <p:spPr>
          <a:xfrm>
            <a:off x="2094480" y="2057400"/>
            <a:ext cx="678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Rounded Rectangle 10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ounded Rectangle 101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ounded Rectangle 10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ounded Rectangle 10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Rounded Rectangle 10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ounded Rectangle 105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8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Rectangle 240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241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242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243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244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245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246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247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248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249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250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251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252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253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254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255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ounded Rectangle 10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6" name="TextBox 46"/>
          <p:cNvSpPr/>
          <p:nvPr/>
        </p:nvSpPr>
        <p:spPr>
          <a:xfrm>
            <a:off x="1659960" y="1005840"/>
            <a:ext cx="7651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DATA LOSS &amp; PRECISION LOSS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TextBox 47"/>
          <p:cNvSpPr/>
          <p:nvPr/>
        </p:nvSpPr>
        <p:spPr>
          <a:xfrm>
            <a:off x="2286000" y="1826640"/>
            <a:ext cx="64310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may cause data loss when converting from a larger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 to a smaller one.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Decimal values can be removed and large values may overflow.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Rounded Rectangle 10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ounded Rectangle 108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Occurs in explicit (narrowing) casting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truncated (not rounded)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Smaller types cannot store full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May lead to incorrect results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loss happens especially with float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Rounded Rectangle 10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ounded Rectangle 110"/>
          <p:cNvSpPr/>
          <p:nvPr/>
        </p:nvSpPr>
        <p:spPr>
          <a:xfrm>
            <a:off x="4343400" y="3108960"/>
            <a:ext cx="337968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completely removed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rounding happens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Rounded Rectangle 11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ounded Rectangle 112"/>
          <p:cNvSpPr/>
          <p:nvPr/>
        </p:nvSpPr>
        <p:spPr>
          <a:xfrm>
            <a:off x="7955280" y="2971800"/>
            <a:ext cx="392940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DataLossExample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value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(int) 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System.out.println("Original: " + 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System.out.println("After casting: " + result);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bigValue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converted = (int) bigValue;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System.out.println("Float: " + bigValue);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System.out.println("Int: " + converted);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Rectangle 256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25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25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25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26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26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26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26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26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26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26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26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26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26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27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27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ounded Rectangle 11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TextBox 49"/>
          <p:cNvSpPr/>
          <p:nvPr/>
        </p:nvSpPr>
        <p:spPr>
          <a:xfrm>
            <a:off x="1458000" y="1005840"/>
            <a:ext cx="8055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TYPE CASTING IN EXPRESSIONS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Rounded Rectangle 11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ounded Rectangle 115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promotes smaller types in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Operations follow the largest data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 (in most cases)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converted to int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Rounded Rectangle 11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ounded Rectangle 117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= largest type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Rounded Rectangle 11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ounded Rectangle 119"/>
          <p:cNvSpPr/>
          <p:nvPr/>
        </p:nvSpPr>
        <p:spPr>
          <a:xfrm>
            <a:off x="7955280" y="2971800"/>
            <a:ext cx="3701520" cy="287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27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27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27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27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27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27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27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27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28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28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28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28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ectangle 28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28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ectangle 28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ectangle 28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ounded Rectangle 12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TextBox 52"/>
          <p:cNvSpPr/>
          <p:nvPr/>
        </p:nvSpPr>
        <p:spPr>
          <a:xfrm>
            <a:off x="1514160" y="1005840"/>
            <a:ext cx="7943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Box 53"/>
          <p:cNvSpPr/>
          <p:nvPr/>
        </p:nvSpPr>
        <p:spPr>
          <a:xfrm>
            <a:off x="1787760" y="2074680"/>
            <a:ext cx="7583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is a universal character encoding standard that allows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represent text from multiple languages consistently across platforms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Rounded Rectangle 12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ounded Rectangle 122"/>
          <p:cNvSpPr/>
          <p:nvPr/>
        </p:nvSpPr>
        <p:spPr>
          <a:xfrm>
            <a:off x="914400" y="3108960"/>
            <a:ext cx="32896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a global character set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has a unique code point (e.g.,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Replaced older encodings like ASCII and ISO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almost all world languages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uses Unicode internally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Rounded Rectangle 12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ounded Rectangle 124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(UTF-16) → Stored in Java →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Rounded Rectangle 12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ounded Rectangle 126"/>
          <p:cNvSpPr/>
          <p:nvPr/>
        </p:nvSpPr>
        <p:spPr>
          <a:xfrm>
            <a:off x="7955280" y="3108960"/>
            <a:ext cx="370224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Unicode for 'A'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7" name="" descr=""/>
          <p:cNvPicPr/>
          <p:nvPr/>
        </p:nvPicPr>
        <p:blipFill>
          <a:blip r:embed="rId1"/>
          <a:stretch/>
        </p:blipFill>
        <p:spPr>
          <a:xfrm>
            <a:off x="4589280" y="5029200"/>
            <a:ext cx="2650680" cy="506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Rectangle 28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28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29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29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29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29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29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29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29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ectangle 29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ectangle 29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ectangle 29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ectangle 30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ectangle 30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ectangle 30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ectangle 30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4" name="Rounded Rectangle 12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5" name="TextBox 55"/>
          <p:cNvSpPr/>
          <p:nvPr/>
        </p:nvSpPr>
        <p:spPr>
          <a:xfrm>
            <a:off x="2830320" y="1005840"/>
            <a:ext cx="531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How Unicode Works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TextBox 56"/>
          <p:cNvSpPr/>
          <p:nvPr/>
        </p:nvSpPr>
        <p:spPr>
          <a:xfrm>
            <a:off x="2163600" y="1846080"/>
            <a:ext cx="6643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assigns a unique number (code point) to every character,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regardless of platform, language, or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Rounded Rectangle 12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ounded Rectangle 129"/>
          <p:cNvSpPr/>
          <p:nvPr/>
        </p:nvSpPr>
        <p:spPr>
          <a:xfrm>
            <a:off x="685800" y="3108960"/>
            <a:ext cx="35186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Each character → Code Point (U+XXXX format)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is universal → same meaning everywhere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systems (UTF-8, UTF-16, UTF-32) define how these are stored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9" name="Rounded Rectangle 13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ounded Rectangle 131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→ Encoding → Binary → Display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Screen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1" name="Rounded Rectangle 13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ounded Rectangle 133"/>
          <p:cNvSpPr/>
          <p:nvPr/>
        </p:nvSpPr>
        <p:spPr>
          <a:xfrm>
            <a:off x="7955280" y="2514600"/>
            <a:ext cx="393120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System.out.println("Character: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Code Point: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usage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Rectangle 1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1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1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2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2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2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2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2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2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ectangle 2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4" name="Rectangle 2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ectangle 2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6" name="Rectangle 2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ectangle 3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8" name="Rectangle 3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9" name="Rectangle 304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0" name="Rounded Rectangle 134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1" name="TextBox 58"/>
          <p:cNvSpPr/>
          <p:nvPr/>
        </p:nvSpPr>
        <p:spPr>
          <a:xfrm>
            <a:off x="2830320" y="1005840"/>
            <a:ext cx="531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How Unicode Works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TextBox 59"/>
          <p:cNvSpPr/>
          <p:nvPr/>
        </p:nvSpPr>
        <p:spPr>
          <a:xfrm>
            <a:off x="2163600" y="1846080"/>
            <a:ext cx="6643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assigns a unique number (code point) to every character,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regardless of platform, language, or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Rounded Rectangle 135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ounded Rectangle 136"/>
          <p:cNvSpPr/>
          <p:nvPr/>
        </p:nvSpPr>
        <p:spPr>
          <a:xfrm>
            <a:off x="528480" y="2851200"/>
            <a:ext cx="3814560" cy="3320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05" name="Rounded Rectangle 137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ounded Rectangle 138"/>
          <p:cNvSpPr/>
          <p:nvPr/>
        </p:nvSpPr>
        <p:spPr>
          <a:xfrm>
            <a:off x="4482000" y="309960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Unicode Code Point (U+XXXX)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Choose Encoding (UTF-8 / UTF-16)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Convert to Binary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Display on Screen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Rounded Rectangle 139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ounded Rectangle 140"/>
          <p:cNvSpPr/>
          <p:nvPr/>
        </p:nvSpPr>
        <p:spPr>
          <a:xfrm>
            <a:off x="7955280" y="2286000"/>
            <a:ext cx="3931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array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array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0" name="" descr=""/>
          <p:cNvPicPr/>
          <p:nvPr/>
        </p:nvPicPr>
        <p:blipFill>
          <a:blip r:embed="rId1"/>
          <a:stretch/>
        </p:blipFill>
        <p:spPr>
          <a:xfrm>
            <a:off x="585720" y="3429000"/>
            <a:ext cx="3729960" cy="2117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Rectangle 305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306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307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308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309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310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311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312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ectangle 313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0" name="Rectangle 314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ectangle 315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2" name="Rectangle 316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ectangle 317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ectangle 318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5" name="Rectangle 319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6" name="Rectangle 320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ounded Rectangle 141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TextBox 61"/>
          <p:cNvSpPr/>
          <p:nvPr/>
        </p:nvSpPr>
        <p:spPr>
          <a:xfrm>
            <a:off x="2571840" y="1005840"/>
            <a:ext cx="58276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Escape Sequences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Box 62"/>
          <p:cNvSpPr/>
          <p:nvPr/>
        </p:nvSpPr>
        <p:spPr>
          <a:xfrm>
            <a:off x="2514600" y="1828800"/>
            <a:ext cx="67860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Unicode characters can be written using escape sequences,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even if they are not directly available on the keyboard.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allows all characters to be safely represented within the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Rounded Rectangle 142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ounded Rectangle 143"/>
          <p:cNvSpPr/>
          <p:nvPr/>
        </p:nvSpPr>
        <p:spPr>
          <a:xfrm>
            <a:off x="685800" y="2971800"/>
            <a:ext cx="35190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Unicode characters are written in the format \uXXXX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values (0–9, A–F)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Unicode character has a unique code point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type uses Unicode (UTF-16)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allows support for all world languages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2" name="Rounded Rectangle 144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ounded Rectangle 145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→ Unicode Code Point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Stored as char in Java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Example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4" name="Rounded Rectangle 146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ounded Rectangle 147"/>
          <p:cNvSpPr/>
          <p:nvPr/>
        </p:nvSpPr>
        <p:spPr>
          <a:xfrm>
            <a:off x="7955280" y="3108960"/>
            <a:ext cx="3474360" cy="283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6" name="TextBox 63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2026-04-06T22:34:20Z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