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09C089B-C01B-4179-8226-3822FAC7799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F8EC7A9-82BA-4B6A-AB13-C7F48C64A7D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BC65285-DFDE-4681-A422-A89FACBB75C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CADCEA0-BE5C-4A1B-992F-1E80E4C5D49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9BCC4F3-6E4F-4A7C-8EE5-B01DF9E2D40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27F9209-BCEC-4C94-B0F7-452D4F9968C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64BCD00-3BA9-4815-AA00-206F1D5708E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516E500-990C-4985-99CC-305F60F4267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BD2AF66-F382-49BC-A4B9-B515A6896DA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C4C7A27-2B70-4307-BE9A-2F6CE891985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8FBD3AF-1267-4A30-A1F7-CEEB846BE68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D4D2D8E-19FC-40AF-A9A3-56B312A89DD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49477DB-DF7C-4939-BBA0-B0B97BA130C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5691C77-8C63-40D6-B921-6553F489E13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70F4166-EA07-446E-A560-8F0E6D00291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F9ACA5C-83FF-4325-B5A4-4A9E7FB71A4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7E10E66-200B-4C6D-9E71-075340DCCD4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5BBE4F1-4E74-46AF-A2D1-19B4DDA4EB0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4D03EEA-727E-41B4-82C9-F1817EB4F89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AA14DAA-4EC4-4442-95F7-846DC9E70A3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ED9BADE-8722-48E3-97AC-AC71D0503E4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E316BE1-42A9-4637-8B5C-20F2F54A212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1201A5B-AE8E-401B-9EFC-42127FFF2B6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B7C1487-76C2-4B72-9C00-A3236944FB3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96CDD28-181E-4458-B6C7-5AD6DD084ED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11E2EC9-9EFD-40BC-AD90-733E345BB11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E3C8B0F-A936-4011-8027-9DB50FCD7AF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D03C2EC-7CFA-40FB-AFBC-96B9E929469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3C76CDC-5D57-4862-ABE5-44E31EB7E75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2D7889A-24ED-4FED-8A09-BF9765D7051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195DFAC-0648-4E85-A381-E3D88B02224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5F54F97-17E3-43CB-A490-245BFBA52EE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9E3783B-1735-4C8D-B7C4-E6B0831087E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0287705-56A4-4453-9DA2-5491F06A337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FAD22DD-1E88-4711-AD08-9D8F8C1E03D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AC3D315-5DF6-44C3-AF90-7AB56D6468F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CBA0F7A-80A9-499E-9E7C-CA1B55AA746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C565ED3-5F52-45D2-AE77-1CD5A858631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6FD78B4-76EA-4923-86DA-7B262F99C82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67F42B5-867B-41FE-A02A-9C93E44D6F3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882C72F-4579-411E-BB68-3644E159BB7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6762D08-E8CD-4CFD-810E-68F8F81CDE8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4F8A48D-C3AA-4E6D-A2EF-44864467594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A842FCF-ED6C-4FC2-A430-08EC4A05E33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0EEAAF7-A3AF-4393-86D4-7EBBDBF491C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3B73CD0-54DC-4E21-B858-EAB7FCED391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2B1B920-F0D7-4DB9-899F-158CC6110BA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9FC7105-91EF-41E3-86B3-C430AD0AFA4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3FB4D2F-65F2-43D1-ABAF-53AF5B1BFB1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12110BF-E6C1-49C9-B1EC-DDCAD89E343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4830DDD-0557-486F-BFC4-E1B3806E769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820F316-23BD-483D-AA57-B7B53105E3B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563ADAD-EF46-49B6-B27A-02CA623B37E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5D1C159-E616-4174-835E-EFB9BAE0B62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7FCEF28-C6B5-4A46-A77A-77BBCD380DB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26BC2E2-9EB3-4580-AA45-3EA0AAC4661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79F6E26-E7FD-42CC-A167-94AFD6A9A7C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2CE7DE1-C349-4C70-A132-3787E812432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22BC891-8E90-4237-BAF8-7D46C189752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2673626-AD40-4961-BB46-722D64A4673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054C224-0FE1-478F-B487-4969ADBA900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476F57A-8C86-4312-ABAE-59D8476863B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16CEB8F-8DF0-4224-AA23-090308682D2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724B288-89A3-47E4-ACCD-281D585F3B4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05E2CE3-294F-4D9B-8F55-949D082301B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9BDEF5F-5B84-4D75-9B85-FDE8D1F2EA8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2FB625D-C32E-44A2-98B9-1C7A941461C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ADD9702-8AA7-4A29-B312-DB168C8F848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1930D5E-6E80-4BE1-B296-771A2401581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44516EB-BDC9-46AD-BDA6-CCE8DB0C290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77A1451-A001-43EB-8931-6F96547CAB3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2411839-1816-4656-B5D5-D51FF0AA285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47CB65D-9940-4CA6-8EB1-F7E33993B57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B5FED3D-D1A2-4D7C-8CC0-7F8EAC125B0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7965CA8-7F9E-425D-99C2-3A0A282C295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B73351F-194B-499B-8222-201F0F7FC79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370422D-4449-42C9-AD81-89BDA8942D3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5F32162-5865-4469-97EB-1A08A3FEB1C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F920CAF-6D7B-4A31-A8B2-1ED5B25AE48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CC1D6D2-BF95-4F80-8CFC-209D26DBF19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3D75931-22CD-44B4-87A2-759F21FE1FA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0DC49EE-3A80-459F-87F5-1CEC6FCE6C8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D1A33C2-691D-4DB0-8EF6-040C2931603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993596D-28E9-40E6-9CCE-7DAAE2AA71D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4A284FD-56A5-4FF5-A49A-1E8EDC8A70F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0C3E6DB-7FCF-46D2-923A-0AD6EE56BBC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00E0556-AC81-40BD-AC5F-DD809900B9E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55A5A42-425A-4BAB-88DC-7E4B69337B2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21DB83E-808E-437A-891C-33C0CE4597E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6713213-2861-467E-9689-B97CF1CC5EF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5E52A68-0B18-4A1D-B496-6B718233775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91E4918-6DB0-4B21-9C8A-499E2B8ED48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AE476DD-D97C-4B46-9622-A591E863ECE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5D93AE2-9745-44C8-91B6-1C694E2086C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C18B89A-356E-4ECA-A784-506C57A2E18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CCFD91D-1457-45F5-8E2C-F2427295D49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7663D63-2EAF-4CFA-AE96-DF487A74321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631B819-807A-4E1F-9647-0A6D4419C40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6B7424D-402B-49D4-B502-556C4E592D1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FE20BDB-B50F-4065-ACFC-708123A2277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E1AE538-8192-475B-BA1C-70FA9C139F6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FB28390-2025-4337-9FD4-8AE5156792F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205D740-8D98-428E-A989-A5584954098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CDF46B2-04C0-4454-9E4D-1B2FB0F3605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Rectangle 1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2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3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4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5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6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7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8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9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0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1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2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3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4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5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6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ounded Rectangle 17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TextBox 18"/>
          <p:cNvSpPr/>
          <p:nvPr/>
        </p:nvSpPr>
        <p:spPr>
          <a:xfrm>
            <a:off x="1730160" y="1005840"/>
            <a:ext cx="7509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SANAL MAKİNESİ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TextBox 19"/>
          <p:cNvSpPr/>
          <p:nvPr/>
        </p:nvSpPr>
        <p:spPr>
          <a:xfrm>
            <a:off x="3707640" y="2057400"/>
            <a:ext cx="35553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çalıştıran motor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Rounded Rectangle 20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ounded Rectangle 21"/>
          <p:cNvSpPr/>
          <p:nvPr/>
        </p:nvSpPr>
        <p:spPr>
          <a:xfrm>
            <a:off x="685800" y="2521440"/>
            <a:ext cx="3423960" cy="3324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(JVM), Java bytecode’unu çalıştıran sanal bir çalışma zamanı motorudur.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programlarının herhangi bir platformda çalışmasına olanak sağlar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makine koduna değil, bytecode’a derlenir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bytecode’u makineye özgü talimatlara çevirir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JVM’in Sorumlulukları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bağımsızlığı (Bir Kez Yaz, Her Yerde Çalıştır)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Bytecode’un çalıştırılması (Yorumlayıcı + JIT Derleyici)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(Çöp Toplama / 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Kontrollü bir çalışma ortamı sayesinde güvenlik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Java programları ile işletim sistemi arasında bir köprü görevi görür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Rounded Rectangle 22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ounded Rectangle 23"/>
          <p:cNvSpPr/>
          <p:nvPr/>
        </p:nvSpPr>
        <p:spPr>
          <a:xfrm>
            <a:off x="443484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İşletim Sistemi / CPU için Makine Kodu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Rounded Rectangle 24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ounded Rectangle 25"/>
          <p:cNvSpPr/>
          <p:nvPr/>
        </p:nvSpPr>
        <p:spPr>
          <a:xfrm>
            <a:off x="795528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Rectangle 32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33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34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35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36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37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38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39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40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41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42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43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44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45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46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47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ounded Rectangle 8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TextBox 4"/>
          <p:cNvSpPr/>
          <p:nvPr/>
        </p:nvSpPr>
        <p:spPr>
          <a:xfrm>
            <a:off x="3660120" y="1005840"/>
            <a:ext cx="364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Mimarisi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Box 5"/>
          <p:cNvSpPr/>
          <p:nvPr/>
        </p:nvSpPr>
        <p:spPr>
          <a:xfrm>
            <a:off x="3961440" y="2194560"/>
            <a:ext cx="30477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SANAL MAKİNESİNİN İÇİ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Rounded Rectangle 9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ounded Rectangle 10"/>
          <p:cNvSpPr/>
          <p:nvPr/>
        </p:nvSpPr>
        <p:spPr>
          <a:xfrm>
            <a:off x="91440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 mimarisi, Java programlarını çalıştırmak için birlikte çalışan temel bileşenlerden oluşur.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Loader, sınıf dosyalarını belleğe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Areas, çalışma sırasında verileri depolar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Engine, bytecode’u çalıştırır (Yorumlayıcı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Collector, kullanılmayan nesneleri otomatik olarak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bileşenler, Java programlarının işletim sisteminden bağımsız olarak güvenli, verimli ve kararlı şekilde çalışmasını sağlar.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Rounded Rectangle 11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ounded Rectangle 12"/>
          <p:cNvSpPr/>
          <p:nvPr/>
        </p:nvSpPr>
        <p:spPr>
          <a:xfrm>
            <a:off x="443484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Çalışma Zamanı Veri Alanları (Runtime Data Areas)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Çöp Toplayıcı (Garbage Collector)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Rounded Rectangle 13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ounded Rectangle 14"/>
          <p:cNvSpPr/>
          <p:nvPr/>
        </p:nvSpPr>
        <p:spPr>
          <a:xfrm>
            <a:off x="795528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Çalışıyor");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Süreç Akışı: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Yükle ⇒ Belleğe Kaydet ⇒ Çalıştır ⇒ Belleği Temizle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Rectangle 48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7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8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9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0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2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3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4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5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6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7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8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9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30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31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ounded Rectangle 15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5" name="TextBox 7"/>
          <p:cNvSpPr/>
          <p:nvPr/>
        </p:nvSpPr>
        <p:spPr>
          <a:xfrm>
            <a:off x="1713960" y="1005840"/>
            <a:ext cx="7543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Yürütme Süreci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TextBox 8"/>
          <p:cNvSpPr/>
          <p:nvPr/>
        </p:nvSpPr>
        <p:spPr>
          <a:xfrm>
            <a:off x="2170440" y="2194560"/>
            <a:ext cx="66308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JVM’in bir Java programını arka planda adım adım nasıl çalıştırdığı.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Rounded Rectangle 16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ounded Rectangle 18"/>
          <p:cNvSpPr/>
          <p:nvPr/>
        </p:nvSpPr>
        <p:spPr>
          <a:xfrm>
            <a:off x="475560" y="2743200"/>
            <a:ext cx="3725280" cy="310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Bir Java programı başladığında, JVM akıllı bir yürütme süreci 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İlk olarak Class Loader, derlenmiş .class dosyalarını belleğe yükler ve güvenlik açısından kontrol eder.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Daha sonra bellek, Heap (nesneler için) ve Stack (metot çağrıları ve değişkenler için) gibi alanlara ayrılır.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Ardından Execution Engine programı çalıştırır.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Interpreter bytecode’u satır satır okur, JIT Compiler ise sık kullanılan kodları daha hızlı çalışması için makine koduna çevirir.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Son olarak Garbage Collector, kullanılmayan nesneleri bellekten otomatik olarak temizler.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Bu süreç sayesinde Java programları güvenli, verimli bir şekilde ve JVM bulunan her sistemde çalışır.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Rounded Rectangle 19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ounded Rectangle 26"/>
          <p:cNvSpPr/>
          <p:nvPr/>
        </p:nvSpPr>
        <p:spPr>
          <a:xfrm>
            <a:off x="4343400" y="2918520"/>
            <a:ext cx="3515040" cy="292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sınıfları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Makine Kodu Çalıştırma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belleği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Rounded Rectangle 27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ounded Rectangle 28"/>
          <p:cNvSpPr/>
          <p:nvPr/>
        </p:nvSpPr>
        <p:spPr>
          <a:xfrm>
            <a:off x="8023680" y="2743200"/>
            <a:ext cx="3836520" cy="319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mesaj = "JVM Yürütme Başladı";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System.out.println(mesaj);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sayilariTopla(5,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sonuc);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sayilariTopla(int sayi1, int sayi2)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sayi1 + sayi2;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Rectangle 64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49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50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51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52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53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54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55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56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57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58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59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60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61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62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63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ounded Rectangle 29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TextBox 11"/>
          <p:cNvSpPr/>
          <p:nvPr/>
        </p:nvSpPr>
        <p:spPr>
          <a:xfrm>
            <a:off x="3609720" y="2194560"/>
            <a:ext cx="37504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Temel Bileşenlerini Anlamak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Rounded Rectangle 30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ounded Rectangle 31"/>
          <p:cNvSpPr/>
          <p:nvPr/>
        </p:nvSpPr>
        <p:spPr>
          <a:xfrm>
            <a:off x="685800" y="2971800"/>
            <a:ext cx="3515400" cy="319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Java, uygulamaları geliştirmek ve çalıştırmak için birlikte çalışan üç temel katmandan oluşur.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Sanal Makinesi)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bytecode’u çalıştırır ve Java’yı platformdan bağımsız hale getirir.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Çalışma Ortamı)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uygulamalarını çalıştırmak için gereken her şeyi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Geliştirme Kiti)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 geliştirmek için gerekli araçları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Şöyle düşünebilirsin: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Motor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Motor + Yakıt Sistemi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Tüm Arabanın Üretildiği Fabrika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Rounded Rectangle 32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ounded Rectangle 33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(Derleyici + Geliştirme Araçları)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dosyaları)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(Kütüphaneler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(Çalıştırma Motoru)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Makine Kodu (İşletim Sistemi / 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Rounded Rectangle 34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ounded Rectangle 35"/>
          <p:cNvSpPr/>
          <p:nvPr/>
        </p:nvSpPr>
        <p:spPr>
          <a:xfrm>
            <a:off x="795528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JDK ile derleme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JRE üzerinden çalıştırma (arka planda JVM kullanılır)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System.out.println("JDK, JRE ve JVM’i Anlıyoruz!");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Rectangle 80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65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66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67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68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69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70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71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72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73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74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75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76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77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78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79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ounded Rectangle 36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" name="TextBox 13"/>
          <p:cNvSpPr/>
          <p:nvPr/>
        </p:nvSpPr>
        <p:spPr>
          <a:xfrm>
            <a:off x="2175120" y="1005840"/>
            <a:ext cx="662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KURULUMU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Box 14"/>
          <p:cNvSpPr/>
          <p:nvPr/>
        </p:nvSpPr>
        <p:spPr>
          <a:xfrm>
            <a:off x="2093040" y="2194560"/>
            <a:ext cx="67845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derlemek ve çalıştırmak için sistemi hazırlar.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Bunu, JDK’yı kurarak ve sistem değişkenlerini yapılandırarak yaparız.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Rounded Rectangle 37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ounded Rectangle 38"/>
          <p:cNvSpPr/>
          <p:nvPr/>
        </p:nvSpPr>
        <p:spPr>
          <a:xfrm>
            <a:off x="91440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derleyici (javac) ve çalıştırma ortamını (java) içerir.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ve JAVA_HOME gibi sistem değişkenleri, komut satırının Java’yı bulmasını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kurulum sayesinde Java programları sistemin her yerinden derlenip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" name="Rounded Rectangle 39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ounded Rectangle 40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indir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Bilgisayarına kur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bin klasörünü PATH değişkenine ekle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Terminalden doğrula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Rounded Rectangle 41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ounded Rectangle 42"/>
          <p:cNvSpPr/>
          <p:nvPr/>
        </p:nvSpPr>
        <p:spPr>
          <a:xfrm>
            <a:off x="795528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Komut İstemine şunları yaz: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Rectangle 81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82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83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84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85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86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87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88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89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90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91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92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93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94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95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96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ounded Rectangle 43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" name="TextBox 16"/>
          <p:cNvSpPr/>
          <p:nvPr/>
        </p:nvSpPr>
        <p:spPr>
          <a:xfrm>
            <a:off x="1023840" y="1005840"/>
            <a:ext cx="8922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DEĞİŞKENLERİNİ YAPILANDIRMA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Box 17"/>
          <p:cNvSpPr/>
          <p:nvPr/>
        </p:nvSpPr>
        <p:spPr>
          <a:xfrm>
            <a:off x="-904320" y="2194560"/>
            <a:ext cx="127936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Ortam değişkenleri, Java’nın sistemde nerede kurulu olduğunu belirtir ve araçların ile komutların herhangi bir klasörden düzgün çalışmasını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Rounded Rectangle 44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ounded Rectangle 45"/>
          <p:cNvSpPr/>
          <p:nvPr/>
        </p:nvSpPr>
        <p:spPr>
          <a:xfrm>
            <a:off x="91440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JAVA_HOME, JDK’nın kurulu olduğu klasörü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PATH, Java’nın bin klasörünü içerir, böylece Java araçları terminal/komut istemcisinden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Bunlar ayarlanmazsa Java komutları çalışmayabilir.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" name="Rounded Rectangle 46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ounded Rectangle 47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Kuruldu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C:\Program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PATH’e ekle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 javac komutlarını çalıştır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Rounded Rectangle 48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ounded Rectangle 49"/>
          <p:cNvSpPr/>
          <p:nvPr/>
        </p:nvSpPr>
        <p:spPr>
          <a:xfrm>
            <a:off x="795528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Rectangle 97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98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99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100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101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102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103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104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105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106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107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108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109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110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111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112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ounded Rectangle 50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" name="TextBox 21"/>
          <p:cNvSpPr/>
          <p:nvPr/>
        </p:nvSpPr>
        <p:spPr>
          <a:xfrm>
            <a:off x="1706400" y="1005840"/>
            <a:ext cx="7557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KURULDUKTAN SONRA NE OLUR?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TextBox 22"/>
          <p:cNvSpPr/>
          <p:nvPr/>
        </p:nvSpPr>
        <p:spPr>
          <a:xfrm>
            <a:off x="4241160" y="2194560"/>
            <a:ext cx="24962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Ortam Kurulumundan Sonra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Rounded Rectangle 51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ounded Rectangle 52"/>
          <p:cNvSpPr/>
          <p:nvPr/>
        </p:nvSpPr>
        <p:spPr>
          <a:xfrm>
            <a:off x="91440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kurulduktan ve yapılandırıldıktan sonra, sisteminiz artık Java programlarını derleyip çalıştırmaya hazırdır.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.java uzantılı kaynak dosyalar oluşturabilirsiniz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javac derleyicisi, kaynak kodu bytecode (.class) dosyasına çevirir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JVM, bu bytecode'u çalıştırır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Programınız artık JVM bulunan herhangi bir sistemde çalışabilir.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Kurulum tamamlandı — artık Java geliştirmeye başlayabilirsiniz.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" name="Rounded Rectangle 53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ounded Rectangle 54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Yaz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javac ile Derle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Dosyası Oluşur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komutu ile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Programı Çalıştırır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 Ekranda Görünür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Rounded Rectangle 55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ounded Rectangle 56"/>
          <p:cNvSpPr/>
          <p:nvPr/>
        </p:nvSpPr>
        <p:spPr>
          <a:xfrm>
            <a:off x="795528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ortamı hazır!");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113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114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115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116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117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118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119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120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121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122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123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124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125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126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127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128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ounded Rectangle 57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" name="TextBox 24"/>
          <p:cNvSpPr/>
          <p:nvPr/>
        </p:nvSpPr>
        <p:spPr>
          <a:xfrm>
            <a:off x="2983320" y="1005840"/>
            <a:ext cx="5003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GELİŞTİRME İŞ AKIŞI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TextBox 25"/>
          <p:cNvSpPr/>
          <p:nvPr/>
        </p:nvSpPr>
        <p:spPr>
          <a:xfrm>
            <a:off x="1775880" y="2057400"/>
            <a:ext cx="743400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ortam kurulumu tamamlandıktan sonra geliştiricilerin Java programlarını oluşturmak,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test etmek ve geliştirmek için izlediği temel adım adım süreci açıklar.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Rounded Rectangle 58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ounded Rectangle 59"/>
          <p:cNvSpPr/>
          <p:nvPr/>
        </p:nvSpPr>
        <p:spPr>
          <a:xfrm>
            <a:off x="91440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Kurulumdan sonra Java programlama şu basit geliştirme döngüsünü izler: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yaz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derle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Gerekirse hataları düzelt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Süreci tekrarla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döngü, gerçek dünyadaki Java yazılımlarının nasıl geliştirildiğini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" name="Rounded Rectangle 60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ounded Rectangle 61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Kodu Yaz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Çıktıyı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Hata Varsa → Kodu Düzelt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Tekrar Derle ve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Rounded Rectangle 62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ounded Rectangle 63"/>
          <p:cNvSpPr/>
          <p:nvPr/>
        </p:nvSpPr>
        <p:spPr>
          <a:xfrm>
            <a:off x="795528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Rectangle 129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130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131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132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133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134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135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136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137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138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139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140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141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142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143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144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ounded Rectangle 64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" name="TextBox 28"/>
          <p:cNvSpPr/>
          <p:nvPr/>
        </p:nvSpPr>
        <p:spPr>
          <a:xfrm>
            <a:off x="3053160" y="1005840"/>
            <a:ext cx="4862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KURULUM TÜRLERİ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TextBox 29"/>
          <p:cNvSpPr/>
          <p:nvPr/>
        </p:nvSpPr>
        <p:spPr>
          <a:xfrm>
            <a:off x="1154520" y="2194560"/>
            <a:ext cx="8674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Farklı Java dağıtımları ve kurulum türleri, geliştirme veya üretim (production) ihtiyaçlarına göre esneklik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Rounded Rectangle 65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ounded Rectangle 66"/>
          <p:cNvSpPr/>
          <p:nvPr/>
        </p:nvSpPr>
        <p:spPr>
          <a:xfrm>
            <a:off x="91440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Java’yı kurmanın birden fazla yolu vardır: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Oracle JDK (Resmi dağıtım)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OpenJDK (Açık kaynak sürüm)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(Uzun Süreli Destek) sürümleri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olmayan sürümler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sürümleri (örneğin Java 17, 21) kararlılık ve uzun vadeli projeler için önerilir.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dağıtımı seçmek; uyumluluk, güvenlik güncellemeleri ve uzun süreli destek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" name="Rounded Rectangle 67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ounded Rectangle 68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Sürüm Seç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Dağıtımı İndir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Kur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Güncelle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Kurulumu Doğrula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Rounded Rectangle 69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ounded Rectangle 70"/>
          <p:cNvSpPr/>
          <p:nvPr/>
        </p:nvSpPr>
        <p:spPr>
          <a:xfrm>
            <a:off x="795528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javac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Linux: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Detaylı sürüm bilgisi kontrolü: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Rectangle 145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146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147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148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149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150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151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152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153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154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155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156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157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158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159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160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ounded Rectangle 71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" name="TextBox 31"/>
          <p:cNvSpPr/>
          <p:nvPr/>
        </p:nvSpPr>
        <p:spPr>
          <a:xfrm>
            <a:off x="1023120" y="1005840"/>
            <a:ext cx="8924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YAYGIN KURULUM SORUNLARI VE ÇÖZÜMLERİ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TextBox 32"/>
          <p:cNvSpPr/>
          <p:nvPr/>
        </p:nvSpPr>
        <p:spPr>
          <a:xfrm>
            <a:off x="2109960" y="2194560"/>
            <a:ext cx="67633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Yanlış ortam (environment) yapılandırması, Java’nın düzgün çalışmasını engelleyebilir.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Rounded Rectangle 72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ounded Rectangle 73"/>
          <p:cNvSpPr/>
          <p:nvPr/>
        </p:nvSpPr>
        <p:spPr>
          <a:xfrm>
            <a:off x="91440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Sorunlar: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'java is not recognized as an internal or external command' hatası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JAVA_HOME yolu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değişkeninin güncellenmemesi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Birden fazla Java sürümünün çakışması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yerine sadece JRE’nin kurulmuş olması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Çoğu sorun, ortam değişkenlerinin hatalı ayarlanmasından kaynaklanır.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" name="Rounded Rectangle 74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ounded Rectangle 75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Hata ortaya çıkar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doğrula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Terminali yeniden başlat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Sorun çözülür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" name="Rounded Rectangle 76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ounded Rectangle 77"/>
          <p:cNvSpPr/>
          <p:nvPr/>
        </p:nvSpPr>
        <p:spPr>
          <a:xfrm>
            <a:off x="7955280" y="3108960"/>
            <a:ext cx="328716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%PATH%</a:t>
            </a:r>
            <a:br>
              <a:rPr sz="1400"/>
            </a:b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Linux / Mac: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$PATH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Geçici olarak JAVA_HOME ayarlama (Linux/Mac):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Rectangle 161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162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163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164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165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166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167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168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169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170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171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172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173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174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175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176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ounded Rectangle 78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3" name="TextBox 34"/>
          <p:cNvSpPr/>
          <p:nvPr/>
        </p:nvSpPr>
        <p:spPr>
          <a:xfrm>
            <a:off x="3134520" y="1005840"/>
            <a:ext cx="469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SÜRÜM YÖNETİMİ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TextBox 35"/>
          <p:cNvSpPr/>
          <p:nvPr/>
        </p:nvSpPr>
        <p:spPr>
          <a:xfrm>
            <a:off x="2258640" y="2194560"/>
            <a:ext cx="64677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Birden fazla Java sürümünü yönetmek ve aralarında güvenli şekilde geçiş yapmak.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Rounded Rectangle 79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ounded Rectangle 80"/>
          <p:cNvSpPr/>
          <p:nvPr/>
        </p:nvSpPr>
        <p:spPr>
          <a:xfrm>
            <a:off x="457200" y="2971800"/>
            <a:ext cx="3782160" cy="319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Bazen aynı sistemde birden fazla Java sürümü yüklü olabilir.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17 (LTS – Uzun Süreli Destek)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21 (LTS – Uzun Süreli Destek)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eski sürüm (Java 8)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Farklı projeler farklı sürümler gerektirebilir.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Sürümler doğru şekilde yönetilmezse: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PATH çakışmaları oluşur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JDK proje derler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Build araçları (Maven / Gradle) hata verir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 sürüm yönetimi çakışmaları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" name="Rounded Rectangle 81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ounded Rectangle 82"/>
          <p:cNvSpPr/>
          <p:nvPr/>
        </p:nvSpPr>
        <p:spPr>
          <a:xfrm>
            <a:off x="4434840" y="3108960"/>
            <a:ext cx="3287160" cy="283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Yüklü sürümleri kontrol et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klasörlerini bul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değişkenini güncelle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 güncelle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Terminali yeniden başlat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Şu komutlarla doğrula: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javac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" name="Rounded Rectangle 83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ounded Rectangle 84"/>
          <p:cNvSpPr/>
          <p:nvPr/>
        </p:nvSpPr>
        <p:spPr>
          <a:xfrm>
            <a:off x="8001000" y="2743200"/>
            <a:ext cx="34264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Mevcut sürümü kontrol 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Aktif JAVA_HOME değişkenini göster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     (Windows)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      (Linux/Mac)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Örnek sürüm klasörleri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17 → /jdk-17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21 → /jdk-21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Sürüm değişiminden sonra kontrol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Rectangle 177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178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179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180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181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182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183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184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185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186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187"/>
          <p:cNvSpPr/>
          <p:nvPr/>
        </p:nvSpPr>
        <p:spPr>
          <a:xfrm>
            <a:off x="821232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188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189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190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191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192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ounded Rectangle 85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9" name="TextBox 37"/>
          <p:cNvSpPr/>
          <p:nvPr/>
        </p:nvSpPr>
        <p:spPr>
          <a:xfrm>
            <a:off x="2876040" y="1005840"/>
            <a:ext cx="5219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TextBox 38"/>
          <p:cNvSpPr/>
          <p:nvPr/>
        </p:nvSpPr>
        <p:spPr>
          <a:xfrm>
            <a:off x="1742040" y="2013840"/>
            <a:ext cx="76291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Java geliştiricisinin yazdığı ilk programdır.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 Java uygulamasının temel yapısını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tanıtır ve kodun Java Sanal Makinesi (JVM) içinde nasıl çalıştırıldığını gösterir.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Rounded Rectangle 86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ounded Rectangle 87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Java programı bir class ile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 çalışması main() metodundan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çıktıyı konsola yazdırır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bytecode’a derlenir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Bytecode, JVM içerisinde çalıştırılır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Fikir: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Hello World, Java kaynak kodunun nasıl çalışabilir çıktıya dönüştüğünü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3" name="Rounded Rectangle 88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ounded Rectangle 89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Kodunu Yaz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ile Çalıştır (java)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Konsol Çıktısı → Hello World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5" name="Rounded Rectangle 90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ounded Rectangle 91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Rectangle 193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194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195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196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197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198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199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200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201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202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203"/>
          <p:cNvSpPr/>
          <p:nvPr/>
        </p:nvSpPr>
        <p:spPr>
          <a:xfrm>
            <a:off x="821232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204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205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206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207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208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ounded Rectangle 92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5" name="TextBox 40"/>
          <p:cNvSpPr/>
          <p:nvPr/>
        </p:nvSpPr>
        <p:spPr>
          <a:xfrm>
            <a:off x="658080" y="1005840"/>
            <a:ext cx="965448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 PROGRAMINI ANLAMAK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TextBox 41"/>
          <p:cNvSpPr/>
          <p:nvPr/>
        </p:nvSpPr>
        <p:spPr>
          <a:xfrm>
            <a:off x="2366640" y="2013840"/>
            <a:ext cx="63792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Hello World programı basit görünse de, her Java uygulamasının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temel yapısını ve çalışma mantığını içerir.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Rounded Rectangle 93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ounded Rectangle 94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programı çalışmaya main() metodundan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her yerden erişilebilir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nesne oluşturmadan çalışır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void → metod geriye değer döndürmez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String[] args → komut satırı parametreleri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Ana Fikir: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main() metodu, Java uygulamasının başlangıç noktasıdır.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9" name="Rounded Rectangle 95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ounded Rectangle 96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main() metodunu arar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main() içindeki komutlar çalışır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çalışır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Metin konsolda görüntülenir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1" name="Rounded Rectangle 97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ounded Rectangle 98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3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Rectangle 225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209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210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211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212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213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214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215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216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217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218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ectangle 219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220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221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222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223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ounded Rectangle 99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1" name="TextBox 43"/>
          <p:cNvSpPr/>
          <p:nvPr/>
        </p:nvSpPr>
        <p:spPr>
          <a:xfrm>
            <a:off x="2463840" y="1005840"/>
            <a:ext cx="6044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TEMEL SÖZDİZİMİ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TextBox 44"/>
          <p:cNvSpPr/>
          <p:nvPr/>
        </p:nvSpPr>
        <p:spPr>
          <a:xfrm>
            <a:off x="2525760" y="2194560"/>
            <a:ext cx="5919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Temel Sözdizimi, bir Java programını yazmak ve çalıştırmak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için gereken temel kuralları ve yapıyı ifade eder.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Rounded Rectangle 100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ounded Rectangle 101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Temel Sözdizimi, Java programlarının temel yazım kurallarıdır.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Tüm kodlar bir class içinde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Program main() metodu ile başlar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Kod satırları noktalı virgül ( ; ) ile biter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{ } işaretleri kod bloklarını belirtir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büyük/küçük harfe duyarlıdır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5" name="Rounded Rectangle 102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ounded Rectangle 103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Yüklenir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main() Metodu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 Satırları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Biter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7" name="Rounded Rectangle 104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ounded Rectangle 105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BasicSyntax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System.out.println("Selam Java!");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Rectangle 224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226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227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228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229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230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231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232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233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234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235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ectangle 236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ectangle 237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ectangle 238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239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240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ounded Rectangle 106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7" name="TextBox 46"/>
          <p:cNvSpPr/>
          <p:nvPr/>
        </p:nvSpPr>
        <p:spPr>
          <a:xfrm>
            <a:off x="802080" y="1005840"/>
            <a:ext cx="93679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TANIMLAYICILAR (IDENTIFIERS)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TextBox 47"/>
          <p:cNvSpPr/>
          <p:nvPr/>
        </p:nvSpPr>
        <p:spPr>
          <a:xfrm>
            <a:off x="1519920" y="2194560"/>
            <a:ext cx="79322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Tanımlayıcılar, Java’da sınıf, değişken ve metot gibi elemanlara verilen isimlerdir.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Rounded Rectangle 107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ounded Rectangle 108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Tanımlayıcıları için Kurallar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harf, $ veya _ ile başlamalıdır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 karakterden sonra her türlü kombinasyon kullanılabilir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(keywords) tanımlayıcı olarak kullanılamaz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tanımlayıcıları büyük/küçük harfe duyarlıdır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İsimler anlamlı ve okunabilir olmalıdır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1" name="Rounded Rectangle 109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ounded Rectangle 110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İsim Tanımlanır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 Karakter Kontrol Edilir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Kontrol Edilir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Tanımlayıcı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İçinde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3" name="Rounded Rectangle 111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ounded Rectangle 112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$salary = 5000;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_value = 10;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__1_value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Geçersiz örnekler: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123abc;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-salary;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5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Rectangle 257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241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242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243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244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245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246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247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248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ectangle 249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ectangle 250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ectangle 251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ectangle 252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ectangle 253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254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255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ounded Rectangle 113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3" name="TextBox 49"/>
          <p:cNvSpPr/>
          <p:nvPr/>
        </p:nvSpPr>
        <p:spPr>
          <a:xfrm>
            <a:off x="3572280" y="550800"/>
            <a:ext cx="38253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Modifiers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TextBox 50"/>
          <p:cNvSpPr/>
          <p:nvPr/>
        </p:nvSpPr>
        <p:spPr>
          <a:xfrm>
            <a:off x="849960" y="1388880"/>
            <a:ext cx="94485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Tanımlayıcılar (Identifiers); sınıflar, değişkenler ve metotlar gibi Java öğelerine verilen isimlerdir.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Rounded Rectangle 114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ounded Rectangle 115"/>
          <p:cNvSpPr/>
          <p:nvPr/>
        </p:nvSpPr>
        <p:spPr>
          <a:xfrm>
            <a:off x="685800" y="2286000"/>
            <a:ext cx="3517560" cy="4342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Modifiers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Modifier’lar, sınıfların, metotların ve değişkenlerin erişim seviyesini ve davranışını belirler.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Kontrol ettikleri: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Görünürlük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Kalıtım (Inheritance)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Değiştirilebilirlik (Mutability)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Metot ezme (Method overriding)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Erişim Belirleyiciler (Access Modifiers)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Her yerden erişilebilir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private → Sadece sınıf içinden erişilebilir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 → Aynı paket + alt sınıflar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default → Sadece aynı paket içinde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Erişim Dışı Belirleyiciler (Non-Access Modifiers)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final → Değiştirilemez / override edilemez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abstract → Alt sınıfta uygulanmalıdır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Sınıfa aittir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volatile → Bellek görünürlüğünü garanti eder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7" name="Rounded Rectangle 116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ounded Rectangle 117"/>
          <p:cNvSpPr/>
          <p:nvPr/>
        </p:nvSpPr>
        <p:spPr>
          <a:xfrm>
            <a:off x="4434840" y="2286000"/>
            <a:ext cx="328896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Modifier’lar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ERİŞİM BELİRLEYİCİLERİ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public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private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default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ERİŞİM DIŞI BELİRLEYİCİLER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abstract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volatile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Rounded Rectangle 118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ounded Rectangle 119"/>
          <p:cNvSpPr/>
          <p:nvPr/>
        </p:nvSpPr>
        <p:spPr>
          <a:xfrm>
            <a:off x="7955280" y="2743200"/>
            <a:ext cx="328896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Car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String brand;      // Erişim belirleyici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count;   // Erişim dışı belirleyici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Car(String brand)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this.brand = brand;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count++;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final void displayBrand()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System.out.println("Marka: " + brand);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1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Rectangle 256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258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259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260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261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262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263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ectangle 264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ectangle 265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ectangle 266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ectangle 267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ectangle 268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ectangle 269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ectangle 270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271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272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ounded Rectangle 120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9" name="TextBox 52"/>
          <p:cNvSpPr/>
          <p:nvPr/>
        </p:nvSpPr>
        <p:spPr>
          <a:xfrm>
            <a:off x="3239640" y="1005840"/>
            <a:ext cx="44942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Değişkenleri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TextBox 53"/>
          <p:cNvSpPr/>
          <p:nvPr/>
        </p:nvSpPr>
        <p:spPr>
          <a:xfrm>
            <a:off x="1310400" y="2013840"/>
            <a:ext cx="83491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verileri depolamak için kullanılan isimlendirilmiş bellek alanlarıdır.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bir veri tipine sahiptir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bilginin program içinde nasıl saklandığını, erişildiğini ve işlendiğini belirler.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Rounded Rectangle 121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ounded Rectangle 122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Türleri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 (Local Variable)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Metot içinde tanımlanır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Sadece metot çalıştığı sürece var olur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 Değişken (Instance Variable)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Sınıf içinde tanımlanır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Her nesneye aittir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 (Static Variable)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anahtar kelimesi ile tanımlanır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Tüm nesneler arasında paylaşılır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3" name="Rounded Rectangle 123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ounded Rectangle 124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Kategorileri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boolean, long,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 (Reference Types)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String, Diziler (Arrays), 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5" name="Rounded Rectangle 125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ounded Rectangle 126"/>
          <p:cNvSpPr/>
          <p:nvPr/>
        </p:nvSpPr>
        <p:spPr>
          <a:xfrm>
            <a:off x="7955280" y="2971800"/>
            <a:ext cx="328896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Student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name;            // Örnek değişken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school = "Tech University";  // Statik değişken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display()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20;       // Yerel değişken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 + " - " + age + " - " + school);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7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Rectangle 273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274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275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276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277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278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ectangle 279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ectangle 280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ectangle 281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ectangle 282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ectangle 283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ectangle 284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ectangle 285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ectangle 286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287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288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ounded Rectangle 127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5" name="TextBox 55"/>
          <p:cNvSpPr/>
          <p:nvPr/>
        </p:nvSpPr>
        <p:spPr>
          <a:xfrm>
            <a:off x="3756960" y="1005840"/>
            <a:ext cx="34578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ENUMS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TextBox 56"/>
          <p:cNvSpPr/>
          <p:nvPr/>
        </p:nvSpPr>
        <p:spPr>
          <a:xfrm>
            <a:off x="1149480" y="1828800"/>
            <a:ext cx="962964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Bir enum (Enumeration’ın kısaltması), Java’da sabit bir değer kümesini tanımlamak için kullanılan özel bir veri tipidir.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Java sözdiziminin (syntax) bir parçasıdır çünkü class, int veya String gibi yeni bir tür tanımlar.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Enum’lar, değerleri önceden tanımlanmış sabitlerle sınırlandırarak programları daha güvenli ve daha okunabilir hale getirir.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Rounded Rectangle 128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ounded Rectangle 129"/>
          <p:cNvSpPr/>
          <p:nvPr/>
        </p:nvSpPr>
        <p:spPr>
          <a:xfrm>
            <a:off x="685800" y="2743200"/>
            <a:ext cx="3519000" cy="388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Enum Nedir?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referans tipidir.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Sabit değer gruplarını temsil etmek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enum anahtar kelimesi ile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Tip güvenliği sağlar (type safety).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Neden Enum Kullanırız?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Normal bir String kullanımı: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String day = "MONDA";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kod derlenir, ancak yanlıştır.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Day day = Day.MONDAY;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200"/>
            </a:b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Eğer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MONDA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yazarsanız, derleyici hata verir.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da demektir ki enum’lar, hatalı değerleri derleme zamanında engeller.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9" name="Rounded Rectangle 130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ounded Rectangle 131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Enum tanımlanır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sabit nesneler oluşturur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EnumName.VALUE şeklinde erişilir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tanımlı değerler kullanılabilir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1" name="Rounded Rectangle 132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ounded Rectangle 133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enum Level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LOW,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MEDIUM,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HIGH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Test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Level myLevel = Level.MEDIUM;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System.out.println(myLevel);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3" name="TextBox 57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Rectangle 289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290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291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292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293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294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ectangle 295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ectangle 296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2" name="Rectangle 297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ectangle 298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ectangle 299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ectangle 300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ectangle 301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ectangle 302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ectangle 303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ectangle 304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ounded Rectangle 134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1" name="TextBox 58"/>
          <p:cNvSpPr/>
          <p:nvPr/>
        </p:nvSpPr>
        <p:spPr>
          <a:xfrm>
            <a:off x="1930320" y="1005840"/>
            <a:ext cx="7110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ANAHTAR KELİMELERİ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TextBox 59"/>
          <p:cNvSpPr/>
          <p:nvPr/>
        </p:nvSpPr>
        <p:spPr>
          <a:xfrm>
            <a:off x="3064320" y="1826640"/>
            <a:ext cx="488412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Ayrılmış Kelimeler (Reserved Words) &amp; Açıklama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Rounded Rectangle 135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ounded Rectangle 136"/>
          <p:cNvSpPr/>
          <p:nvPr/>
        </p:nvSpPr>
        <p:spPr>
          <a:xfrm>
            <a:off x="685800" y="2286000"/>
            <a:ext cx="3517920" cy="4343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Anahtar Kelimeleri Nedir?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Anahtar Kelimeleri, Java dilinde önceden tanımlanmış özel anlamlara sahip ayrılmış kelimelerdir.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 kelimeler: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ismi olarak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Sınıf ismi olarak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Yeniden tanımlanamaz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 için özel anlam taşır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Şunları tanımlar: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Erişim seviyeleri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Kontrol akışı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Sınıf yapısı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davranışı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şu anda 50’den fazla ayrılmış anahtar kelime bulunmaktadır.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5" name="Rounded Rectangle 137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ounded Rectangle 138"/>
          <p:cNvSpPr/>
          <p:nvPr/>
        </p:nvSpPr>
        <p:spPr>
          <a:xfrm>
            <a:off x="4434840" y="3108960"/>
            <a:ext cx="328932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ERİŞİM        TİPLER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public           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private         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     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KONTROL      OOP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                   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else               extends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                  new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while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7" name="Rounded Rectangle 139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ounded Rectangle 140"/>
          <p:cNvSpPr/>
          <p:nvPr/>
        </p:nvSpPr>
        <p:spPr>
          <a:xfrm>
            <a:off x="8001000" y="2057400"/>
            <a:ext cx="3657600" cy="4572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Student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String name;      // private anahtar kelimesi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protected int age;        // protected anahtar kelimesi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Student(String name, int age)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this.name = name;     // this anahtar kelimesi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this.age = age;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printInfo()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if(age &gt; 18) {        // if anahtar kelimesi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System.out.println("Yetişkin");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System.out.println("Küçük");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9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2026-02-23T22:31:57Z</dcterms:modified>
  <cp:revision>37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