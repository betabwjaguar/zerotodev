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0080625" cy="7559675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B414F85-EFD0-49DA-A47F-477FFD2463C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CF39FD7-64BD-4E6D-86FE-CE8D6A1CBF7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C083660-C3D8-4518-A161-E286B96285F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83F729D-0733-43F8-A88F-F230F5C7E87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7711AF6-6616-40A2-B7DF-2027DF7DF95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6DABA25-3A28-4114-AAEA-79F3D493B16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6532882-D59B-4754-A88A-1A8AA8C9DFE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DC5F2BC-17A9-4CD2-90DD-9DEAE8C82A5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57878AD-5065-4A15-98CF-326E41EEE5F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BA493D6-775C-4FA4-B537-3AA4A824791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05C4BAF-759D-460E-858B-AD1B1BD76FF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9D5CCCF-95E2-42FA-970D-C6287E1EEFD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2320" y="7005240"/>
            <a:ext cx="3185640" cy="39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3040" y="7005240"/>
            <a:ext cx="2346120" cy="39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0057E27-FBD0-4620-B211-B81080C4A4E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2920" y="7005240"/>
            <a:ext cx="2346120" cy="39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1440" y="1800"/>
            <a:ext cx="13430520" cy="7553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144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100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201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302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402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503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604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705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806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906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1007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108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209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310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1440" y="1800"/>
            <a:ext cx="346680" cy="7553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10884960" y="401400"/>
            <a:ext cx="2211120" cy="547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4376880" y="1107000"/>
            <a:ext cx="3334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824120" y="2266200"/>
            <a:ext cx="90950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Java programming language and the topics covered in this presentation.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108684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1006560" y="342576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Introduce the Java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Explain core concepts and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Build a strong foundation for Java development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9683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886640" y="342576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is Java?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Will You Learn?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History</a:t>
            </a:r>
            <a:br>
              <a:rPr sz="1800"/>
            </a:b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	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...more!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8491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8767440" y="342576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Introduction for Java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1440" y="1800"/>
            <a:ext cx="13430520" cy="7553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144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100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201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302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402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503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604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705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806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906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1007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108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209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310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1440" y="1800"/>
            <a:ext cx="346680" cy="7553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10884960" y="401400"/>
            <a:ext cx="2211120" cy="547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4249800" y="1107000"/>
            <a:ext cx="3590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is Java?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3414600" y="2266200"/>
            <a:ext cx="59097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a high-level, object-oriented programming language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designed to be platform-independent and reliable.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108684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1006560" y="3425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High-level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(OOP) approach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 using JVM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Secure and robust by design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enterprise and web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9683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886640" y="3425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Virtual Machine (JVM)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Operating System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8491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8767440" y="342576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System.out.println("Hello, Java!");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1440" y="1800"/>
            <a:ext cx="13430520" cy="7553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144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100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201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302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402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503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604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705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806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906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1007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108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209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310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1440" y="1800"/>
            <a:ext cx="346680" cy="7553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10884960" y="401400"/>
            <a:ext cx="2211120" cy="547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3248280" y="1107000"/>
            <a:ext cx="5594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Will You Learn?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3017520" y="2266200"/>
            <a:ext cx="6703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key topics and skills covered in this Java course.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108684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1006560" y="342576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Understand Java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Learn object-oriented programming concepts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Write and run Java programs  • Build a strong programming foundation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9683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886640" y="342432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Syntax &amp; Basics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&amp; Data Types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Control Flow (if / loops)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Methods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Programming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8491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8767440" y="3425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System.out.println("Positive");}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3; i++)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1440" y="1800"/>
            <a:ext cx="13430520" cy="7553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144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100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201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302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402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503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604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705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806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906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1007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108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209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310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1440" y="1800"/>
            <a:ext cx="346680" cy="7553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10884960" y="401400"/>
            <a:ext cx="2211120" cy="547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4443480" y="1107000"/>
            <a:ext cx="3200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890720" y="2266200"/>
            <a:ext cx="89625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was born and why it became one of the most powerful programming languages.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108684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1006560" y="3425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Beginning (1990)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was created at Sun Microsystems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Developed by James Gosling and his team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Originally called Oak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Initial goal: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for consumer electronics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TVs, set-top boxes, embedded 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Key problem: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hardware, different software ❌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We needed one language that could run everywhere.”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9683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886640" y="3425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Compiled to Bytecode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Runs on 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Works on every OS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Released in 1995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Built for the Internet era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8491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8767440" y="3425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History Begins!");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1995;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(year &gt;= 1995)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is born");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1440" y="1800"/>
            <a:ext cx="13430520" cy="7553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144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100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201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302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402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503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604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705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806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906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1007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108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209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310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1440" y="1800"/>
            <a:ext cx="346680" cy="7553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10884960" y="401400"/>
            <a:ext cx="2211120" cy="547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634120" y="1107000"/>
            <a:ext cx="68227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The Problem Before Java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3651840" y="2266200"/>
            <a:ext cx="54374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Why the world needed a new programming language.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108684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679680" y="3273840"/>
            <a:ext cx="4030200" cy="3168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Chaos (Early 1990s)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situation: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computers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processors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operating systems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worked on one machine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Failed on another ❌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Big issue: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Developers had to rewrite the same software again and again.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once” did NOT exist yet.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9683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886640" y="342576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Why Existing Languages Failed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 / C++ → Hardware dependent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Platform-specific binaries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Memory management issues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Security problems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Main pain: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One system = one build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i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universal solution.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8491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767440" y="3425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Before Java philosophy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Code depended on hardware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device = 1991;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(device != 1995)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System.out.println("Rewrite the software!");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1440" y="1800"/>
            <a:ext cx="13430520" cy="7553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144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100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201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302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402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503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604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705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806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906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1007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108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209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310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1440" y="1800"/>
            <a:ext cx="346680" cy="7553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10884960" y="401400"/>
            <a:ext cx="2211120" cy="547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678320" y="1107000"/>
            <a:ext cx="87429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 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The Oak Project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4784760" y="2266200"/>
            <a:ext cx="3169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idea that later became Java.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108684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1006560" y="342432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Project Oak (1991)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 internal project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Led by James Gosling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Small, focused team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Original name: Oak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Purpose: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for smart devices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(TVs, set-top boxes, embedded systems)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9683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8"/>
          <p:cNvSpPr/>
          <p:nvPr/>
        </p:nvSpPr>
        <p:spPr>
          <a:xfrm>
            <a:off x="88491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ounded Rectangle 49"/>
          <p:cNvSpPr/>
          <p:nvPr/>
        </p:nvSpPr>
        <p:spPr>
          <a:xfrm>
            <a:off x="8767440" y="342576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OakIdea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runEverywhere = true;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(runEverywhere)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System.out.println("This idea will change software");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Box 2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Rounded Rectangle 1"/>
          <p:cNvSpPr/>
          <p:nvPr/>
        </p:nvSpPr>
        <p:spPr>
          <a:xfrm>
            <a:off x="4941000" y="344988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Core Idea Behind Oak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Simple syntax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Strong security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direct hardware dependency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Revolutionary thought: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One language for many devices.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same code should run everywhere.”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1440" y="1800"/>
            <a:ext cx="13430520" cy="7553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144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100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201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302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402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503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604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705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806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906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1007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108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209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310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1440" y="1800"/>
            <a:ext cx="346680" cy="7553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47"/>
          <p:cNvSpPr/>
          <p:nvPr/>
        </p:nvSpPr>
        <p:spPr>
          <a:xfrm>
            <a:off x="10884960" y="401400"/>
            <a:ext cx="2211120" cy="547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1764720" y="1107360"/>
            <a:ext cx="85752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From Oak to Java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3970080" y="2266200"/>
            <a:ext cx="4798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Oak became Java and found its real purpose.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0"/>
          <p:cNvSpPr/>
          <p:nvPr/>
        </p:nvSpPr>
        <p:spPr>
          <a:xfrm>
            <a:off x="108684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1"/>
          <p:cNvSpPr/>
          <p:nvPr/>
        </p:nvSpPr>
        <p:spPr>
          <a:xfrm>
            <a:off x="1006560" y="3425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Turning Point (1994)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What went wrong?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Smart TV market failed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Oak had no commercial future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Project almost canceled ❌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But something changed…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Internet started to grow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Web browsers became popular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Need for portable, secure code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realization: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future is not TVs — it’s the Web.”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2"/>
          <p:cNvSpPr/>
          <p:nvPr/>
        </p:nvSpPr>
        <p:spPr>
          <a:xfrm>
            <a:off x="49683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3"/>
          <p:cNvSpPr/>
          <p:nvPr/>
        </p:nvSpPr>
        <p:spPr>
          <a:xfrm>
            <a:off x="88491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ounded Rectangle 54"/>
          <p:cNvSpPr/>
          <p:nvPr/>
        </p:nvSpPr>
        <p:spPr>
          <a:xfrm>
            <a:off x="8767440" y="3425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WebFuture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internetEra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(internetEra)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is ready for the Web!"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TextBox 2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Rounded Rectangle 55"/>
          <p:cNvSpPr/>
          <p:nvPr/>
        </p:nvSpPr>
        <p:spPr>
          <a:xfrm>
            <a:off x="4941000" y="344952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Web Opportunity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Why Oak was perfect for the Internet?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Secure by design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Small &amp; efficient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 direct hardware dependency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New direction: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devices → browsers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Oak → Java ☕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1995: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officially introduced to the world.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1440" y="1800"/>
            <a:ext cx="13430520" cy="7553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144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100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201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302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402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503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604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705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806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906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1007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108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209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310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1440" y="1800"/>
            <a:ext cx="346680" cy="7553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6"/>
          <p:cNvSpPr/>
          <p:nvPr/>
        </p:nvSpPr>
        <p:spPr>
          <a:xfrm>
            <a:off x="10884960" y="401400"/>
            <a:ext cx="2211120" cy="547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179640" y="1107360"/>
            <a:ext cx="117500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Philosophy – Write Once, Run Anywhere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3797640" y="2266200"/>
            <a:ext cx="5146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idea that changed software development forever.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7"/>
          <p:cNvSpPr/>
          <p:nvPr/>
        </p:nvSpPr>
        <p:spPr>
          <a:xfrm>
            <a:off x="108684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8"/>
          <p:cNvSpPr/>
          <p:nvPr/>
        </p:nvSpPr>
        <p:spPr>
          <a:xfrm>
            <a:off x="1006560" y="3425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Promise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Before 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OS = one build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Recompile for every system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High maintenance cost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With 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source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compiled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Runs everywhere 🌍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Famous slogan: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59"/>
          <p:cNvSpPr/>
          <p:nvPr/>
        </p:nvSpPr>
        <p:spPr>
          <a:xfrm>
            <a:off x="49683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0"/>
          <p:cNvSpPr/>
          <p:nvPr/>
        </p:nvSpPr>
        <p:spPr>
          <a:xfrm>
            <a:off x="88491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ounded Rectangle 61"/>
          <p:cNvSpPr/>
          <p:nvPr/>
        </p:nvSpPr>
        <p:spPr>
          <a:xfrm>
            <a:off x="8767440" y="3425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Anywhere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os = System.getProperty("os.name");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"Running on: " + os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"Same code. Same result."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TextBox 27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Rounded Rectangle 62"/>
          <p:cNvSpPr/>
          <p:nvPr/>
        </p:nvSpPr>
        <p:spPr>
          <a:xfrm>
            <a:off x="4941000" y="345096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How It Works (Simple View)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execution model: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JVM (per OS)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Runs on any platform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16920" y="1800"/>
            <a:ext cx="13430520" cy="7553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144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100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201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302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402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503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604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705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806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906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1007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108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209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310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1440" y="1800"/>
            <a:ext cx="346680" cy="7553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3"/>
          <p:cNvSpPr/>
          <p:nvPr/>
        </p:nvSpPr>
        <p:spPr>
          <a:xfrm>
            <a:off x="10884960" y="401400"/>
            <a:ext cx="2211120" cy="547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3444480" y="1107360"/>
            <a:ext cx="52164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Goes Enterprise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4513680" y="2266200"/>
            <a:ext cx="3713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entered large-scale systems.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4"/>
          <p:cNvSpPr/>
          <p:nvPr/>
        </p:nvSpPr>
        <p:spPr>
          <a:xfrm>
            <a:off x="108684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5"/>
          <p:cNvSpPr/>
          <p:nvPr/>
        </p:nvSpPr>
        <p:spPr>
          <a:xfrm>
            <a:off x="1006560" y="3425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 the late 1990s, the Internet rapidly expanded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Companies needed software that could scale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Security became a critical requirement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Systems had to run on different operating systems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solved these problems with: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Strong object-oriented design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security features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became the preferred language for enterprise systems.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6"/>
          <p:cNvSpPr/>
          <p:nvPr/>
        </p:nvSpPr>
        <p:spPr>
          <a:xfrm>
            <a:off x="49683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7"/>
          <p:cNvSpPr/>
          <p:nvPr/>
        </p:nvSpPr>
        <p:spPr>
          <a:xfrm>
            <a:off x="88491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ounded Rectangle 68"/>
          <p:cNvSpPr/>
          <p:nvPr/>
        </p:nvSpPr>
        <p:spPr>
          <a:xfrm>
            <a:off x="8767440" y="3425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enters the enterprise world!");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TextBox 3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Rounded Rectangle 69"/>
          <p:cNvSpPr/>
          <p:nvPr/>
        </p:nvSpPr>
        <p:spPr>
          <a:xfrm>
            <a:off x="4941000" y="345096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adoption path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Web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Databases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16920" y="1800"/>
            <a:ext cx="13430520" cy="7553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144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100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201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302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402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503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604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705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806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906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1007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108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209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310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1440" y="1800"/>
            <a:ext cx="346680" cy="7553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0"/>
          <p:cNvSpPr/>
          <p:nvPr/>
        </p:nvSpPr>
        <p:spPr>
          <a:xfrm>
            <a:off x="10884960" y="401400"/>
            <a:ext cx="2211120" cy="547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2260440" y="1107360"/>
            <a:ext cx="75877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Java Versions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4847040" y="2266200"/>
            <a:ext cx="3046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evolved step by step.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1"/>
          <p:cNvSpPr/>
          <p:nvPr/>
        </p:nvSpPr>
        <p:spPr>
          <a:xfrm>
            <a:off x="108684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2"/>
          <p:cNvSpPr/>
          <p:nvPr/>
        </p:nvSpPr>
        <p:spPr>
          <a:xfrm>
            <a:off x="1006560" y="342432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After 1994, Java changed direction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language was renamed from Oak to Java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started to be developed for the Web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 decided to release Java publicly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this point on, Java versions began to appear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en-US" sz="1500" spc="-1" strike="noStrike" u="sng">
                <a:solidFill>
                  <a:schemeClr val="lt1"/>
                </a:solidFill>
                <a:uFillTx/>
                <a:latin typeface="Calibri"/>
                <a:ea typeface="DejaVu Sans"/>
              </a:rPr>
              <a:t>Key idea: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Each version improved Java without breaking the old ones.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3"/>
          <p:cNvSpPr/>
          <p:nvPr/>
        </p:nvSpPr>
        <p:spPr>
          <a:xfrm>
            <a:off x="49683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4"/>
          <p:cNvSpPr/>
          <p:nvPr/>
        </p:nvSpPr>
        <p:spPr>
          <a:xfrm>
            <a:off x="88491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ounded Rectangle 75"/>
          <p:cNvSpPr/>
          <p:nvPr/>
        </p:nvSpPr>
        <p:spPr>
          <a:xfrm>
            <a:off x="8767440" y="3425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JavaVersionIntro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keeps evolving version by version.");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TextBox 3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Rounded Rectangle 76"/>
          <p:cNvSpPr/>
          <p:nvPr/>
        </p:nvSpPr>
        <p:spPr>
          <a:xfrm>
            <a:off x="4941000" y="345096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versions are not rewrites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are gradual improvements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New features + same core idea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Philosophy: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improve forever.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16920" y="1800"/>
            <a:ext cx="13430520" cy="7553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144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100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201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302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402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503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604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705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806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906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1007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108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209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310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1440" y="1800"/>
            <a:ext cx="346680" cy="7553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7"/>
          <p:cNvSpPr/>
          <p:nvPr/>
        </p:nvSpPr>
        <p:spPr>
          <a:xfrm>
            <a:off x="10884960" y="401400"/>
            <a:ext cx="2211120" cy="547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1610280" y="1107360"/>
            <a:ext cx="8890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The Enterprise Boom (2000–2005)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3708360" y="2266200"/>
            <a:ext cx="5324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became the backbone of enterprise software.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8"/>
          <p:cNvSpPr/>
          <p:nvPr/>
        </p:nvSpPr>
        <p:spPr>
          <a:xfrm>
            <a:off x="108684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79"/>
          <p:cNvSpPr/>
          <p:nvPr/>
        </p:nvSpPr>
        <p:spPr>
          <a:xfrm>
            <a:off x="1006560" y="342432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early 2000s: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Internet usage exploded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E-commerce started to grow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Companies needed large-scale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Systems had to be: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Reliable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Secure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Scalable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0"/>
          <p:cNvSpPr/>
          <p:nvPr/>
        </p:nvSpPr>
        <p:spPr>
          <a:xfrm>
            <a:off x="49683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1"/>
          <p:cNvSpPr/>
          <p:nvPr/>
        </p:nvSpPr>
        <p:spPr>
          <a:xfrm>
            <a:off x="88491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ounded Rectangle 82"/>
          <p:cNvSpPr/>
          <p:nvPr/>
        </p:nvSpPr>
        <p:spPr>
          <a:xfrm>
            <a:off x="8767440" y="3425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EnterpriseEra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systemOnline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(systemOnline)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"Enterprise systems are running 24/7."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TextBox 3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Rounded Rectangle 83"/>
          <p:cNvSpPr/>
          <p:nvPr/>
        </p:nvSpPr>
        <p:spPr>
          <a:xfrm>
            <a:off x="4941000" y="345096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Why Java dominated this era: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2 Platform (J2SE, J2EE, J2ME)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Strong server-side programming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Multi-tier architecture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security model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Database-driven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16920" y="1800"/>
            <a:ext cx="13430520" cy="7553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144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100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201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302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402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503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604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705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806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906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1007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108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209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310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1440" y="1800"/>
            <a:ext cx="346680" cy="7553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4"/>
          <p:cNvSpPr/>
          <p:nvPr/>
        </p:nvSpPr>
        <p:spPr>
          <a:xfrm>
            <a:off x="10884960" y="401400"/>
            <a:ext cx="2211120" cy="547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1154160" y="1107360"/>
            <a:ext cx="98038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Technologies Between 2000–2005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4301280" y="2266200"/>
            <a:ext cx="4137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foundation of modern enterprise Java.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5"/>
          <p:cNvSpPr/>
          <p:nvPr/>
        </p:nvSpPr>
        <p:spPr>
          <a:xfrm>
            <a:off x="108684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6"/>
          <p:cNvSpPr/>
          <p:nvPr/>
        </p:nvSpPr>
        <p:spPr>
          <a:xfrm>
            <a:off x="1006560" y="342432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Key technologies: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Servlets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JSP (JavaServer Pages)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JDBC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JNDI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EJB (Enterprise JavaBeans)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7"/>
          <p:cNvSpPr/>
          <p:nvPr/>
        </p:nvSpPr>
        <p:spPr>
          <a:xfrm>
            <a:off x="49683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8"/>
          <p:cNvSpPr/>
          <p:nvPr/>
        </p:nvSpPr>
        <p:spPr>
          <a:xfrm>
            <a:off x="88491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ounded Rectangle 89"/>
          <p:cNvSpPr/>
          <p:nvPr/>
        </p:nvSpPr>
        <p:spPr>
          <a:xfrm>
            <a:off x="8767440" y="3425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user = "Client";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"Welcome to the enterprise system, " + user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" name="TextBox 3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Rounded Rectangle 90"/>
          <p:cNvSpPr/>
          <p:nvPr/>
        </p:nvSpPr>
        <p:spPr>
          <a:xfrm>
            <a:off x="4941000" y="345096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With these technologies: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Dynamic web applications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Database-driven systems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Transaction management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Distributed applications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scalability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93"/>
          <p:cNvSpPr/>
          <p:nvPr/>
        </p:nvSpPr>
        <p:spPr>
          <a:xfrm>
            <a:off x="16920" y="1800"/>
            <a:ext cx="13430520" cy="7553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94"/>
          <p:cNvSpPr/>
          <p:nvPr/>
        </p:nvSpPr>
        <p:spPr>
          <a:xfrm>
            <a:off x="144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95"/>
          <p:cNvSpPr/>
          <p:nvPr/>
        </p:nvSpPr>
        <p:spPr>
          <a:xfrm>
            <a:off x="100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96"/>
          <p:cNvSpPr/>
          <p:nvPr/>
        </p:nvSpPr>
        <p:spPr>
          <a:xfrm>
            <a:off x="201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97"/>
          <p:cNvSpPr/>
          <p:nvPr/>
        </p:nvSpPr>
        <p:spPr>
          <a:xfrm>
            <a:off x="302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198"/>
          <p:cNvSpPr/>
          <p:nvPr/>
        </p:nvSpPr>
        <p:spPr>
          <a:xfrm>
            <a:off x="402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99"/>
          <p:cNvSpPr/>
          <p:nvPr/>
        </p:nvSpPr>
        <p:spPr>
          <a:xfrm>
            <a:off x="503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200"/>
          <p:cNvSpPr/>
          <p:nvPr/>
        </p:nvSpPr>
        <p:spPr>
          <a:xfrm>
            <a:off x="604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201"/>
          <p:cNvSpPr/>
          <p:nvPr/>
        </p:nvSpPr>
        <p:spPr>
          <a:xfrm>
            <a:off x="705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202"/>
          <p:cNvSpPr/>
          <p:nvPr/>
        </p:nvSpPr>
        <p:spPr>
          <a:xfrm>
            <a:off x="806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203"/>
          <p:cNvSpPr/>
          <p:nvPr/>
        </p:nvSpPr>
        <p:spPr>
          <a:xfrm>
            <a:off x="906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204"/>
          <p:cNvSpPr/>
          <p:nvPr/>
        </p:nvSpPr>
        <p:spPr>
          <a:xfrm>
            <a:off x="1007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205"/>
          <p:cNvSpPr/>
          <p:nvPr/>
        </p:nvSpPr>
        <p:spPr>
          <a:xfrm>
            <a:off x="1108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206"/>
          <p:cNvSpPr/>
          <p:nvPr/>
        </p:nvSpPr>
        <p:spPr>
          <a:xfrm>
            <a:off x="1209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207"/>
          <p:cNvSpPr/>
          <p:nvPr/>
        </p:nvSpPr>
        <p:spPr>
          <a:xfrm>
            <a:off x="1310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208"/>
          <p:cNvSpPr/>
          <p:nvPr/>
        </p:nvSpPr>
        <p:spPr>
          <a:xfrm>
            <a:off x="1440" y="1800"/>
            <a:ext cx="346680" cy="7553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ounded Rectangle 91"/>
          <p:cNvSpPr/>
          <p:nvPr/>
        </p:nvSpPr>
        <p:spPr>
          <a:xfrm>
            <a:off x="10884960" y="401400"/>
            <a:ext cx="2211120" cy="547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Box 40"/>
          <p:cNvSpPr/>
          <p:nvPr/>
        </p:nvSpPr>
        <p:spPr>
          <a:xfrm>
            <a:off x="2151360" y="1107360"/>
            <a:ext cx="78102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Technologies (2005–2010)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1"/>
          <p:cNvSpPr/>
          <p:nvPr/>
        </p:nvSpPr>
        <p:spPr>
          <a:xfrm>
            <a:off x="5032440" y="2266200"/>
            <a:ext cx="2675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Framework Revolution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92"/>
          <p:cNvSpPr/>
          <p:nvPr/>
        </p:nvSpPr>
        <p:spPr>
          <a:xfrm>
            <a:off x="108684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93"/>
          <p:cNvSpPr/>
          <p:nvPr/>
        </p:nvSpPr>
        <p:spPr>
          <a:xfrm>
            <a:off x="1006560" y="342432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Key Technologies (What emerged):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Spring Framework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(Inversion of Control, Dependency Injection)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Hibernate / JPA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(Object–Relational Mapping)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EE 5 &amp; 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(Annotations replace XML-heavy configs)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JSF (JavaServer Faces)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(Component-based UI)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Maven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(Standard build &amp; dependency management)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Rounded Rectangle 94"/>
          <p:cNvSpPr/>
          <p:nvPr/>
        </p:nvSpPr>
        <p:spPr>
          <a:xfrm>
            <a:off x="49683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ounded Rectangle 95"/>
          <p:cNvSpPr/>
          <p:nvPr/>
        </p:nvSpPr>
        <p:spPr>
          <a:xfrm>
            <a:off x="88491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ounded Rectangle 96"/>
          <p:cNvSpPr/>
          <p:nvPr/>
        </p:nvSpPr>
        <p:spPr>
          <a:xfrm>
            <a:off x="8767440" y="3425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@Service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OrderService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@Autowired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private OrderRepository repository;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Order findOrder(Long id)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repository.findById(id);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" name="TextBox 4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Rounded Rectangle 97"/>
          <p:cNvSpPr/>
          <p:nvPr/>
        </p:nvSpPr>
        <p:spPr>
          <a:xfrm>
            <a:off x="4941000" y="345096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Why this era mattered: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XML-heavy enterprise Java was simplified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Boilerplate code dramatically reduced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Loose coupling became standard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MVC and layered architecture spread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Developers gained productivity and flexibility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Before 2005: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Java = complex, verbose, hard to maintain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After 2005: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Java = cleaner, modular, framework-driven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Rectangle 209"/>
          <p:cNvSpPr/>
          <p:nvPr/>
        </p:nvSpPr>
        <p:spPr>
          <a:xfrm>
            <a:off x="16920" y="1800"/>
            <a:ext cx="13430520" cy="7553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210"/>
          <p:cNvSpPr/>
          <p:nvPr/>
        </p:nvSpPr>
        <p:spPr>
          <a:xfrm>
            <a:off x="144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211"/>
          <p:cNvSpPr/>
          <p:nvPr/>
        </p:nvSpPr>
        <p:spPr>
          <a:xfrm>
            <a:off x="100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212"/>
          <p:cNvSpPr/>
          <p:nvPr/>
        </p:nvSpPr>
        <p:spPr>
          <a:xfrm>
            <a:off x="201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13"/>
          <p:cNvSpPr/>
          <p:nvPr/>
        </p:nvSpPr>
        <p:spPr>
          <a:xfrm>
            <a:off x="302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14"/>
          <p:cNvSpPr/>
          <p:nvPr/>
        </p:nvSpPr>
        <p:spPr>
          <a:xfrm>
            <a:off x="402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15"/>
          <p:cNvSpPr/>
          <p:nvPr/>
        </p:nvSpPr>
        <p:spPr>
          <a:xfrm>
            <a:off x="503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16"/>
          <p:cNvSpPr/>
          <p:nvPr/>
        </p:nvSpPr>
        <p:spPr>
          <a:xfrm>
            <a:off x="604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17"/>
          <p:cNvSpPr/>
          <p:nvPr/>
        </p:nvSpPr>
        <p:spPr>
          <a:xfrm>
            <a:off x="705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18"/>
          <p:cNvSpPr/>
          <p:nvPr/>
        </p:nvSpPr>
        <p:spPr>
          <a:xfrm>
            <a:off x="806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19"/>
          <p:cNvSpPr/>
          <p:nvPr/>
        </p:nvSpPr>
        <p:spPr>
          <a:xfrm>
            <a:off x="906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20"/>
          <p:cNvSpPr/>
          <p:nvPr/>
        </p:nvSpPr>
        <p:spPr>
          <a:xfrm>
            <a:off x="1007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21"/>
          <p:cNvSpPr/>
          <p:nvPr/>
        </p:nvSpPr>
        <p:spPr>
          <a:xfrm>
            <a:off x="1108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222"/>
          <p:cNvSpPr/>
          <p:nvPr/>
        </p:nvSpPr>
        <p:spPr>
          <a:xfrm>
            <a:off x="1209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223"/>
          <p:cNvSpPr/>
          <p:nvPr/>
        </p:nvSpPr>
        <p:spPr>
          <a:xfrm>
            <a:off x="1310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224"/>
          <p:cNvSpPr/>
          <p:nvPr/>
        </p:nvSpPr>
        <p:spPr>
          <a:xfrm>
            <a:off x="1440" y="1800"/>
            <a:ext cx="346680" cy="7553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ounded Rectangle 98"/>
          <p:cNvSpPr/>
          <p:nvPr/>
        </p:nvSpPr>
        <p:spPr>
          <a:xfrm>
            <a:off x="10884960" y="401400"/>
            <a:ext cx="2211120" cy="547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Box 43"/>
          <p:cNvSpPr/>
          <p:nvPr/>
        </p:nvSpPr>
        <p:spPr>
          <a:xfrm>
            <a:off x="2586960" y="1107360"/>
            <a:ext cx="69400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Modern Java &amp; Cloud Era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44"/>
          <p:cNvSpPr/>
          <p:nvPr/>
        </p:nvSpPr>
        <p:spPr>
          <a:xfrm>
            <a:off x="5032440" y="2266200"/>
            <a:ext cx="2675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Framework Revolution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99"/>
          <p:cNvSpPr/>
          <p:nvPr/>
        </p:nvSpPr>
        <p:spPr>
          <a:xfrm>
            <a:off x="108684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ounded Rectangle 100"/>
          <p:cNvSpPr/>
          <p:nvPr/>
        </p:nvSpPr>
        <p:spPr>
          <a:xfrm>
            <a:off x="1020960" y="342432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(Key technologies):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REST APIs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Microservices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Docker &amp; Kubernetes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Java 8+ (Lambdas, Streams)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Rounded Rectangle 101"/>
          <p:cNvSpPr/>
          <p:nvPr/>
        </p:nvSpPr>
        <p:spPr>
          <a:xfrm>
            <a:off x="49683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ounded Rectangle 102"/>
          <p:cNvSpPr/>
          <p:nvPr/>
        </p:nvSpPr>
        <p:spPr>
          <a:xfrm>
            <a:off x="88491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ounded Rectangle 103"/>
          <p:cNvSpPr/>
          <p:nvPr/>
        </p:nvSpPr>
        <p:spPr>
          <a:xfrm>
            <a:off x="8767440" y="3425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@GetMapping("/users/{id}")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User getUser(@PathVariable Long id)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userService.getUser(id);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" name="TextBox 4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Rounded Rectangle 104"/>
          <p:cNvSpPr/>
          <p:nvPr/>
        </p:nvSpPr>
        <p:spPr>
          <a:xfrm>
            <a:off x="4941000" y="345096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Cloud-native apps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Microservice scalability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Fast deployment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Functional programming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Long-term support (LTS)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Rectangle 225"/>
          <p:cNvSpPr/>
          <p:nvPr/>
        </p:nvSpPr>
        <p:spPr>
          <a:xfrm>
            <a:off x="16920" y="1800"/>
            <a:ext cx="13430520" cy="7553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26"/>
          <p:cNvSpPr/>
          <p:nvPr/>
        </p:nvSpPr>
        <p:spPr>
          <a:xfrm>
            <a:off x="144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27"/>
          <p:cNvSpPr/>
          <p:nvPr/>
        </p:nvSpPr>
        <p:spPr>
          <a:xfrm>
            <a:off x="100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28"/>
          <p:cNvSpPr/>
          <p:nvPr/>
        </p:nvSpPr>
        <p:spPr>
          <a:xfrm>
            <a:off x="201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29"/>
          <p:cNvSpPr/>
          <p:nvPr/>
        </p:nvSpPr>
        <p:spPr>
          <a:xfrm>
            <a:off x="302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230"/>
          <p:cNvSpPr/>
          <p:nvPr/>
        </p:nvSpPr>
        <p:spPr>
          <a:xfrm>
            <a:off x="402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231"/>
          <p:cNvSpPr/>
          <p:nvPr/>
        </p:nvSpPr>
        <p:spPr>
          <a:xfrm>
            <a:off x="503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232"/>
          <p:cNvSpPr/>
          <p:nvPr/>
        </p:nvSpPr>
        <p:spPr>
          <a:xfrm>
            <a:off x="604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233"/>
          <p:cNvSpPr/>
          <p:nvPr/>
        </p:nvSpPr>
        <p:spPr>
          <a:xfrm>
            <a:off x="705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234"/>
          <p:cNvSpPr/>
          <p:nvPr/>
        </p:nvSpPr>
        <p:spPr>
          <a:xfrm>
            <a:off x="806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235"/>
          <p:cNvSpPr/>
          <p:nvPr/>
        </p:nvSpPr>
        <p:spPr>
          <a:xfrm>
            <a:off x="906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236"/>
          <p:cNvSpPr/>
          <p:nvPr/>
        </p:nvSpPr>
        <p:spPr>
          <a:xfrm>
            <a:off x="1007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237"/>
          <p:cNvSpPr/>
          <p:nvPr/>
        </p:nvSpPr>
        <p:spPr>
          <a:xfrm>
            <a:off x="1108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38"/>
          <p:cNvSpPr/>
          <p:nvPr/>
        </p:nvSpPr>
        <p:spPr>
          <a:xfrm>
            <a:off x="1209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39"/>
          <p:cNvSpPr/>
          <p:nvPr/>
        </p:nvSpPr>
        <p:spPr>
          <a:xfrm>
            <a:off x="1310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40"/>
          <p:cNvSpPr/>
          <p:nvPr/>
        </p:nvSpPr>
        <p:spPr>
          <a:xfrm>
            <a:off x="1440" y="1800"/>
            <a:ext cx="346680" cy="7553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ounded Rectangle 105"/>
          <p:cNvSpPr/>
          <p:nvPr/>
        </p:nvSpPr>
        <p:spPr>
          <a:xfrm>
            <a:off x="10884960" y="401400"/>
            <a:ext cx="2211120" cy="547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Box 46"/>
          <p:cNvSpPr/>
          <p:nvPr/>
        </p:nvSpPr>
        <p:spPr>
          <a:xfrm>
            <a:off x="3785400" y="1107360"/>
            <a:ext cx="45439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After 2015: 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47"/>
          <p:cNvSpPr/>
          <p:nvPr/>
        </p:nvSpPr>
        <p:spPr>
          <a:xfrm>
            <a:off x="4500360" y="2266200"/>
            <a:ext cx="3739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grows up: faster, cleaner, smarter.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ounded Rectangle 106"/>
          <p:cNvSpPr/>
          <p:nvPr/>
        </p:nvSpPr>
        <p:spPr>
          <a:xfrm>
            <a:off x="108684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ounded Rectangle 107"/>
          <p:cNvSpPr/>
          <p:nvPr/>
        </p:nvSpPr>
        <p:spPr>
          <a:xfrm>
            <a:off x="1020960" y="342432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8+ Lambda Expressions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Streams API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Optional &amp; Functional Interfaces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CompletableFuture (Async programming)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Records (immutable data carriers)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Pattern Matching (instanceof, switch)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Rounded Rectangle 108"/>
          <p:cNvSpPr/>
          <p:nvPr/>
        </p:nvSpPr>
        <p:spPr>
          <a:xfrm>
            <a:off x="49683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ounded Rectangle 109"/>
          <p:cNvSpPr/>
          <p:nvPr/>
        </p:nvSpPr>
        <p:spPr>
          <a:xfrm>
            <a:off x="88491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ounded Rectangle 110"/>
          <p:cNvSpPr/>
          <p:nvPr/>
        </p:nvSpPr>
        <p:spPr>
          <a:xfrm>
            <a:off x="8767440" y="3425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List&lt;String&gt; activeUsers =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users.stream()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.filter(User::isActive)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.map(User::getName)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.toList();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" name="TextBox 48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Rounded Rectangle 111"/>
          <p:cNvSpPr/>
          <p:nvPr/>
        </p:nvSpPr>
        <p:spPr>
          <a:xfrm>
            <a:off x="4941000" y="345096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More expressive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Less boilerplate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Better performance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Parallel &amp; async processing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Modern programming paradigms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Readability + maintainability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Before Java 8: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Imperative, verbose, loop-heavy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After Java 8+: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Declarative, functional, fluent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241"/>
          <p:cNvSpPr/>
          <p:nvPr/>
        </p:nvSpPr>
        <p:spPr>
          <a:xfrm>
            <a:off x="16920" y="1800"/>
            <a:ext cx="13430520" cy="7553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42"/>
          <p:cNvSpPr/>
          <p:nvPr/>
        </p:nvSpPr>
        <p:spPr>
          <a:xfrm>
            <a:off x="144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43"/>
          <p:cNvSpPr/>
          <p:nvPr/>
        </p:nvSpPr>
        <p:spPr>
          <a:xfrm>
            <a:off x="100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44"/>
          <p:cNvSpPr/>
          <p:nvPr/>
        </p:nvSpPr>
        <p:spPr>
          <a:xfrm>
            <a:off x="201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45"/>
          <p:cNvSpPr/>
          <p:nvPr/>
        </p:nvSpPr>
        <p:spPr>
          <a:xfrm>
            <a:off x="302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246"/>
          <p:cNvSpPr/>
          <p:nvPr/>
        </p:nvSpPr>
        <p:spPr>
          <a:xfrm>
            <a:off x="402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247"/>
          <p:cNvSpPr/>
          <p:nvPr/>
        </p:nvSpPr>
        <p:spPr>
          <a:xfrm>
            <a:off x="503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248"/>
          <p:cNvSpPr/>
          <p:nvPr/>
        </p:nvSpPr>
        <p:spPr>
          <a:xfrm>
            <a:off x="604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249"/>
          <p:cNvSpPr/>
          <p:nvPr/>
        </p:nvSpPr>
        <p:spPr>
          <a:xfrm>
            <a:off x="705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250"/>
          <p:cNvSpPr/>
          <p:nvPr/>
        </p:nvSpPr>
        <p:spPr>
          <a:xfrm>
            <a:off x="806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251"/>
          <p:cNvSpPr/>
          <p:nvPr/>
        </p:nvSpPr>
        <p:spPr>
          <a:xfrm>
            <a:off x="906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252"/>
          <p:cNvSpPr/>
          <p:nvPr/>
        </p:nvSpPr>
        <p:spPr>
          <a:xfrm>
            <a:off x="1007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253"/>
          <p:cNvSpPr/>
          <p:nvPr/>
        </p:nvSpPr>
        <p:spPr>
          <a:xfrm>
            <a:off x="1108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54"/>
          <p:cNvSpPr/>
          <p:nvPr/>
        </p:nvSpPr>
        <p:spPr>
          <a:xfrm>
            <a:off x="1209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55"/>
          <p:cNvSpPr/>
          <p:nvPr/>
        </p:nvSpPr>
        <p:spPr>
          <a:xfrm>
            <a:off x="1310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56"/>
          <p:cNvSpPr/>
          <p:nvPr/>
        </p:nvSpPr>
        <p:spPr>
          <a:xfrm>
            <a:off x="1440" y="1800"/>
            <a:ext cx="346680" cy="7553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ounded Rectangle 112"/>
          <p:cNvSpPr/>
          <p:nvPr/>
        </p:nvSpPr>
        <p:spPr>
          <a:xfrm>
            <a:off x="10884960" y="401400"/>
            <a:ext cx="2211120" cy="547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TextBox 49"/>
          <p:cNvSpPr/>
          <p:nvPr/>
        </p:nvSpPr>
        <p:spPr>
          <a:xfrm>
            <a:off x="1012680" y="1107360"/>
            <a:ext cx="100915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Today: Enterprise, Cloud &amp; Beyond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50"/>
          <p:cNvSpPr/>
          <p:nvPr/>
        </p:nvSpPr>
        <p:spPr>
          <a:xfrm>
            <a:off x="3928320" y="2266200"/>
            <a:ext cx="4884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no longer just enterprise — it’s everywhere.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Rounded Rectangle 113"/>
          <p:cNvSpPr/>
          <p:nvPr/>
        </p:nvSpPr>
        <p:spPr>
          <a:xfrm>
            <a:off x="108684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ounded Rectangle 114"/>
          <p:cNvSpPr/>
          <p:nvPr/>
        </p:nvSpPr>
        <p:spPr>
          <a:xfrm>
            <a:off x="1020960" y="342432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Cloud-native backends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High-performance APIs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Financial systems &amp; banking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Big data &amp; streaming platforms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Android (core language roots)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Game servers &amp; real-time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Rounded Rectangle 115"/>
          <p:cNvSpPr/>
          <p:nvPr/>
        </p:nvSpPr>
        <p:spPr>
          <a:xfrm>
            <a:off x="49683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ounded Rectangle 116"/>
          <p:cNvSpPr/>
          <p:nvPr/>
        </p:nvSpPr>
        <p:spPr>
          <a:xfrm>
            <a:off x="88491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ounded Rectangle 117"/>
          <p:cNvSpPr/>
          <p:nvPr/>
        </p:nvSpPr>
        <p:spPr>
          <a:xfrm>
            <a:off x="8767440" y="3425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@GetMapping("/health")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ResponseEntity&lt;String&gt; status()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ResponseEntity.ok("Service is running");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" name="TextBox 51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Rounded Rectangle 118"/>
          <p:cNvSpPr/>
          <p:nvPr/>
        </p:nvSpPr>
        <p:spPr>
          <a:xfrm>
            <a:off x="4941000" y="345096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 &amp; Spring Cloud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Reactive programming (WebFlux)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Kubernetes-native deployments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GraalVM &amp; Native Images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Observability (metrics, tracing)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Long-term support stability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Rectangle 257"/>
          <p:cNvSpPr/>
          <p:nvPr/>
        </p:nvSpPr>
        <p:spPr>
          <a:xfrm>
            <a:off x="16920" y="1800"/>
            <a:ext cx="13430520" cy="7553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58"/>
          <p:cNvSpPr/>
          <p:nvPr/>
        </p:nvSpPr>
        <p:spPr>
          <a:xfrm>
            <a:off x="144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59"/>
          <p:cNvSpPr/>
          <p:nvPr/>
        </p:nvSpPr>
        <p:spPr>
          <a:xfrm>
            <a:off x="100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60"/>
          <p:cNvSpPr/>
          <p:nvPr/>
        </p:nvSpPr>
        <p:spPr>
          <a:xfrm>
            <a:off x="201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61"/>
          <p:cNvSpPr/>
          <p:nvPr/>
        </p:nvSpPr>
        <p:spPr>
          <a:xfrm>
            <a:off x="302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262"/>
          <p:cNvSpPr/>
          <p:nvPr/>
        </p:nvSpPr>
        <p:spPr>
          <a:xfrm>
            <a:off x="402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263"/>
          <p:cNvSpPr/>
          <p:nvPr/>
        </p:nvSpPr>
        <p:spPr>
          <a:xfrm>
            <a:off x="503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264"/>
          <p:cNvSpPr/>
          <p:nvPr/>
        </p:nvSpPr>
        <p:spPr>
          <a:xfrm>
            <a:off x="604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265"/>
          <p:cNvSpPr/>
          <p:nvPr/>
        </p:nvSpPr>
        <p:spPr>
          <a:xfrm>
            <a:off x="705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266"/>
          <p:cNvSpPr/>
          <p:nvPr/>
        </p:nvSpPr>
        <p:spPr>
          <a:xfrm>
            <a:off x="806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267"/>
          <p:cNvSpPr/>
          <p:nvPr/>
        </p:nvSpPr>
        <p:spPr>
          <a:xfrm>
            <a:off x="906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268"/>
          <p:cNvSpPr/>
          <p:nvPr/>
        </p:nvSpPr>
        <p:spPr>
          <a:xfrm>
            <a:off x="1007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269"/>
          <p:cNvSpPr/>
          <p:nvPr/>
        </p:nvSpPr>
        <p:spPr>
          <a:xfrm>
            <a:off x="1108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70"/>
          <p:cNvSpPr/>
          <p:nvPr/>
        </p:nvSpPr>
        <p:spPr>
          <a:xfrm>
            <a:off x="1209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271"/>
          <p:cNvSpPr/>
          <p:nvPr/>
        </p:nvSpPr>
        <p:spPr>
          <a:xfrm>
            <a:off x="1310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272"/>
          <p:cNvSpPr/>
          <p:nvPr/>
        </p:nvSpPr>
        <p:spPr>
          <a:xfrm>
            <a:off x="1440" y="1800"/>
            <a:ext cx="346680" cy="7553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ounded Rectangle 119"/>
          <p:cNvSpPr/>
          <p:nvPr/>
        </p:nvSpPr>
        <p:spPr>
          <a:xfrm>
            <a:off x="10884960" y="401400"/>
            <a:ext cx="2211120" cy="547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TextBox 52"/>
          <p:cNvSpPr/>
          <p:nvPr/>
        </p:nvSpPr>
        <p:spPr>
          <a:xfrm>
            <a:off x="2129400" y="1107360"/>
            <a:ext cx="78577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in Practice: From Idea to Code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53"/>
          <p:cNvSpPr/>
          <p:nvPr/>
        </p:nvSpPr>
        <p:spPr>
          <a:xfrm>
            <a:off x="2773080" y="2266200"/>
            <a:ext cx="7194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focuses on turning ideas into clean, structured, and maintainable code.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Rounded Rectangle 120"/>
          <p:cNvSpPr/>
          <p:nvPr/>
        </p:nvSpPr>
        <p:spPr>
          <a:xfrm>
            <a:off x="108684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ounded Rectangle 121"/>
          <p:cNvSpPr/>
          <p:nvPr/>
        </p:nvSpPr>
        <p:spPr>
          <a:xfrm>
            <a:off x="1020960" y="342432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is designed for clarity and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Strong typing prevents many runtime errors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Code readability improves long-term maintenance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Suitable for large and long-lived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Rounded Rectangle 122"/>
          <p:cNvSpPr/>
          <p:nvPr/>
        </p:nvSpPr>
        <p:spPr>
          <a:xfrm>
            <a:off x="49683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ounded Rectangle 123"/>
          <p:cNvSpPr/>
          <p:nvPr/>
        </p:nvSpPr>
        <p:spPr>
          <a:xfrm>
            <a:off x="88491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ounded Rectangle 124"/>
          <p:cNvSpPr/>
          <p:nvPr/>
        </p:nvSpPr>
        <p:spPr>
          <a:xfrm>
            <a:off x="8767440" y="3425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add(int a, int b)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a + b;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add(10, 20);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" name="TextBox 54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Rounded Rectangle 125"/>
          <p:cNvSpPr/>
          <p:nvPr/>
        </p:nvSpPr>
        <p:spPr>
          <a:xfrm>
            <a:off x="4941000" y="345096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Problem Definition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Solution Planning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Class &amp; Method Design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Implementation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Execution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Rectangle 273"/>
          <p:cNvSpPr/>
          <p:nvPr/>
        </p:nvSpPr>
        <p:spPr>
          <a:xfrm>
            <a:off x="16920" y="1800"/>
            <a:ext cx="13430520" cy="7553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74"/>
          <p:cNvSpPr/>
          <p:nvPr/>
        </p:nvSpPr>
        <p:spPr>
          <a:xfrm>
            <a:off x="144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75"/>
          <p:cNvSpPr/>
          <p:nvPr/>
        </p:nvSpPr>
        <p:spPr>
          <a:xfrm>
            <a:off x="100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276"/>
          <p:cNvSpPr/>
          <p:nvPr/>
        </p:nvSpPr>
        <p:spPr>
          <a:xfrm>
            <a:off x="201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277"/>
          <p:cNvSpPr/>
          <p:nvPr/>
        </p:nvSpPr>
        <p:spPr>
          <a:xfrm>
            <a:off x="302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278"/>
          <p:cNvSpPr/>
          <p:nvPr/>
        </p:nvSpPr>
        <p:spPr>
          <a:xfrm>
            <a:off x="402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279"/>
          <p:cNvSpPr/>
          <p:nvPr/>
        </p:nvSpPr>
        <p:spPr>
          <a:xfrm>
            <a:off x="503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280"/>
          <p:cNvSpPr/>
          <p:nvPr/>
        </p:nvSpPr>
        <p:spPr>
          <a:xfrm>
            <a:off x="604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281"/>
          <p:cNvSpPr/>
          <p:nvPr/>
        </p:nvSpPr>
        <p:spPr>
          <a:xfrm>
            <a:off x="705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282"/>
          <p:cNvSpPr/>
          <p:nvPr/>
        </p:nvSpPr>
        <p:spPr>
          <a:xfrm>
            <a:off x="806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283"/>
          <p:cNvSpPr/>
          <p:nvPr/>
        </p:nvSpPr>
        <p:spPr>
          <a:xfrm>
            <a:off x="906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284"/>
          <p:cNvSpPr/>
          <p:nvPr/>
        </p:nvSpPr>
        <p:spPr>
          <a:xfrm>
            <a:off x="1007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285"/>
          <p:cNvSpPr/>
          <p:nvPr/>
        </p:nvSpPr>
        <p:spPr>
          <a:xfrm>
            <a:off x="1108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286"/>
          <p:cNvSpPr/>
          <p:nvPr/>
        </p:nvSpPr>
        <p:spPr>
          <a:xfrm>
            <a:off x="1209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287"/>
          <p:cNvSpPr/>
          <p:nvPr/>
        </p:nvSpPr>
        <p:spPr>
          <a:xfrm>
            <a:off x="1310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288"/>
          <p:cNvSpPr/>
          <p:nvPr/>
        </p:nvSpPr>
        <p:spPr>
          <a:xfrm>
            <a:off x="1440" y="1800"/>
            <a:ext cx="346680" cy="7553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ounded Rectangle 126"/>
          <p:cNvSpPr/>
          <p:nvPr/>
        </p:nvSpPr>
        <p:spPr>
          <a:xfrm>
            <a:off x="10884960" y="401400"/>
            <a:ext cx="2211120" cy="547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TextBox 55"/>
          <p:cNvSpPr/>
          <p:nvPr/>
        </p:nvSpPr>
        <p:spPr>
          <a:xfrm>
            <a:off x="2240640" y="1107360"/>
            <a:ext cx="76348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Core Features – An Overview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Box 56"/>
          <p:cNvSpPr/>
          <p:nvPr/>
        </p:nvSpPr>
        <p:spPr>
          <a:xfrm>
            <a:off x="3222000" y="2266200"/>
            <a:ext cx="6296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A first look at the fundamental features that shape Java programs.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Rounded Rectangle 127"/>
          <p:cNvSpPr/>
          <p:nvPr/>
        </p:nvSpPr>
        <p:spPr>
          <a:xfrm>
            <a:off x="108684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ounded Rectangle 128"/>
          <p:cNvSpPr/>
          <p:nvPr/>
        </p:nvSpPr>
        <p:spPr>
          <a:xfrm>
            <a:off x="1020960" y="342432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is designed with a set of core features that help developers write programs in a clear, structured, and predictable way.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These features reduce common programming errors, improve code readability, and make applications easier to maintain over time.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Rather than focusing on low-level system details, Java allows developers to concentrate on program logic and problem-solving.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Rounded Rectangle 129"/>
          <p:cNvSpPr/>
          <p:nvPr/>
        </p:nvSpPr>
        <p:spPr>
          <a:xfrm>
            <a:off x="49683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ounded Rectangle 130"/>
          <p:cNvSpPr/>
          <p:nvPr/>
        </p:nvSpPr>
        <p:spPr>
          <a:xfrm>
            <a:off x="88491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ounded Rectangle 131"/>
          <p:cNvSpPr/>
          <p:nvPr/>
        </p:nvSpPr>
        <p:spPr>
          <a:xfrm>
            <a:off x="8767440" y="3425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5;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System.out.println("Positive number");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7" name="TextBox 57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Rounded Rectangle 132"/>
          <p:cNvSpPr/>
          <p:nvPr/>
        </p:nvSpPr>
        <p:spPr>
          <a:xfrm>
            <a:off x="4941000" y="345096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What I Want to Do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What Java Allows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How I Must Write It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How It Executes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What I Get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449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2026-01-04T22:10:30Z</dcterms:modified>
  <cp:revision>57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