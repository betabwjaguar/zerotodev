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</p:sld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</p:sldIdLst>
  <p:sldSz cx="10077450" cy="75628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B3154A-6071-4F3C-A74D-4BC03D3E82C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47A2261-C99C-476B-8C16-87E276DA1DF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765ACBA-9FFD-4AA9-BD86-D038842A404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3086F6D-FADE-44BC-985F-2E1732F74F8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451D1F2-C693-4188-8F76-09FCED6F533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D0621A4-086C-4E69-A845-6ED47D6F915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735AE8-C675-4D0E-9402-7D8A4234346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540B800-B04B-488B-912B-10934ED1325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7C9B97E-9287-4B60-A12B-E52B566B545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98BFFC-7B34-443F-8D28-86CA984F7E7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B14250-EF27-47F3-9364-6BFBC8B2170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A27249-0696-45B2-9492-03440CA2D4D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A53FCF1-7E07-4565-9D1B-B373E6F4047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2066A3E-67AA-4FEC-90E7-0A5801A6B91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70F4FA6-5A11-4324-B491-1044092D6ED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6D82858-1FA2-433D-A69F-124DBF9010C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E29FE9A-EB54-4A89-BD20-31E039D1FDB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725413E-8B1B-4DEB-BB2D-B17101194D2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508A46C-0230-4661-B650-FA4E6B092DA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2E90124-5CAB-4AD4-BA43-4CBE69298FB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728843B-C911-402D-A7FD-A7470F765B7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BBDAB90-1420-4B56-8AC1-9F49E828D4F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6CDAA5C-30CF-4A92-8547-D5AF77B3AE5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FA8FBF5-61D1-48A1-BA05-9D56D217545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1DC3F34-804E-4362-8919-79CFFEC7D81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8558D41-80AF-4B12-B1F7-318EA1D1720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F6E7B6A-0746-4FCC-9095-6B3A006430F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806D2F5-33C7-42C5-8A7E-52B9E3989D3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E64495E-C6A2-4419-85C6-86F0CF8AA5D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907FB3B-D196-4F05-894E-78885E99B42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4CD255E-A476-429B-921D-8F84BF69AFE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46BA902-6BEA-41F1-97FF-6E771C1B4E6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0805083-C2BD-4F62-96E6-86883961EFA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68413D7-F02B-4A6D-9F62-9BC4435D50D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FE94542-1515-4B3E-9773-FEF8F726C58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75B3CA5-49B9-4195-96F5-C8F6C9633A4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B5F26C4-AAC0-4A03-A9D7-4CBEA5D46D9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1B993DE-392E-4308-82A3-DA4BC0E60A9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FA33FA8-7ED9-4CDD-A0BE-0AABEAA14B2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2B3DB96-4B9B-418A-A01C-A560AED7927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51ED5EF-52D5-4FA2-B567-9A3F81A39DC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4E4A01C-4504-4D73-84DE-6A03F656CD6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2A6DADA-3026-43F8-A697-6001CF62599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2706D86-9737-49D7-A23B-CF23FB25877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AFB04F3-349A-4123-ACC9-90D5932B0D5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EA7C2B7-42E6-4A07-9226-A0D18C75697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12E4B9F2-7686-480A-8285-568516E448B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6690C62-92C0-467A-88AE-8B915088622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39CE338-E8EB-4362-A707-9CA0BD308A2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C481013-04C3-4170-A513-E662161FF91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FA19ED7-E90A-43B6-A4C1-53BEBE8AA86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A9032D1-A51A-4F92-8F0B-08121394682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3903318-44D5-477F-BBC0-F6BA4D0E116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927A649-EF85-4275-950F-2A4B650FC02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C32C500-6D1B-4AEF-9A53-5824BA6E902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C10C844-49DA-4B0C-9AD5-D69697C4D95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8C1AA45-5DAE-4EAB-B117-9D3744FA83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F848675-ADB3-4A35-A345-DFF49AEED8F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9E79BC3-E4BD-4D2C-8672-BB98CBB4F45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5260CEB-9A27-4C51-97A9-A40EE89987F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82F559D-7ADC-434E-8F9E-31002AFA12D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7547223-BFF4-4C89-81AA-A34127E4979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D420DF2-C817-4745-987E-2527C4ACDE0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60D2CAB-972B-4EB7-B2CD-7158D3C1C61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461102C-0046-4BE5-BF87-7EAA87BAAFE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D2067C0-F938-49B7-873D-8DE48AD6F0C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1EB576E-CFFC-43DA-B255-E5B52ADF38A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508D817-A699-48BB-849C-E894A833206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2E29860-E589-44DC-B868-96C9E280406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56294DB-D9F8-41E7-95A9-740A2FC9A94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2A5EB97-FAC8-4320-9C9A-83BD84ABEC4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764CF2F-3175-4DF6-A6FA-EF58DFACD74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C40BD78-7CC6-4D2B-B300-52974C8C331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10B4EBD-9032-467B-B8F6-6304E8B7DA7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9FD5BC6-26B4-4AB6-91CF-21F889B3C19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C922FF3-A448-417F-B1A8-C944964852E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23EF00E-E212-497C-9DF1-2617305A6B3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9431B22-866D-4D63-A25A-FE9AB91D892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6D6D94C-9609-44E0-8BCA-F1D04BA1CB9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6CDBA73-712E-4DF0-9374-F3A06873774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9914C11-3C6A-4E19-BD93-7A264F6A100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3422A58-0EDA-40D2-B46C-E62D83049F7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6BE3630-C183-4AA4-B2F3-10714582FE4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0872464-1DD4-44B1-978C-8462671C278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930AEB6-AC54-4234-A774-B9A91D51090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6EC58AB-D718-4475-A9B2-D0DAB1BA44F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F14DE72-D5BA-45A2-8483-3D45E8197C5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29A5E8A-55CD-4EC8-A3DB-875D2317BEA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62A4EB8-CC88-4809-A0EC-4781FEA061C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C7C3C23-80AC-4A84-AE6C-022C92EFB5A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50E3F01-E695-4550-A52B-F7228B27AE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34E3CDD-3F66-4E3D-A0A4-2C7AB7B2697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4414C48-D81D-44DF-80C8-D24252028F9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D2FE55D-6301-4353-9661-5889CE4D814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CFDECD8-B5AC-42DC-9889-76922A702BB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CBDC1D1-DD10-46FA-BD59-2F6B4B6FB26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2885425-CE00-4A21-BDEF-9ADF52B23C0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E615403-2F59-4A06-A2A2-D03CD7697F4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C92146A-3635-4975-A1A8-BD5BF48ADA5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30A177F-5FED-44C3-813B-1A319015331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EDDD505-2A01-4407-B3F0-7418B07FE78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A8BB868-7363-4DD9-978B-0E91929D5C5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E95F98A-4D44-4521-A909-50C5E47B20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DBE8ED8-9144-49BD-B723-D651BB2EF54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95642ED-867A-4C38-9F73-2E0DA41CAEB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F8EEEBF-3B2D-4439-BA62-0EB70E2B113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9B10D2F-6513-49F6-B505-41899264A60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988BAF7-D406-440C-92C1-9F49828B04F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499B2F6-5AF9-4E73-96A5-0B716A3B56D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 type="subTitle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3737D69-4174-4F25-AD3B-589D311B7B8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87F43112-78DB-49F9-BCE9-FDA99B7712D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0CCF029-8AC2-4735-8F9F-54CB8D3DFD1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F5FD2E2-E82A-4F9D-A4DB-08B7A1DAB39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ubTitle"/>
          </p:nvPr>
        </p:nvSpPr>
        <p:spPr>
          <a:xfrm>
            <a:off x="504000" y="301320"/>
            <a:ext cx="9072000" cy="585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85CB9C0-7B24-4916-A0AB-CF4B57319AD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AB9CE4C-D0F3-424B-BF1E-BC14BAECF66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CCA98D5-E886-4F0F-802C-020FA796199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AC2A0A3-D3EE-47A0-9578-3C9A0DDF382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6FE97EA-5B98-4952-882C-40F40945321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24094E4-B4CA-41BC-B709-309BE3BEB29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/>
          </p:nvPr>
        </p:nvSpPr>
        <p:spPr>
          <a:xfrm>
            <a:off x="357156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4"/>
          <p:cNvSpPr>
            <a:spLocks noGrp="1"/>
          </p:cNvSpPr>
          <p:nvPr>
            <p:ph/>
          </p:nvPr>
        </p:nvSpPr>
        <p:spPr>
          <a:xfrm>
            <a:off x="6639120" y="176868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5"/>
          <p:cNvSpPr>
            <a:spLocks noGrp="1"/>
          </p:cNvSpPr>
          <p:nvPr>
            <p:ph/>
          </p:nvPr>
        </p:nvSpPr>
        <p:spPr>
          <a:xfrm>
            <a:off x="50400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6"/>
          <p:cNvSpPr>
            <a:spLocks noGrp="1"/>
          </p:cNvSpPr>
          <p:nvPr>
            <p:ph/>
          </p:nvPr>
        </p:nvSpPr>
        <p:spPr>
          <a:xfrm>
            <a:off x="357156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PlaceHolder 7"/>
          <p:cNvSpPr>
            <a:spLocks noGrp="1"/>
          </p:cNvSpPr>
          <p:nvPr>
            <p:ph/>
          </p:nvPr>
        </p:nvSpPr>
        <p:spPr>
          <a:xfrm>
            <a:off x="6639120" y="4058640"/>
            <a:ext cx="292104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EBD398E-1A7E-4F34-BD5A-4D831475D55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0880" y="7007400"/>
            <a:ext cx="318024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0160" y="7007400"/>
            <a:ext cx="234072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72D199C-B897-4E67-9323-19872749FD0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2560" y="7007400"/>
            <a:ext cx="2340720" cy="391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442320" y="7005240"/>
            <a:ext cx="318240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7223040" y="7005240"/>
            <a:ext cx="234288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8CEAC22-4DC8-46D9-BA2B-CF4C5676AA5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502920" y="7005240"/>
            <a:ext cx="234288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442320" y="7005240"/>
            <a:ext cx="318312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722304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93C640-BD76-4BA0-8153-3A8F6F15722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502920" y="7005240"/>
            <a:ext cx="2343600" cy="393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442320" y="7005240"/>
            <a:ext cx="318348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7223040" y="7005240"/>
            <a:ext cx="234396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20843A8-37FF-44BA-8930-39B4A0ACD6D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502920" y="7005240"/>
            <a:ext cx="234396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442320" y="7005240"/>
            <a:ext cx="318348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7223040" y="7005240"/>
            <a:ext cx="234396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40CC819-62F0-4C95-A183-004DA09C42D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502920" y="7005240"/>
            <a:ext cx="234396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442320" y="7005240"/>
            <a:ext cx="318384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7223040" y="7005240"/>
            <a:ext cx="234432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F92C08C-C923-43A9-B5B2-6C08603A008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502920" y="7005240"/>
            <a:ext cx="234432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442320" y="7005240"/>
            <a:ext cx="318384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7223040" y="7005240"/>
            <a:ext cx="234432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1D0AEB1-5144-4ACB-983C-83C37D88D56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502920" y="7005240"/>
            <a:ext cx="2344320" cy="394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442320" y="7005240"/>
            <a:ext cx="318420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7223040" y="7005240"/>
            <a:ext cx="234468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BCAAC71-273E-48F4-9221-BE1AF3B577E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502920" y="7005240"/>
            <a:ext cx="2344680" cy="3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ftr" idx="25"/>
          </p:nvPr>
        </p:nvSpPr>
        <p:spPr>
          <a:xfrm>
            <a:off x="3442320" y="7005240"/>
            <a:ext cx="318348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26"/>
          </p:nvPr>
        </p:nvSpPr>
        <p:spPr>
          <a:xfrm>
            <a:off x="7223040" y="7005240"/>
            <a:ext cx="234396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69C62BE-A70D-4DC4-A780-22BE2BE2858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dt" idx="27"/>
          </p:nvPr>
        </p:nvSpPr>
        <p:spPr>
          <a:xfrm>
            <a:off x="502920" y="7005240"/>
            <a:ext cx="234396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 type="title"/>
          </p:nvPr>
        </p:nvSpPr>
        <p:spPr>
          <a:xfrm>
            <a:off x="503640" y="301680"/>
            <a:ext cx="9069120" cy="126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5"/>
          <p:cNvSpPr>
            <a:spLocks noGrp="1"/>
          </p:cNvSpPr>
          <p:nvPr>
            <p:ph type="body"/>
          </p:nvPr>
        </p:nvSpPr>
        <p:spPr>
          <a:xfrm>
            <a:off x="503640" y="1769400"/>
            <a:ext cx="9069120" cy="438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ftr" idx="28"/>
          </p:nvPr>
        </p:nvSpPr>
        <p:spPr>
          <a:xfrm>
            <a:off x="3442320" y="7005240"/>
            <a:ext cx="318348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 type="sldNum" idx="29"/>
          </p:nvPr>
        </p:nvSpPr>
        <p:spPr>
          <a:xfrm>
            <a:off x="7223040" y="7005240"/>
            <a:ext cx="234396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182D959-064E-4D72-B2C3-0247B379BBE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dt" idx="30"/>
          </p:nvPr>
        </p:nvSpPr>
        <p:spPr>
          <a:xfrm>
            <a:off x="502920" y="7005240"/>
            <a:ext cx="2343960" cy="393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PlaceHolder 4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PlaceHolder 5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Rectangle 1"/>
          <p:cNvSpPr/>
          <p:nvPr/>
        </p:nvSpPr>
        <p:spPr>
          <a:xfrm>
            <a:off x="1800" y="1800"/>
            <a:ext cx="1342080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"/>
          <p:cNvSpPr/>
          <p:nvPr/>
        </p:nvSpPr>
        <p:spPr>
          <a:xfrm>
            <a:off x="18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3"/>
          <p:cNvSpPr/>
          <p:nvPr/>
        </p:nvSpPr>
        <p:spPr>
          <a:xfrm>
            <a:off x="100476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4"/>
          <p:cNvSpPr/>
          <p:nvPr/>
        </p:nvSpPr>
        <p:spPr>
          <a:xfrm>
            <a:off x="20124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5"/>
          <p:cNvSpPr/>
          <p:nvPr/>
        </p:nvSpPr>
        <p:spPr>
          <a:xfrm>
            <a:off x="30200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6"/>
          <p:cNvSpPr/>
          <p:nvPr/>
        </p:nvSpPr>
        <p:spPr>
          <a:xfrm>
            <a:off x="40276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7"/>
          <p:cNvSpPr/>
          <p:nvPr/>
        </p:nvSpPr>
        <p:spPr>
          <a:xfrm>
            <a:off x="503532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8"/>
          <p:cNvSpPr/>
          <p:nvPr/>
        </p:nvSpPr>
        <p:spPr>
          <a:xfrm>
            <a:off x="604296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9"/>
          <p:cNvSpPr/>
          <p:nvPr/>
        </p:nvSpPr>
        <p:spPr>
          <a:xfrm>
            <a:off x="70506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10"/>
          <p:cNvSpPr/>
          <p:nvPr/>
        </p:nvSpPr>
        <p:spPr>
          <a:xfrm>
            <a:off x="80582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11"/>
          <p:cNvSpPr/>
          <p:nvPr/>
        </p:nvSpPr>
        <p:spPr>
          <a:xfrm>
            <a:off x="90658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12"/>
          <p:cNvSpPr/>
          <p:nvPr/>
        </p:nvSpPr>
        <p:spPr>
          <a:xfrm>
            <a:off x="1007352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13"/>
          <p:cNvSpPr/>
          <p:nvPr/>
        </p:nvSpPr>
        <p:spPr>
          <a:xfrm>
            <a:off x="110808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14"/>
          <p:cNvSpPr/>
          <p:nvPr/>
        </p:nvSpPr>
        <p:spPr>
          <a:xfrm>
            <a:off x="120884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15"/>
          <p:cNvSpPr/>
          <p:nvPr/>
        </p:nvSpPr>
        <p:spPr>
          <a:xfrm>
            <a:off x="130960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16"/>
          <p:cNvSpPr/>
          <p:nvPr/>
        </p:nvSpPr>
        <p:spPr>
          <a:xfrm>
            <a:off x="1800" y="1800"/>
            <a:ext cx="34236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ounded Rectangle 17"/>
          <p:cNvSpPr/>
          <p:nvPr/>
        </p:nvSpPr>
        <p:spPr>
          <a:xfrm>
            <a:off x="10880640" y="401400"/>
            <a:ext cx="220608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TextBox 18"/>
          <p:cNvSpPr/>
          <p:nvPr/>
        </p:nvSpPr>
        <p:spPr>
          <a:xfrm>
            <a:off x="5377320" y="1107360"/>
            <a:ext cx="1327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TextBox 19"/>
          <p:cNvSpPr/>
          <p:nvPr/>
        </p:nvSpPr>
        <p:spPr>
          <a:xfrm>
            <a:off x="2608920" y="2266920"/>
            <a:ext cx="7519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sunumda Java programlama dili ve ele alınacak konuların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Rounded Rectangle 20"/>
          <p:cNvSpPr/>
          <p:nvPr/>
        </p:nvSpPr>
        <p:spPr>
          <a:xfrm>
            <a:off x="108612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ounded Rectangle 21"/>
          <p:cNvSpPr/>
          <p:nvPr/>
        </p:nvSpPr>
        <p:spPr>
          <a:xfrm>
            <a:off x="1019520" y="342684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programlama dilini tanıtmak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Temel kavramları ve temel prensipleri açıklamak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geliştirme için sağlam bir temel oluşturmak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Rounded Rectangle 22"/>
          <p:cNvSpPr/>
          <p:nvPr/>
        </p:nvSpPr>
        <p:spPr>
          <a:xfrm>
            <a:off x="496620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ounded Rectangle 23"/>
          <p:cNvSpPr/>
          <p:nvPr/>
        </p:nvSpPr>
        <p:spPr>
          <a:xfrm>
            <a:off x="4884480" y="342684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Giriş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nedir?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 öğreneceksiniz?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Tarihi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" name="Rounded Rectangle 24"/>
          <p:cNvSpPr/>
          <p:nvPr/>
        </p:nvSpPr>
        <p:spPr>
          <a:xfrm>
            <a:off x="884556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ounded Rectangle 25"/>
          <p:cNvSpPr/>
          <p:nvPr/>
        </p:nvSpPr>
        <p:spPr>
          <a:xfrm>
            <a:off x="8763840" y="342684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600" spc="-1" strike="noStrike">
                <a:solidFill>
                  <a:srgbClr val="78ffc8"/>
                </a:solidFill>
                <a:latin typeface="Consolas"/>
                <a:ea typeface="DejaVu Sans"/>
              </a:rPr>
              <a:t>Java’ya Giriş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" name="TextBox 2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Rectangle 32"/>
          <p:cNvSpPr/>
          <p:nvPr/>
        </p:nvSpPr>
        <p:spPr>
          <a:xfrm>
            <a:off x="1800" y="1800"/>
            <a:ext cx="1342080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33"/>
          <p:cNvSpPr/>
          <p:nvPr/>
        </p:nvSpPr>
        <p:spPr>
          <a:xfrm>
            <a:off x="18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34"/>
          <p:cNvSpPr/>
          <p:nvPr/>
        </p:nvSpPr>
        <p:spPr>
          <a:xfrm>
            <a:off x="100476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35"/>
          <p:cNvSpPr/>
          <p:nvPr/>
        </p:nvSpPr>
        <p:spPr>
          <a:xfrm>
            <a:off x="20124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36"/>
          <p:cNvSpPr/>
          <p:nvPr/>
        </p:nvSpPr>
        <p:spPr>
          <a:xfrm>
            <a:off x="30200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37"/>
          <p:cNvSpPr/>
          <p:nvPr/>
        </p:nvSpPr>
        <p:spPr>
          <a:xfrm>
            <a:off x="40276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38"/>
          <p:cNvSpPr/>
          <p:nvPr/>
        </p:nvSpPr>
        <p:spPr>
          <a:xfrm>
            <a:off x="503532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39"/>
          <p:cNvSpPr/>
          <p:nvPr/>
        </p:nvSpPr>
        <p:spPr>
          <a:xfrm>
            <a:off x="604296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40"/>
          <p:cNvSpPr/>
          <p:nvPr/>
        </p:nvSpPr>
        <p:spPr>
          <a:xfrm>
            <a:off x="70506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41"/>
          <p:cNvSpPr/>
          <p:nvPr/>
        </p:nvSpPr>
        <p:spPr>
          <a:xfrm>
            <a:off x="80582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42"/>
          <p:cNvSpPr/>
          <p:nvPr/>
        </p:nvSpPr>
        <p:spPr>
          <a:xfrm>
            <a:off x="90658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43"/>
          <p:cNvSpPr/>
          <p:nvPr/>
        </p:nvSpPr>
        <p:spPr>
          <a:xfrm>
            <a:off x="1007352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44"/>
          <p:cNvSpPr/>
          <p:nvPr/>
        </p:nvSpPr>
        <p:spPr>
          <a:xfrm>
            <a:off x="110808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45"/>
          <p:cNvSpPr/>
          <p:nvPr/>
        </p:nvSpPr>
        <p:spPr>
          <a:xfrm>
            <a:off x="120884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46"/>
          <p:cNvSpPr/>
          <p:nvPr/>
        </p:nvSpPr>
        <p:spPr>
          <a:xfrm>
            <a:off x="130960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47"/>
          <p:cNvSpPr/>
          <p:nvPr/>
        </p:nvSpPr>
        <p:spPr>
          <a:xfrm>
            <a:off x="1800" y="1800"/>
            <a:ext cx="34236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ounded Rectangle 8"/>
          <p:cNvSpPr/>
          <p:nvPr/>
        </p:nvSpPr>
        <p:spPr>
          <a:xfrm>
            <a:off x="10880640" y="401400"/>
            <a:ext cx="220608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TextBox 4"/>
          <p:cNvSpPr/>
          <p:nvPr/>
        </p:nvSpPr>
        <p:spPr>
          <a:xfrm>
            <a:off x="4506120" y="1107360"/>
            <a:ext cx="3072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Nedir?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TextBox 5"/>
          <p:cNvSpPr/>
          <p:nvPr/>
        </p:nvSpPr>
        <p:spPr>
          <a:xfrm>
            <a:off x="3046320" y="2266920"/>
            <a:ext cx="6641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Java, platformdan bağımsız ve güvenilir olacak şekilde tasarlanmış,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yüksek seviyeli, nesne yönelimli bir programlama dilidir.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Rounded Rectangle 9"/>
          <p:cNvSpPr/>
          <p:nvPr/>
        </p:nvSpPr>
        <p:spPr>
          <a:xfrm>
            <a:off x="108612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ounded Rectangle 10"/>
          <p:cNvSpPr/>
          <p:nvPr/>
        </p:nvSpPr>
        <p:spPr>
          <a:xfrm>
            <a:off x="1005840" y="3426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seviyeli programlama dili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(OOP) yaklaşım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sayesinde platformdan bağımsız çalışma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 ve sağlam yapı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ve web uygulamalarında yaygın kullanım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Rounded Rectangle 11"/>
          <p:cNvSpPr/>
          <p:nvPr/>
        </p:nvSpPr>
        <p:spPr>
          <a:xfrm>
            <a:off x="496620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ounded Rectangle 12"/>
          <p:cNvSpPr/>
          <p:nvPr/>
        </p:nvSpPr>
        <p:spPr>
          <a:xfrm>
            <a:off x="4884480" y="3426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Nasıl Çalışır?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Derleyicisi (Compiler)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Sanal Makinesi (JVM)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İşletim Sistemi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(Write Once, Run Anywhere)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" name="Rounded Rectangle 13"/>
          <p:cNvSpPr/>
          <p:nvPr/>
        </p:nvSpPr>
        <p:spPr>
          <a:xfrm>
            <a:off x="884556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ounded Rectangle 14"/>
          <p:cNvSpPr/>
          <p:nvPr/>
        </p:nvSpPr>
        <p:spPr>
          <a:xfrm>
            <a:off x="8763840" y="342684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1" name="TextBox 6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Rectangle 17"/>
          <p:cNvSpPr/>
          <p:nvPr/>
        </p:nvSpPr>
        <p:spPr>
          <a:xfrm>
            <a:off x="1800" y="1800"/>
            <a:ext cx="1342080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18"/>
          <p:cNvSpPr/>
          <p:nvPr/>
        </p:nvSpPr>
        <p:spPr>
          <a:xfrm>
            <a:off x="18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19"/>
          <p:cNvSpPr/>
          <p:nvPr/>
        </p:nvSpPr>
        <p:spPr>
          <a:xfrm>
            <a:off x="100476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0"/>
          <p:cNvSpPr/>
          <p:nvPr/>
        </p:nvSpPr>
        <p:spPr>
          <a:xfrm>
            <a:off x="20124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1"/>
          <p:cNvSpPr/>
          <p:nvPr/>
        </p:nvSpPr>
        <p:spPr>
          <a:xfrm>
            <a:off x="30200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2"/>
          <p:cNvSpPr/>
          <p:nvPr/>
        </p:nvSpPr>
        <p:spPr>
          <a:xfrm>
            <a:off x="40276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3"/>
          <p:cNvSpPr/>
          <p:nvPr/>
        </p:nvSpPr>
        <p:spPr>
          <a:xfrm>
            <a:off x="503532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4"/>
          <p:cNvSpPr/>
          <p:nvPr/>
        </p:nvSpPr>
        <p:spPr>
          <a:xfrm>
            <a:off x="604296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5"/>
          <p:cNvSpPr/>
          <p:nvPr/>
        </p:nvSpPr>
        <p:spPr>
          <a:xfrm>
            <a:off x="70506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6"/>
          <p:cNvSpPr/>
          <p:nvPr/>
        </p:nvSpPr>
        <p:spPr>
          <a:xfrm>
            <a:off x="80582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"/>
          <p:cNvSpPr/>
          <p:nvPr/>
        </p:nvSpPr>
        <p:spPr>
          <a:xfrm>
            <a:off x="90658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8"/>
          <p:cNvSpPr/>
          <p:nvPr/>
        </p:nvSpPr>
        <p:spPr>
          <a:xfrm>
            <a:off x="1007352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9"/>
          <p:cNvSpPr/>
          <p:nvPr/>
        </p:nvSpPr>
        <p:spPr>
          <a:xfrm>
            <a:off x="110808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30"/>
          <p:cNvSpPr/>
          <p:nvPr/>
        </p:nvSpPr>
        <p:spPr>
          <a:xfrm>
            <a:off x="120884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31"/>
          <p:cNvSpPr/>
          <p:nvPr/>
        </p:nvSpPr>
        <p:spPr>
          <a:xfrm>
            <a:off x="130960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48"/>
          <p:cNvSpPr/>
          <p:nvPr/>
        </p:nvSpPr>
        <p:spPr>
          <a:xfrm>
            <a:off x="1800" y="1800"/>
            <a:ext cx="34236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ounded Rectangle 15"/>
          <p:cNvSpPr/>
          <p:nvPr/>
        </p:nvSpPr>
        <p:spPr>
          <a:xfrm>
            <a:off x="10880640" y="401400"/>
            <a:ext cx="220608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TextBox 7"/>
          <p:cNvSpPr/>
          <p:nvPr/>
        </p:nvSpPr>
        <p:spPr>
          <a:xfrm>
            <a:off x="3482280" y="1107360"/>
            <a:ext cx="512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Ne Öğreneceksiniz?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TextBox 8"/>
          <p:cNvSpPr/>
          <p:nvPr/>
        </p:nvSpPr>
        <p:spPr>
          <a:xfrm>
            <a:off x="2704320" y="2266920"/>
            <a:ext cx="7325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Java kursunda ele alınan temel konuların ve becerilerin genel bir özeti.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Rounded Rectangle 16"/>
          <p:cNvSpPr/>
          <p:nvPr/>
        </p:nvSpPr>
        <p:spPr>
          <a:xfrm>
            <a:off x="108612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ounded Rectangle 18"/>
          <p:cNvSpPr/>
          <p:nvPr/>
        </p:nvSpPr>
        <p:spPr>
          <a:xfrm>
            <a:off x="1005840" y="342684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temel kavramlarını anlama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 kavramlarını öğrenme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 yazma ve çalıştırma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Sağlam bir programlama temeli oluşturma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Rounded Rectangle 19"/>
          <p:cNvSpPr/>
          <p:nvPr/>
        </p:nvSpPr>
        <p:spPr>
          <a:xfrm>
            <a:off x="496620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ounded Rectangle 26"/>
          <p:cNvSpPr/>
          <p:nvPr/>
        </p:nvSpPr>
        <p:spPr>
          <a:xfrm>
            <a:off x="4884480" y="342540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Sözdizimi ve Temelleri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 ve Veri Tipleri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Kontrol Yapıları (if / döngüler)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Metotlar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" name="Rounded Rectangle 27"/>
          <p:cNvSpPr/>
          <p:nvPr/>
        </p:nvSpPr>
        <p:spPr>
          <a:xfrm>
            <a:off x="884556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ounded Rectangle 28"/>
          <p:cNvSpPr/>
          <p:nvPr/>
        </p:nvSpPr>
        <p:spPr>
          <a:xfrm>
            <a:off x="8763840" y="3426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" name="TextBox 9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Rectangle 49"/>
          <p:cNvSpPr/>
          <p:nvPr/>
        </p:nvSpPr>
        <p:spPr>
          <a:xfrm>
            <a:off x="1800" y="1800"/>
            <a:ext cx="1342080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50"/>
          <p:cNvSpPr/>
          <p:nvPr/>
        </p:nvSpPr>
        <p:spPr>
          <a:xfrm>
            <a:off x="18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51"/>
          <p:cNvSpPr/>
          <p:nvPr/>
        </p:nvSpPr>
        <p:spPr>
          <a:xfrm>
            <a:off x="100476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52"/>
          <p:cNvSpPr/>
          <p:nvPr/>
        </p:nvSpPr>
        <p:spPr>
          <a:xfrm>
            <a:off x="20124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53"/>
          <p:cNvSpPr/>
          <p:nvPr/>
        </p:nvSpPr>
        <p:spPr>
          <a:xfrm>
            <a:off x="30200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54"/>
          <p:cNvSpPr/>
          <p:nvPr/>
        </p:nvSpPr>
        <p:spPr>
          <a:xfrm>
            <a:off x="40276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55"/>
          <p:cNvSpPr/>
          <p:nvPr/>
        </p:nvSpPr>
        <p:spPr>
          <a:xfrm>
            <a:off x="503532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56"/>
          <p:cNvSpPr/>
          <p:nvPr/>
        </p:nvSpPr>
        <p:spPr>
          <a:xfrm>
            <a:off x="604296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57"/>
          <p:cNvSpPr/>
          <p:nvPr/>
        </p:nvSpPr>
        <p:spPr>
          <a:xfrm>
            <a:off x="70506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58"/>
          <p:cNvSpPr/>
          <p:nvPr/>
        </p:nvSpPr>
        <p:spPr>
          <a:xfrm>
            <a:off x="80582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59"/>
          <p:cNvSpPr/>
          <p:nvPr/>
        </p:nvSpPr>
        <p:spPr>
          <a:xfrm>
            <a:off x="90658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60"/>
          <p:cNvSpPr/>
          <p:nvPr/>
        </p:nvSpPr>
        <p:spPr>
          <a:xfrm>
            <a:off x="1007352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61"/>
          <p:cNvSpPr/>
          <p:nvPr/>
        </p:nvSpPr>
        <p:spPr>
          <a:xfrm>
            <a:off x="1108080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62"/>
          <p:cNvSpPr/>
          <p:nvPr/>
        </p:nvSpPr>
        <p:spPr>
          <a:xfrm>
            <a:off x="1208844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63"/>
          <p:cNvSpPr/>
          <p:nvPr/>
        </p:nvSpPr>
        <p:spPr>
          <a:xfrm>
            <a:off x="13096080" y="1800"/>
            <a:ext cx="1044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64"/>
          <p:cNvSpPr/>
          <p:nvPr/>
        </p:nvSpPr>
        <p:spPr>
          <a:xfrm>
            <a:off x="1800" y="1800"/>
            <a:ext cx="34236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ounded Rectangle 29"/>
          <p:cNvSpPr/>
          <p:nvPr/>
        </p:nvSpPr>
        <p:spPr>
          <a:xfrm>
            <a:off x="10880640" y="401400"/>
            <a:ext cx="2206080" cy="543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TextBox 10"/>
          <p:cNvSpPr/>
          <p:nvPr/>
        </p:nvSpPr>
        <p:spPr>
          <a:xfrm>
            <a:off x="4171320" y="1107360"/>
            <a:ext cx="373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Java’nın Tarihi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TextBox 11"/>
          <p:cNvSpPr/>
          <p:nvPr/>
        </p:nvSpPr>
        <p:spPr>
          <a:xfrm>
            <a:off x="1949760" y="2266920"/>
            <a:ext cx="8837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nasıl ortaya çıktığı ve neden en güçlü programlama dillerinden biri haline geldiği.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Rounded Rectangle 30"/>
          <p:cNvSpPr/>
          <p:nvPr/>
        </p:nvSpPr>
        <p:spPr>
          <a:xfrm>
            <a:off x="108612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ounded Rectangle 31"/>
          <p:cNvSpPr/>
          <p:nvPr/>
        </p:nvSpPr>
        <p:spPr>
          <a:xfrm>
            <a:off x="1005840" y="3426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Sun Microsystems’te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ve ekibi tarafından oluşturuldu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 Oak idi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Başlangıçtaki amaç: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Tüketici elektroniği için yazılım geliştirmek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Televizyonlar, set-top box’lar, gömülü sistemler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Temel sorun: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Farklı donanımlar, farklı yazılımlar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çalışabilecek tek bir dile ihtiyacımız vardı.”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Rounded Rectangle 32"/>
          <p:cNvSpPr/>
          <p:nvPr/>
        </p:nvSpPr>
        <p:spPr>
          <a:xfrm>
            <a:off x="496620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ounded Rectangle 33"/>
          <p:cNvSpPr/>
          <p:nvPr/>
        </p:nvSpPr>
        <p:spPr>
          <a:xfrm>
            <a:off x="4884480" y="3426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(Write Once, Run Anywhere)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Bytecode’a derlenir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JVM üzerinde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Her işletim sisteminde çalışır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1995’te yayımlandı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İnternet çağı için geliştirildi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" name="Rounded Rectangle 34"/>
          <p:cNvSpPr/>
          <p:nvPr/>
        </p:nvSpPr>
        <p:spPr>
          <a:xfrm>
            <a:off x="8845560" y="3507120"/>
            <a:ext cx="361692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ounded Rectangle 35"/>
          <p:cNvSpPr/>
          <p:nvPr/>
        </p:nvSpPr>
        <p:spPr>
          <a:xfrm>
            <a:off x="8763840" y="3426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Tarihi Başlıyor!");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doğdu");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" name="TextBox 12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Rectangle 65"/>
          <p:cNvSpPr/>
          <p:nvPr/>
        </p:nvSpPr>
        <p:spPr>
          <a:xfrm>
            <a:off x="1800" y="1800"/>
            <a:ext cx="1342116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66"/>
          <p:cNvSpPr/>
          <p:nvPr/>
        </p:nvSpPr>
        <p:spPr>
          <a:xfrm>
            <a:off x="18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67"/>
          <p:cNvSpPr/>
          <p:nvPr/>
        </p:nvSpPr>
        <p:spPr>
          <a:xfrm>
            <a:off x="100476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68"/>
          <p:cNvSpPr/>
          <p:nvPr/>
        </p:nvSpPr>
        <p:spPr>
          <a:xfrm>
            <a:off x="20124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69"/>
          <p:cNvSpPr/>
          <p:nvPr/>
        </p:nvSpPr>
        <p:spPr>
          <a:xfrm>
            <a:off x="30200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70"/>
          <p:cNvSpPr/>
          <p:nvPr/>
        </p:nvSpPr>
        <p:spPr>
          <a:xfrm>
            <a:off x="40276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71"/>
          <p:cNvSpPr/>
          <p:nvPr/>
        </p:nvSpPr>
        <p:spPr>
          <a:xfrm>
            <a:off x="503532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72"/>
          <p:cNvSpPr/>
          <p:nvPr/>
        </p:nvSpPr>
        <p:spPr>
          <a:xfrm>
            <a:off x="604296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73"/>
          <p:cNvSpPr/>
          <p:nvPr/>
        </p:nvSpPr>
        <p:spPr>
          <a:xfrm>
            <a:off x="70506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74"/>
          <p:cNvSpPr/>
          <p:nvPr/>
        </p:nvSpPr>
        <p:spPr>
          <a:xfrm>
            <a:off x="80582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75"/>
          <p:cNvSpPr/>
          <p:nvPr/>
        </p:nvSpPr>
        <p:spPr>
          <a:xfrm>
            <a:off x="90658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76"/>
          <p:cNvSpPr/>
          <p:nvPr/>
        </p:nvSpPr>
        <p:spPr>
          <a:xfrm>
            <a:off x="1007352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77"/>
          <p:cNvSpPr/>
          <p:nvPr/>
        </p:nvSpPr>
        <p:spPr>
          <a:xfrm>
            <a:off x="110808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78"/>
          <p:cNvSpPr/>
          <p:nvPr/>
        </p:nvSpPr>
        <p:spPr>
          <a:xfrm>
            <a:off x="120884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79"/>
          <p:cNvSpPr/>
          <p:nvPr/>
        </p:nvSpPr>
        <p:spPr>
          <a:xfrm>
            <a:off x="130960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80"/>
          <p:cNvSpPr/>
          <p:nvPr/>
        </p:nvSpPr>
        <p:spPr>
          <a:xfrm>
            <a:off x="1800" y="1800"/>
            <a:ext cx="34272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ounded Rectangle 36"/>
          <p:cNvSpPr/>
          <p:nvPr/>
        </p:nvSpPr>
        <p:spPr>
          <a:xfrm>
            <a:off x="10880640" y="401400"/>
            <a:ext cx="220644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TextBox 13"/>
          <p:cNvSpPr/>
          <p:nvPr/>
        </p:nvSpPr>
        <p:spPr>
          <a:xfrm>
            <a:off x="2801160" y="1107360"/>
            <a:ext cx="64828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Java’dan Önceki Problem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Box 14"/>
          <p:cNvSpPr/>
          <p:nvPr/>
        </p:nvSpPr>
        <p:spPr>
          <a:xfrm>
            <a:off x="2820600" y="2266920"/>
            <a:ext cx="7094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Dünyanın neden yeni bir programlama diline ihtiyaç duyduğunu anlatır.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Rounded Rectangle 37"/>
          <p:cNvSpPr/>
          <p:nvPr/>
        </p:nvSpPr>
        <p:spPr>
          <a:xfrm>
            <a:off x="108612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ounded Rectangle 38"/>
          <p:cNvSpPr/>
          <p:nvPr/>
        </p:nvSpPr>
        <p:spPr>
          <a:xfrm>
            <a:off x="679320" y="3274920"/>
            <a:ext cx="4024800" cy="316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Yazılım Kaosu (1990’ların başı)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Durum: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bilgisayarlar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işlemciler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işletim sistemleri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Başka bir makinede çalışmıyordu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sorun: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aynı yazılımı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tekrar tekrar baştan yazmak zorundaydı.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çalıştır” henüz yoktu.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Rounded Rectangle 39"/>
          <p:cNvSpPr/>
          <p:nvPr/>
        </p:nvSpPr>
        <p:spPr>
          <a:xfrm>
            <a:off x="496620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ounded Rectangle 40"/>
          <p:cNvSpPr/>
          <p:nvPr/>
        </p:nvSpPr>
        <p:spPr>
          <a:xfrm>
            <a:off x="4884480" y="342684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Mevcut Diller Neden Başarısız Oldu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Donanıma bağımlı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özel derlenmiş dosyalar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Bellek yönetimi problemleri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 sorunları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Ana sıkıntı: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sistem = bir derleme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Evrensel bir çözüm yoktu.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" name="Rounded Rectangle 41"/>
          <p:cNvSpPr/>
          <p:nvPr/>
        </p:nvSpPr>
        <p:spPr>
          <a:xfrm>
            <a:off x="884556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ounded Rectangle 42"/>
          <p:cNvSpPr/>
          <p:nvPr/>
        </p:nvSpPr>
        <p:spPr>
          <a:xfrm>
            <a:off x="8763840" y="3426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Kod donanıma bağımlıydı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Java’dan Önceki Felsefe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System.out.println("Yazılımı yeniden yaz!");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" name="TextBox 15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Rectangle 81"/>
          <p:cNvSpPr/>
          <p:nvPr/>
        </p:nvSpPr>
        <p:spPr>
          <a:xfrm>
            <a:off x="1800" y="1800"/>
            <a:ext cx="1342116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82"/>
          <p:cNvSpPr/>
          <p:nvPr/>
        </p:nvSpPr>
        <p:spPr>
          <a:xfrm>
            <a:off x="18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83"/>
          <p:cNvSpPr/>
          <p:nvPr/>
        </p:nvSpPr>
        <p:spPr>
          <a:xfrm>
            <a:off x="100476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84"/>
          <p:cNvSpPr/>
          <p:nvPr/>
        </p:nvSpPr>
        <p:spPr>
          <a:xfrm>
            <a:off x="20124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85"/>
          <p:cNvSpPr/>
          <p:nvPr/>
        </p:nvSpPr>
        <p:spPr>
          <a:xfrm>
            <a:off x="30200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86"/>
          <p:cNvSpPr/>
          <p:nvPr/>
        </p:nvSpPr>
        <p:spPr>
          <a:xfrm>
            <a:off x="40276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87"/>
          <p:cNvSpPr/>
          <p:nvPr/>
        </p:nvSpPr>
        <p:spPr>
          <a:xfrm>
            <a:off x="503532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88"/>
          <p:cNvSpPr/>
          <p:nvPr/>
        </p:nvSpPr>
        <p:spPr>
          <a:xfrm>
            <a:off x="604296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89"/>
          <p:cNvSpPr/>
          <p:nvPr/>
        </p:nvSpPr>
        <p:spPr>
          <a:xfrm>
            <a:off x="70506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90"/>
          <p:cNvSpPr/>
          <p:nvPr/>
        </p:nvSpPr>
        <p:spPr>
          <a:xfrm>
            <a:off x="80582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91"/>
          <p:cNvSpPr/>
          <p:nvPr/>
        </p:nvSpPr>
        <p:spPr>
          <a:xfrm>
            <a:off x="90658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92"/>
          <p:cNvSpPr/>
          <p:nvPr/>
        </p:nvSpPr>
        <p:spPr>
          <a:xfrm>
            <a:off x="1007352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93"/>
          <p:cNvSpPr/>
          <p:nvPr/>
        </p:nvSpPr>
        <p:spPr>
          <a:xfrm>
            <a:off x="1108080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94"/>
          <p:cNvSpPr/>
          <p:nvPr/>
        </p:nvSpPr>
        <p:spPr>
          <a:xfrm>
            <a:off x="1208844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95"/>
          <p:cNvSpPr/>
          <p:nvPr/>
        </p:nvSpPr>
        <p:spPr>
          <a:xfrm>
            <a:off x="13096080" y="1800"/>
            <a:ext cx="1080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96"/>
          <p:cNvSpPr/>
          <p:nvPr/>
        </p:nvSpPr>
        <p:spPr>
          <a:xfrm>
            <a:off x="1800" y="1800"/>
            <a:ext cx="34272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ounded Rectangle 1"/>
          <p:cNvSpPr/>
          <p:nvPr/>
        </p:nvSpPr>
        <p:spPr>
          <a:xfrm>
            <a:off x="10880640" y="401400"/>
            <a:ext cx="2206440" cy="543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TextBox 16"/>
          <p:cNvSpPr/>
          <p:nvPr/>
        </p:nvSpPr>
        <p:spPr>
          <a:xfrm>
            <a:off x="2592360" y="1107360"/>
            <a:ext cx="6911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 Projesi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Box 17"/>
          <p:cNvSpPr/>
          <p:nvPr/>
        </p:nvSpPr>
        <p:spPr>
          <a:xfrm>
            <a:off x="4428720" y="2266920"/>
            <a:ext cx="3876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Daha sonra Java’ya dönüşecek olan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Rounded Rectangle 43"/>
          <p:cNvSpPr/>
          <p:nvPr/>
        </p:nvSpPr>
        <p:spPr>
          <a:xfrm>
            <a:off x="108612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ounded Rectangle 44"/>
          <p:cNvSpPr/>
          <p:nvPr/>
        </p:nvSpPr>
        <p:spPr>
          <a:xfrm>
            <a:off x="1005840" y="342540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Oak Projesi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Microsystems’in dahili projesi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James Gosling liderliğinde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odaklanmış bir ekip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İlk adı: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Amaç: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cihazlar için yazılım geliştirmek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Televizyonlar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Set-top box’lar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Gömülü sistemler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" name="Rounded Rectangle 45"/>
          <p:cNvSpPr/>
          <p:nvPr/>
        </p:nvSpPr>
        <p:spPr>
          <a:xfrm>
            <a:off x="496620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ounded Rectangle 46"/>
          <p:cNvSpPr/>
          <p:nvPr/>
        </p:nvSpPr>
        <p:spPr>
          <a:xfrm>
            <a:off x="8845560" y="3507120"/>
            <a:ext cx="3617280" cy="3015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47"/>
          <p:cNvSpPr/>
          <p:nvPr/>
        </p:nvSpPr>
        <p:spPr>
          <a:xfrm>
            <a:off x="8763840" y="342684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System.out.println("Bu fikir yazılımı değiştirecek");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20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Rounded Rectangle 48"/>
          <p:cNvSpPr/>
          <p:nvPr/>
        </p:nvSpPr>
        <p:spPr>
          <a:xfrm>
            <a:off x="4938840" y="345096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Arkasındaki Temel Fikir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sözdizimi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güvenlik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Donanıma doğrudan bağımlılık yok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Devrimsel düşünce: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Birçok cihaz için tek bir dil.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Aynı kod her yerde çalışmalı.”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Rectangle 97"/>
          <p:cNvSpPr/>
          <p:nvPr/>
        </p:nvSpPr>
        <p:spPr>
          <a:xfrm>
            <a:off x="1800" y="1800"/>
            <a:ext cx="1342152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98"/>
          <p:cNvSpPr/>
          <p:nvPr/>
        </p:nvSpPr>
        <p:spPr>
          <a:xfrm>
            <a:off x="18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99"/>
          <p:cNvSpPr/>
          <p:nvPr/>
        </p:nvSpPr>
        <p:spPr>
          <a:xfrm>
            <a:off x="100476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100"/>
          <p:cNvSpPr/>
          <p:nvPr/>
        </p:nvSpPr>
        <p:spPr>
          <a:xfrm>
            <a:off x="20124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101"/>
          <p:cNvSpPr/>
          <p:nvPr/>
        </p:nvSpPr>
        <p:spPr>
          <a:xfrm>
            <a:off x="30200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102"/>
          <p:cNvSpPr/>
          <p:nvPr/>
        </p:nvSpPr>
        <p:spPr>
          <a:xfrm>
            <a:off x="40276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103"/>
          <p:cNvSpPr/>
          <p:nvPr/>
        </p:nvSpPr>
        <p:spPr>
          <a:xfrm>
            <a:off x="503532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104"/>
          <p:cNvSpPr/>
          <p:nvPr/>
        </p:nvSpPr>
        <p:spPr>
          <a:xfrm>
            <a:off x="604296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105"/>
          <p:cNvSpPr/>
          <p:nvPr/>
        </p:nvSpPr>
        <p:spPr>
          <a:xfrm>
            <a:off x="70506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106"/>
          <p:cNvSpPr/>
          <p:nvPr/>
        </p:nvSpPr>
        <p:spPr>
          <a:xfrm>
            <a:off x="80582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107"/>
          <p:cNvSpPr/>
          <p:nvPr/>
        </p:nvSpPr>
        <p:spPr>
          <a:xfrm>
            <a:off x="90658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108"/>
          <p:cNvSpPr/>
          <p:nvPr/>
        </p:nvSpPr>
        <p:spPr>
          <a:xfrm>
            <a:off x="1007352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109"/>
          <p:cNvSpPr/>
          <p:nvPr/>
        </p:nvSpPr>
        <p:spPr>
          <a:xfrm>
            <a:off x="110808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110"/>
          <p:cNvSpPr/>
          <p:nvPr/>
        </p:nvSpPr>
        <p:spPr>
          <a:xfrm>
            <a:off x="120884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111"/>
          <p:cNvSpPr/>
          <p:nvPr/>
        </p:nvSpPr>
        <p:spPr>
          <a:xfrm>
            <a:off x="130960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112"/>
          <p:cNvSpPr/>
          <p:nvPr/>
        </p:nvSpPr>
        <p:spPr>
          <a:xfrm>
            <a:off x="1800" y="1800"/>
            <a:ext cx="34308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ounded Rectangle 49"/>
          <p:cNvSpPr/>
          <p:nvPr/>
        </p:nvSpPr>
        <p:spPr>
          <a:xfrm>
            <a:off x="10880640" y="401400"/>
            <a:ext cx="220680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" name="TextBox 21"/>
          <p:cNvSpPr/>
          <p:nvPr/>
        </p:nvSpPr>
        <p:spPr>
          <a:xfrm>
            <a:off x="2608920" y="1107720"/>
            <a:ext cx="6882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Oak'tan Java'ya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TextBox 22"/>
          <p:cNvSpPr/>
          <p:nvPr/>
        </p:nvSpPr>
        <p:spPr>
          <a:xfrm>
            <a:off x="3687120" y="2266920"/>
            <a:ext cx="5359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Oak nasıl Java’ya dönüştü ve gerçek amacını nasıl buldu.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Rounded Rectangle 50"/>
          <p:cNvSpPr/>
          <p:nvPr/>
        </p:nvSpPr>
        <p:spPr>
          <a:xfrm>
            <a:off x="108612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ounded Rectangle 51"/>
          <p:cNvSpPr/>
          <p:nvPr/>
        </p:nvSpPr>
        <p:spPr>
          <a:xfrm>
            <a:off x="1005840" y="3426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Dönüm Noktası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 ters gitti?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Akıllı TV pazarı başarısız oldu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Oak’ın ticari bir geleceği yoktu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 neredeyse iptal ediliyordu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Ama bir şey değişti…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büyümeye başladı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tarayıcıları popülerleşti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Taşınabilir ve güvenli koda ihtiyaç doğdu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Kritik farkındalık: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Gelecek televizyonlar değil — Web’tir.”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" name="Rounded Rectangle 52"/>
          <p:cNvSpPr/>
          <p:nvPr/>
        </p:nvSpPr>
        <p:spPr>
          <a:xfrm>
            <a:off x="496620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ounded Rectangle 53"/>
          <p:cNvSpPr/>
          <p:nvPr/>
        </p:nvSpPr>
        <p:spPr>
          <a:xfrm>
            <a:off x="884556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54"/>
          <p:cNvSpPr/>
          <p:nvPr/>
        </p:nvSpPr>
        <p:spPr>
          <a:xfrm>
            <a:off x="8763840" y="3426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Web için hazır!"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Box 23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Rounded Rectangle 55"/>
          <p:cNvSpPr/>
          <p:nvPr/>
        </p:nvSpPr>
        <p:spPr>
          <a:xfrm>
            <a:off x="4938840" y="345060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Web Fırsatı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 neden İnternet için mükemmeldi?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Tasarım gereği güvenli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 verimli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Doğrudan donanım bağımlılığı yok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Yeni yön: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Cihazlardan → tarayıcılara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Oak’tan → Java’ya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dünyaya resmen tanıtıldı.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Rectangle 113"/>
          <p:cNvSpPr/>
          <p:nvPr/>
        </p:nvSpPr>
        <p:spPr>
          <a:xfrm>
            <a:off x="1800" y="1800"/>
            <a:ext cx="13421520" cy="7552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114"/>
          <p:cNvSpPr/>
          <p:nvPr/>
        </p:nvSpPr>
        <p:spPr>
          <a:xfrm>
            <a:off x="18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115"/>
          <p:cNvSpPr/>
          <p:nvPr/>
        </p:nvSpPr>
        <p:spPr>
          <a:xfrm>
            <a:off x="100476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116"/>
          <p:cNvSpPr/>
          <p:nvPr/>
        </p:nvSpPr>
        <p:spPr>
          <a:xfrm>
            <a:off x="20124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117"/>
          <p:cNvSpPr/>
          <p:nvPr/>
        </p:nvSpPr>
        <p:spPr>
          <a:xfrm>
            <a:off x="30200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118"/>
          <p:cNvSpPr/>
          <p:nvPr/>
        </p:nvSpPr>
        <p:spPr>
          <a:xfrm>
            <a:off x="40276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119"/>
          <p:cNvSpPr/>
          <p:nvPr/>
        </p:nvSpPr>
        <p:spPr>
          <a:xfrm>
            <a:off x="503532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120"/>
          <p:cNvSpPr/>
          <p:nvPr/>
        </p:nvSpPr>
        <p:spPr>
          <a:xfrm>
            <a:off x="604296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21"/>
          <p:cNvSpPr/>
          <p:nvPr/>
        </p:nvSpPr>
        <p:spPr>
          <a:xfrm>
            <a:off x="70506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122"/>
          <p:cNvSpPr/>
          <p:nvPr/>
        </p:nvSpPr>
        <p:spPr>
          <a:xfrm>
            <a:off x="80582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123"/>
          <p:cNvSpPr/>
          <p:nvPr/>
        </p:nvSpPr>
        <p:spPr>
          <a:xfrm>
            <a:off x="90658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124"/>
          <p:cNvSpPr/>
          <p:nvPr/>
        </p:nvSpPr>
        <p:spPr>
          <a:xfrm>
            <a:off x="1007352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125"/>
          <p:cNvSpPr/>
          <p:nvPr/>
        </p:nvSpPr>
        <p:spPr>
          <a:xfrm>
            <a:off x="1108080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126"/>
          <p:cNvSpPr/>
          <p:nvPr/>
        </p:nvSpPr>
        <p:spPr>
          <a:xfrm>
            <a:off x="1208844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127"/>
          <p:cNvSpPr/>
          <p:nvPr/>
        </p:nvSpPr>
        <p:spPr>
          <a:xfrm>
            <a:off x="13096080" y="1800"/>
            <a:ext cx="11160" cy="7552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128"/>
          <p:cNvSpPr/>
          <p:nvPr/>
        </p:nvSpPr>
        <p:spPr>
          <a:xfrm>
            <a:off x="1800" y="1800"/>
            <a:ext cx="343080" cy="7552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ounded Rectangle 56"/>
          <p:cNvSpPr/>
          <p:nvPr/>
        </p:nvSpPr>
        <p:spPr>
          <a:xfrm>
            <a:off x="10880640" y="401400"/>
            <a:ext cx="220680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TextBox 24"/>
          <p:cNvSpPr/>
          <p:nvPr/>
        </p:nvSpPr>
        <p:spPr>
          <a:xfrm>
            <a:off x="562680" y="1107720"/>
            <a:ext cx="109800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Felsefesi – Bir Kez Yaz, Her Yerde Çalıştır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TextBox 25"/>
          <p:cNvSpPr/>
          <p:nvPr/>
        </p:nvSpPr>
        <p:spPr>
          <a:xfrm>
            <a:off x="4013640" y="2266920"/>
            <a:ext cx="470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Yazılım geliştirmeyi sonsuza kadar değiştiren fikir.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Rounded Rectangle 57"/>
          <p:cNvSpPr/>
          <p:nvPr/>
        </p:nvSpPr>
        <p:spPr>
          <a:xfrm>
            <a:off x="108612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ounded Rectangle 58"/>
          <p:cNvSpPr/>
          <p:nvPr/>
        </p:nvSpPr>
        <p:spPr>
          <a:xfrm>
            <a:off x="1005840" y="3426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Vaat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Java’dan önce: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 işletim sistemi = 1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sistem için yeniden derleme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Yüksek bakım maliyeti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ile: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kaynak kod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Tek kez derlenen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yerde çalışır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Ünlü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Her Yerde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3" name="Rounded Rectangle 59"/>
          <p:cNvSpPr/>
          <p:nvPr/>
        </p:nvSpPr>
        <p:spPr>
          <a:xfrm>
            <a:off x="496620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ounded Rectangle 60"/>
          <p:cNvSpPr/>
          <p:nvPr/>
        </p:nvSpPr>
        <p:spPr>
          <a:xfrm>
            <a:off x="8845560" y="3507120"/>
            <a:ext cx="361764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61"/>
          <p:cNvSpPr/>
          <p:nvPr/>
        </p:nvSpPr>
        <p:spPr>
          <a:xfrm>
            <a:off x="8763840" y="342612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"Çalıştığı sistem: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"Aynı kod. Aynı sonuç."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Box 27"/>
          <p:cNvSpPr/>
          <p:nvPr/>
        </p:nvSpPr>
        <p:spPr>
          <a:xfrm>
            <a:off x="5221800" y="710676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Rounded Rectangle 62"/>
          <p:cNvSpPr/>
          <p:nvPr/>
        </p:nvSpPr>
        <p:spPr>
          <a:xfrm>
            <a:off x="4938840" y="3452040"/>
            <a:ext cx="361800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Çalışır? (Basit Anlatım)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çalışma modeli: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(her işletim sistemi için)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platformda çalışır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Rectangle 129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130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131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132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133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134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135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136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137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138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139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140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141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142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143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144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ounded Rectangle 63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TextBox 28"/>
          <p:cNvSpPr/>
          <p:nvPr/>
        </p:nvSpPr>
        <p:spPr>
          <a:xfrm>
            <a:off x="2558160" y="1107360"/>
            <a:ext cx="69890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Kurumsal Dünyaya Giriyor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TextBox 29"/>
          <p:cNvSpPr/>
          <p:nvPr/>
        </p:nvSpPr>
        <p:spPr>
          <a:xfrm>
            <a:off x="4201920" y="2266200"/>
            <a:ext cx="4337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büyük ölçekli sistemlere nasıl girdiği.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Rounded Rectangle 64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ounded Rectangle 65"/>
          <p:cNvSpPr/>
          <p:nvPr/>
        </p:nvSpPr>
        <p:spPr>
          <a:xfrm>
            <a:off x="100656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1990’ların sonlarında internet hızla büyüdü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Şirketlerin ölçeklenebilir yazılımlara ihtiyacı vardı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Güvenlik, kritik bir gereklilik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farklı işletim sistemlerinde çalışması gerekiyordu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sorunları şu özelliklerle çözdü: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bağımsızlık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nesne yönelimli tasarım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özellikleri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kurumsal sistemler için tercih edilen dil hâline geldi.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Rounded Rectangle 66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ounded Rectangle 67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68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kurumsal dünyaya giriyor!");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Box 3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Rounded Rectangle 69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benimsenme yolu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Web uygulamaları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Rectangle 145"/>
          <p:cNvSpPr/>
          <p:nvPr/>
        </p:nvSpPr>
        <p:spPr>
          <a:xfrm>
            <a:off x="16920" y="1800"/>
            <a:ext cx="13427280" cy="7550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146"/>
          <p:cNvSpPr/>
          <p:nvPr/>
        </p:nvSpPr>
        <p:spPr>
          <a:xfrm>
            <a:off x="144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147"/>
          <p:cNvSpPr/>
          <p:nvPr/>
        </p:nvSpPr>
        <p:spPr>
          <a:xfrm>
            <a:off x="100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148"/>
          <p:cNvSpPr/>
          <p:nvPr/>
        </p:nvSpPr>
        <p:spPr>
          <a:xfrm>
            <a:off x="201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149"/>
          <p:cNvSpPr/>
          <p:nvPr/>
        </p:nvSpPr>
        <p:spPr>
          <a:xfrm>
            <a:off x="302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150"/>
          <p:cNvSpPr/>
          <p:nvPr/>
        </p:nvSpPr>
        <p:spPr>
          <a:xfrm>
            <a:off x="402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151"/>
          <p:cNvSpPr/>
          <p:nvPr/>
        </p:nvSpPr>
        <p:spPr>
          <a:xfrm>
            <a:off x="503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152"/>
          <p:cNvSpPr/>
          <p:nvPr/>
        </p:nvSpPr>
        <p:spPr>
          <a:xfrm>
            <a:off x="604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153"/>
          <p:cNvSpPr/>
          <p:nvPr/>
        </p:nvSpPr>
        <p:spPr>
          <a:xfrm>
            <a:off x="705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154"/>
          <p:cNvSpPr/>
          <p:nvPr/>
        </p:nvSpPr>
        <p:spPr>
          <a:xfrm>
            <a:off x="806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155"/>
          <p:cNvSpPr/>
          <p:nvPr/>
        </p:nvSpPr>
        <p:spPr>
          <a:xfrm>
            <a:off x="9069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156"/>
          <p:cNvSpPr/>
          <p:nvPr/>
        </p:nvSpPr>
        <p:spPr>
          <a:xfrm>
            <a:off x="10077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157"/>
          <p:cNvSpPr/>
          <p:nvPr/>
        </p:nvSpPr>
        <p:spPr>
          <a:xfrm>
            <a:off x="11085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158"/>
          <p:cNvSpPr/>
          <p:nvPr/>
        </p:nvSpPr>
        <p:spPr>
          <a:xfrm>
            <a:off x="12093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159"/>
          <p:cNvSpPr/>
          <p:nvPr/>
        </p:nvSpPr>
        <p:spPr>
          <a:xfrm>
            <a:off x="13101480" y="1800"/>
            <a:ext cx="11520" cy="7550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160"/>
          <p:cNvSpPr/>
          <p:nvPr/>
        </p:nvSpPr>
        <p:spPr>
          <a:xfrm>
            <a:off x="1440" y="1800"/>
            <a:ext cx="343440" cy="7550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ounded Rectangle 70"/>
          <p:cNvSpPr/>
          <p:nvPr/>
        </p:nvSpPr>
        <p:spPr>
          <a:xfrm>
            <a:off x="10884960" y="401400"/>
            <a:ext cx="2207880" cy="543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1" name="TextBox 31"/>
          <p:cNvSpPr/>
          <p:nvPr/>
        </p:nvSpPr>
        <p:spPr>
          <a:xfrm>
            <a:off x="2953800" y="1107360"/>
            <a:ext cx="6199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Tarihi – Java Sürümleri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TextBox 32"/>
          <p:cNvSpPr/>
          <p:nvPr/>
        </p:nvSpPr>
        <p:spPr>
          <a:xfrm>
            <a:off x="4707360" y="2266200"/>
            <a:ext cx="332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adım adım nasıl ilerlediği.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Rounded Rectangle 71"/>
          <p:cNvSpPr/>
          <p:nvPr/>
        </p:nvSpPr>
        <p:spPr>
          <a:xfrm>
            <a:off x="108684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ounded Rectangle 72"/>
          <p:cNvSpPr/>
          <p:nvPr/>
        </p:nvSpPr>
        <p:spPr>
          <a:xfrm>
            <a:off x="1006560" y="342432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1994’ten sonra Java yön değiştirdi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Dilin adı Oak’tan Java’ya değiştirildi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Web için geliştirilmeye başlandı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Microsystems, Java’yı herkese açık olarak yayımlamaya karar verdi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noktadan sonra Java sürümleri ortaya çıkmaya başladı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i="1" lang="en-US" sz="1500" spc="-1" strike="noStrike" u="sng">
                <a:solidFill>
                  <a:schemeClr val="lt1"/>
                </a:solidFill>
                <a:uFillTx/>
                <a:latin typeface="Calibri"/>
                <a:ea typeface="DejaVu Sans"/>
              </a:rPr>
              <a:t>Temel fikir: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sürüm, eskilerini bozmadan Java’yı geliştirdi.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5" name="Rounded Rectangle 73"/>
          <p:cNvSpPr/>
          <p:nvPr/>
        </p:nvSpPr>
        <p:spPr>
          <a:xfrm>
            <a:off x="49683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ounded Rectangle 74"/>
          <p:cNvSpPr/>
          <p:nvPr/>
        </p:nvSpPr>
        <p:spPr>
          <a:xfrm>
            <a:off x="8849160" y="3506040"/>
            <a:ext cx="3619440" cy="3014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ounded Rectangle 75"/>
          <p:cNvSpPr/>
          <p:nvPr/>
        </p:nvSpPr>
        <p:spPr>
          <a:xfrm>
            <a:off x="8767440" y="342504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JavaVersionIntro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sürüm sürüm gelişmeye devam ediyor.");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9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TextBox 3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Rounded Rectangle 76"/>
          <p:cNvSpPr/>
          <p:nvPr/>
        </p:nvSpPr>
        <p:spPr>
          <a:xfrm>
            <a:off x="4941000" y="3450960"/>
            <a:ext cx="3619800" cy="301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sürümleri baştan yazım değildir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Kademeli iyileştirmelerdir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Yeni özellikler + aynı temel fikir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Felsefe: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kez yaz, sonsuza kadar geliştir.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Rectangle 161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162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163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164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165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166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167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168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169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170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171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172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173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174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175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176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ounded Rectangle 77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7" name="TextBox 34"/>
          <p:cNvSpPr/>
          <p:nvPr/>
        </p:nvSpPr>
        <p:spPr>
          <a:xfrm>
            <a:off x="1916280" y="1107360"/>
            <a:ext cx="8279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Kurumsal Patlama (2000–2005)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TextBox 35"/>
          <p:cNvSpPr/>
          <p:nvPr/>
        </p:nvSpPr>
        <p:spPr>
          <a:xfrm>
            <a:off x="3533400" y="2266200"/>
            <a:ext cx="5675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kurumsal yazılımların belkemiği hâline nasıl geldiği.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Rounded Rectangle 78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ounded Rectangle 79"/>
          <p:cNvSpPr/>
          <p:nvPr/>
        </p:nvSpPr>
        <p:spPr>
          <a:xfrm>
            <a:off x="10065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2000’lerin başı: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İnternet kullanımı patlama yaşadı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E-ticaret büyümeye başladı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Şirketler büyük ölçekli sistemlere ihtiyaç duydu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Sistemlerin şu özelliklere sahip olması gerekiyordu: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Güvenli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- Ölçeklenebilir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1" name="Rounded Rectangle 80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ounded Rectangle 81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ounded Rectangle 82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EnterpriseEra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sistemOnline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if (sistemOnline)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"Kurumsal sistemler 7/24 çalışıyor."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Box 3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Rounded Rectangle 83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neden bu döneme damga vurdu: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2 Platformu (J2SE, J2EE, J2ME)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sunucu tarafı programlama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Çok katmanlı mimari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güvenlik modeli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odaklı uygulamalar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Rectangle 177"/>
          <p:cNvSpPr/>
          <p:nvPr/>
        </p:nvSpPr>
        <p:spPr>
          <a:xfrm>
            <a:off x="16920" y="1800"/>
            <a:ext cx="13428000" cy="7551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178"/>
          <p:cNvSpPr/>
          <p:nvPr/>
        </p:nvSpPr>
        <p:spPr>
          <a:xfrm>
            <a:off x="144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179"/>
          <p:cNvSpPr/>
          <p:nvPr/>
        </p:nvSpPr>
        <p:spPr>
          <a:xfrm>
            <a:off x="100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180"/>
          <p:cNvSpPr/>
          <p:nvPr/>
        </p:nvSpPr>
        <p:spPr>
          <a:xfrm>
            <a:off x="201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181"/>
          <p:cNvSpPr/>
          <p:nvPr/>
        </p:nvSpPr>
        <p:spPr>
          <a:xfrm>
            <a:off x="302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ectangle 182"/>
          <p:cNvSpPr/>
          <p:nvPr/>
        </p:nvSpPr>
        <p:spPr>
          <a:xfrm>
            <a:off x="402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183"/>
          <p:cNvSpPr/>
          <p:nvPr/>
        </p:nvSpPr>
        <p:spPr>
          <a:xfrm>
            <a:off x="503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184"/>
          <p:cNvSpPr/>
          <p:nvPr/>
        </p:nvSpPr>
        <p:spPr>
          <a:xfrm>
            <a:off x="604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185"/>
          <p:cNvSpPr/>
          <p:nvPr/>
        </p:nvSpPr>
        <p:spPr>
          <a:xfrm>
            <a:off x="705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186"/>
          <p:cNvSpPr/>
          <p:nvPr/>
        </p:nvSpPr>
        <p:spPr>
          <a:xfrm>
            <a:off x="806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187"/>
          <p:cNvSpPr/>
          <p:nvPr/>
        </p:nvSpPr>
        <p:spPr>
          <a:xfrm>
            <a:off x="9069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188"/>
          <p:cNvSpPr/>
          <p:nvPr/>
        </p:nvSpPr>
        <p:spPr>
          <a:xfrm>
            <a:off x="10077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189"/>
          <p:cNvSpPr/>
          <p:nvPr/>
        </p:nvSpPr>
        <p:spPr>
          <a:xfrm>
            <a:off x="11085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190"/>
          <p:cNvSpPr/>
          <p:nvPr/>
        </p:nvSpPr>
        <p:spPr>
          <a:xfrm>
            <a:off x="12093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191"/>
          <p:cNvSpPr/>
          <p:nvPr/>
        </p:nvSpPr>
        <p:spPr>
          <a:xfrm>
            <a:off x="13101480" y="1800"/>
            <a:ext cx="12240" cy="7551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192"/>
          <p:cNvSpPr/>
          <p:nvPr/>
        </p:nvSpPr>
        <p:spPr>
          <a:xfrm>
            <a:off x="1440" y="1800"/>
            <a:ext cx="344160" cy="7551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ounded Rectangle 84"/>
          <p:cNvSpPr/>
          <p:nvPr/>
        </p:nvSpPr>
        <p:spPr>
          <a:xfrm>
            <a:off x="10884960" y="401400"/>
            <a:ext cx="2208600" cy="544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3" name="TextBox 37"/>
          <p:cNvSpPr/>
          <p:nvPr/>
        </p:nvSpPr>
        <p:spPr>
          <a:xfrm>
            <a:off x="1708920" y="1107360"/>
            <a:ext cx="86954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2000–2005 Arası Java Teknolojileri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TextBox 38"/>
          <p:cNvSpPr/>
          <p:nvPr/>
        </p:nvSpPr>
        <p:spPr>
          <a:xfrm>
            <a:off x="4586400" y="2266200"/>
            <a:ext cx="356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Modern kurumsal Java’nın temelleri.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Rounded Rectangle 85"/>
          <p:cNvSpPr/>
          <p:nvPr/>
        </p:nvSpPr>
        <p:spPr>
          <a:xfrm>
            <a:off x="108684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ounded Rectangle 86"/>
          <p:cNvSpPr/>
          <p:nvPr/>
        </p:nvSpPr>
        <p:spPr>
          <a:xfrm>
            <a:off x="1006560" y="342432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Temel teknolojiler: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Servlets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JSP (JavaServer Pages)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JDBC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JNDI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EJB (Enterprise JavaBeans)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7" name="Rounded Rectangle 87"/>
          <p:cNvSpPr/>
          <p:nvPr/>
        </p:nvSpPr>
        <p:spPr>
          <a:xfrm>
            <a:off x="49683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ounded Rectangle 88"/>
          <p:cNvSpPr/>
          <p:nvPr/>
        </p:nvSpPr>
        <p:spPr>
          <a:xfrm>
            <a:off x="8849160" y="3506040"/>
            <a:ext cx="3620160" cy="3015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ounded Rectangle 89"/>
          <p:cNvSpPr/>
          <p:nvPr/>
        </p:nvSpPr>
        <p:spPr>
          <a:xfrm>
            <a:off x="8767440" y="3425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user = "Client";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"Welcome to the enterprise system, " + user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Box 39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Rounded Rectangle 90"/>
          <p:cNvSpPr/>
          <p:nvPr/>
        </p:nvSpPr>
        <p:spPr>
          <a:xfrm>
            <a:off x="4941000" y="345096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Bu teknolojiler sayesinde: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Dinamik web uygulamaları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Veritabanı tabanlı sistemler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(transaction) yönetimi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Dağıtık uygulamalar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ölçekte ölçeklenebilirlik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Rectangle 193"/>
          <p:cNvSpPr/>
          <p:nvPr/>
        </p:nvSpPr>
        <p:spPr>
          <a:xfrm>
            <a:off x="16920" y="1800"/>
            <a:ext cx="1342836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194"/>
          <p:cNvSpPr/>
          <p:nvPr/>
        </p:nvSpPr>
        <p:spPr>
          <a:xfrm>
            <a:off x="144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195"/>
          <p:cNvSpPr/>
          <p:nvPr/>
        </p:nvSpPr>
        <p:spPr>
          <a:xfrm>
            <a:off x="100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196"/>
          <p:cNvSpPr/>
          <p:nvPr/>
        </p:nvSpPr>
        <p:spPr>
          <a:xfrm>
            <a:off x="201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197"/>
          <p:cNvSpPr/>
          <p:nvPr/>
        </p:nvSpPr>
        <p:spPr>
          <a:xfrm>
            <a:off x="302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ectangle 198"/>
          <p:cNvSpPr/>
          <p:nvPr/>
        </p:nvSpPr>
        <p:spPr>
          <a:xfrm>
            <a:off x="402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ectangle 199"/>
          <p:cNvSpPr/>
          <p:nvPr/>
        </p:nvSpPr>
        <p:spPr>
          <a:xfrm>
            <a:off x="503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ectangle 200"/>
          <p:cNvSpPr/>
          <p:nvPr/>
        </p:nvSpPr>
        <p:spPr>
          <a:xfrm>
            <a:off x="604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201"/>
          <p:cNvSpPr/>
          <p:nvPr/>
        </p:nvSpPr>
        <p:spPr>
          <a:xfrm>
            <a:off x="705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202"/>
          <p:cNvSpPr/>
          <p:nvPr/>
        </p:nvSpPr>
        <p:spPr>
          <a:xfrm>
            <a:off x="806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203"/>
          <p:cNvSpPr/>
          <p:nvPr/>
        </p:nvSpPr>
        <p:spPr>
          <a:xfrm>
            <a:off x="906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204"/>
          <p:cNvSpPr/>
          <p:nvPr/>
        </p:nvSpPr>
        <p:spPr>
          <a:xfrm>
            <a:off x="1007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205"/>
          <p:cNvSpPr/>
          <p:nvPr/>
        </p:nvSpPr>
        <p:spPr>
          <a:xfrm>
            <a:off x="1108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206"/>
          <p:cNvSpPr/>
          <p:nvPr/>
        </p:nvSpPr>
        <p:spPr>
          <a:xfrm>
            <a:off x="1209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207"/>
          <p:cNvSpPr/>
          <p:nvPr/>
        </p:nvSpPr>
        <p:spPr>
          <a:xfrm>
            <a:off x="1310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208"/>
          <p:cNvSpPr/>
          <p:nvPr/>
        </p:nvSpPr>
        <p:spPr>
          <a:xfrm>
            <a:off x="1440" y="1800"/>
            <a:ext cx="34452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ounded Rectangle 91"/>
          <p:cNvSpPr/>
          <p:nvPr/>
        </p:nvSpPr>
        <p:spPr>
          <a:xfrm>
            <a:off x="10884960" y="401400"/>
            <a:ext cx="220896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TextBox 40"/>
          <p:cNvSpPr/>
          <p:nvPr/>
        </p:nvSpPr>
        <p:spPr>
          <a:xfrm>
            <a:off x="2097720" y="1107360"/>
            <a:ext cx="7918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Teknolojileri (2005–2010)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TextBox 41"/>
          <p:cNvSpPr/>
          <p:nvPr/>
        </p:nvSpPr>
        <p:spPr>
          <a:xfrm>
            <a:off x="5367240" y="2266200"/>
            <a:ext cx="200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Framework Devrimi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Rounded Rectangle 92"/>
          <p:cNvSpPr/>
          <p:nvPr/>
        </p:nvSpPr>
        <p:spPr>
          <a:xfrm>
            <a:off x="108684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ounded Rectangle 93"/>
          <p:cNvSpPr/>
          <p:nvPr/>
        </p:nvSpPr>
        <p:spPr>
          <a:xfrm>
            <a:off x="1006560" y="342432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Teknolojiler (Ortaya çıkanlar):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Spring Framework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(Kontrolün Tersine Çevrilmesi – IoC, Bağımlılık Enjeksiyonu – DI)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Hibernate / JPA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(Nesne-İlişkisel Eşleme – ORM)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EE 5 &amp; 6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(XML ağırlıklı yapılandırmaların yerini anotasyonlar aldı)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JSF (JavaServer Faces)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(Bileşen tabanlı kullanıcı arayüzü)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Maven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(Standart derleme ve bağımlılık yönetimi)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3" name="Rounded Rectangle 94"/>
          <p:cNvSpPr/>
          <p:nvPr/>
        </p:nvSpPr>
        <p:spPr>
          <a:xfrm>
            <a:off x="49683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ounded Rectangle 95"/>
          <p:cNvSpPr/>
          <p:nvPr/>
        </p:nvSpPr>
        <p:spPr>
          <a:xfrm>
            <a:off x="88491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ounded Rectangle 96"/>
          <p:cNvSpPr/>
          <p:nvPr/>
        </p:nvSpPr>
        <p:spPr>
          <a:xfrm>
            <a:off x="8767440" y="3425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@Service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OrderService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@Autowired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OrderRepository repository;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Order findOrder(Long id)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repository.findById(id);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TextBox 4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Rounded Rectangle 97"/>
          <p:cNvSpPr/>
          <p:nvPr/>
        </p:nvSpPr>
        <p:spPr>
          <a:xfrm>
            <a:off x="4941000" y="345096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 dönem neden önemliydi: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XML ağırlıklı kurumsal Java yapıları sadeleştirildi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Gereksiz tekrar kod ciddi şekilde azaldı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Gevşek bağlılık  standart hâline geldi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MVC ve katmanlı mimari yaygınlaştı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 üretkenlik ve esneklik kazandı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2005 öncesi: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Java = karmaşık, uzun, bakımı zor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2005 sonrası: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Kurumsal Java = daha temiz, modüler, framework odaklı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Rectangle 209"/>
          <p:cNvSpPr/>
          <p:nvPr/>
        </p:nvSpPr>
        <p:spPr>
          <a:xfrm>
            <a:off x="16920" y="1800"/>
            <a:ext cx="1342836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210"/>
          <p:cNvSpPr/>
          <p:nvPr/>
        </p:nvSpPr>
        <p:spPr>
          <a:xfrm>
            <a:off x="144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211"/>
          <p:cNvSpPr/>
          <p:nvPr/>
        </p:nvSpPr>
        <p:spPr>
          <a:xfrm>
            <a:off x="100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ectangle 212"/>
          <p:cNvSpPr/>
          <p:nvPr/>
        </p:nvSpPr>
        <p:spPr>
          <a:xfrm>
            <a:off x="201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ectangle 213"/>
          <p:cNvSpPr/>
          <p:nvPr/>
        </p:nvSpPr>
        <p:spPr>
          <a:xfrm>
            <a:off x="302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ectangle 214"/>
          <p:cNvSpPr/>
          <p:nvPr/>
        </p:nvSpPr>
        <p:spPr>
          <a:xfrm>
            <a:off x="402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ectangle 215"/>
          <p:cNvSpPr/>
          <p:nvPr/>
        </p:nvSpPr>
        <p:spPr>
          <a:xfrm>
            <a:off x="503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ectangle 216"/>
          <p:cNvSpPr/>
          <p:nvPr/>
        </p:nvSpPr>
        <p:spPr>
          <a:xfrm>
            <a:off x="604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217"/>
          <p:cNvSpPr/>
          <p:nvPr/>
        </p:nvSpPr>
        <p:spPr>
          <a:xfrm>
            <a:off x="705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218"/>
          <p:cNvSpPr/>
          <p:nvPr/>
        </p:nvSpPr>
        <p:spPr>
          <a:xfrm>
            <a:off x="806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219"/>
          <p:cNvSpPr/>
          <p:nvPr/>
        </p:nvSpPr>
        <p:spPr>
          <a:xfrm>
            <a:off x="906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220"/>
          <p:cNvSpPr/>
          <p:nvPr/>
        </p:nvSpPr>
        <p:spPr>
          <a:xfrm>
            <a:off x="1007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221"/>
          <p:cNvSpPr/>
          <p:nvPr/>
        </p:nvSpPr>
        <p:spPr>
          <a:xfrm>
            <a:off x="1108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222"/>
          <p:cNvSpPr/>
          <p:nvPr/>
        </p:nvSpPr>
        <p:spPr>
          <a:xfrm>
            <a:off x="1209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223"/>
          <p:cNvSpPr/>
          <p:nvPr/>
        </p:nvSpPr>
        <p:spPr>
          <a:xfrm>
            <a:off x="1310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224"/>
          <p:cNvSpPr/>
          <p:nvPr/>
        </p:nvSpPr>
        <p:spPr>
          <a:xfrm>
            <a:off x="1440" y="1800"/>
            <a:ext cx="34452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ounded Rectangle 98"/>
          <p:cNvSpPr/>
          <p:nvPr/>
        </p:nvSpPr>
        <p:spPr>
          <a:xfrm>
            <a:off x="10884960" y="401400"/>
            <a:ext cx="220896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5" name="TextBox 43"/>
          <p:cNvSpPr/>
          <p:nvPr/>
        </p:nvSpPr>
        <p:spPr>
          <a:xfrm>
            <a:off x="2808000" y="1107360"/>
            <a:ext cx="64983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Modern Java ve Bulut Çağı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TextBox 44"/>
          <p:cNvSpPr/>
          <p:nvPr/>
        </p:nvSpPr>
        <p:spPr>
          <a:xfrm>
            <a:off x="5367240" y="2266200"/>
            <a:ext cx="2003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Framework Devrimi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Rounded Rectangle 99"/>
          <p:cNvSpPr/>
          <p:nvPr/>
        </p:nvSpPr>
        <p:spPr>
          <a:xfrm>
            <a:off x="108684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ounded Rectangle 100"/>
          <p:cNvSpPr/>
          <p:nvPr/>
        </p:nvSpPr>
        <p:spPr>
          <a:xfrm>
            <a:off x="1020960" y="342432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(Temel teknolojiler):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REST API’ler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Mikroservisler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Docker &amp; Kubernetes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2100" spc="-1" strike="noStrike">
                <a:solidFill>
                  <a:schemeClr val="lt1"/>
                </a:solidFill>
                <a:latin typeface="Calibri"/>
                <a:ea typeface="DejaVu Sans"/>
              </a:rPr>
              <a:t>Java 8+ (Lambda ifadeleri, Stream API)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9" name="Rounded Rectangle 101"/>
          <p:cNvSpPr/>
          <p:nvPr/>
        </p:nvSpPr>
        <p:spPr>
          <a:xfrm>
            <a:off x="49683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ounded Rectangle 102"/>
          <p:cNvSpPr/>
          <p:nvPr/>
        </p:nvSpPr>
        <p:spPr>
          <a:xfrm>
            <a:off x="88491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ounded Rectangle 103"/>
          <p:cNvSpPr/>
          <p:nvPr/>
        </p:nvSpPr>
        <p:spPr>
          <a:xfrm>
            <a:off x="8767440" y="3425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@GetMapping("/users/{id}")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User getUser(@PathVariable Long id)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userService.getUser(id);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TextBox 4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Rounded Rectangle 104"/>
          <p:cNvSpPr/>
          <p:nvPr/>
        </p:nvSpPr>
        <p:spPr>
          <a:xfrm>
            <a:off x="4941000" y="345096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Bulut uyumlu (cloud-native) uygulamalar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Mikroservis mimarisi ile ölçeklenebilirlik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Hızlı dağıtım (deployment)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Fonksiyonel programlama yaklaşımı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Uzun süreli destek (LTS – Long Term Support)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Rectangle 225"/>
          <p:cNvSpPr/>
          <p:nvPr/>
        </p:nvSpPr>
        <p:spPr>
          <a:xfrm>
            <a:off x="16920" y="1800"/>
            <a:ext cx="1342836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226"/>
          <p:cNvSpPr/>
          <p:nvPr/>
        </p:nvSpPr>
        <p:spPr>
          <a:xfrm>
            <a:off x="144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ectangle 227"/>
          <p:cNvSpPr/>
          <p:nvPr/>
        </p:nvSpPr>
        <p:spPr>
          <a:xfrm>
            <a:off x="100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ectangle 228"/>
          <p:cNvSpPr/>
          <p:nvPr/>
        </p:nvSpPr>
        <p:spPr>
          <a:xfrm>
            <a:off x="201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ectangle 229"/>
          <p:cNvSpPr/>
          <p:nvPr/>
        </p:nvSpPr>
        <p:spPr>
          <a:xfrm>
            <a:off x="302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ectangle 230"/>
          <p:cNvSpPr/>
          <p:nvPr/>
        </p:nvSpPr>
        <p:spPr>
          <a:xfrm>
            <a:off x="402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ectangle 231"/>
          <p:cNvSpPr/>
          <p:nvPr/>
        </p:nvSpPr>
        <p:spPr>
          <a:xfrm>
            <a:off x="503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ectangle 232"/>
          <p:cNvSpPr/>
          <p:nvPr/>
        </p:nvSpPr>
        <p:spPr>
          <a:xfrm>
            <a:off x="604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233"/>
          <p:cNvSpPr/>
          <p:nvPr/>
        </p:nvSpPr>
        <p:spPr>
          <a:xfrm>
            <a:off x="705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234"/>
          <p:cNvSpPr/>
          <p:nvPr/>
        </p:nvSpPr>
        <p:spPr>
          <a:xfrm>
            <a:off x="806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235"/>
          <p:cNvSpPr/>
          <p:nvPr/>
        </p:nvSpPr>
        <p:spPr>
          <a:xfrm>
            <a:off x="906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236"/>
          <p:cNvSpPr/>
          <p:nvPr/>
        </p:nvSpPr>
        <p:spPr>
          <a:xfrm>
            <a:off x="1007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237"/>
          <p:cNvSpPr/>
          <p:nvPr/>
        </p:nvSpPr>
        <p:spPr>
          <a:xfrm>
            <a:off x="1108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238"/>
          <p:cNvSpPr/>
          <p:nvPr/>
        </p:nvSpPr>
        <p:spPr>
          <a:xfrm>
            <a:off x="1209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239"/>
          <p:cNvSpPr/>
          <p:nvPr/>
        </p:nvSpPr>
        <p:spPr>
          <a:xfrm>
            <a:off x="1310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240"/>
          <p:cNvSpPr/>
          <p:nvPr/>
        </p:nvSpPr>
        <p:spPr>
          <a:xfrm>
            <a:off x="1440" y="1800"/>
            <a:ext cx="34452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ounded Rectangle 105"/>
          <p:cNvSpPr/>
          <p:nvPr/>
        </p:nvSpPr>
        <p:spPr>
          <a:xfrm>
            <a:off x="10884960" y="401400"/>
            <a:ext cx="220896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1" name="TextBox 46"/>
          <p:cNvSpPr/>
          <p:nvPr/>
        </p:nvSpPr>
        <p:spPr>
          <a:xfrm>
            <a:off x="3957120" y="1107360"/>
            <a:ext cx="4198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2015 Sonrası Java: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TextBox 47"/>
          <p:cNvSpPr/>
          <p:nvPr/>
        </p:nvSpPr>
        <p:spPr>
          <a:xfrm>
            <a:off x="4066200" y="2266200"/>
            <a:ext cx="4608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büyüyor: daha hızlı, daha temiz, daha akıllı.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Rounded Rectangle 106"/>
          <p:cNvSpPr/>
          <p:nvPr/>
        </p:nvSpPr>
        <p:spPr>
          <a:xfrm>
            <a:off x="108684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ounded Rectangle 107"/>
          <p:cNvSpPr/>
          <p:nvPr/>
        </p:nvSpPr>
        <p:spPr>
          <a:xfrm>
            <a:off x="1020960" y="342432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8+ Lambda İfadeleri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Streams API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Optional &amp; Fonksiyonel Arayüzler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CompletableFuture (Asenkron programlama)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Records (değiştirilemez veri taşıyıcıları)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Pattern Matching (instanceof, switch)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5" name="Rounded Rectangle 108"/>
          <p:cNvSpPr/>
          <p:nvPr/>
        </p:nvSpPr>
        <p:spPr>
          <a:xfrm>
            <a:off x="49683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ounded Rectangle 109"/>
          <p:cNvSpPr/>
          <p:nvPr/>
        </p:nvSpPr>
        <p:spPr>
          <a:xfrm>
            <a:off x="88491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ounded Rectangle 110"/>
          <p:cNvSpPr/>
          <p:nvPr/>
        </p:nvSpPr>
        <p:spPr>
          <a:xfrm>
            <a:off x="8767440" y="3425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activeUsers =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users.stream()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.filter(User::isActive)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.map(User::getName)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.toList();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TextBox 4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Rounded Rectangle 111"/>
          <p:cNvSpPr/>
          <p:nvPr/>
        </p:nvSpPr>
        <p:spPr>
          <a:xfrm>
            <a:off x="4941000" y="345096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ifade gücü yüksek kode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az tekrar (boilerplate)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Daha iyi performans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Paralel ve asenkron işlem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Modern programlama paradigmaları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Okunabilirlik + sürdürülebilirlik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8 Öncesi: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Emredici (imperative), uzun, döngü ağırlıklı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8 Sonrası: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Bildirime dayalı, fonksiyonel, akıcı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Rectangle 241"/>
          <p:cNvSpPr/>
          <p:nvPr/>
        </p:nvSpPr>
        <p:spPr>
          <a:xfrm>
            <a:off x="16920" y="1800"/>
            <a:ext cx="1342836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ectangle 242"/>
          <p:cNvSpPr/>
          <p:nvPr/>
        </p:nvSpPr>
        <p:spPr>
          <a:xfrm>
            <a:off x="144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ectangle 243"/>
          <p:cNvSpPr/>
          <p:nvPr/>
        </p:nvSpPr>
        <p:spPr>
          <a:xfrm>
            <a:off x="100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ectangle 244"/>
          <p:cNvSpPr/>
          <p:nvPr/>
        </p:nvSpPr>
        <p:spPr>
          <a:xfrm>
            <a:off x="201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ectangle 245"/>
          <p:cNvSpPr/>
          <p:nvPr/>
        </p:nvSpPr>
        <p:spPr>
          <a:xfrm>
            <a:off x="302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ectangle 246"/>
          <p:cNvSpPr/>
          <p:nvPr/>
        </p:nvSpPr>
        <p:spPr>
          <a:xfrm>
            <a:off x="402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ectangle 247"/>
          <p:cNvSpPr/>
          <p:nvPr/>
        </p:nvSpPr>
        <p:spPr>
          <a:xfrm>
            <a:off x="503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ectangle 248"/>
          <p:cNvSpPr/>
          <p:nvPr/>
        </p:nvSpPr>
        <p:spPr>
          <a:xfrm>
            <a:off x="604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ectangle 249"/>
          <p:cNvSpPr/>
          <p:nvPr/>
        </p:nvSpPr>
        <p:spPr>
          <a:xfrm>
            <a:off x="705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250"/>
          <p:cNvSpPr/>
          <p:nvPr/>
        </p:nvSpPr>
        <p:spPr>
          <a:xfrm>
            <a:off x="806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ectangle 251"/>
          <p:cNvSpPr/>
          <p:nvPr/>
        </p:nvSpPr>
        <p:spPr>
          <a:xfrm>
            <a:off x="906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252"/>
          <p:cNvSpPr/>
          <p:nvPr/>
        </p:nvSpPr>
        <p:spPr>
          <a:xfrm>
            <a:off x="1007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253"/>
          <p:cNvSpPr/>
          <p:nvPr/>
        </p:nvSpPr>
        <p:spPr>
          <a:xfrm>
            <a:off x="1108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254"/>
          <p:cNvSpPr/>
          <p:nvPr/>
        </p:nvSpPr>
        <p:spPr>
          <a:xfrm>
            <a:off x="1209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255"/>
          <p:cNvSpPr/>
          <p:nvPr/>
        </p:nvSpPr>
        <p:spPr>
          <a:xfrm>
            <a:off x="1310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256"/>
          <p:cNvSpPr/>
          <p:nvPr/>
        </p:nvSpPr>
        <p:spPr>
          <a:xfrm>
            <a:off x="1440" y="1800"/>
            <a:ext cx="34452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ounded Rectangle 112"/>
          <p:cNvSpPr/>
          <p:nvPr/>
        </p:nvSpPr>
        <p:spPr>
          <a:xfrm>
            <a:off x="10884960" y="401400"/>
            <a:ext cx="220896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TextBox 49"/>
          <p:cNvSpPr/>
          <p:nvPr/>
        </p:nvSpPr>
        <p:spPr>
          <a:xfrm>
            <a:off x="1362960" y="1107360"/>
            <a:ext cx="93891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Bugünün Java’sı: Kurumsal, Bulut ve Ötesi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TextBox 50"/>
          <p:cNvSpPr/>
          <p:nvPr/>
        </p:nvSpPr>
        <p:spPr>
          <a:xfrm>
            <a:off x="4168080" y="2266200"/>
            <a:ext cx="440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artık sadece kurumsal değil — her yerde.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Rounded Rectangle 113"/>
          <p:cNvSpPr/>
          <p:nvPr/>
        </p:nvSpPr>
        <p:spPr>
          <a:xfrm>
            <a:off x="108684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ounded Rectangle 114"/>
          <p:cNvSpPr/>
          <p:nvPr/>
        </p:nvSpPr>
        <p:spPr>
          <a:xfrm>
            <a:off x="1020960" y="342432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Bulut-yerel (cloud-native) backend’ler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performanslı API’ler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Finansal sistemler ve bankacılık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veri ve akış (streaming) platformları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Android (çekirdek dil temelleri)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Oyun sunucuları ve gerçek zamanlı sistemler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1" name="Rounded Rectangle 115"/>
          <p:cNvSpPr/>
          <p:nvPr/>
        </p:nvSpPr>
        <p:spPr>
          <a:xfrm>
            <a:off x="49683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ounded Rectangle 116"/>
          <p:cNvSpPr/>
          <p:nvPr/>
        </p:nvSpPr>
        <p:spPr>
          <a:xfrm>
            <a:off x="88491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ounded Rectangle 117"/>
          <p:cNvSpPr/>
          <p:nvPr/>
        </p:nvSpPr>
        <p:spPr>
          <a:xfrm>
            <a:off x="8767440" y="3425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@GetMapping("/health")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ResponseEntity&lt;String&gt; status()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ResponseEntity.ok("Servis çalışıyor");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Box 5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Rounded Rectangle 118"/>
          <p:cNvSpPr/>
          <p:nvPr/>
        </p:nvSpPr>
        <p:spPr>
          <a:xfrm>
            <a:off x="4941000" y="345096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Modern Java Ekosistemi;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Spring Boot &amp; Spring Cloud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Reaktif programlama (WebFlux)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Kubernetes-yerel dağıtımlar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GraalVM &amp; Native Image’lar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Gözlemlenebilirlik (metrikler, izleme/tracing)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Uzun dönem destek (LTS) kararlılığı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ectangle 257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ectangle 258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ectangle 259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ectangle 260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ectangle 261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ectangle 262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ectangle 263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ectangle 264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ectangle 265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ectangle 266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ectangle 267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268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ectangle 269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ectangle 270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ectangle 271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ectangle 272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ounded Rectangle 119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3" name="TextBox 52"/>
          <p:cNvSpPr/>
          <p:nvPr/>
        </p:nvSpPr>
        <p:spPr>
          <a:xfrm>
            <a:off x="2818440" y="1107360"/>
            <a:ext cx="647820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Pratik: Fikirden Koda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TextBox 53"/>
          <p:cNvSpPr/>
          <p:nvPr/>
        </p:nvSpPr>
        <p:spPr>
          <a:xfrm>
            <a:off x="2823120" y="2266200"/>
            <a:ext cx="7092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fikirleri temiz, düzenli ve sürdürülebilir koda dönüştürmeye odaklanır.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Rounded Rectangle 120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ounded Rectangle 121"/>
          <p:cNvSpPr/>
          <p:nvPr/>
        </p:nvSpPr>
        <p:spPr>
          <a:xfrm>
            <a:off x="10209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okunabilirliği ve yapısal düzeni ön planda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tip sistemi, birçok çalışma zamanı hatasını önler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 okunabilirliği, uzun vadeli bakımı kolaylaştırır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 ve uzun ömürlü sistemler için uygundur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7" name="Rounded Rectangle 122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ounded Rectangle 123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ounded Rectangle 124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add(int a, int b)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add(10, 20);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0" name="TextBox 54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Rounded Rectangle 125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Tanımı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Çözüm Planlaması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Sınıf ve Metot Tasarımı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Uygulama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 Çalıştırılması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Rectangle 273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ectangle 274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4" name="Rectangle 275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ectangle 276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6" name="Rectangle 277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ectangle 278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8" name="Rectangle 279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9" name="Rectangle 280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0" name="Rectangle 281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1" name="Rectangle 282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2" name="Rectangle 283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3" name="Rectangle 284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ectangle 285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5" name="Rectangle 286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6" name="Rectangle 287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7" name="Rectangle 288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ounded Rectangle 126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9" name="TextBox 55"/>
          <p:cNvSpPr/>
          <p:nvPr/>
        </p:nvSpPr>
        <p:spPr>
          <a:xfrm>
            <a:off x="1771920" y="1107360"/>
            <a:ext cx="8572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Çekirdek Özellikleri – Genel Bakış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TextBox 56"/>
          <p:cNvSpPr/>
          <p:nvPr/>
        </p:nvSpPr>
        <p:spPr>
          <a:xfrm>
            <a:off x="3605040" y="2266200"/>
            <a:ext cx="5528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şekillendiren temel özelliklere ilk bakış.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Rounded Rectangle 127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ounded Rectangle 128"/>
          <p:cNvSpPr/>
          <p:nvPr/>
        </p:nvSpPr>
        <p:spPr>
          <a:xfrm>
            <a:off x="10209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geliştiricilerin programları anlaşılır, yapılı ve öngörülebilir bir şekilde yazmasına yardımcı olan bir dizi çekirdek özellikle tasarlanmıştır.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özellikler, yaygın programlama hatalarını azaltır, kodun okunabilirliğini artırır ve uygulamaların zaman içinde daha kolay bakımını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Düşük seviyeli sistem detaylarına odaklanmak yerine, Java geliştiricilerin program mantığına ve problem çözmeye yoğunlaşmasına olanak tanır..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3" name="Rounded Rectangle 129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4" name="Rounded Rectangle 130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5" name="Rounded Rectangle 131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5;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System.out.println("Pozitif sayı");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6" name="TextBox 57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Rounded Rectangle 132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Ne yapmak istiyorum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Java’nın izin verdikleri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Nasıl yazmam gerekir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Nasıl çalıştırılır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chemeClr val="lt1"/>
                </a:solidFill>
                <a:latin typeface="Calibri"/>
                <a:ea typeface="DejaVu Sans"/>
              </a:rPr>
              <a:t>Ne elde ederim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Rectangle 289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ectangle 290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0" name="Rectangle 291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1" name="Rectangle 292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2" name="Rectangle 293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ectangle 294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4" name="Rectangle 295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5" name="Rectangle 296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6" name="Rectangle 297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7" name="Rectangle 298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8" name="Rectangle 299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9" name="Rectangle 300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ectangle 301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1" name="Rectangle 302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2" name="Rectangle 303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3" name="Rectangle 304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ounded Rectangle 133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5" name="TextBox 58"/>
          <p:cNvSpPr/>
          <p:nvPr/>
        </p:nvSpPr>
        <p:spPr>
          <a:xfrm>
            <a:off x="4195440" y="1107360"/>
            <a:ext cx="3723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Nesne Yönelimli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TextBox 59"/>
          <p:cNvSpPr/>
          <p:nvPr/>
        </p:nvSpPr>
        <p:spPr>
          <a:xfrm>
            <a:off x="1016640" y="2266200"/>
            <a:ext cx="10707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nesne yönelimli bir programlama dilidir.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Bu, Java programlarının gerçek dünyadaki varlıkları temsil eden nesneler kullanılarak oluşturulduğu anlamına gelir.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Rounded Rectangle 134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ounded Rectangle 135"/>
          <p:cNvSpPr/>
          <p:nvPr/>
        </p:nvSpPr>
        <p:spPr>
          <a:xfrm>
            <a:off x="10209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Yönelimli Programlama (OOP):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her şey sınıflar ve nesneler üzerine kuruludur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sınıf bir şablondur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nesne, bir sınıfın gerçek (somut) örneğidir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OOP, programların daha kolay anlaşılmasını ve yönetilmesini sağlar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of real-world objects: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Araba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Öğrenci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9" name="Rounded Rectangle 136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0" name="Rounded Rectangle 137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ounded Rectangle 138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class Car {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model;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color;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price;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2" name="TextBox 60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Rounded Rectangle 139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Dünya Nesnesi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Nesene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Mantığı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Açıklama: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Önce bir sınıf tanımlarız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Sonra o sınıftan nesneler oluştururuz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program içinde kullanılır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Rectangle 305"/>
          <p:cNvSpPr/>
          <p:nvPr/>
        </p:nvSpPr>
        <p:spPr>
          <a:xfrm>
            <a:off x="16920" y="1800"/>
            <a:ext cx="13428720" cy="7552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ectangle 306"/>
          <p:cNvSpPr/>
          <p:nvPr/>
        </p:nvSpPr>
        <p:spPr>
          <a:xfrm>
            <a:off x="144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6" name="Rectangle 307"/>
          <p:cNvSpPr/>
          <p:nvPr/>
        </p:nvSpPr>
        <p:spPr>
          <a:xfrm>
            <a:off x="100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7" name="Rectangle 308"/>
          <p:cNvSpPr/>
          <p:nvPr/>
        </p:nvSpPr>
        <p:spPr>
          <a:xfrm>
            <a:off x="201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8" name="Rectangle 309"/>
          <p:cNvSpPr/>
          <p:nvPr/>
        </p:nvSpPr>
        <p:spPr>
          <a:xfrm>
            <a:off x="302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9" name="Rectangle 310"/>
          <p:cNvSpPr/>
          <p:nvPr/>
        </p:nvSpPr>
        <p:spPr>
          <a:xfrm>
            <a:off x="402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0" name="Rectangle 311"/>
          <p:cNvSpPr/>
          <p:nvPr/>
        </p:nvSpPr>
        <p:spPr>
          <a:xfrm>
            <a:off x="503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1" name="Rectangle 312"/>
          <p:cNvSpPr/>
          <p:nvPr/>
        </p:nvSpPr>
        <p:spPr>
          <a:xfrm>
            <a:off x="604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2" name="Rectangle 313"/>
          <p:cNvSpPr/>
          <p:nvPr/>
        </p:nvSpPr>
        <p:spPr>
          <a:xfrm>
            <a:off x="705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3" name="Rectangle 314"/>
          <p:cNvSpPr/>
          <p:nvPr/>
        </p:nvSpPr>
        <p:spPr>
          <a:xfrm>
            <a:off x="806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4" name="Rectangle 315"/>
          <p:cNvSpPr/>
          <p:nvPr/>
        </p:nvSpPr>
        <p:spPr>
          <a:xfrm>
            <a:off x="9069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5" name="Rectangle 316"/>
          <p:cNvSpPr/>
          <p:nvPr/>
        </p:nvSpPr>
        <p:spPr>
          <a:xfrm>
            <a:off x="10077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6" name="Rectangle 317"/>
          <p:cNvSpPr/>
          <p:nvPr/>
        </p:nvSpPr>
        <p:spPr>
          <a:xfrm>
            <a:off x="11085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7" name="Rectangle 318"/>
          <p:cNvSpPr/>
          <p:nvPr/>
        </p:nvSpPr>
        <p:spPr>
          <a:xfrm>
            <a:off x="12093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8" name="Rectangle 319"/>
          <p:cNvSpPr/>
          <p:nvPr/>
        </p:nvSpPr>
        <p:spPr>
          <a:xfrm>
            <a:off x="13101480" y="1800"/>
            <a:ext cx="12960" cy="7552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9" name="Rectangle 320"/>
          <p:cNvSpPr/>
          <p:nvPr/>
        </p:nvSpPr>
        <p:spPr>
          <a:xfrm>
            <a:off x="1440" y="1800"/>
            <a:ext cx="344880" cy="7552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0" name="Rounded Rectangle 140"/>
          <p:cNvSpPr/>
          <p:nvPr/>
        </p:nvSpPr>
        <p:spPr>
          <a:xfrm>
            <a:off x="10884960" y="401400"/>
            <a:ext cx="2209320" cy="545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1" name="TextBox 61"/>
          <p:cNvSpPr/>
          <p:nvPr/>
        </p:nvSpPr>
        <p:spPr>
          <a:xfrm>
            <a:off x="4156560" y="1107360"/>
            <a:ext cx="38023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Güvenli (Secure)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TextBox 62"/>
          <p:cNvSpPr/>
          <p:nvPr/>
        </p:nvSpPr>
        <p:spPr>
          <a:xfrm>
            <a:off x="945720" y="2266200"/>
            <a:ext cx="108478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güvenli bir programlama dili olacak şekilde tasarlanmıştır.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Geliştiricilerin virüssüz ve kurcalamaya karşı dayanıklı uygulamalar geliştirmesine olanak tanır.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güvenliği; açık anahtar şifreleme, bytecode doğrulama ve kontrollü bellek erişimi gibi güçlü kavramlara dayanır.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Rounded Rectangle 141"/>
          <p:cNvSpPr/>
          <p:nvPr/>
        </p:nvSpPr>
        <p:spPr>
          <a:xfrm>
            <a:off x="108684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4" name="Rounded Rectangle 142"/>
          <p:cNvSpPr/>
          <p:nvPr/>
        </p:nvSpPr>
        <p:spPr>
          <a:xfrm>
            <a:off x="1020960" y="342432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doğrudan bellek erişimine izin vermez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C/C++’taki gibi pointer (işaretçi) kullanımı yoktur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Programlar Java Virtual Machine (JVM) içinde çalışır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Bytecode, çalıştırılmadan önce doğrulanır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Yaygın sorunlar büyük ölçüde engellenir: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- Bellek sızıntıları (memory leaks)</a:t>
            </a:r>
            <a:br>
              <a:rPr sz="1300"/>
            </a:b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   - Buffer overflow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Ek Güvenlik Avantajları: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Yerleşik exception (istisna) yönetimi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çöp toplama (Garbage Collection)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Güvenli sınıf yükleme mekanizması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5" name="Rounded Rectangle 143"/>
          <p:cNvSpPr/>
          <p:nvPr/>
        </p:nvSpPr>
        <p:spPr>
          <a:xfrm>
            <a:off x="49683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6" name="Rounded Rectangle 144"/>
          <p:cNvSpPr/>
          <p:nvPr/>
        </p:nvSpPr>
        <p:spPr>
          <a:xfrm>
            <a:off x="8849160" y="3506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7" name="Rounded Rectangle 145"/>
          <p:cNvSpPr/>
          <p:nvPr/>
        </p:nvSpPr>
        <p:spPr>
          <a:xfrm>
            <a:off x="8767440" y="3425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SecureExample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try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 / 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 catch (Exception e)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System.out.println("Hata güvenli şekilde yakalandı");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8" name="TextBox 63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Rounded Rectangle 146"/>
          <p:cNvSpPr/>
          <p:nvPr/>
        </p:nvSpPr>
        <p:spPr>
          <a:xfrm>
            <a:off x="4941000" y="345096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Bytecode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JVM Güvenlik Kontrolü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Güvenli Çalıştırma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Rectangle 321"/>
          <p:cNvSpPr/>
          <p:nvPr/>
        </p:nvSpPr>
        <p:spPr>
          <a:xfrm>
            <a:off x="16920" y="1800"/>
            <a:ext cx="13429080" cy="7552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1" name="Rectangle 322"/>
          <p:cNvSpPr/>
          <p:nvPr/>
        </p:nvSpPr>
        <p:spPr>
          <a:xfrm>
            <a:off x="144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2" name="Rectangle 323"/>
          <p:cNvSpPr/>
          <p:nvPr/>
        </p:nvSpPr>
        <p:spPr>
          <a:xfrm>
            <a:off x="100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3" name="Rectangle 324"/>
          <p:cNvSpPr/>
          <p:nvPr/>
        </p:nvSpPr>
        <p:spPr>
          <a:xfrm>
            <a:off x="201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4" name="Rectangle 325"/>
          <p:cNvSpPr/>
          <p:nvPr/>
        </p:nvSpPr>
        <p:spPr>
          <a:xfrm>
            <a:off x="302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5" name="Rectangle 326"/>
          <p:cNvSpPr/>
          <p:nvPr/>
        </p:nvSpPr>
        <p:spPr>
          <a:xfrm>
            <a:off x="402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6" name="Rectangle 327"/>
          <p:cNvSpPr/>
          <p:nvPr/>
        </p:nvSpPr>
        <p:spPr>
          <a:xfrm>
            <a:off x="503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7" name="Rectangle 328"/>
          <p:cNvSpPr/>
          <p:nvPr/>
        </p:nvSpPr>
        <p:spPr>
          <a:xfrm>
            <a:off x="604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8" name="Rectangle 329"/>
          <p:cNvSpPr/>
          <p:nvPr/>
        </p:nvSpPr>
        <p:spPr>
          <a:xfrm>
            <a:off x="705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9" name="Rectangle 330"/>
          <p:cNvSpPr/>
          <p:nvPr/>
        </p:nvSpPr>
        <p:spPr>
          <a:xfrm>
            <a:off x="806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0" name="Rectangle 331"/>
          <p:cNvSpPr/>
          <p:nvPr/>
        </p:nvSpPr>
        <p:spPr>
          <a:xfrm>
            <a:off x="9069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1" name="Rectangle 332"/>
          <p:cNvSpPr/>
          <p:nvPr/>
        </p:nvSpPr>
        <p:spPr>
          <a:xfrm>
            <a:off x="10077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2" name="Rectangle 333"/>
          <p:cNvSpPr/>
          <p:nvPr/>
        </p:nvSpPr>
        <p:spPr>
          <a:xfrm>
            <a:off x="11085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3" name="Rectangle 334"/>
          <p:cNvSpPr/>
          <p:nvPr/>
        </p:nvSpPr>
        <p:spPr>
          <a:xfrm>
            <a:off x="12093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4" name="Rectangle 335"/>
          <p:cNvSpPr/>
          <p:nvPr/>
        </p:nvSpPr>
        <p:spPr>
          <a:xfrm>
            <a:off x="13101480" y="1800"/>
            <a:ext cx="13320" cy="7552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5" name="Rectangle 336"/>
          <p:cNvSpPr/>
          <p:nvPr/>
        </p:nvSpPr>
        <p:spPr>
          <a:xfrm>
            <a:off x="1440" y="1800"/>
            <a:ext cx="345240" cy="7552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6" name="Rounded Rectangle 147"/>
          <p:cNvSpPr/>
          <p:nvPr/>
        </p:nvSpPr>
        <p:spPr>
          <a:xfrm>
            <a:off x="10884960" y="401400"/>
            <a:ext cx="2209680" cy="545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7" name="TextBox 64"/>
          <p:cNvSpPr/>
          <p:nvPr/>
        </p:nvSpPr>
        <p:spPr>
          <a:xfrm>
            <a:off x="3147120" y="1107360"/>
            <a:ext cx="5821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Interpreted (Yorumlanan)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TextBox 65"/>
          <p:cNvSpPr/>
          <p:nvPr/>
        </p:nvSpPr>
        <p:spPr>
          <a:xfrm>
            <a:off x="2014560" y="2266200"/>
            <a:ext cx="8710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 kodu, doğrudan donanım üzerinde çalıştırılmak yerine ara bir adım üzerinden yürütülür.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Rounded Rectangle 148"/>
          <p:cNvSpPr/>
          <p:nvPr/>
        </p:nvSpPr>
        <p:spPr>
          <a:xfrm>
            <a:off x="108684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0" name="Rounded Rectangle 149"/>
          <p:cNvSpPr/>
          <p:nvPr/>
        </p:nvSpPr>
        <p:spPr>
          <a:xfrm>
            <a:off x="1020960" y="342432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önce makine koduna değil, Bytecode’a derlenir.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Bytecode, program çalışırken anlık olarak (on the fly) yerel makine talimatlarına çevrilir.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Çevrilen bu talimatlar kalıcı olarak saklanmaz.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model sayesinde: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Geliştirme süreci daha hızlıdır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Derleme ve bağlama (linking) işlemleri hafiftir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Kod analizi ve hata ayıklama daha kolay hale gelir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1" name="Rounded Rectangle 150"/>
          <p:cNvSpPr/>
          <p:nvPr/>
        </p:nvSpPr>
        <p:spPr>
          <a:xfrm>
            <a:off x="49683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2" name="Rounded Rectangle 151"/>
          <p:cNvSpPr/>
          <p:nvPr/>
        </p:nvSpPr>
        <p:spPr>
          <a:xfrm>
            <a:off x="8849160" y="3506040"/>
            <a:ext cx="3621240" cy="3016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3" name="Rounded Rectangle 152"/>
          <p:cNvSpPr/>
          <p:nvPr/>
        </p:nvSpPr>
        <p:spPr>
          <a:xfrm>
            <a:off x="8767440" y="342504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InterpretedExample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JVM üzerinden çalışır");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4" name="TextBox 66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Rounded Rectangle 153"/>
          <p:cNvSpPr/>
          <p:nvPr/>
        </p:nvSpPr>
        <p:spPr>
          <a:xfrm>
            <a:off x="4941000" y="3450960"/>
            <a:ext cx="3621600" cy="301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Nasıl Çalışır?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Talimatları (çalışma zamanı)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Rectangle 337"/>
          <p:cNvSpPr/>
          <p:nvPr/>
        </p:nvSpPr>
        <p:spPr>
          <a:xfrm>
            <a:off x="17280" y="1800"/>
            <a:ext cx="13424760" cy="7555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7" name="Rectangle 338"/>
          <p:cNvSpPr/>
          <p:nvPr/>
        </p:nvSpPr>
        <p:spPr>
          <a:xfrm>
            <a:off x="1800" y="1800"/>
            <a:ext cx="1332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8" name="Rectangle 339"/>
          <p:cNvSpPr/>
          <p:nvPr/>
        </p:nvSpPr>
        <p:spPr>
          <a:xfrm>
            <a:off x="1005120" y="1800"/>
            <a:ext cx="1332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9" name="Rectangle 340"/>
          <p:cNvSpPr/>
          <p:nvPr/>
        </p:nvSpPr>
        <p:spPr>
          <a:xfrm>
            <a:off x="2012760" y="1800"/>
            <a:ext cx="1332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0" name="Rectangle 341"/>
          <p:cNvSpPr/>
          <p:nvPr/>
        </p:nvSpPr>
        <p:spPr>
          <a:xfrm>
            <a:off x="3020400" y="1800"/>
            <a:ext cx="1332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1" name="Rectangle 342"/>
          <p:cNvSpPr/>
          <p:nvPr/>
        </p:nvSpPr>
        <p:spPr>
          <a:xfrm>
            <a:off x="4028040" y="1800"/>
            <a:ext cx="1332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2" name="Rectangle 343"/>
          <p:cNvSpPr/>
          <p:nvPr/>
        </p:nvSpPr>
        <p:spPr>
          <a:xfrm>
            <a:off x="5035680" y="1800"/>
            <a:ext cx="1332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3" name="Rectangle 344"/>
          <p:cNvSpPr/>
          <p:nvPr/>
        </p:nvSpPr>
        <p:spPr>
          <a:xfrm>
            <a:off x="6043320" y="1800"/>
            <a:ext cx="1332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4" name="Rectangle 345"/>
          <p:cNvSpPr/>
          <p:nvPr/>
        </p:nvSpPr>
        <p:spPr>
          <a:xfrm>
            <a:off x="7050960" y="1800"/>
            <a:ext cx="1332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5" name="Rectangle 346"/>
          <p:cNvSpPr/>
          <p:nvPr/>
        </p:nvSpPr>
        <p:spPr>
          <a:xfrm>
            <a:off x="8058600" y="1800"/>
            <a:ext cx="1332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6" name="Rectangle 347"/>
          <p:cNvSpPr/>
          <p:nvPr/>
        </p:nvSpPr>
        <p:spPr>
          <a:xfrm>
            <a:off x="9066240" y="1800"/>
            <a:ext cx="1332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7" name="Rectangle 348"/>
          <p:cNvSpPr/>
          <p:nvPr/>
        </p:nvSpPr>
        <p:spPr>
          <a:xfrm>
            <a:off x="10074240" y="1800"/>
            <a:ext cx="1332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8" name="Rectangle 349"/>
          <p:cNvSpPr/>
          <p:nvPr/>
        </p:nvSpPr>
        <p:spPr>
          <a:xfrm>
            <a:off x="11081880" y="1800"/>
            <a:ext cx="1332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9" name="Rectangle 350"/>
          <p:cNvSpPr/>
          <p:nvPr/>
        </p:nvSpPr>
        <p:spPr>
          <a:xfrm>
            <a:off x="12089520" y="1800"/>
            <a:ext cx="1332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0" name="Rectangle 351"/>
          <p:cNvSpPr/>
          <p:nvPr/>
        </p:nvSpPr>
        <p:spPr>
          <a:xfrm>
            <a:off x="13097160" y="1800"/>
            <a:ext cx="13320" cy="7555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1" name="Rectangle 352"/>
          <p:cNvSpPr/>
          <p:nvPr/>
        </p:nvSpPr>
        <p:spPr>
          <a:xfrm>
            <a:off x="1800" y="1800"/>
            <a:ext cx="345240" cy="7555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2" name="Rounded Rectangle 154"/>
          <p:cNvSpPr/>
          <p:nvPr/>
        </p:nvSpPr>
        <p:spPr>
          <a:xfrm>
            <a:off x="10881360" y="401400"/>
            <a:ext cx="2208960" cy="546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TextBox 67"/>
          <p:cNvSpPr/>
          <p:nvPr/>
        </p:nvSpPr>
        <p:spPr>
          <a:xfrm>
            <a:off x="2183400" y="1107720"/>
            <a:ext cx="77446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Yüksek Performans ve Dağıtık Yapı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TextBox 68"/>
          <p:cNvSpPr/>
          <p:nvPr/>
        </p:nvSpPr>
        <p:spPr>
          <a:xfrm>
            <a:off x="2557440" y="2266920"/>
            <a:ext cx="7621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çekirdek tasarımında performans ve ağ (network) desteğini bir arada sunar.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Rounded Rectangle 155"/>
          <p:cNvSpPr/>
          <p:nvPr/>
        </p:nvSpPr>
        <p:spPr>
          <a:xfrm>
            <a:off x="1086480" y="350748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6" name="Rounded Rectangle 156"/>
          <p:cNvSpPr/>
          <p:nvPr/>
        </p:nvSpPr>
        <p:spPr>
          <a:xfrm>
            <a:off x="1020600" y="2972880"/>
            <a:ext cx="3620520" cy="347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 (High Performance)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Just-In-Time (JIT) derleme kullanarak yüksek performans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JVM, program çalışırken sık kullanılan Bytecode’u optimize edilmiş yerel makine koduna dönüştürür.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Yaygın JIT optimizasyonları şunlardır: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Metot içe alma (Method inlining)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Ölü kodların kaldırılması (Dead code elimination)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katlama (Constant folding)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Optimize edilmiş metot çağrıları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Zamanla daha hızlı çalışma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Yerel (native) performansa yakın hız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7" name="Rounded Rectangle 157"/>
          <p:cNvSpPr/>
          <p:nvPr/>
        </p:nvSpPr>
        <p:spPr>
          <a:xfrm>
            <a:off x="4966560" y="350748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8" name="Rounded Rectangle 158"/>
          <p:cNvSpPr/>
          <p:nvPr/>
        </p:nvSpPr>
        <p:spPr>
          <a:xfrm>
            <a:off x="8846280" y="3507480"/>
            <a:ext cx="3620160" cy="3017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9" name="Rounded Rectangle 159"/>
          <p:cNvSpPr/>
          <p:nvPr/>
        </p:nvSpPr>
        <p:spPr>
          <a:xfrm>
            <a:off x="8764560" y="342648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PerformanceDemo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System.out.println("Hızlı ve dağıtık Java uygulamaları");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0" name="TextBox 69"/>
          <p:cNvSpPr/>
          <p:nvPr/>
        </p:nvSpPr>
        <p:spPr>
          <a:xfrm>
            <a:off x="5222160" y="710748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Rounded Rectangle 160"/>
          <p:cNvSpPr/>
          <p:nvPr/>
        </p:nvSpPr>
        <p:spPr>
          <a:xfrm>
            <a:off x="4939200" y="3452400"/>
            <a:ext cx="3620520" cy="301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Dağıtık (Distributed);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Java, özellikle İnternet için tasarlanmış dağıtık ortamları destekler.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Yerleşik olarak şu özellikleri sunar: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Ağ iletişimi (Networking)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Uzak metot çağrıları (Remote method calls)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•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Dağıtık sistemler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Java uygulamaları, ağ üzerinden kolayca iletişim kurabilir ve birden fazla makinede çalışabilir.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Rectangle 353"/>
          <p:cNvSpPr/>
          <p:nvPr/>
        </p:nvSpPr>
        <p:spPr>
          <a:xfrm>
            <a:off x="16920" y="1800"/>
            <a:ext cx="1342836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3" name="Rectangle 354"/>
          <p:cNvSpPr/>
          <p:nvPr/>
        </p:nvSpPr>
        <p:spPr>
          <a:xfrm>
            <a:off x="144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4" name="Rectangle 355"/>
          <p:cNvSpPr/>
          <p:nvPr/>
        </p:nvSpPr>
        <p:spPr>
          <a:xfrm>
            <a:off x="100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5" name="Rectangle 356"/>
          <p:cNvSpPr/>
          <p:nvPr/>
        </p:nvSpPr>
        <p:spPr>
          <a:xfrm>
            <a:off x="201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6" name="Rectangle 357"/>
          <p:cNvSpPr/>
          <p:nvPr/>
        </p:nvSpPr>
        <p:spPr>
          <a:xfrm>
            <a:off x="302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7" name="Rectangle 358"/>
          <p:cNvSpPr/>
          <p:nvPr/>
        </p:nvSpPr>
        <p:spPr>
          <a:xfrm>
            <a:off x="402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8" name="Rectangle 359"/>
          <p:cNvSpPr/>
          <p:nvPr/>
        </p:nvSpPr>
        <p:spPr>
          <a:xfrm>
            <a:off x="503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9" name="Rectangle 360"/>
          <p:cNvSpPr/>
          <p:nvPr/>
        </p:nvSpPr>
        <p:spPr>
          <a:xfrm>
            <a:off x="604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0" name="Rectangle 361"/>
          <p:cNvSpPr/>
          <p:nvPr/>
        </p:nvSpPr>
        <p:spPr>
          <a:xfrm>
            <a:off x="705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1" name="Rectangle 362"/>
          <p:cNvSpPr/>
          <p:nvPr/>
        </p:nvSpPr>
        <p:spPr>
          <a:xfrm>
            <a:off x="806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2" name="Rectangle 363"/>
          <p:cNvSpPr/>
          <p:nvPr/>
        </p:nvSpPr>
        <p:spPr>
          <a:xfrm>
            <a:off x="906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3" name="Rectangle 364"/>
          <p:cNvSpPr/>
          <p:nvPr/>
        </p:nvSpPr>
        <p:spPr>
          <a:xfrm>
            <a:off x="1007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4" name="Rectangle 365"/>
          <p:cNvSpPr/>
          <p:nvPr/>
        </p:nvSpPr>
        <p:spPr>
          <a:xfrm>
            <a:off x="1108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5" name="Rectangle 366"/>
          <p:cNvSpPr/>
          <p:nvPr/>
        </p:nvSpPr>
        <p:spPr>
          <a:xfrm>
            <a:off x="1209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6" name="Rectangle 367"/>
          <p:cNvSpPr/>
          <p:nvPr/>
        </p:nvSpPr>
        <p:spPr>
          <a:xfrm>
            <a:off x="1310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7" name="Rectangle 368"/>
          <p:cNvSpPr/>
          <p:nvPr/>
        </p:nvSpPr>
        <p:spPr>
          <a:xfrm>
            <a:off x="1440" y="1800"/>
            <a:ext cx="34452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8" name="Rounded Rectangle 161"/>
          <p:cNvSpPr/>
          <p:nvPr/>
        </p:nvSpPr>
        <p:spPr>
          <a:xfrm>
            <a:off x="10884960" y="401400"/>
            <a:ext cx="220896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9" name="TextBox 70"/>
          <p:cNvSpPr/>
          <p:nvPr/>
        </p:nvSpPr>
        <p:spPr>
          <a:xfrm>
            <a:off x="2409480" y="1107360"/>
            <a:ext cx="72961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Java’nın Diğer Önemli Özellikleri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TextBox 71"/>
          <p:cNvSpPr/>
          <p:nvPr/>
        </p:nvSpPr>
        <p:spPr>
          <a:xfrm>
            <a:off x="923400" y="2266200"/>
            <a:ext cx="10893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Java, geliştiricilerin temiz, kararlı ve sürdürülebilir programlar yazmasına yardımcı olan birçok benzersiz özellik sunar.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Rounded Rectangle 162"/>
          <p:cNvSpPr/>
          <p:nvPr/>
        </p:nvSpPr>
        <p:spPr>
          <a:xfrm>
            <a:off x="108684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2" name="Rounded Rectangle 163"/>
          <p:cNvSpPr/>
          <p:nvPr/>
        </p:nvSpPr>
        <p:spPr>
          <a:xfrm>
            <a:off x="1020960" y="2743200"/>
            <a:ext cx="3620880" cy="422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Basit ve Öğrenmesi Kolay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açık ve okunabilir bir sözdizimine sahiptir.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Pointer (işaretçi) gibi karmaşık yapılar kaldırıldığı için, özellikle yeni başlayanlar için öğrenmesi daha kolaydır..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Güçlü Tip Denetimi (Strongly Typed)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değişkenin tanımlı bir veri tipi vardır.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sayede hatalar çalışma zamanında değil, derleme zamanında tespit edilir.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bellek yönetimini Garbage Collection kullanarak otomatik olarak yapar.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Geliştiricilerin belleği manuel olarak serbest bırakmasına gerek yoktur.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Çoklu İş Parçacığı Desteği (Multithreading)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Java, çoklu iş parçacığı desteği sunar.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sayede programlar aynı anda birden fazla görevi yerine getirebilir.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Zengin Standart Kütüphane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Java; koleksiyonlar, dosya işlemleri, ağ programlama ve daha fazlası için geniş bir yerleşik kütüphane seti sunar.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3" name="Rounded Rectangle 164"/>
          <p:cNvSpPr/>
          <p:nvPr/>
        </p:nvSpPr>
        <p:spPr>
          <a:xfrm>
            <a:off x="49683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4" name="Rounded Rectangle 165"/>
          <p:cNvSpPr/>
          <p:nvPr/>
        </p:nvSpPr>
        <p:spPr>
          <a:xfrm>
            <a:off x="88491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5" name="Rounded Rectangle 166"/>
          <p:cNvSpPr/>
          <p:nvPr/>
        </p:nvSpPr>
        <p:spPr>
          <a:xfrm>
            <a:off x="8767440" y="3425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güçlü tip sistemi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kolay ve güçlüdür");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6" name="TextBox 72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Rounded Rectangle 167"/>
          <p:cNvSpPr/>
          <p:nvPr/>
        </p:nvSpPr>
        <p:spPr>
          <a:xfrm>
            <a:off x="4941000" y="345096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Basit Sözdizimi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Öğrenmesi Kolay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Güçlü Tip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Otomatik Bellek Yönetimi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Çoklu İş Parçacığı Desteği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Zengin Standart Kütüphane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     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Temiz ve Sürdürülebilir Java Programları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Rectangle 369"/>
          <p:cNvSpPr/>
          <p:nvPr/>
        </p:nvSpPr>
        <p:spPr>
          <a:xfrm>
            <a:off x="16920" y="1800"/>
            <a:ext cx="1342836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9" name="Rectangle 370"/>
          <p:cNvSpPr/>
          <p:nvPr/>
        </p:nvSpPr>
        <p:spPr>
          <a:xfrm>
            <a:off x="144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0" name="Rectangle 371"/>
          <p:cNvSpPr/>
          <p:nvPr/>
        </p:nvSpPr>
        <p:spPr>
          <a:xfrm>
            <a:off x="100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1" name="Rectangle 372"/>
          <p:cNvSpPr/>
          <p:nvPr/>
        </p:nvSpPr>
        <p:spPr>
          <a:xfrm>
            <a:off x="201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2" name="Rectangle 373"/>
          <p:cNvSpPr/>
          <p:nvPr/>
        </p:nvSpPr>
        <p:spPr>
          <a:xfrm>
            <a:off x="302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3" name="Rectangle 374"/>
          <p:cNvSpPr/>
          <p:nvPr/>
        </p:nvSpPr>
        <p:spPr>
          <a:xfrm>
            <a:off x="402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4" name="Rectangle 375"/>
          <p:cNvSpPr/>
          <p:nvPr/>
        </p:nvSpPr>
        <p:spPr>
          <a:xfrm>
            <a:off x="503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5" name="Rectangle 376"/>
          <p:cNvSpPr/>
          <p:nvPr/>
        </p:nvSpPr>
        <p:spPr>
          <a:xfrm>
            <a:off x="604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6" name="Rectangle 377"/>
          <p:cNvSpPr/>
          <p:nvPr/>
        </p:nvSpPr>
        <p:spPr>
          <a:xfrm>
            <a:off x="705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7" name="Rectangle 378"/>
          <p:cNvSpPr/>
          <p:nvPr/>
        </p:nvSpPr>
        <p:spPr>
          <a:xfrm>
            <a:off x="806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8" name="Rectangle 379"/>
          <p:cNvSpPr/>
          <p:nvPr/>
        </p:nvSpPr>
        <p:spPr>
          <a:xfrm>
            <a:off x="906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9" name="Rectangle 380"/>
          <p:cNvSpPr/>
          <p:nvPr/>
        </p:nvSpPr>
        <p:spPr>
          <a:xfrm>
            <a:off x="1007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0" name="Rectangle 381"/>
          <p:cNvSpPr/>
          <p:nvPr/>
        </p:nvSpPr>
        <p:spPr>
          <a:xfrm>
            <a:off x="1108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1" name="Rectangle 382"/>
          <p:cNvSpPr/>
          <p:nvPr/>
        </p:nvSpPr>
        <p:spPr>
          <a:xfrm>
            <a:off x="1209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2" name="Rectangle 383"/>
          <p:cNvSpPr/>
          <p:nvPr/>
        </p:nvSpPr>
        <p:spPr>
          <a:xfrm>
            <a:off x="1310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3" name="Rectangle 384"/>
          <p:cNvSpPr/>
          <p:nvPr/>
        </p:nvSpPr>
        <p:spPr>
          <a:xfrm>
            <a:off x="1440" y="1800"/>
            <a:ext cx="34452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4" name="Rounded Rectangle 168"/>
          <p:cNvSpPr/>
          <p:nvPr/>
        </p:nvSpPr>
        <p:spPr>
          <a:xfrm>
            <a:off x="10884960" y="401400"/>
            <a:ext cx="220896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5" name="TextBox 73"/>
          <p:cNvSpPr/>
          <p:nvPr/>
        </p:nvSpPr>
        <p:spPr>
          <a:xfrm>
            <a:off x="2998440" y="1107360"/>
            <a:ext cx="61185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Üst Düzey Bir Karşılaştırma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TextBox 74"/>
          <p:cNvSpPr/>
          <p:nvPr/>
        </p:nvSpPr>
        <p:spPr>
          <a:xfrm>
            <a:off x="1414440" y="2266200"/>
            <a:ext cx="9910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Java ve C++ arasındaki temel farkları,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tasarım felsefeleri, çalışma (execution) modelleri ve geliştirici deneyimleri üzerinden karşılaştırarak tanıtır.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Rounded Rectangle 169"/>
          <p:cNvSpPr/>
          <p:nvPr/>
        </p:nvSpPr>
        <p:spPr>
          <a:xfrm>
            <a:off x="108684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8" name="Rounded Rectangle 170"/>
          <p:cNvSpPr/>
          <p:nvPr/>
        </p:nvSpPr>
        <p:spPr>
          <a:xfrm>
            <a:off x="1018440" y="3053160"/>
            <a:ext cx="3620880" cy="3804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 üzerinde çalışır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bağımsızdır (Bir kez yaz, her yerde çalıştır)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sağlar (Garbage Collection)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Güvenlik, taşınabilirlik ve sürdürülebilirliğe odaklanır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Kurumsal uygulamalar, web ve bulut sistemlerinde yaygın olarak kullanılır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Doğrudan yerel (native) makine koduna derlenir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bağımlıdır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Manuel bellek yönetimi gerektirir (pointer’lar, bellek ayırma)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Yüksek performans ve düşük seviye kontrol sunar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Sistem yazılımları, oyun motorları ve gömülü sistemlerde yaygın olarak kullanılır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9" name="Rounded Rectangle 171"/>
          <p:cNvSpPr/>
          <p:nvPr/>
        </p:nvSpPr>
        <p:spPr>
          <a:xfrm>
            <a:off x="49683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0" name="Rounded Rectangle 172"/>
          <p:cNvSpPr/>
          <p:nvPr/>
        </p:nvSpPr>
        <p:spPr>
          <a:xfrm>
            <a:off x="88491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1" name="Rounded Rectangle 173"/>
          <p:cNvSpPr/>
          <p:nvPr/>
        </p:nvSpPr>
        <p:spPr>
          <a:xfrm>
            <a:off x="8767440" y="3425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class FeatureDemo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// güçlü tip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"Java karmaşıklığı gizler"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2" name="TextBox 75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Rounded Rectangle 174"/>
          <p:cNvSpPr/>
          <p:nvPr/>
        </p:nvSpPr>
        <p:spPr>
          <a:xfrm>
            <a:off x="4941000" y="345096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Java Kaynak Kodu → Bytecode → JVM → Herhangi Bir İşletim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DejaVu Sans"/>
              </a:rPr>
              <a:t>C++ Kaynak Kodu → Yerel (Native) Kod → Belirli Bir İşletim Sistemi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Rectangle 385"/>
          <p:cNvSpPr/>
          <p:nvPr/>
        </p:nvSpPr>
        <p:spPr>
          <a:xfrm>
            <a:off x="16920" y="1800"/>
            <a:ext cx="1342836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5" name="Rectangle 386"/>
          <p:cNvSpPr/>
          <p:nvPr/>
        </p:nvSpPr>
        <p:spPr>
          <a:xfrm>
            <a:off x="144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6" name="Rectangle 387"/>
          <p:cNvSpPr/>
          <p:nvPr/>
        </p:nvSpPr>
        <p:spPr>
          <a:xfrm>
            <a:off x="100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7" name="Rectangle 388"/>
          <p:cNvSpPr/>
          <p:nvPr/>
        </p:nvSpPr>
        <p:spPr>
          <a:xfrm>
            <a:off x="201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8" name="Rectangle 389"/>
          <p:cNvSpPr/>
          <p:nvPr/>
        </p:nvSpPr>
        <p:spPr>
          <a:xfrm>
            <a:off x="302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9" name="Rectangle 390"/>
          <p:cNvSpPr/>
          <p:nvPr/>
        </p:nvSpPr>
        <p:spPr>
          <a:xfrm>
            <a:off x="402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0" name="Rectangle 391"/>
          <p:cNvSpPr/>
          <p:nvPr/>
        </p:nvSpPr>
        <p:spPr>
          <a:xfrm>
            <a:off x="503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1" name="Rectangle 392"/>
          <p:cNvSpPr/>
          <p:nvPr/>
        </p:nvSpPr>
        <p:spPr>
          <a:xfrm>
            <a:off x="604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2" name="Rectangle 393"/>
          <p:cNvSpPr/>
          <p:nvPr/>
        </p:nvSpPr>
        <p:spPr>
          <a:xfrm>
            <a:off x="705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3" name="Rectangle 394"/>
          <p:cNvSpPr/>
          <p:nvPr/>
        </p:nvSpPr>
        <p:spPr>
          <a:xfrm>
            <a:off x="806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4" name="Rectangle 395"/>
          <p:cNvSpPr/>
          <p:nvPr/>
        </p:nvSpPr>
        <p:spPr>
          <a:xfrm>
            <a:off x="906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5" name="Rectangle 396"/>
          <p:cNvSpPr/>
          <p:nvPr/>
        </p:nvSpPr>
        <p:spPr>
          <a:xfrm>
            <a:off x="1007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6" name="Rectangle 397"/>
          <p:cNvSpPr/>
          <p:nvPr/>
        </p:nvSpPr>
        <p:spPr>
          <a:xfrm>
            <a:off x="1108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7" name="Rectangle 398"/>
          <p:cNvSpPr/>
          <p:nvPr/>
        </p:nvSpPr>
        <p:spPr>
          <a:xfrm>
            <a:off x="1209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8" name="Rectangle 399"/>
          <p:cNvSpPr/>
          <p:nvPr/>
        </p:nvSpPr>
        <p:spPr>
          <a:xfrm>
            <a:off x="1310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9" name="Rectangle 400"/>
          <p:cNvSpPr/>
          <p:nvPr/>
        </p:nvSpPr>
        <p:spPr>
          <a:xfrm>
            <a:off x="1440" y="1800"/>
            <a:ext cx="34452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0" name="Rounded Rectangle 175"/>
          <p:cNvSpPr/>
          <p:nvPr/>
        </p:nvSpPr>
        <p:spPr>
          <a:xfrm>
            <a:off x="10884960" y="401400"/>
            <a:ext cx="220896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1" name="TextBox 76"/>
          <p:cNvSpPr/>
          <p:nvPr/>
        </p:nvSpPr>
        <p:spPr>
          <a:xfrm>
            <a:off x="1464120" y="1107360"/>
            <a:ext cx="9186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vs C++ – Avantajlar ve Dezavantajlar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TextBox 77"/>
          <p:cNvSpPr/>
          <p:nvPr/>
        </p:nvSpPr>
        <p:spPr>
          <a:xfrm>
            <a:off x="3937320" y="2266200"/>
            <a:ext cx="48643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Java ve C++ arasındaki temel farkları;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tasarım felsefeleri, çalışma (execution) modeli ve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geliştirici deneyimi üzerinden karşılaştırarak tanıtır.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Rounded Rectangle 176"/>
          <p:cNvSpPr/>
          <p:nvPr/>
        </p:nvSpPr>
        <p:spPr>
          <a:xfrm>
            <a:off x="108684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4" name="Rounded Rectangle 177"/>
          <p:cNvSpPr/>
          <p:nvPr/>
        </p:nvSpPr>
        <p:spPr>
          <a:xfrm>
            <a:off x="1020960" y="3506040"/>
            <a:ext cx="3620880" cy="289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– Avantajlar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Platformdan bağımsızdır (Bir kez yaz, her yerde çalıştır)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(Garbage Collection)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Güvenli çalışma (pointer yok, JVM güvenlik kontrolleri)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Öğrenmesi ve okunması daha kolay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Zengin standart kütüphane ve framework ekosistemi</a:t>
            </a:r>
            <a:br>
              <a:rPr sz="1100"/>
            </a:b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Büyük, uzun ömürlü ve kurumsal sistemler için idealdir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– Dezavantajlar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Bazı durumlarda yerel (native) C++’a göre biraz daha yavaştır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Donanım ve bellek üzerinde daha az kontrol sunar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ek yükü (başlangıç süresi, bellek kullanımı)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5" name="Rounded Rectangle 178"/>
          <p:cNvSpPr/>
          <p:nvPr/>
        </p:nvSpPr>
        <p:spPr>
          <a:xfrm>
            <a:off x="49683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6" name="Rounded Rectangle 179"/>
          <p:cNvSpPr/>
          <p:nvPr/>
        </p:nvSpPr>
        <p:spPr>
          <a:xfrm>
            <a:off x="88491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7" name="Rounded Rectangle 180"/>
          <p:cNvSpPr/>
          <p:nvPr/>
        </p:nvSpPr>
        <p:spPr>
          <a:xfrm>
            <a:off x="8767440" y="3425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class JavaApp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güvenlik ve taşınabilirliğe odaklanır");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8" name="TextBox 78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9" name="Rounded Rectangle 181"/>
          <p:cNvSpPr/>
          <p:nvPr/>
        </p:nvSpPr>
        <p:spPr>
          <a:xfrm>
            <a:off x="4941000" y="345096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Problem Türü?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Taşınabilirlik gerekli mi?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(Java her yerde çalışır)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HAYIR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Maksimum performans gerekli mi?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(Düşük seviyeli kontrol)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HAYIR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Güvenlik ve sürdürülebilirlik gerekli mi?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→ </a:t>
            </a:r>
            <a:r>
              <a:rPr b="1" lang="en-US" sz="1200" spc="-1" strike="noStrike">
                <a:solidFill>
                  <a:srgbClr val="ffffff"/>
                </a:solidFill>
                <a:latin typeface="Arial"/>
                <a:ea typeface="DejaVu Sans"/>
              </a:rPr>
              <a:t>JAVA</a:t>
            </a:r>
            <a:endParaRPr b="1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Rectangle 401"/>
          <p:cNvSpPr/>
          <p:nvPr/>
        </p:nvSpPr>
        <p:spPr>
          <a:xfrm>
            <a:off x="16920" y="1800"/>
            <a:ext cx="13428360" cy="75517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1" name="Rectangle 402"/>
          <p:cNvSpPr/>
          <p:nvPr/>
        </p:nvSpPr>
        <p:spPr>
          <a:xfrm>
            <a:off x="144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2" name="Rectangle 403"/>
          <p:cNvSpPr/>
          <p:nvPr/>
        </p:nvSpPr>
        <p:spPr>
          <a:xfrm>
            <a:off x="100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3" name="Rectangle 404"/>
          <p:cNvSpPr/>
          <p:nvPr/>
        </p:nvSpPr>
        <p:spPr>
          <a:xfrm>
            <a:off x="201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4" name="Rectangle 405"/>
          <p:cNvSpPr/>
          <p:nvPr/>
        </p:nvSpPr>
        <p:spPr>
          <a:xfrm>
            <a:off x="302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5" name="Rectangle 406"/>
          <p:cNvSpPr/>
          <p:nvPr/>
        </p:nvSpPr>
        <p:spPr>
          <a:xfrm>
            <a:off x="402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6" name="Rectangle 407"/>
          <p:cNvSpPr/>
          <p:nvPr/>
        </p:nvSpPr>
        <p:spPr>
          <a:xfrm>
            <a:off x="503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7" name="Rectangle 408"/>
          <p:cNvSpPr/>
          <p:nvPr/>
        </p:nvSpPr>
        <p:spPr>
          <a:xfrm>
            <a:off x="604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8" name="Rectangle 409"/>
          <p:cNvSpPr/>
          <p:nvPr/>
        </p:nvSpPr>
        <p:spPr>
          <a:xfrm>
            <a:off x="705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9" name="Rectangle 410"/>
          <p:cNvSpPr/>
          <p:nvPr/>
        </p:nvSpPr>
        <p:spPr>
          <a:xfrm>
            <a:off x="806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0" name="Rectangle 411"/>
          <p:cNvSpPr/>
          <p:nvPr/>
        </p:nvSpPr>
        <p:spPr>
          <a:xfrm>
            <a:off x="9069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1" name="Rectangle 412"/>
          <p:cNvSpPr/>
          <p:nvPr/>
        </p:nvSpPr>
        <p:spPr>
          <a:xfrm>
            <a:off x="10077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2" name="Rectangle 413"/>
          <p:cNvSpPr/>
          <p:nvPr/>
        </p:nvSpPr>
        <p:spPr>
          <a:xfrm>
            <a:off x="11085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3" name="Rectangle 414"/>
          <p:cNvSpPr/>
          <p:nvPr/>
        </p:nvSpPr>
        <p:spPr>
          <a:xfrm>
            <a:off x="12093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4" name="Rectangle 415"/>
          <p:cNvSpPr/>
          <p:nvPr/>
        </p:nvSpPr>
        <p:spPr>
          <a:xfrm>
            <a:off x="13101480" y="1800"/>
            <a:ext cx="12600" cy="75517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5" name="Rectangle 416"/>
          <p:cNvSpPr/>
          <p:nvPr/>
        </p:nvSpPr>
        <p:spPr>
          <a:xfrm>
            <a:off x="1440" y="1800"/>
            <a:ext cx="344520" cy="75517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6" name="Rounded Rectangle 182"/>
          <p:cNvSpPr/>
          <p:nvPr/>
        </p:nvSpPr>
        <p:spPr>
          <a:xfrm>
            <a:off x="10884960" y="401400"/>
            <a:ext cx="2208960" cy="545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7" name="TextBox 79"/>
          <p:cNvSpPr/>
          <p:nvPr/>
        </p:nvSpPr>
        <p:spPr>
          <a:xfrm>
            <a:off x="1464120" y="1107360"/>
            <a:ext cx="9186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vs C++ – Avantajlar ve Dezavantajlar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TextBox 80"/>
          <p:cNvSpPr/>
          <p:nvPr/>
        </p:nvSpPr>
        <p:spPr>
          <a:xfrm>
            <a:off x="3937320" y="2266200"/>
            <a:ext cx="48643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Java ve C++ arasındaki temel farkları;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tasarım felsefeleri, çalışma (execution) modeli ve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geliştirici deneyimi üzerinden karşılaştırarak tanıtır.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Rounded Rectangle 183"/>
          <p:cNvSpPr/>
          <p:nvPr/>
        </p:nvSpPr>
        <p:spPr>
          <a:xfrm>
            <a:off x="108684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0" name="Rounded Rectangle 184"/>
          <p:cNvSpPr/>
          <p:nvPr/>
        </p:nvSpPr>
        <p:spPr>
          <a:xfrm>
            <a:off x="1020960" y="3506040"/>
            <a:ext cx="3620880" cy="289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 – Avantajlar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Çok yüksek performans (yerel / native çalışma)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Bellek ve donanım üzerinde tam kontrol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Sanal makine ek yükü yoktur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Sistem seviyesinde ve performans kritik yazılımlar için idealdir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Oyun motorları ve gömülü sistemlerde yaygın olarak kullanılır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C++ – Disadvantages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Platforma bağımlıdır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Manuel bellek yönetimi (bellek sızıntısı riski)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Daha karmaşık sözdizimi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Öğrenmesi ve bakımı daha zordur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80" spc="-1" strike="noStrike">
                <a:solidFill>
                  <a:schemeClr val="lt1"/>
                </a:solidFill>
                <a:latin typeface="Calibri"/>
                <a:ea typeface="DejaVu Sans"/>
              </a:rPr>
              <a:t>Çalışma zamanı (runtime) hatası ihtimali daha yüksektir</a:t>
            </a:r>
            <a:endParaRPr b="0" lang="en-US" sz="11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1" name="Rounded Rectangle 185"/>
          <p:cNvSpPr/>
          <p:nvPr/>
        </p:nvSpPr>
        <p:spPr>
          <a:xfrm>
            <a:off x="49683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2" name="Rounded Rectangle 186"/>
          <p:cNvSpPr/>
          <p:nvPr/>
        </p:nvSpPr>
        <p:spPr>
          <a:xfrm>
            <a:off x="8849160" y="3506040"/>
            <a:ext cx="3620520" cy="3015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3" name="Rounded Rectangle 187"/>
          <p:cNvSpPr/>
          <p:nvPr/>
        </p:nvSpPr>
        <p:spPr>
          <a:xfrm>
            <a:off x="8767440" y="342504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#include &lt;iostream&gt;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using namespace std;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 main() {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cout &lt;&lt; "C++ performans ve kontrol odaklıdır";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return 0;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4" name="TextBox 81"/>
          <p:cNvSpPr/>
          <p:nvPr/>
        </p:nvSpPr>
        <p:spPr>
          <a:xfrm>
            <a:off x="5224320" y="710460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Rounded Rectangle 188"/>
          <p:cNvSpPr/>
          <p:nvPr/>
        </p:nvSpPr>
        <p:spPr>
          <a:xfrm>
            <a:off x="4941000" y="3450960"/>
            <a:ext cx="3620880" cy="301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Uygulama Gereksinimi</a:t>
            </a:r>
            <a:endParaRPr b="1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↓</a:t>
            </a:r>
            <a:endParaRPr b="1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Maksimum performans gerekli mi?</a:t>
            </a:r>
            <a:endParaRPr b="1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1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Düşük seviyeli bellek kontrolü gerekli mi?</a:t>
            </a:r>
            <a:endParaRPr b="1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1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Sistem / Oyun / Gömülü Sistem mi?</a:t>
            </a:r>
            <a:endParaRPr b="1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↓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EVET</a:t>
            </a:r>
            <a:endParaRPr b="1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→ 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DejaVu Sans"/>
              </a:rPr>
              <a:t>C++</a:t>
            </a:r>
            <a:endParaRPr b="1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997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2026-01-15T15:13:58Z</dcterms:modified>
  <cp:revision>119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