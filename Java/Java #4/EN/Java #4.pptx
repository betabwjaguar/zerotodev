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F96F1B-0B6F-482E-8837-60ADDD348E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FF0123-A9CC-444D-B091-75EF564A08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33178D-F116-4AA4-BAA4-E2D29EFEB4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FCD87F-C676-4434-8035-74793A7FFA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B874DF-8320-4E44-89E0-6542644682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EEB9C0-0739-412C-B9A7-587B0A8739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068A71-6C89-4E43-9A2A-8F539AF660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5C8FF6-071B-42FF-A90E-BC99DFAD24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B1213F-D249-4493-8FAB-3FF91ED13A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1F1C97-4D13-4C7D-A9F0-D73B7A2049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7D9C49-EEE6-4482-88B3-2B286F3E07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957112-F0BB-490A-BAA2-CB0D8724ED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2334DA-4E5F-45A4-B51D-F1A600D9ABD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" name="Rectangle 2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" name="Rectangle 3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" name="Rectangle 7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" name="Rectangle 8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" name="Rectangle 9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" name="Rectangle 10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" name="Rectangle 11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" name="Rectangle 12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" name="Rectangle 13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" name="Rectangle 14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" name="Rectangle 15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" name="Rectangle 16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" name="Rounded Rectangle 17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18"/>
          <p:cNvSpPr/>
          <p:nvPr/>
        </p:nvSpPr>
        <p:spPr>
          <a:xfrm>
            <a:off x="3070440" y="779400"/>
            <a:ext cx="48308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DATE &amp; TIME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19"/>
          <p:cNvSpPr/>
          <p:nvPr/>
        </p:nvSpPr>
        <p:spPr>
          <a:xfrm>
            <a:off x="1548720" y="1785240"/>
            <a:ext cx="850824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Date and time operations in Java are managed using the java.time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package introduced in Java 8. Unlike legacy date classes,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this new API provides a much safer (thread-safe), clearer, and more flexible structure.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" name="Rounded Rectangle 21"/>
          <p:cNvSpPr/>
          <p:nvPr/>
        </p:nvSpPr>
        <p:spPr>
          <a:xfrm>
            <a:off x="914400" y="310896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The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java.time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package introduced with Java 8 allows us to manage regional time (Timezone) and dates precisely. Using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ZonedDateTime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and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ZoneId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classes, you can instantly access the local time zone and current date data of your current location (e.g., Istanbul, Turkey) and print it in the desired format.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Rounded Rectangle 22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" name="Rounded Rectangle 23"/>
          <p:cNvSpPr/>
          <p:nvPr/>
        </p:nvSpPr>
        <p:spPr>
          <a:xfrm>
            <a:off x="4434840" y="310896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Program Starts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Zone (ZoneId) is Defined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Current Time (ZonedDateTime) is Retrieved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Format is Determined (DateTimeFormatter)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Printed to Screen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ounded Rectangle 24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" name="Rounded Rectangle 25"/>
          <p:cNvSpPr/>
          <p:nvPr/>
        </p:nvSpPr>
        <p:spPr>
          <a:xfrm>
            <a:off x="7955280" y="2971800"/>
            <a:ext cx="3925440" cy="3651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DateAndTimeContext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// Set location to Istanbul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ZoneId zone = ZoneId.of("Europe/Istanbul");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// Get current time in Istanbul timezone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now = ZonedDateTime.now(zone);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// Set desired format (e.g., Tuesday, April 28, 2026 at 10:28 PM +03)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formatter = DateTimeFormatter.ofPattern("EEEE, MMMM dd, yyyy 'at' hh:mm a xxx", Locale.ENGLISH);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System.out.println("Current time is " + now.format(formatter) + ".");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System.out.println("Remember the current location is Istanbul, İstanbul, Türkiye.");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2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32"/>
          <p:cNvSpPr/>
          <p:nvPr/>
        </p:nvSpPr>
        <p:spPr>
          <a:xfrm>
            <a:off x="0" y="0"/>
            <a:ext cx="12181680" cy="68508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" name="Rectangle 17"/>
          <p:cNvSpPr/>
          <p:nvPr/>
        </p:nvSpPr>
        <p:spPr>
          <a:xfrm>
            <a:off x="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" name="Rectangle 18"/>
          <p:cNvSpPr/>
          <p:nvPr/>
        </p:nvSpPr>
        <p:spPr>
          <a:xfrm>
            <a:off x="914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" name="Rectangle 19"/>
          <p:cNvSpPr/>
          <p:nvPr/>
        </p:nvSpPr>
        <p:spPr>
          <a:xfrm>
            <a:off x="1828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" name="Rectangle 20"/>
          <p:cNvSpPr/>
          <p:nvPr/>
        </p:nvSpPr>
        <p:spPr>
          <a:xfrm>
            <a:off x="2743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" name="Rectangle 21"/>
          <p:cNvSpPr/>
          <p:nvPr/>
        </p:nvSpPr>
        <p:spPr>
          <a:xfrm>
            <a:off x="3657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" name="Rectangle 22"/>
          <p:cNvSpPr/>
          <p:nvPr/>
        </p:nvSpPr>
        <p:spPr>
          <a:xfrm>
            <a:off x="4572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" name="Rectangle 23"/>
          <p:cNvSpPr/>
          <p:nvPr/>
        </p:nvSpPr>
        <p:spPr>
          <a:xfrm>
            <a:off x="5486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" name="Rectangle 24"/>
          <p:cNvSpPr/>
          <p:nvPr/>
        </p:nvSpPr>
        <p:spPr>
          <a:xfrm>
            <a:off x="6400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" name="Rectangle 25"/>
          <p:cNvSpPr/>
          <p:nvPr/>
        </p:nvSpPr>
        <p:spPr>
          <a:xfrm>
            <a:off x="7315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" name="Rectangle 26"/>
          <p:cNvSpPr/>
          <p:nvPr/>
        </p:nvSpPr>
        <p:spPr>
          <a:xfrm>
            <a:off x="8229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" name="Rectangle 27"/>
          <p:cNvSpPr/>
          <p:nvPr/>
        </p:nvSpPr>
        <p:spPr>
          <a:xfrm>
            <a:off x="9144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" name="Rectangle 28"/>
          <p:cNvSpPr/>
          <p:nvPr/>
        </p:nvSpPr>
        <p:spPr>
          <a:xfrm>
            <a:off x="10058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" name="Rectangle 29"/>
          <p:cNvSpPr/>
          <p:nvPr/>
        </p:nvSpPr>
        <p:spPr>
          <a:xfrm>
            <a:off x="10972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" name="Rectangle 30"/>
          <p:cNvSpPr/>
          <p:nvPr/>
        </p:nvSpPr>
        <p:spPr>
          <a:xfrm>
            <a:off x="11887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" name="Rectangle 31"/>
          <p:cNvSpPr/>
          <p:nvPr/>
        </p:nvSpPr>
        <p:spPr>
          <a:xfrm>
            <a:off x="0" y="0"/>
            <a:ext cx="312840" cy="68508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" name="Rounded Rectangle 8"/>
          <p:cNvSpPr/>
          <p:nvPr/>
        </p:nvSpPr>
        <p:spPr>
          <a:xfrm>
            <a:off x="9875520" y="365760"/>
            <a:ext cx="2004480" cy="4957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2219760" y="914400"/>
            <a:ext cx="6530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 Timezone and Regional Time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612000" y="1828800"/>
            <a:ext cx="1026396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Timezone management in Java is used to accurately handle time across different regions.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With ZoneId, a specific region is selected, and with ZonedDateTime, the current date and time of that region are obtained.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This structure ensures that global applications display the correct time for every user.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9"/>
          <p:cNvSpPr/>
          <p:nvPr/>
        </p:nvSpPr>
        <p:spPr>
          <a:xfrm>
            <a:off x="98748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" name="Rounded Rectangle 10"/>
          <p:cNvSpPr/>
          <p:nvPr/>
        </p:nvSpPr>
        <p:spPr>
          <a:xfrm>
            <a:off x="914400" y="3108960"/>
            <a:ext cx="3284640" cy="3057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ZoneId → Represents the time zone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ZonedDateTime → Holds date and time along with the time zone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Different UTC offsets are calculated automatically for each region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Daylight saving time changes are handled automatically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ounded Rectangle 11"/>
          <p:cNvSpPr/>
          <p:nvPr/>
        </p:nvSpPr>
        <p:spPr>
          <a:xfrm>
            <a:off x="450792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" name="Rounded Rectangle 12"/>
          <p:cNvSpPr/>
          <p:nvPr/>
        </p:nvSpPr>
        <p:spPr>
          <a:xfrm>
            <a:off x="4434840" y="2971800"/>
            <a:ext cx="3284640" cy="3422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Starts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Time Zone is Selected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Current Time of the Region is Retrieved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Processing / Formatting is Applied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Result is Displayed to the User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ounded Rectangle 13"/>
          <p:cNvSpPr/>
          <p:nvPr/>
        </p:nvSpPr>
        <p:spPr>
          <a:xfrm>
            <a:off x="802836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" name="Rounded Rectangle 14"/>
          <p:cNvSpPr/>
          <p:nvPr/>
        </p:nvSpPr>
        <p:spPr>
          <a:xfrm>
            <a:off x="7955280" y="3108960"/>
            <a:ext cx="3697200" cy="3057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TimezoneExample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ZoneId istanbul = ZoneId.of("Europe/Istanbul");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ZoneId newYork = ZoneId.of("America/New_York");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timeInIstanbul = ZonedDateTime.now(istanbul);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timeInNewYork = ZonedDateTime.now(newYork);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System.out.println("Istanbul Time: " + timeInIstanbul);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System.out.println("New York Time: " + timeInNewYork);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33"/>
          <p:cNvSpPr/>
          <p:nvPr/>
        </p:nvSpPr>
        <p:spPr>
          <a:xfrm>
            <a:off x="0" y="0"/>
            <a:ext cx="12181680" cy="68508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" name="Rectangle 34"/>
          <p:cNvSpPr/>
          <p:nvPr/>
        </p:nvSpPr>
        <p:spPr>
          <a:xfrm>
            <a:off x="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Rectangle 35"/>
          <p:cNvSpPr/>
          <p:nvPr/>
        </p:nvSpPr>
        <p:spPr>
          <a:xfrm>
            <a:off x="914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" name="Rectangle 36"/>
          <p:cNvSpPr/>
          <p:nvPr/>
        </p:nvSpPr>
        <p:spPr>
          <a:xfrm>
            <a:off x="1828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" name="Rectangle 37"/>
          <p:cNvSpPr/>
          <p:nvPr/>
        </p:nvSpPr>
        <p:spPr>
          <a:xfrm>
            <a:off x="2743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" name="Rectangle 38"/>
          <p:cNvSpPr/>
          <p:nvPr/>
        </p:nvSpPr>
        <p:spPr>
          <a:xfrm>
            <a:off x="3657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9" name="Rectangle 39"/>
          <p:cNvSpPr/>
          <p:nvPr/>
        </p:nvSpPr>
        <p:spPr>
          <a:xfrm>
            <a:off x="4572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" name="Rectangle 40"/>
          <p:cNvSpPr/>
          <p:nvPr/>
        </p:nvSpPr>
        <p:spPr>
          <a:xfrm>
            <a:off x="5486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1" name="Rectangle 41"/>
          <p:cNvSpPr/>
          <p:nvPr/>
        </p:nvSpPr>
        <p:spPr>
          <a:xfrm>
            <a:off x="6400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" name="Rectangle 42"/>
          <p:cNvSpPr/>
          <p:nvPr/>
        </p:nvSpPr>
        <p:spPr>
          <a:xfrm>
            <a:off x="7315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" name="Rectangle 43"/>
          <p:cNvSpPr/>
          <p:nvPr/>
        </p:nvSpPr>
        <p:spPr>
          <a:xfrm>
            <a:off x="8229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" name="Rectangle 44"/>
          <p:cNvSpPr/>
          <p:nvPr/>
        </p:nvSpPr>
        <p:spPr>
          <a:xfrm>
            <a:off x="9144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" name="Rectangle 45"/>
          <p:cNvSpPr/>
          <p:nvPr/>
        </p:nvSpPr>
        <p:spPr>
          <a:xfrm>
            <a:off x="10058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" name="Rectangle 46"/>
          <p:cNvSpPr/>
          <p:nvPr/>
        </p:nvSpPr>
        <p:spPr>
          <a:xfrm>
            <a:off x="10972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" name="Rectangle 47"/>
          <p:cNvSpPr/>
          <p:nvPr/>
        </p:nvSpPr>
        <p:spPr>
          <a:xfrm>
            <a:off x="11887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8" name="Rectangle 48"/>
          <p:cNvSpPr/>
          <p:nvPr/>
        </p:nvSpPr>
        <p:spPr>
          <a:xfrm>
            <a:off x="0" y="0"/>
            <a:ext cx="312840" cy="68508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" name="Rounded Rectangle 15"/>
          <p:cNvSpPr/>
          <p:nvPr/>
        </p:nvSpPr>
        <p:spPr>
          <a:xfrm>
            <a:off x="9875520" y="365760"/>
            <a:ext cx="2004480" cy="4957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855000" y="914400"/>
            <a:ext cx="9261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LocalDate, LocalTime and LocalDateTime in Java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1304280" y="1828800"/>
            <a:ext cx="887868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In Java, date and time handling is not always dependent on time zones. In some cases, only the date, only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the time, or both together are needed.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For these purposes, LocalDate, LocalTime, and LocalDateTime classes are used.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16"/>
          <p:cNvSpPr/>
          <p:nvPr/>
        </p:nvSpPr>
        <p:spPr>
          <a:xfrm>
            <a:off x="98748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" name="Rounded Rectangle 18"/>
          <p:cNvSpPr/>
          <p:nvPr/>
        </p:nvSpPr>
        <p:spPr>
          <a:xfrm>
            <a:off x="685800" y="2971800"/>
            <a:ext cx="3513240" cy="3194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LocalDate → Stores only date information (year, month, day)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LocalTime → Stores only time information (hour, minute, second)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LocalDateTime → Stores both date and time together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They do not include time zone information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Provide a simpler and more efficient usage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ounded Rectangle 19"/>
          <p:cNvSpPr/>
          <p:nvPr/>
        </p:nvSpPr>
        <p:spPr>
          <a:xfrm>
            <a:off x="450792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" name="Rounded Rectangle 26"/>
          <p:cNvSpPr/>
          <p:nvPr/>
        </p:nvSpPr>
        <p:spPr>
          <a:xfrm>
            <a:off x="4434840" y="2971800"/>
            <a:ext cx="3284640" cy="3422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Starts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Appropriate Class is Selected (LocalDate / LocalTime / LocalDateTime)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Current Value is Retrieved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Processing / Formatting is Applied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Result is Displayed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ounded Rectangle 27"/>
          <p:cNvSpPr/>
          <p:nvPr/>
        </p:nvSpPr>
        <p:spPr>
          <a:xfrm>
            <a:off x="802836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7" name="Rounded Rectangle 28"/>
          <p:cNvSpPr/>
          <p:nvPr/>
        </p:nvSpPr>
        <p:spPr>
          <a:xfrm>
            <a:off x="7955280" y="3108960"/>
            <a:ext cx="3697200" cy="3057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LocalDateTimeExample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 date = LocalDate.now();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LocalTime time = LocalTime.now();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LocalDateTime dateTime = LocalDateTime.now();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System.out.println("Date: " + date);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System.out.println("Time: " + time);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System.out.println("Date and Time: " + dateTime);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49"/>
          <p:cNvSpPr/>
          <p:nvPr/>
        </p:nvSpPr>
        <p:spPr>
          <a:xfrm>
            <a:off x="0" y="0"/>
            <a:ext cx="12181680" cy="68508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" name="Rectangle 50"/>
          <p:cNvSpPr/>
          <p:nvPr/>
        </p:nvSpPr>
        <p:spPr>
          <a:xfrm>
            <a:off x="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" name="Rectangle 51"/>
          <p:cNvSpPr/>
          <p:nvPr/>
        </p:nvSpPr>
        <p:spPr>
          <a:xfrm>
            <a:off x="914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" name="Rectangle 52"/>
          <p:cNvSpPr/>
          <p:nvPr/>
        </p:nvSpPr>
        <p:spPr>
          <a:xfrm>
            <a:off x="1828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" name="Rectangle 53"/>
          <p:cNvSpPr/>
          <p:nvPr/>
        </p:nvSpPr>
        <p:spPr>
          <a:xfrm>
            <a:off x="2743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" name="Rectangle 54"/>
          <p:cNvSpPr/>
          <p:nvPr/>
        </p:nvSpPr>
        <p:spPr>
          <a:xfrm>
            <a:off x="3657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" name="Rectangle 55"/>
          <p:cNvSpPr/>
          <p:nvPr/>
        </p:nvSpPr>
        <p:spPr>
          <a:xfrm>
            <a:off x="4572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" name="Rectangle 56"/>
          <p:cNvSpPr/>
          <p:nvPr/>
        </p:nvSpPr>
        <p:spPr>
          <a:xfrm>
            <a:off x="5486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" name="Rectangle 57"/>
          <p:cNvSpPr/>
          <p:nvPr/>
        </p:nvSpPr>
        <p:spPr>
          <a:xfrm>
            <a:off x="6400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" name="Rectangle 58"/>
          <p:cNvSpPr/>
          <p:nvPr/>
        </p:nvSpPr>
        <p:spPr>
          <a:xfrm>
            <a:off x="7315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" name="Rectangle 59"/>
          <p:cNvSpPr/>
          <p:nvPr/>
        </p:nvSpPr>
        <p:spPr>
          <a:xfrm>
            <a:off x="8229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" name="Rectangle 60"/>
          <p:cNvSpPr/>
          <p:nvPr/>
        </p:nvSpPr>
        <p:spPr>
          <a:xfrm>
            <a:off x="9144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" name="Rectangle 61"/>
          <p:cNvSpPr/>
          <p:nvPr/>
        </p:nvSpPr>
        <p:spPr>
          <a:xfrm>
            <a:off x="10058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Rectangle 62"/>
          <p:cNvSpPr/>
          <p:nvPr/>
        </p:nvSpPr>
        <p:spPr>
          <a:xfrm>
            <a:off x="10972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3" name="Rectangle 63"/>
          <p:cNvSpPr/>
          <p:nvPr/>
        </p:nvSpPr>
        <p:spPr>
          <a:xfrm>
            <a:off x="11887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4" name="Rectangle 64"/>
          <p:cNvSpPr/>
          <p:nvPr/>
        </p:nvSpPr>
        <p:spPr>
          <a:xfrm>
            <a:off x="0" y="0"/>
            <a:ext cx="312840" cy="68508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5" name="Rounded Rectangle 29"/>
          <p:cNvSpPr/>
          <p:nvPr/>
        </p:nvSpPr>
        <p:spPr>
          <a:xfrm>
            <a:off x="9875520" y="365760"/>
            <a:ext cx="2004480" cy="4957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2845800" y="914400"/>
            <a:ext cx="5277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DateTimeFormatter in Java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1"/>
          <p:cNvSpPr/>
          <p:nvPr/>
        </p:nvSpPr>
        <p:spPr>
          <a:xfrm>
            <a:off x="1726200" y="1828800"/>
            <a:ext cx="803448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In Java, date and time values are not always displayed in a user-friendly format.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DateTimeFormatter is used to format date and time into a readable and customizable structure.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30"/>
          <p:cNvSpPr/>
          <p:nvPr/>
        </p:nvSpPr>
        <p:spPr>
          <a:xfrm>
            <a:off x="98748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9" name="Rounded Rectangle 31"/>
          <p:cNvSpPr/>
          <p:nvPr/>
        </p:nvSpPr>
        <p:spPr>
          <a:xfrm>
            <a:off x="685800" y="2971800"/>
            <a:ext cx="3513240" cy="3194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DateTimeFormatter → Formats date and time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Supports custom patterns (dd/MM/yyyy, HH:mm, etc.)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Can be used with LocalDateTime, ZonedDateTime, etc.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Provides locale-based formatting (language support)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Improves readability of date-time output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ounded Rectangle 32"/>
          <p:cNvSpPr/>
          <p:nvPr/>
        </p:nvSpPr>
        <p:spPr>
          <a:xfrm>
            <a:off x="450792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1" name="Rounded Rectangle 33"/>
          <p:cNvSpPr/>
          <p:nvPr/>
        </p:nvSpPr>
        <p:spPr>
          <a:xfrm>
            <a:off x="4434840" y="2971800"/>
            <a:ext cx="3284640" cy="3422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Application runs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Date/Time is required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 date-time object is created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 custom format pattern is defined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The formatter processes the data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 readable formatted output is produced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Result is displayed to the user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ounded Rectangle 34"/>
          <p:cNvSpPr/>
          <p:nvPr/>
        </p:nvSpPr>
        <p:spPr>
          <a:xfrm>
            <a:off x="802836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3" name="Rounded Rectangle 35"/>
          <p:cNvSpPr/>
          <p:nvPr/>
        </p:nvSpPr>
        <p:spPr>
          <a:xfrm>
            <a:off x="7955280" y="2743200"/>
            <a:ext cx="3926520" cy="3880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import java.time.LocalDateTime;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import java.time.format.DateTimeFormatter;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import java.util.Locale;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LocaleFormatterExample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LocalDateTime now = LocalDateTime.now();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formatterTR =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DateTimeFormatter.ofPattern("dd MMMM yyyy HH:mm", new Locale("tr", "TR"));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formatterUS =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DateTimeFormatter.ofPattern("MMMM dd, yyyy hh:mm a", Locale.US);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System.out.println("Turkish Format: " + now.format(formatterTR));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System.out.println("US Format: " + now.format(formatterUS));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65"/>
          <p:cNvSpPr/>
          <p:nvPr/>
        </p:nvSpPr>
        <p:spPr>
          <a:xfrm>
            <a:off x="0" y="0"/>
            <a:ext cx="12181680" cy="68508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6" name="Rectangle 66"/>
          <p:cNvSpPr/>
          <p:nvPr/>
        </p:nvSpPr>
        <p:spPr>
          <a:xfrm>
            <a:off x="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7" name="Rectangle 67"/>
          <p:cNvSpPr/>
          <p:nvPr/>
        </p:nvSpPr>
        <p:spPr>
          <a:xfrm>
            <a:off x="914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8" name="Rectangle 68"/>
          <p:cNvSpPr/>
          <p:nvPr/>
        </p:nvSpPr>
        <p:spPr>
          <a:xfrm>
            <a:off x="1828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9" name="Rectangle 69"/>
          <p:cNvSpPr/>
          <p:nvPr/>
        </p:nvSpPr>
        <p:spPr>
          <a:xfrm>
            <a:off x="2743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0" name="Rectangle 70"/>
          <p:cNvSpPr/>
          <p:nvPr/>
        </p:nvSpPr>
        <p:spPr>
          <a:xfrm>
            <a:off x="3657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1" name="Rectangle 71"/>
          <p:cNvSpPr/>
          <p:nvPr/>
        </p:nvSpPr>
        <p:spPr>
          <a:xfrm>
            <a:off x="4572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2" name="Rectangle 72"/>
          <p:cNvSpPr/>
          <p:nvPr/>
        </p:nvSpPr>
        <p:spPr>
          <a:xfrm>
            <a:off x="5486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3" name="Rectangle 73"/>
          <p:cNvSpPr/>
          <p:nvPr/>
        </p:nvSpPr>
        <p:spPr>
          <a:xfrm>
            <a:off x="6400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4" name="Rectangle 74"/>
          <p:cNvSpPr/>
          <p:nvPr/>
        </p:nvSpPr>
        <p:spPr>
          <a:xfrm>
            <a:off x="7315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5" name="Rectangle 75"/>
          <p:cNvSpPr/>
          <p:nvPr/>
        </p:nvSpPr>
        <p:spPr>
          <a:xfrm>
            <a:off x="8229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6" name="Rectangle 76"/>
          <p:cNvSpPr/>
          <p:nvPr/>
        </p:nvSpPr>
        <p:spPr>
          <a:xfrm>
            <a:off x="9144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7" name="Rectangle 77"/>
          <p:cNvSpPr/>
          <p:nvPr/>
        </p:nvSpPr>
        <p:spPr>
          <a:xfrm>
            <a:off x="10058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Rectangle 78"/>
          <p:cNvSpPr/>
          <p:nvPr/>
        </p:nvSpPr>
        <p:spPr>
          <a:xfrm>
            <a:off x="10972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9" name="Rectangle 79"/>
          <p:cNvSpPr/>
          <p:nvPr/>
        </p:nvSpPr>
        <p:spPr>
          <a:xfrm>
            <a:off x="11887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0" name="Rectangle 80"/>
          <p:cNvSpPr/>
          <p:nvPr/>
        </p:nvSpPr>
        <p:spPr>
          <a:xfrm>
            <a:off x="0" y="0"/>
            <a:ext cx="312840" cy="68508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1" name="Rounded Rectangle 36"/>
          <p:cNvSpPr/>
          <p:nvPr/>
        </p:nvSpPr>
        <p:spPr>
          <a:xfrm>
            <a:off x="9875520" y="365760"/>
            <a:ext cx="2004480" cy="4957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2592000" y="914400"/>
            <a:ext cx="5786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Parsing Date and Time in Java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2278800" y="1828800"/>
            <a:ext cx="692928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In Java, parsing is the process of converting text-based date values into structured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date-time objects that can be used within the application.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37"/>
          <p:cNvSpPr/>
          <p:nvPr/>
        </p:nvSpPr>
        <p:spPr>
          <a:xfrm>
            <a:off x="98748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5" name="Rounded Rectangle 38"/>
          <p:cNvSpPr/>
          <p:nvPr/>
        </p:nvSpPr>
        <p:spPr>
          <a:xfrm>
            <a:off x="457200" y="2743200"/>
            <a:ext cx="3741840" cy="3881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Dates often arrive as plain text.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Text cannot be calculated or compared.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It must be transformed into a real date object.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 pattern defines how the text should be read.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The formatter follows this pattern strictly.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If the format matches, conversion succeeds.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If not, an error occurs.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Rounded Rectangle 39"/>
          <p:cNvSpPr/>
          <p:nvPr/>
        </p:nvSpPr>
        <p:spPr>
          <a:xfrm>
            <a:off x="450792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7" name="Rounded Rectangle 40"/>
          <p:cNvSpPr/>
          <p:nvPr/>
        </p:nvSpPr>
        <p:spPr>
          <a:xfrm>
            <a:off x="4434840" y="2971800"/>
            <a:ext cx="3284640" cy="3422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Raw text data enters the system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System identifies expected date structure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 conversion rule (pattern) is prepared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Text is interpreted based on the rule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 valid date-time object is created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The object becomes usable for operations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41"/>
          <p:cNvSpPr/>
          <p:nvPr/>
        </p:nvSpPr>
        <p:spPr>
          <a:xfrm>
            <a:off x="802836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Rounded Rectangle 42"/>
          <p:cNvSpPr/>
          <p:nvPr/>
        </p:nvSpPr>
        <p:spPr>
          <a:xfrm>
            <a:off x="8001000" y="3200400"/>
            <a:ext cx="3469680" cy="2738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ParsingExample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dateText = "28/04/2026";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formatter =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DateTimeFormatter.ofPattern("dd/MM/yyyy");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 date = LocalDate.parse(dateText, formatter);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System.out.println("Parsed Date: " + date);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1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81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2" name="Rectangle 82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3" name="Rectangle 83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4" name="Rectangle 84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5" name="Rectangle 85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6" name="Rectangle 86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7" name="Rectangle 87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8" name="Rectangle 88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9" name="Rectangle 89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Rectangle 90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1" name="Rectangle 91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2" name="Rectangle 92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3" name="Rectangle 93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Rectangle 94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5" name="Rectangle 95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6" name="Rectangle 96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7" name="Rounded Rectangle 43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1146240" y="914400"/>
            <a:ext cx="86774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Period and Duration in Java (Calculating Time Differences)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668520" y="1600200"/>
            <a:ext cx="103525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In Java, to measure the time difference between two dates or two times, and to add or subtract specific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durations to/from dates, the Period class is used for date-based measurements, and the Duration class is used for time-based measurements.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44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1" name="Rounded Rectangle 45"/>
          <p:cNvSpPr/>
          <p:nvPr/>
        </p:nvSpPr>
        <p:spPr>
          <a:xfrm>
            <a:off x="457200" y="2514600"/>
            <a:ext cx="3741480" cy="41094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Period: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Represents date-based differences (years, months, days). It is generally used with LocalDate objects.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Duration: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Represents time-based differences (hours, minutes, seconds, nanoseconds). It is generally used with LocalTime or LocalDateTime objects.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The between() method is used to find the difference between two date/time points.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They can be used with plus() and minus() methods to add or subtract time from an existing date.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Using these APIs instead of manual mathematical calculations prevents errors when handling complex situations like Daylight Saving Time (DST).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ounded Rectangle 46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3" name="Rounded Rectangle 47"/>
          <p:cNvSpPr/>
          <p:nvPr/>
        </p:nvSpPr>
        <p:spPr>
          <a:xfrm>
            <a:off x="4434840" y="2514600"/>
            <a:ext cx="3284280" cy="3879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Start and end times (Date/Time objects) are created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The appropriate class (Period or Duration) is selected based on the requirement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The difference between the two times is calculated by calling the between() method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The details of the difference are retrieved using relevant methods (e.g., getDays(), toHours())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The result is printed to the screen or used in different business logic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Rounded Rectangle 48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5" name="Rounded Rectangle 49"/>
          <p:cNvSpPr/>
          <p:nvPr/>
        </p:nvSpPr>
        <p:spPr>
          <a:xfrm>
            <a:off x="8001000" y="2286000"/>
            <a:ext cx="3652920" cy="4110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DurationPeriodExample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--- PERIOD EXAMPLE (Date Difference) ---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 oldDate = LocalDate.of(2022, 5, 10);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 currentDate = LocalDate.now(); // e.g., April 28, 2024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Period period = Period.between(oldDate, currentDate);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System.out.println("Date Difference: " + period.getYears() + " years, "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   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+ period.getMonths() + " months, "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   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+ period.getDays() + " days");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--- DURATION EXAMPLE (Time Difference) ---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LocalTime startTime = LocalTime.of(9, 30);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LocalTime endTime = LocalTime.of(17, 15);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Duration duration = Duration.between(startTime, endTime);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System.out.println("Elapsed Time: " + duration.toHours() + " hours, "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   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+ (duration.toMinutes() % 60) + " minutes");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2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97"/>
          <p:cNvSpPr/>
          <p:nvPr/>
        </p:nvSpPr>
        <p:spPr>
          <a:xfrm>
            <a:off x="0" y="0"/>
            <a:ext cx="12181680" cy="68508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8" name="Rectangle 98"/>
          <p:cNvSpPr/>
          <p:nvPr/>
        </p:nvSpPr>
        <p:spPr>
          <a:xfrm>
            <a:off x="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9" name="Rectangle 99"/>
          <p:cNvSpPr/>
          <p:nvPr/>
        </p:nvSpPr>
        <p:spPr>
          <a:xfrm>
            <a:off x="914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0" name="Rectangle 100"/>
          <p:cNvSpPr/>
          <p:nvPr/>
        </p:nvSpPr>
        <p:spPr>
          <a:xfrm>
            <a:off x="1828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1" name="Rectangle 101"/>
          <p:cNvSpPr/>
          <p:nvPr/>
        </p:nvSpPr>
        <p:spPr>
          <a:xfrm>
            <a:off x="2743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2" name="Rectangle 102"/>
          <p:cNvSpPr/>
          <p:nvPr/>
        </p:nvSpPr>
        <p:spPr>
          <a:xfrm>
            <a:off x="3657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3" name="Rectangle 103"/>
          <p:cNvSpPr/>
          <p:nvPr/>
        </p:nvSpPr>
        <p:spPr>
          <a:xfrm>
            <a:off x="4572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4" name="Rectangle 104"/>
          <p:cNvSpPr/>
          <p:nvPr/>
        </p:nvSpPr>
        <p:spPr>
          <a:xfrm>
            <a:off x="5486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5" name="Rectangle 105"/>
          <p:cNvSpPr/>
          <p:nvPr/>
        </p:nvSpPr>
        <p:spPr>
          <a:xfrm>
            <a:off x="6400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6" name="Rectangle 106"/>
          <p:cNvSpPr/>
          <p:nvPr/>
        </p:nvSpPr>
        <p:spPr>
          <a:xfrm>
            <a:off x="7315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7" name="Rectangle 107"/>
          <p:cNvSpPr/>
          <p:nvPr/>
        </p:nvSpPr>
        <p:spPr>
          <a:xfrm>
            <a:off x="82296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8" name="Rectangle 108"/>
          <p:cNvSpPr/>
          <p:nvPr/>
        </p:nvSpPr>
        <p:spPr>
          <a:xfrm>
            <a:off x="91440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9" name="Rectangle 109"/>
          <p:cNvSpPr/>
          <p:nvPr/>
        </p:nvSpPr>
        <p:spPr>
          <a:xfrm>
            <a:off x="100584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0" name="Rectangle 110"/>
          <p:cNvSpPr/>
          <p:nvPr/>
        </p:nvSpPr>
        <p:spPr>
          <a:xfrm>
            <a:off x="109728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1" name="Rectangle 111"/>
          <p:cNvSpPr/>
          <p:nvPr/>
        </p:nvSpPr>
        <p:spPr>
          <a:xfrm>
            <a:off x="11887200" y="0"/>
            <a:ext cx="11160" cy="68508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2" name="Rectangle 112"/>
          <p:cNvSpPr/>
          <p:nvPr/>
        </p:nvSpPr>
        <p:spPr>
          <a:xfrm>
            <a:off x="0" y="0"/>
            <a:ext cx="312840" cy="68508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3" name="Rounded Rectangle 50"/>
          <p:cNvSpPr/>
          <p:nvPr/>
        </p:nvSpPr>
        <p:spPr>
          <a:xfrm>
            <a:off x="9875520" y="365760"/>
            <a:ext cx="2004480" cy="4957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21"/>
          <p:cNvSpPr/>
          <p:nvPr/>
        </p:nvSpPr>
        <p:spPr>
          <a:xfrm>
            <a:off x="1466280" y="914400"/>
            <a:ext cx="8035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The Ultimate Java Date &amp; Time Ecosystem (Summary)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22"/>
          <p:cNvSpPr/>
          <p:nvPr/>
        </p:nvSpPr>
        <p:spPr>
          <a:xfrm>
            <a:off x="1767600" y="1694880"/>
            <a:ext cx="79506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The java.time package (introduced in Java 8) is a paradigm shift in Java. It offers an immutable,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thread-safe, and domain-driven approach to modeling human time,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machine time, and the complex geographical rules that connect them.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51"/>
          <p:cNvSpPr/>
          <p:nvPr/>
        </p:nvSpPr>
        <p:spPr>
          <a:xfrm>
            <a:off x="98748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7" name="Rounded Rectangle 52"/>
          <p:cNvSpPr/>
          <p:nvPr/>
        </p:nvSpPr>
        <p:spPr>
          <a:xfrm>
            <a:off x="457200" y="2743200"/>
            <a:ext cx="3881880" cy="3881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Dimension 1: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The Human Timeline (Ignorant of Geography)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LocalDate, LocalTime, LocalDateTime represent time exactly as you see it on a wall clock or a paper calendar. They don't know where in the world they are.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Dimension 2: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The Earth's Grid (Geographical Reality)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ZoneId and ZonedDateTime anchor the human timeline to a specific coordinate on Earth. They automatically absorb the chaos of Daylight Saving Time (DST) and UTC offsets.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Dimension 3: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The Measurement (Space between moments)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Time is not just points; it's distances. Period measures calendar distances (years, months, days), while Duration measures clock distances (hours, minutes, seconds).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Dimension 4: 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The Translation Layer (The Bridge)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DateTimeFormatter acts as the universal translator between raw string text (Parsing) and human-readable UI outputs (Formatting).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Rounded Rectangle 53"/>
          <p:cNvSpPr/>
          <p:nvPr/>
        </p:nvSpPr>
        <p:spPr>
          <a:xfrm>
            <a:off x="450792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9" name="Rounded Rectangle 54"/>
          <p:cNvSpPr/>
          <p:nvPr/>
        </p:nvSpPr>
        <p:spPr>
          <a:xfrm>
            <a:off x="4572000" y="2743200"/>
            <a:ext cx="342468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[ What kind of time do you need to model? 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&gt; Does geography matter? (Global Events, Flights)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YES ─&gt; Bind with ZoneId ─&gt; ZonedDateTime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&gt; Is it just a local daily concept? (Birthdays, Alarms)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Need Date Only? ─&gt; LocalDate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Need Time Only? ─&gt; LocalTime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Need Both? ─&gt; LocalDateTime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[ Action Phase: What do you want to do with it? 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&gt; Calculate a Countdown/Distance?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Calendar-based? ─&gt; Use Period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Clock-based? ─&gt; Use Duration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&gt; Send to UI or Database?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Map with DateTimeFormatter (Format / Parse)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Rounded Rectangle 55"/>
          <p:cNvSpPr/>
          <p:nvPr/>
        </p:nvSpPr>
        <p:spPr>
          <a:xfrm>
            <a:off x="8028360" y="3182040"/>
            <a:ext cx="3284640" cy="27360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1" name="Rounded Rectangle 56"/>
          <p:cNvSpPr/>
          <p:nvPr/>
        </p:nvSpPr>
        <p:spPr>
          <a:xfrm>
            <a:off x="8229600" y="2514600"/>
            <a:ext cx="3653280" cy="4110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TimeMastery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1. Human Timeline (Local)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LocalDateTime localMeeting = LocalDateTime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.of(2025, 10, 15, 9, 0);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2. Earth's Grid (Zoned)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ZoneId nyZone = ZoneId.of("America/New_York");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nyMeeting = ZonedDateTime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.of(localMeeting, nyZone);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3. Translation Layer (Formatting)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fmt = DateTimeFormatter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.ofPattern("MMM dd, yyyy - HH:mm z");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System.out.println("Meeting: "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+ nyMeeting.format(fmt));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4. Measurement (Duration/Distance)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now = ZonedDateTime.now(nyZone);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if (nyMeeting.isAfter(now))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Duration gap = Duration.between(now, nyMeeting);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System.out.println(gap.toDays() + " days left!");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 else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System.out.println("Already passed.");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Box 2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13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4" name="Rectangle 114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5" name="Rectangle 115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Rectangle 116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7" name="Rectangle 117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8" name="Rectangle 118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9" name="Rectangle 119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0" name="Rectangle 120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1" name="Rectangle 121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2" name="Rectangle 122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3" name="Rectangle 123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4" name="Rectangle 124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5" name="Rectangle 125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6" name="Rectangle 126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7" name="Rectangle 127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8" name="Rectangle 128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9" name="Rounded Rectangle 57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4"/>
          <p:cNvSpPr/>
          <p:nvPr/>
        </p:nvSpPr>
        <p:spPr>
          <a:xfrm>
            <a:off x="1737720" y="914400"/>
            <a:ext cx="7493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Introduction to Basic Operators in Java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25"/>
          <p:cNvSpPr/>
          <p:nvPr/>
        </p:nvSpPr>
        <p:spPr>
          <a:xfrm>
            <a:off x="1964160" y="1664640"/>
            <a:ext cx="75726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In Java, operators are special symbols used to perform mathematical, logical, or relational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operations on variables and values.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The data items that operators act upon are called "Operands".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ounded Rectangle 58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3" name="Rounded Rectangle 59"/>
          <p:cNvSpPr/>
          <p:nvPr/>
        </p:nvSpPr>
        <p:spPr>
          <a:xfrm>
            <a:off x="914400" y="2743200"/>
            <a:ext cx="328428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Basic Terminology: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Operator: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The symbol performing the action (+, *, =).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Operand: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The data being manipulated (x, 5).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(e.g., In x + 5, + is the operator, x and 5 are operands.)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Common Operator Types: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Arithmetic: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 Performs math calculations (+, -, *, /, % modulo).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Relational: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Compares two values, returns true or false (==, !=, &gt;, &lt;).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Logical: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Combines multiple boolean conditions (&amp;&amp; AND, || OR, ! NOT).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Assignment: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Assigns the right-side value to the left-side variable (=, +=, *=).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Rounded Rectangle 60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5" name="Rounded Rectangle 61"/>
          <p:cNvSpPr/>
          <p:nvPr/>
        </p:nvSpPr>
        <p:spPr>
          <a:xfrm>
            <a:off x="4434840" y="2743200"/>
            <a:ext cx="328428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[ Operator Execution Flow 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1. Data (Operands) defined in memory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e.g., int x = 10; int y = 5;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2. Expression is evaluated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Arithmetic: x + y (Result: 15)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Relational: x &gt; y (Result: true)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3. Assignment Operator executes (=)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Evaluated result is stored in a variable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4. Result is ready for output/processing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Rounded Rectangle 62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7" name="Rounded Rectangle 63"/>
          <p:cNvSpPr/>
          <p:nvPr/>
        </p:nvSpPr>
        <p:spPr>
          <a:xfrm>
            <a:off x="7955280" y="2743200"/>
            <a:ext cx="3696840" cy="3651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OperatorIntro 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1. Assignment Operator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int a = 15;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int b = 4;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2. Arithmetic Operators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int sum = a + b;     // 19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int remain = a % b;  // 3 (Modulus - remainder)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3. Relational Operators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isGreater = (a &gt; b); // true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isEqual = (a == b);  // false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4. Logical Operators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"Is 'a' &gt; 10 AND 'b' an even number?"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result = (a &gt; 10) &amp;&amp; (b % 2 == 0);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System.out.println("Sum: " + sum);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System.out.println("Remainder: " + remain);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System.out.println("Logical Result: " + result);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2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29"/>
          <p:cNvSpPr/>
          <p:nvPr/>
        </p:nvSpPr>
        <p:spPr>
          <a:xfrm>
            <a:off x="0" y="0"/>
            <a:ext cx="12180960" cy="68500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0" name="Rectangle 130"/>
          <p:cNvSpPr/>
          <p:nvPr/>
        </p:nvSpPr>
        <p:spPr>
          <a:xfrm>
            <a:off x="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1" name="Rectangle 131"/>
          <p:cNvSpPr/>
          <p:nvPr/>
        </p:nvSpPr>
        <p:spPr>
          <a:xfrm>
            <a:off x="9144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2" name="Rectangle 132"/>
          <p:cNvSpPr/>
          <p:nvPr/>
        </p:nvSpPr>
        <p:spPr>
          <a:xfrm>
            <a:off x="18288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3" name="Rectangle 133"/>
          <p:cNvSpPr/>
          <p:nvPr/>
        </p:nvSpPr>
        <p:spPr>
          <a:xfrm>
            <a:off x="27432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4" name="Rectangle 134"/>
          <p:cNvSpPr/>
          <p:nvPr/>
        </p:nvSpPr>
        <p:spPr>
          <a:xfrm>
            <a:off x="36576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5" name="Rectangle 135"/>
          <p:cNvSpPr/>
          <p:nvPr/>
        </p:nvSpPr>
        <p:spPr>
          <a:xfrm>
            <a:off x="45720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6" name="Rectangle 136"/>
          <p:cNvSpPr/>
          <p:nvPr/>
        </p:nvSpPr>
        <p:spPr>
          <a:xfrm>
            <a:off x="54864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7" name="Rectangle 137"/>
          <p:cNvSpPr/>
          <p:nvPr/>
        </p:nvSpPr>
        <p:spPr>
          <a:xfrm>
            <a:off x="64008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8" name="Rectangle 138"/>
          <p:cNvSpPr/>
          <p:nvPr/>
        </p:nvSpPr>
        <p:spPr>
          <a:xfrm>
            <a:off x="73152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9" name="Rectangle 139"/>
          <p:cNvSpPr/>
          <p:nvPr/>
        </p:nvSpPr>
        <p:spPr>
          <a:xfrm>
            <a:off x="82296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0" name="Rectangle 140"/>
          <p:cNvSpPr/>
          <p:nvPr/>
        </p:nvSpPr>
        <p:spPr>
          <a:xfrm>
            <a:off x="91440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1" name="Rectangle 141"/>
          <p:cNvSpPr/>
          <p:nvPr/>
        </p:nvSpPr>
        <p:spPr>
          <a:xfrm>
            <a:off x="100584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2" name="Rectangle 142"/>
          <p:cNvSpPr/>
          <p:nvPr/>
        </p:nvSpPr>
        <p:spPr>
          <a:xfrm>
            <a:off x="109728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3" name="Rectangle 143"/>
          <p:cNvSpPr/>
          <p:nvPr/>
        </p:nvSpPr>
        <p:spPr>
          <a:xfrm>
            <a:off x="11887200" y="0"/>
            <a:ext cx="10440" cy="68500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4" name="Rectangle 144"/>
          <p:cNvSpPr/>
          <p:nvPr/>
        </p:nvSpPr>
        <p:spPr>
          <a:xfrm>
            <a:off x="0" y="0"/>
            <a:ext cx="312120" cy="68500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5" name="Rounded Rectangle 64"/>
          <p:cNvSpPr/>
          <p:nvPr/>
        </p:nvSpPr>
        <p:spPr>
          <a:xfrm>
            <a:off x="9875520" y="365760"/>
            <a:ext cx="2003760" cy="4950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Box 28"/>
          <p:cNvSpPr/>
          <p:nvPr/>
        </p:nvSpPr>
        <p:spPr>
          <a:xfrm>
            <a:off x="2699280" y="914400"/>
            <a:ext cx="55684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Arithmetic Operators in Java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29"/>
          <p:cNvSpPr/>
          <p:nvPr/>
        </p:nvSpPr>
        <p:spPr>
          <a:xfrm>
            <a:off x="2148480" y="1694880"/>
            <a:ext cx="727092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Arithmetic operators are used to perform basic mathematical operations on numbers.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Standard mathematical precedence (e.g., multiplication is evaluated before addition)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strictly applies in Java just like in algebra.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ounded Rectangle 65"/>
          <p:cNvSpPr/>
          <p:nvPr/>
        </p:nvSpPr>
        <p:spPr>
          <a:xfrm>
            <a:off x="987480" y="3182040"/>
            <a:ext cx="3283920" cy="27352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9" name="Rounded Rectangle 66"/>
          <p:cNvSpPr/>
          <p:nvPr/>
        </p:nvSpPr>
        <p:spPr>
          <a:xfrm>
            <a:off x="914400" y="3108960"/>
            <a:ext cx="3283920" cy="32871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+ (Addition):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Adds numbers together. (Also concatenates Strings).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- (Subtraction):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Subtracts the right operand from the left.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* (Multiplication):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Multiplies two values.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/ (Division):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Returns the quotient. (Note: Integer division drops decimals. Ex: 5 / 2 = 2)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% (Modulo):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Returns the remainder of a division. Widely used to check odd/even numbers.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67"/>
          <p:cNvSpPr/>
          <p:nvPr/>
        </p:nvSpPr>
        <p:spPr>
          <a:xfrm>
            <a:off x="4507920" y="3182040"/>
            <a:ext cx="3283920" cy="27352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1" name="Rounded Rectangle 68"/>
          <p:cNvSpPr/>
          <p:nvPr/>
        </p:nvSpPr>
        <p:spPr>
          <a:xfrm>
            <a:off x="4434840" y="3200400"/>
            <a:ext cx="3283920" cy="3195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[ Operator Precedence 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1. Parentheses ()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Evaluated first, always.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2. Increment / Decrement ++, --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3. Multiply, Divide, Modulo *, /, %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Evaluated from left to right.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4. Add and Subtract +, -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Evaluated last.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Rounded Rectangle 69"/>
          <p:cNvSpPr/>
          <p:nvPr/>
        </p:nvSpPr>
        <p:spPr>
          <a:xfrm>
            <a:off x="8028360" y="3182040"/>
            <a:ext cx="3283920" cy="27352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3" name="Rounded Rectangle 70"/>
          <p:cNvSpPr/>
          <p:nvPr/>
        </p:nvSpPr>
        <p:spPr>
          <a:xfrm>
            <a:off x="8003880" y="2971800"/>
            <a:ext cx="3422160" cy="3422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ArithmeticOps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a = 10;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b = 3;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Basic Operations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sum = a + b; // 13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div = a / b; // 3 (Decimals dropped)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mod = a % b; // 1 (Remainder of 10/3)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Precedence Rules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noParen = a + b * 2;  // 16 (Multiply 1st)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paren = (a + b) * 2;  // 26 (Brackets 1st)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Increment Operator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counter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counter++; // Value is now 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System.out.println("Division: " + div);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System.out.println("Modulo: " + mod);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System.out.println("Counter: " + counter);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Box 3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45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6" name="Rectangle 146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7" name="Rectangle 147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8" name="Rectangle 148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9" name="Rectangle 149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0" name="Rectangle 150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1" name="Rectangle 151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2" name="Rectangle 152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3" name="Rectangle 153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4" name="Rectangle 154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5" name="Rectangle 155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6" name="Rectangle 156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7" name="Rectangle 157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8" name="Rectangle 158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9" name="Rectangle 159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0" name="Rectangle 160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1" name="Rounded Rectangle 71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31"/>
          <p:cNvSpPr/>
          <p:nvPr/>
        </p:nvSpPr>
        <p:spPr>
          <a:xfrm>
            <a:off x="1072440" y="914400"/>
            <a:ext cx="8822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Arithmetic Operators (Part 2: Prefix &amp; Postfix)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32"/>
          <p:cNvSpPr/>
          <p:nvPr/>
        </p:nvSpPr>
        <p:spPr>
          <a:xfrm>
            <a:off x="2043720" y="1694880"/>
            <a:ext cx="748116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The most common arithmetic bugs stem from the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placement of increment/decrement operators (++, --) and integer division.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Placing the operator before or after the variable completely changes the execution order.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ounded Rectangle 72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5" name="Rounded Rectangle 73"/>
          <p:cNvSpPr/>
          <p:nvPr/>
        </p:nvSpPr>
        <p:spPr>
          <a:xfrm>
            <a:off x="685800" y="2743200"/>
            <a:ext cx="351288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1. Prefix vs. Postfix Logic: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Prefix (++a)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: Increases the value by 1 first, then uses the new value in the current expression.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Postfix (a++):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Uses the current value in the expression first, then increases it by 1 afterwards..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2. Integer Division Traps: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If two integers (int) are divided, Java doesn't round; it truncates (throws away the decimal part). (Ex: 5 / 2 = 2).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To get a precise decimal result, at least one operand must be a decimal type (double or float). (Ex: 5.0 / 2 = 2.5).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Rounded Rectangle 74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7" name="Rounded Rectangle 75"/>
          <p:cNvSpPr/>
          <p:nvPr/>
        </p:nvSpPr>
        <p:spPr>
          <a:xfrm>
            <a:off x="4434840" y="2971800"/>
            <a:ext cx="3284280" cy="3424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Prefix vs Postfix Execution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Base Variable: int x = 5;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Prefix Usage: int y = ++x;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Step 1: Increase x (x becomes 6)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Step 2: Assign new x to 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Result: x = 6, y = 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Postfix Usage: int z = x++;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Step 1: Assign current x to z (z = 5)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Step 2: Increase x (x becomes 6)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Result: x = 6, z = 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Rounded Rectangle 76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9" name="Rounded Rectangle 77"/>
          <p:cNvSpPr/>
          <p:nvPr/>
        </p:nvSpPr>
        <p:spPr>
          <a:xfrm>
            <a:off x="8001000" y="2743200"/>
            <a:ext cx="3425760" cy="3651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ArithmeticDetails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PREFIX (Increment First, Use Later)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a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b = ++a; // a=6, then b is assigned 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POSTFIX (Use First, Increment Later)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y = x++; // y gets 5, then x becomes 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INTEGER DIVISION TRAP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badDiv = 5 / 2;      // Result: 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trapDiv = 5 / 2;  // Result: 2.0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goodDiv = 5.0 / 2;// Result: 2.5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System.out.println("Prefix b: " + b);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System.out.println("Postfix y: " + y);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System.out.println("Proper Div: " + goodDiv);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Box 3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61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2" name="Rectangle 162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3" name="Rectangle 163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4" name="Rectangle 164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5" name="Rectangle 165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6" name="Rectangle 166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7" name="Rectangle 167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8" name="Rectangle 168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9" name="Rectangle 169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0" name="Rectangle 170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1" name="Rectangle 171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2" name="Rectangle 172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3" name="Rectangle 173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4" name="Rectangle 174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5" name="Rectangle 175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6" name="Rectangle 176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7" name="Rounded Rectangle 78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Box 34"/>
          <p:cNvSpPr/>
          <p:nvPr/>
        </p:nvSpPr>
        <p:spPr>
          <a:xfrm>
            <a:off x="705600" y="914400"/>
            <a:ext cx="9556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Arithmetic Operators (Part 3: Shortcuts &amp; Strings)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35"/>
          <p:cNvSpPr/>
          <p:nvPr/>
        </p:nvSpPr>
        <p:spPr>
          <a:xfrm>
            <a:off x="1482480" y="1694880"/>
            <a:ext cx="860292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 offers shortcut operators to combine math and assignment into a single step, keeping code clean.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Additionally, the + operator has a dual identity: it performs mathematical addition for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numbers, but acts as a "glue" (concatenation) for Strings.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ounded Rectangle 79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1" name="Rounded Rectangle 80"/>
          <p:cNvSpPr/>
          <p:nvPr/>
        </p:nvSpPr>
        <p:spPr>
          <a:xfrm>
            <a:off x="685800" y="2743200"/>
            <a:ext cx="351288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1. Compound Assignment: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Combines arithmetic with assignment: +=, -=, *=, /=, %=.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Ex: x += 5 is the exact shorthand for x = x + 5.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Pro-Tip: They automatically handle type casting behind the scenes (e.g., adding an int to a byte without errors).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2. The Dual Role of +: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Number + Number = Math (Addition).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String + Anything = Text (Concatenation).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Execution flows strictly from Left to Right. If a String appears first, everything after it turns into text!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Rounded Rectangle 81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3" name="Rounded Rectangle 82"/>
          <p:cNvSpPr/>
          <p:nvPr/>
        </p:nvSpPr>
        <p:spPr>
          <a:xfrm>
            <a:off x="4434840" y="2971800"/>
            <a:ext cx="3284280" cy="3424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[ Left-to-Right Execution of + ]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&gt; Scenario 1: 10 + 5 + "A"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Step 1: Math! 10 + 5 = 15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Step 2: Text! 15 + "A" = "15A"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Result: "15A"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&gt; Scenario 2: "A" + 10 + 5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Step 1: Text! "A" + 10 = "A10"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Step 2: Text! "A10" + 5 = "A105"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Result: "A105" (Not A15!)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ounded Rectangle 83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5" name="Rounded Rectangle 84"/>
          <p:cNvSpPr/>
          <p:nvPr/>
        </p:nvSpPr>
        <p:spPr>
          <a:xfrm>
            <a:off x="8001000" y="2743200"/>
            <a:ext cx="3425760" cy="3651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ArithmeticTricks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COMPOUND ASSIGNMENT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score = 50;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score += 10; // score = score + 10 (60)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score /= 2;  // score = score / 2  (30)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CONCATENATION TRAPS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y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Starts with numbers -&gt; Math first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str1 = x + y + " Java"; // "10 Java"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Starts with String -&gt; All Text!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str2 = "Java " + x + y; // "Java 55"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Brackets force math first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str3 = "Java " + (x+y); // "Java 10"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System.out.println("Final Score: " + score);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System.out.println("Str2: " + str2);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3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177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8" name="Rectangle 178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9" name="Rectangle 179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0" name="Rectangle 180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1" name="Rectangle 181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2" name="Rectangle 182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3" name="Rectangle 183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4" name="Rectangle 184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5" name="Rectangle 185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ectangle 186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7" name="Rectangle 187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8" name="Rectangle 188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9" name="Rectangle 189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Rectangle 190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1" name="Rectangle 191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Rectangle 192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3" name="Rounded Rectangle 85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Box 37"/>
          <p:cNvSpPr/>
          <p:nvPr/>
        </p:nvSpPr>
        <p:spPr>
          <a:xfrm>
            <a:off x="2768400" y="914400"/>
            <a:ext cx="54298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Arithmetic Operators: Tricky Details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38"/>
          <p:cNvSpPr/>
          <p:nvPr/>
        </p:nvSpPr>
        <p:spPr>
          <a:xfrm>
            <a:off x="1257120" y="1694880"/>
            <a:ext cx="90522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Understanding how data types behave behind the scenes during math operations prevents critical bugs.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Division by zero rules, character arithmetic, and implicit type promotion are the most common traps in Java.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Rounded Rectangle 86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7" name="Rounded Rectangle 87"/>
          <p:cNvSpPr/>
          <p:nvPr/>
        </p:nvSpPr>
        <p:spPr>
          <a:xfrm>
            <a:off x="685800" y="2743200"/>
            <a:ext cx="351288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1. Zero Division (The Crash Trap):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Dividing an integer (int) by 0 crashes the app (ArithmeticException).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Dividing a decimal (double) by 0 does not crash; it safely returns Infinity or NaN (Not a Number).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2. Char Arithmetic: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char types hold numeric values (ASCII) behind the scenes. Adding chars performs math, it does not concatenate text. (Ex: 'A' = 65).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3. Implicit Type Promotion: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When adding two byte or short values, Java automatically promotes the result to an int. Assigning the result directly back to a byte causes a compile error!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Rounded Rectangle 88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9" name="Rounded Rectangle 89"/>
          <p:cNvSpPr/>
          <p:nvPr/>
        </p:nvSpPr>
        <p:spPr>
          <a:xfrm>
            <a:off x="4434840" y="2971800"/>
            <a:ext cx="3284280" cy="3424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Behind the Scenes Data Conversions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Zero Division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5 / 0 ➔ ERROR! (Crash)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5.0 / 0 ➔ Result: Infinity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0.0 / 0 ➔ Result: NaN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Char Math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'A' + 1 ➔ 65 + 1 = 66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Byte Addition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byte x = 10; byte y = 20;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byte z = x + y; ➔ ERROR! (Result is int)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Rounded Rectangle 90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1" name="Rounded Rectangle 91"/>
          <p:cNvSpPr/>
          <p:nvPr/>
        </p:nvSpPr>
        <p:spPr>
          <a:xfrm>
            <a:off x="8001000" y="2514600"/>
            <a:ext cx="3655080" cy="38833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ArithmeticNuances {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// 1. ZERO DIVISION TRAP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// int crash = 5 / 0; // Throws Exception!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double infinity = 5.0 / 0;   // Infinity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double undefined = 0.0 / 0.0;// NaN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// 2. CHAR MATH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char letter = 'A'; // ASCII value is 65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int charSum = letter + 5; // Result: 70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char nextLetter = (char) (letter + 1); // 'B'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// 3. IMPLICIT INT PROMOTION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byte b1 = 10;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byte b2 = 20;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// byte b3 = b1 + b2; // Compile Error!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int total = b1 + b2; // Correct way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System.out.println("5.0 / 0 = " + infinity);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System.out.println("0.0 / 0.0 = " + undefined);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System.out.println("Char + 5 = " + charSum);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Box 3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93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Rectangle 194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5" name="Rectangle 195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6" name="Rectangle 196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7" name="Rectangle 197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8" name="Rectangle 198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9" name="Rectangle 199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0" name="Rectangle 200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1" name="Rectangle 201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2" name="Rectangle 202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3" name="Rectangle 203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4" name="Rectangle 204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5" name="Rectangle 205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6" name="Rectangle 206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7" name="Rectangle 207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8" name="Rectangle 208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9" name="Rounded Rectangle 92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40"/>
          <p:cNvSpPr/>
          <p:nvPr/>
        </p:nvSpPr>
        <p:spPr>
          <a:xfrm>
            <a:off x="1534680" y="914400"/>
            <a:ext cx="7897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Real-World Math: Restaurant Bill Splitter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41"/>
          <p:cNvSpPr/>
          <p:nvPr/>
        </p:nvSpPr>
        <p:spPr>
          <a:xfrm>
            <a:off x="1296000" y="1694880"/>
            <a:ext cx="89748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In real-world applications, arithmetic operators are the engine of business logic. Let's build a mini-app that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calculates a restaurant bill, applies a discount, adds tax/tip using compound operators,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and safely splits the final cost among friends.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ounded Rectangle 93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3" name="Rounded Rectangle 94"/>
          <p:cNvSpPr/>
          <p:nvPr/>
        </p:nvSpPr>
        <p:spPr>
          <a:xfrm>
            <a:off x="685800" y="2971800"/>
            <a:ext cx="3198240" cy="3426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Mapping Operators to Business Rules: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Accumulation (+=):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Used to add multiple items to a shopping cart or a digital bill.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Discounts (-=):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Used to subtract coupons or promotional deductions.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Tax &amp; Tip (*=):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Used to apply percentages. Multiplying by 1.25 instantly adds a 25% increase to the existing total.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Fair Split (/):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Used to divide the final double amount by the number of guests.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Rounded Rectangle 95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5" name="Rounded Rectangle 96"/>
          <p:cNvSpPr/>
          <p:nvPr/>
        </p:nvSpPr>
        <p:spPr>
          <a:xfrm>
            <a:off x="4257360" y="2971800"/>
            <a:ext cx="3284280" cy="3424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[ The Billing Workflow 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1. Open Table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bill = 0.0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2. Add Orders (Accumulate)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bill += itemPrice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3. Apply Promo Code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bill -= discount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4. Add Tax &amp; Tip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bill *= 1.25 (adds 25%)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5. Split the Bill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perPerson = bill / guests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Rounded Rectangle 97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7" name="Rounded Rectangle 98"/>
          <p:cNvSpPr/>
          <p:nvPr/>
        </p:nvSpPr>
        <p:spPr>
          <a:xfrm>
            <a:off x="8001000" y="2514600"/>
            <a:ext cx="3425760" cy="3884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RestaurantBill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Initial State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bill = 0.0;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guests = 3;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Add Items (Compound Addition)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bill += 25.50; // Pizza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bill += 14.00; // Pasta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bill += 10.50; // Drinks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Subtotal is now 50.00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Apply a $5 Coupon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bill -= 5.00;  // Subtotal is 45.00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4. Apply 25% Tax &amp; Tip together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Multiplies current bill by 1.25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bill *= 1.25;  // Final total: 56.25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5. Split among guests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perPerson = bill / guests;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System.out.println("Total: $" + bill);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System.out.println("Each pays: $" + perPerson);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Box 4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209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0" name="Rectangle 210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1" name="Rectangle 211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2" name="Rectangle 212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3" name="Rectangle 213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4" name="Rectangle 214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5" name="Rectangle 215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6" name="Rectangle 216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7" name="Rectangle 217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8" name="Rectangle 218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9" name="Rectangle 219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0" name="Rectangle 220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1" name="Rectangle 221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2" name="Rectangle 222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3" name="Rectangle 223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4" name="Rectangle 224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5" name="Rounded Rectangle 99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43"/>
          <p:cNvSpPr/>
          <p:nvPr/>
        </p:nvSpPr>
        <p:spPr>
          <a:xfrm>
            <a:off x="1859040" y="732600"/>
            <a:ext cx="724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Arithmetic Operators: Final Summary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44"/>
          <p:cNvSpPr/>
          <p:nvPr/>
        </p:nvSpPr>
        <p:spPr>
          <a:xfrm>
            <a:off x="876240" y="1600200"/>
            <a:ext cx="981432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Arithmetic operators are the foundation of data manipulation and business logic in Java. Choosing the right operator,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watching your data types, and understanding execution precedence are the golden rules for bug-free code.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Rounded Rectangle 100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9" name="Rounded Rectangle 101"/>
          <p:cNvSpPr/>
          <p:nvPr/>
        </p:nvSpPr>
        <p:spPr>
          <a:xfrm>
            <a:off x="685800" y="2971800"/>
            <a:ext cx="3198240" cy="3426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 Golden Rules to Remember: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 Big 5: +, -, *, /, and % (Modulo).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Precedence: Multiplication, division, and modulo always run before addition/subtraction. Parentheses () override all rules.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Division Trap: Dividing two integers (int) always drops the decimal. For precision, at least one operand must be a double.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Shortcuts: ++/-- (increment/decrement) and +=/*= (compound assignments) make code much cleaner and easier to read.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Rounded Rectangle 102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1" name="Rounded Rectangle 103"/>
          <p:cNvSpPr/>
          <p:nvPr/>
        </p:nvSpPr>
        <p:spPr>
          <a:xfrm>
            <a:off x="4257360" y="2971800"/>
            <a:ext cx="3284280" cy="3424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[ The Developer's Checklist 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Checking for Odd or Even?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Always use % 2!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Need decimals in a division?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Make one number a double (e.g., 2.0)!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Want to force execution order?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Wrap the math in parentheses ()!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Updating an existing variable?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Use x += 5 instead of x = x + 5!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Rounded Rectangle 104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3" name="Rounded Rectangle 105"/>
          <p:cNvSpPr/>
          <p:nvPr/>
        </p:nvSpPr>
        <p:spPr>
          <a:xfrm>
            <a:off x="8001000" y="2514600"/>
            <a:ext cx="3425760" cy="3884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ArithmeticSummary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int num = 10;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1. Precedence &amp; Modulo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Remainder of 15 / 4 = 3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int result = (num + 5) % 4;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2. Decimal Division (Precision)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Using 4.0 prevents int truncation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double div = num / 4.0; // 2.5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3. Compound &amp; Increment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num += 5; // Becomes 15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num++;    // Becomes 16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System.out.println("Modulo: " + result);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System.out.println("Division: " + div);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System.out.println("Final Num: " + num);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Box 4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ctangle 225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6" name="Rectangle 226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7" name="Rectangle 227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8" name="Rectangle 228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9" name="Rectangle 229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0" name="Rectangle 230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1" name="Rectangle 231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2" name="Rectangle 232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3" name="Rectangle 233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4" name="Rectangle 234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5" name="Rectangle 235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6" name="Rectangle 236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7" name="Rectangle 237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8" name="Rectangle 238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9" name="Rectangle 239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0" name="Rectangle 240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1" name="Rounded Rectangle 106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Box 46"/>
          <p:cNvSpPr/>
          <p:nvPr/>
        </p:nvSpPr>
        <p:spPr>
          <a:xfrm>
            <a:off x="2597400" y="732600"/>
            <a:ext cx="577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Assignment Operators in Java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47"/>
          <p:cNvSpPr/>
          <p:nvPr/>
        </p:nvSpPr>
        <p:spPr>
          <a:xfrm>
            <a:off x="522720" y="1600200"/>
            <a:ext cx="105213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Assignment operators are used to store values into variables. Unlike arithmetic operations, assignment evaluates strictly from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Right to Left. Java also provides "compound" operators that merge math and assignment into a single step.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ounded Rectangle 107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5" name="Rounded Rectangle 108"/>
          <p:cNvSpPr/>
          <p:nvPr/>
        </p:nvSpPr>
        <p:spPr>
          <a:xfrm>
            <a:off x="685800" y="2971800"/>
            <a:ext cx="3198240" cy="3426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1. Basic Assignment (=):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Assigns the right-side value to the left-side variable. The left side must be a variable, not a value.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Chaining: You can assign multiple variables at once (e.g., a = b = 5;).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2. Compound Assignment (+=, -=, *=, /=, %=):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x += 5 is exactly the same as x = x + 5.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Pro-Tip (Implicit Casting): Compound operators automatically convert data types behind the scenes. Adding an int to a byte using += will not throw a compile error!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Rounded Rectangle 109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7" name="Rounded Rectangle 110"/>
          <p:cNvSpPr/>
          <p:nvPr/>
        </p:nvSpPr>
        <p:spPr>
          <a:xfrm>
            <a:off x="4257360" y="2971800"/>
            <a:ext cx="3284280" cy="3424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Right-to-Left Execution Logic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Standard Assignment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int x = 10 + 5;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Step 1: Calculate right side (15)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Step 2: Store 15 into left side (x)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Compound Assignment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x += 5;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Step 1: Expand to x = x + 5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Step 2: Calculate 15 + 5 (20)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Step 3: Store 20 back into x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Rounded Rectangle 111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9" name="Rounded Rectangle 112"/>
          <p:cNvSpPr/>
          <p:nvPr/>
        </p:nvSpPr>
        <p:spPr>
          <a:xfrm>
            <a:off x="8001000" y="2514600"/>
            <a:ext cx="3425760" cy="3884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AssignmentOps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BASIC &amp; CHAINED ASSIGNMENT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a, b;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a = b = 10; // Evaluates Right-to-Left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COMPOUND ASSIGNMENT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score = 50;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score += 10; // score = 60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score -= 20; // score = 40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score /= 2;  // score = 20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THE CASTING MAGIC (Pro-Tip)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byte tinyNum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tinyNum = tinyNum + 5; // Compile Error!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tinyNum += 5; // Works perfectly! (Becomes 10)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System.out.println("A and B: " + a);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System.out.println("Final Score: " + score);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System.out.println("Byte value: " + tinyNum);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Box 48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241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2" name="Rectangle 242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3" name="Rectangle 243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4" name="Rectangle 244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5" name="Rectangle 245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6" name="Rectangle 246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7" name="Rectangle 247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8" name="Rectangle 248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9" name="Rectangle 249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0" name="Rectangle 250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1" name="Rectangle 251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2" name="Rectangle 252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3" name="Rectangle 253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4" name="Rectangle 254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5" name="Rectangle 255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6" name="Rectangle 256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7" name="Rounded Rectangle 113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Box 49"/>
          <p:cNvSpPr/>
          <p:nvPr/>
        </p:nvSpPr>
        <p:spPr>
          <a:xfrm>
            <a:off x="1756800" y="732600"/>
            <a:ext cx="74523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Assignment Operators (Part 2: Traps &amp; Advanced)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50"/>
          <p:cNvSpPr/>
          <p:nvPr/>
        </p:nvSpPr>
        <p:spPr>
          <a:xfrm>
            <a:off x="926280" y="1466280"/>
            <a:ext cx="972936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The most critical bugs in assignments arise from confusing the assignment operator (=) with the equality check (==).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Additionally, compound assignments aren't limited to basic math; they can also be combined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with bitwise operators for advanced binary calculations.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ounded Rectangle 114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1" name="Rounded Rectangle 115"/>
          <p:cNvSpPr/>
          <p:nvPr/>
        </p:nvSpPr>
        <p:spPr>
          <a:xfrm>
            <a:off x="685800" y="2743200"/>
            <a:ext cx="3198240" cy="36554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1. The Ultimate Trap (= vs ==):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= (Single Equals): Assigns a value. Copies the right side to the left.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== (Double Equals): Compares values. Evaluates to true or false.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Danger: If you accidentally assign a boolean inside an if statement, Java won't crash; it performs the assignment and automatically executes the block!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2. Bitwise Assignments: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Operates on numbers at the raw binary level (1s and 0s).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&amp;= (Bitwise AND), |= (Bitwise OR), ^= (Bitwise XOR).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&lt;&lt;= (Left Shift): A highly optimized, fast way to multiply a number by powers of 2.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Rounded Rectangle 116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3" name="Rounded Rectangle 117"/>
          <p:cNvSpPr/>
          <p:nvPr/>
        </p:nvSpPr>
        <p:spPr>
          <a:xfrm>
            <a:off x="4257360" y="2743200"/>
            <a:ext cx="328428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The = vs == Logic Trap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Wrong (Assignment inside if)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boolean isOpen = false;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if (isOpen = true) ➔ CHANGES VALUE!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Result: isOpen becomes true, block RUNS.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Correct (Comparison)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boolean isOpen = false;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if (isOpen == true) ➔ ONLY CHECKS!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Result: Condition is false, block SKIPS.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Rounded Rectangle 118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5" name="Rounded Rectangle 119"/>
          <p:cNvSpPr/>
          <p:nvPr/>
        </p:nvSpPr>
        <p:spPr>
          <a:xfrm>
            <a:off x="8001000" y="2514600"/>
            <a:ext cx="3425760" cy="3884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AdvancedAssignments {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1. THE = vs == TRAP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boolean isAdmin = false;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Accidental assignment instead of ==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if (isAdmin = true) { 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isAdmin is now true!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System.out.println("Access Granted!");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2. BITWISE ASSIGNMENT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int x = 5;  // Binary: 0101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x &amp;= 3;     // AND operation with 3 (0011)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Result becomes 0001 (Which is 1)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3. SHIFT ASSIGNMENT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int y = 4;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y &lt;&lt;= 1; // Shift left by 1 (Multiply by 2)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System.out.println("Bitwise x: " + x);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System.out.println("Shifted y: " + y);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Box 51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Rectangle 257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8" name="Rectangle 258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9" name="Rectangle 259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0" name="Rectangle 260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1" name="Rectangle 261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2" name="Rectangle 262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3" name="Rectangle 263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4" name="Rectangle 264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5" name="Rectangle 265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6" name="Rectangle 266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7" name="Rectangle 267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8" name="Rectangle 268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9" name="Rectangle 269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0" name="Rectangle 270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1" name="Rectangle 271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2" name="Rectangle 272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3" name="Rounded Rectangle 120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Box 52"/>
          <p:cNvSpPr/>
          <p:nvPr/>
        </p:nvSpPr>
        <p:spPr>
          <a:xfrm>
            <a:off x="1433520" y="732600"/>
            <a:ext cx="8100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Assignment Operators (Part 3: References &amp; Memory)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53"/>
          <p:cNvSpPr/>
          <p:nvPr/>
        </p:nvSpPr>
        <p:spPr>
          <a:xfrm>
            <a:off x="921960" y="1466280"/>
            <a:ext cx="973728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While the assignment operator (=) creates a perfect, independent copy of the value for primitive types (int, double),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it behaves differently for Arrays and Objects. For these complex types, it only copies the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memory address (reference), meaning both variables will point to the exact same data.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Rounded Rectangle 121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7" name="Rounded Rectangle 122"/>
          <p:cNvSpPr/>
          <p:nvPr/>
        </p:nvSpPr>
        <p:spPr>
          <a:xfrm>
            <a:off x="685800" y="2743200"/>
            <a:ext cx="3198240" cy="36554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1. Value vs. Reference Assignment: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Primitives (Value Copy): int a = b; copies the actual number. Changing one does not affect the other. They are fully independent.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References (Shared Address): int[] a = b; shares the same memory box. Modifying one variable instantly modifies the other!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2. Assignment Evaluates to a Value: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Every assignment in Java evaluates to the value being assigned.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Ex: System.out.println(x = 5); assigns 5 to x AND prints 5 to the console. This rule is what makes chained assignments (a = b = 5) possible.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Rounded Rectangle 123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9" name="Rounded Rectangle 124"/>
          <p:cNvSpPr/>
          <p:nvPr/>
        </p:nvSpPr>
        <p:spPr>
          <a:xfrm>
            <a:off x="4257360" y="2743200"/>
            <a:ext cx="328428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Primitive vs Reference Logic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Primitive Type (Independent)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int x = 10; int y = x;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y = 20;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Result: Only y changes. (x remains 10)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Reference Type (Shared Memory)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int[] a = {1, 2}; int[] b = a;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b[0] = 99;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Result: BOTH CHANGE! (a[0] becomes 99 too)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Rounded Rectangle 125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1" name="Rounded Rectangle 126"/>
          <p:cNvSpPr/>
          <p:nvPr/>
        </p:nvSpPr>
        <p:spPr>
          <a:xfrm>
            <a:off x="8001000" y="2514600"/>
            <a:ext cx="3425760" cy="3884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AssignReferences {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1. PRIMITIVE ASSIGNMENT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 num1 = 10;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 num2 = num1; // Value is copied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2. REFERENCE (ARRAY) ASSIGNMENT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int[] arr1 = {1, 2, 3};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int[] arr2 = arr1; // Address is shared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Modifying arr2 also modifies arr1!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arr2[0] = 99; 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3. RETURN VALUE OF ASSIGNMENT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 x;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Assigns 5 to x AND prints it directly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System.out.println("x is: " + (x = 5)); 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System.out.println("num1: " + num1);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System.out.println("arr1[0]: " + arr1[0]);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Box 54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Rectangle 273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4" name="Rectangle 274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5" name="Rectangle 275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6" name="Rectangle 276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7" name="Rectangle 277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8" name="Rectangle 278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9" name="Rectangle 279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0" name="Rectangle 280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1" name="Rectangle 281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2" name="Rectangle 282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3" name="Rectangle 283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4" name="Rectangle 284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5" name="Rectangle 285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6" name="Rectangle 286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7" name="Rectangle 287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8" name="Rectangle 288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9" name="Rounded Rectangle 127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Box 55"/>
          <p:cNvSpPr/>
          <p:nvPr/>
        </p:nvSpPr>
        <p:spPr>
          <a:xfrm>
            <a:off x="1849680" y="732600"/>
            <a:ext cx="72673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Assignment Operators: Memory &amp; Object States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56"/>
          <p:cNvSpPr/>
          <p:nvPr/>
        </p:nvSpPr>
        <p:spPr>
          <a:xfrm>
            <a:off x="1215000" y="1466280"/>
            <a:ext cx="91508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When working with objects, the assignment operator (=) dictates which memory address a variable points to.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Understanding how to detach a variable from an object (using null)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or lock its memory address (using final) is crucial for effective memory management.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Rounded Rectangle 128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3" name="Rounded Rectangle 129"/>
          <p:cNvSpPr/>
          <p:nvPr/>
        </p:nvSpPr>
        <p:spPr>
          <a:xfrm>
            <a:off x="685800" y="2514600"/>
            <a:ext cx="3198240" cy="41144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1. Mutating vs. Reassigning: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Mutating: Changing the internal data of an existing object (e.g., arr[0] = 5;). The memory address stays the same.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Reassigning: Pointing the variable to a completely new object (e.g., arr = new int[]{1, 2};). The old memory address is abandoned.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2. The null Assignment: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Assigning null to a reference variable completely disconnects it from the object.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If an object in memory has zero variables pointing to it, the Garbage Collector (GC) automatically deletes it to free up RAM.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3. The final Reference Trap: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If a reference variable is marked final, you cannot reassign it to a new memory address using =.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However, you can still mutate (modify) its internal data!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Rounded Rectangle 130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5" name="Rounded Rectangle 131"/>
          <p:cNvSpPr/>
          <p:nvPr/>
        </p:nvSpPr>
        <p:spPr>
          <a:xfrm>
            <a:off x="4257360" y="2743200"/>
            <a:ext cx="328428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MEMORY STATE TRACKER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ACTION 1: int[] x = {100};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Variable [x] ----&gt; (Heap Memory: {100})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ACTION 2: int[] y = x;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Variable [x] ----&gt; (Heap Memory: {100})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Variable [y] ----/ (Both point to same)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ACTION 3: x = null;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Variable [x] ----&gt; [ NULL / EMPTY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Variable [y] ----&gt; (Heap Memory: {100})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Result: Data survives because 'y' still holds it!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Rounded Rectangle 132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7" name="Rounded Rectangle 133"/>
          <p:cNvSpPr/>
          <p:nvPr/>
        </p:nvSpPr>
        <p:spPr>
          <a:xfrm>
            <a:off x="8001000" y="2514600"/>
            <a:ext cx="3425760" cy="3884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--- TEST CASE 1: SURVIVING NULL ---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int[] dataA = { 50 };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int[] dataB = dataA; // Share address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dataA = null; // Cut connection for 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Will this crash? No! B still has it.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System.out.println("DataB: " + dataB[0]);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&gt;&gt; Output: 50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--- TEST CASE 2: FINAL REFERENCE ---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final StringBuilder text = new StringBuilder("A");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ERROR: Cannot assign new memory!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text = new StringBuilder("B");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SUCCESS: Can mutate internal state!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text.append("B");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System.out.println("Text: " + text);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&gt;&gt; Output: AB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Box 5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289"/>
          <p:cNvSpPr/>
          <p:nvPr/>
        </p:nvSpPr>
        <p:spPr>
          <a:xfrm>
            <a:off x="0" y="0"/>
            <a:ext cx="12181320" cy="68504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0" name="Rectangle 290"/>
          <p:cNvSpPr/>
          <p:nvPr/>
        </p:nvSpPr>
        <p:spPr>
          <a:xfrm>
            <a:off x="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1" name="Rectangle 291"/>
          <p:cNvSpPr/>
          <p:nvPr/>
        </p:nvSpPr>
        <p:spPr>
          <a:xfrm>
            <a:off x="914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2" name="Rectangle 292"/>
          <p:cNvSpPr/>
          <p:nvPr/>
        </p:nvSpPr>
        <p:spPr>
          <a:xfrm>
            <a:off x="1828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3" name="Rectangle 293"/>
          <p:cNvSpPr/>
          <p:nvPr/>
        </p:nvSpPr>
        <p:spPr>
          <a:xfrm>
            <a:off x="2743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4" name="Rectangle 294"/>
          <p:cNvSpPr/>
          <p:nvPr/>
        </p:nvSpPr>
        <p:spPr>
          <a:xfrm>
            <a:off x="3657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5" name="Rectangle 295"/>
          <p:cNvSpPr/>
          <p:nvPr/>
        </p:nvSpPr>
        <p:spPr>
          <a:xfrm>
            <a:off x="4572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6" name="Rectangle 296"/>
          <p:cNvSpPr/>
          <p:nvPr/>
        </p:nvSpPr>
        <p:spPr>
          <a:xfrm>
            <a:off x="5486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7" name="Rectangle 297"/>
          <p:cNvSpPr/>
          <p:nvPr/>
        </p:nvSpPr>
        <p:spPr>
          <a:xfrm>
            <a:off x="6400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8" name="Rectangle 298"/>
          <p:cNvSpPr/>
          <p:nvPr/>
        </p:nvSpPr>
        <p:spPr>
          <a:xfrm>
            <a:off x="7315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9" name="Rectangle 299"/>
          <p:cNvSpPr/>
          <p:nvPr/>
        </p:nvSpPr>
        <p:spPr>
          <a:xfrm>
            <a:off x="82296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0" name="Rectangle 300"/>
          <p:cNvSpPr/>
          <p:nvPr/>
        </p:nvSpPr>
        <p:spPr>
          <a:xfrm>
            <a:off x="91440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1" name="Rectangle 301"/>
          <p:cNvSpPr/>
          <p:nvPr/>
        </p:nvSpPr>
        <p:spPr>
          <a:xfrm>
            <a:off x="100584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2" name="Rectangle 302"/>
          <p:cNvSpPr/>
          <p:nvPr/>
        </p:nvSpPr>
        <p:spPr>
          <a:xfrm>
            <a:off x="109728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3" name="Rectangle 303"/>
          <p:cNvSpPr/>
          <p:nvPr/>
        </p:nvSpPr>
        <p:spPr>
          <a:xfrm>
            <a:off x="11887200" y="0"/>
            <a:ext cx="10800" cy="68504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4" name="Rectangle 304"/>
          <p:cNvSpPr/>
          <p:nvPr/>
        </p:nvSpPr>
        <p:spPr>
          <a:xfrm>
            <a:off x="0" y="0"/>
            <a:ext cx="312480" cy="68504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5" name="Rounded Rectangle 134"/>
          <p:cNvSpPr/>
          <p:nvPr/>
        </p:nvSpPr>
        <p:spPr>
          <a:xfrm>
            <a:off x="9875520" y="365760"/>
            <a:ext cx="2004120" cy="4953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Box 58"/>
          <p:cNvSpPr/>
          <p:nvPr/>
        </p:nvSpPr>
        <p:spPr>
          <a:xfrm>
            <a:off x="1361880" y="732600"/>
            <a:ext cx="8242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f5f5f5"/>
                </a:solidFill>
                <a:latin typeface="Calibri"/>
                <a:ea typeface="DejaVu Sans"/>
              </a:rPr>
              <a:t>Assignment Operators: Memory &amp; Reference Management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Box 59"/>
          <p:cNvSpPr/>
          <p:nvPr/>
        </p:nvSpPr>
        <p:spPr>
          <a:xfrm>
            <a:off x="1068120" y="1466280"/>
            <a:ext cx="944388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When working with objects, the assignment operator (=) determines which memory address a variable points to.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For effective memory management, understanding how to detach a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variable from an object (null) or lock its memory address (final) is crucial.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Rounded Rectangle 135"/>
          <p:cNvSpPr/>
          <p:nvPr/>
        </p:nvSpPr>
        <p:spPr>
          <a:xfrm>
            <a:off x="98748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9" name="Rounded Rectangle 136"/>
          <p:cNvSpPr/>
          <p:nvPr/>
        </p:nvSpPr>
        <p:spPr>
          <a:xfrm>
            <a:off x="685800" y="2514600"/>
            <a:ext cx="3198240" cy="41144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QUICK BITE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For primitive types (int, double), the = operator copies the value. However, for objects (Object, Array), it only copies the "address" (reference) in memory. Knowing this behavior is essential to manage objects in memory properly.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KEY CONCEPTS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Value Copy (Primitives): Creates fully independent copies. Changing one doesn't affect the other.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Reference Sharing (Objects): Two variables link to the same memory box. A change in one instantly hits the other!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Detaching (null): Cuts the variable's link to the memory address. Objects with no variables holding them are deleted by the Garbage Collector (GC).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Locking Address (final): Forbids assigning the variable to a new memory address. But beware: Data inside the object can still be modified.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Rounded Rectangle 137"/>
          <p:cNvSpPr/>
          <p:nvPr/>
        </p:nvSpPr>
        <p:spPr>
          <a:xfrm>
            <a:off x="450792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1" name="Rounded Rectangle 138"/>
          <p:cNvSpPr/>
          <p:nvPr/>
        </p:nvSpPr>
        <p:spPr>
          <a:xfrm>
            <a:off x="4485960" y="2976120"/>
            <a:ext cx="2829240" cy="2967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Reference Sharing &amp; Mutation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int[] a = {5};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[a] -----&gt; (Memory Box: { 5 })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int[] b = a;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[a] -----&gt; (Memory Box: { 5 })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[b] -----/ (Both point to same)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a[0] = 9;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(Memory Box is now { 9 })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Result: Printing b[0] outputs 9!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Rounded Rectangle 139"/>
          <p:cNvSpPr/>
          <p:nvPr/>
        </p:nvSpPr>
        <p:spPr>
          <a:xfrm>
            <a:off x="8028360" y="3182040"/>
            <a:ext cx="3284280" cy="27356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3" name="Rounded Rectangle 140"/>
          <p:cNvSpPr/>
          <p:nvPr/>
        </p:nvSpPr>
        <p:spPr>
          <a:xfrm>
            <a:off x="8001000" y="2514600"/>
            <a:ext cx="3425760" cy="3884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MemoryManagement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PRIMITIVE (Independent Copy)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10;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y = x;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y = 99; // x is unaffected, still 10!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REFERENCE (Shared Address)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int[] arrA = { 10 };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int[] arrB = arrA;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arrB[0] = 99; // arrA's content is also 99!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DETACHING (NULL)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arrA = null; // Cut the link for 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arrB still holds data, so it survives.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4. LOCKED ADDRESS (FINAL)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final int[] locked = { 5 };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locked = new int[]{ 1 }; // ERROR!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locked[0] = 7; // SUCCESS! Content changed.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Box 6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2026-05-25T00:13:51Z</dcterms:modified>
  <cp:revision>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