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Default Extension="jpeg" ContentType="image/jpeg"/>
  <Override PartName="/_rels/.rels" ContentType="application/vnd.openxmlformats-package.relationships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Masters/_rels/slideMaster1.xml.rels" ContentType="application/vnd.openxmlformats-package.relationships+xml"/>
  <Override PartName="/ppt/theme/theme1.xml" ContentType="application/vnd.openxmlformats-officedocument.theme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_rels/slideLayout1.xml.rels" ContentType="application/vnd.openxmlformats-package.relationships+xml"/>
  <Override PartName="/ppt/slideLayouts/_rels/slideLayout2.xml.rels" ContentType="application/vnd.openxmlformats-package.relationships+xml"/>
  <Override PartName="/ppt/slideLayouts/_rels/slideLayout3.xml.rels" ContentType="application/vnd.openxmlformats-package.relationships+xml"/>
  <Override PartName="/ppt/slideLayouts/_rels/slideLayout4.xml.rels" ContentType="application/vnd.openxmlformats-package.relationships+xml"/>
  <Override PartName="/ppt/slideLayouts/_rels/slideLayout5.xml.rels" ContentType="application/vnd.openxmlformats-package.relationships+xml"/>
  <Override PartName="/ppt/slideLayouts/_rels/slideLayout6.xml.rels" ContentType="application/vnd.openxmlformats-package.relationships+xml"/>
  <Override PartName="/ppt/slideLayouts/_rels/slideLayout7.xml.rels" ContentType="application/vnd.openxmlformats-package.relationships+xml"/>
  <Override PartName="/ppt/slideLayouts/_rels/slideLayout8.xml.rels" ContentType="application/vnd.openxmlformats-package.relationships+xml"/>
  <Override PartName="/ppt/slideLayouts/_rels/slideLayout9.xml.rels" ContentType="application/vnd.openxmlformats-package.relationships+xml"/>
  <Override PartName="/ppt/slideLayouts/_rels/slideLayout10.xml.rels" ContentType="application/vnd.openxmlformats-package.relationships+xml"/>
  <Override PartName="/ppt/slideLayouts/_rels/slideLayout11.xml.rels" ContentType="application/vnd.openxmlformats-package.relationships+xml"/>
  <Override PartName="/ppt/slideLayouts/_rels/slideLayout12.xml.rels" ContentType="application/vnd.openxmlformats-package.relationships+xml"/>
  <Override PartName="/ppt/_rels/presentation.xml.rels" ContentType="application/vnd.openxmlformats-package.relationshi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3.xml" ContentType="application/vnd.openxmlformats-officedocument.presentationml.slide+xml"/>
  <Override PartName="/ppt/slides/slide21.xml" ContentType="application/vnd.openxmlformats-officedocument.presentationml.slide+xml"/>
  <Override PartName="/ppt/slides/slide4.xml" ContentType="application/vnd.openxmlformats-officedocument.presentationml.slide+xml"/>
  <Override PartName="/ppt/slides/slide22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23.xml" ContentType="application/vnd.openxmlformats-officedocument.presentationml.slide+xml"/>
  <Override PartName="/ppt/slides/slide7.xml" ContentType="application/vnd.openxmlformats-officedocument.presentationml.slide+xml"/>
  <Override PartName="/ppt/slides/slide24.xml" ContentType="application/vnd.openxmlformats-officedocument.presentationml.slide+xml"/>
  <Override PartName="/ppt/slides/slide8.xml" ContentType="application/vnd.openxmlformats-officedocument.presentationml.slide+xml"/>
  <Override PartName="/ppt/slides/slide25.xml" ContentType="application/vnd.openxmlformats-officedocument.presentationml.slide+xml"/>
  <Override PartName="/ppt/slides/slide9.xml" ContentType="application/vnd.openxmlformats-officedocument.presentationml.slide+xml"/>
  <Override PartName="/ppt/slides/slide26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7.xml" ContentType="application/vnd.openxmlformats-officedocument.presentationml.slide+xml"/>
  <Override PartName="/ppt/slides/_rels/slide1.xml.rels" ContentType="application/vnd.openxmlformats-package.relationships+xml"/>
  <Override PartName="/ppt/slides/_rels/slide22.xml.rels" ContentType="application/vnd.openxmlformats-package.relationships+xml"/>
  <Override PartName="/ppt/slides/_rels/slide2.xml.rels" ContentType="application/vnd.openxmlformats-package.relationships+xml"/>
  <Override PartName="/ppt/slides/_rels/slide20.xml.rels" ContentType="application/vnd.openxmlformats-package.relationships+xml"/>
  <Override PartName="/ppt/slides/_rels/slide3.xml.rels" ContentType="application/vnd.openxmlformats-package.relationships+xml"/>
  <Override PartName="/ppt/slides/_rels/slide21.xml.rels" ContentType="application/vnd.openxmlformats-package.relationships+xml"/>
  <Override PartName="/ppt/slides/_rels/slide4.xml.rels" ContentType="application/vnd.openxmlformats-package.relationships+xml"/>
  <Override PartName="/ppt/slides/_rels/slide5.xml.rels" ContentType="application/vnd.openxmlformats-package.relationships+xml"/>
  <Override PartName="/ppt/slides/_rels/slide23.xml.rels" ContentType="application/vnd.openxmlformats-package.relationships+xml"/>
  <Override PartName="/ppt/slides/_rels/slide6.xml.rels" ContentType="application/vnd.openxmlformats-package.relationships+xml"/>
  <Override PartName="/ppt/slides/_rels/slide24.xml.rels" ContentType="application/vnd.openxmlformats-package.relationships+xml"/>
  <Override PartName="/ppt/slides/_rels/slide7.xml.rels" ContentType="application/vnd.openxmlformats-package.relationships+xml"/>
  <Override PartName="/ppt/slides/_rels/slide25.xml.rels" ContentType="application/vnd.openxmlformats-package.relationships+xml"/>
  <Override PartName="/ppt/slides/_rels/slide8.xml.rels" ContentType="application/vnd.openxmlformats-package.relationships+xml"/>
  <Override PartName="/ppt/slides/_rels/slide26.xml.rels" ContentType="application/vnd.openxmlformats-package.relationships+xml"/>
  <Override PartName="/ppt/slides/_rels/slide9.xml.rels" ContentType="application/vnd.openxmlformats-package.relationships+xml"/>
  <Override PartName="/ppt/slides/_rels/slide10.xml.rels" ContentType="application/vnd.openxmlformats-package.relationships+xml"/>
  <Override PartName="/ppt/slides/_rels/slide11.xml.rels" ContentType="application/vnd.openxmlformats-package.relationships+xml"/>
  <Override PartName="/ppt/slides/_rels/slide12.xml.rels" ContentType="application/vnd.openxmlformats-package.relationships+xml"/>
  <Override PartName="/ppt/slides/_rels/slide13.xml.rels" ContentType="application/vnd.openxmlformats-package.relationships+xml"/>
  <Override PartName="/ppt/slides/_rels/slide14.xml.rels" ContentType="application/vnd.openxmlformats-package.relationships+xml"/>
  <Override PartName="/ppt/slides/_rels/slide15.xml.rels" ContentType="application/vnd.openxmlformats-package.relationships+xml"/>
  <Override PartName="/ppt/slides/_rels/slide16.xml.rels" ContentType="application/vnd.openxmlformats-package.relationships+xml"/>
  <Override PartName="/ppt/slides/_rels/slide17.xml.rels" ContentType="application/vnd.openxmlformats-package.relationships+xml"/>
  <Override PartName="/ppt/slides/_rels/slide18.xml.rels" ContentType="application/vnd.openxmlformats-package.relationships+xml"/>
  <Override PartName="/ppt/slides/_rels/slide19.xml.rels" ContentType="application/vnd.openxmlformats-package.relationships+xml"/>
  <Override PartName="/ppt/slides/_rels/slide27.xml.rels" ContentType="application/vnd.openxmlformats-package.relationships+xml"/>
  <Override PartName="/ppt/presProps.xml" ContentType="application/vnd.openxmlformats-officedocument.presentationml.presProps+xml"/>
</Types>
</file>

<file path=_rels/.rels><?xml version="1.0" encoding="UTF-8"?>
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3" Type="http://schemas.openxmlformats.org/officeDocument/2006/relationships/custom-properties" Target="docProps/custom.xml"/><Relationship Id="rId4" Type="http://schemas.openxmlformats.org/officeDocument/2006/relationships/officeDocument" Target="ppt/presentation.xml"/>
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sldMasterIdLst>
    <p:sldMasterId id="2147483648" r:id="rId2"/>
  </p:sldMasterIdLst>
  <p:sldIdLst>
    <p:sldId id="256" r:id="rId3"/>
    <p:sldId id="257" r:id="rId4"/>
    <p:sldId id="258" r:id="rId5"/>
    <p:sldId id="259" r:id="rId6"/>
    <p:sldId id="260" r:id="rId7"/>
    <p:sldId id="261" r:id="rId8"/>
    <p:sldId id="262" r:id="rId9"/>
    <p:sldId id="263" r:id="rId10"/>
    <p:sldId id="264" r:id="rId11"/>
    <p:sldId id="265" r:id="rId12"/>
    <p:sldId id="266" r:id="rId13"/>
    <p:sldId id="267" r:id="rId14"/>
    <p:sldId id="268" r:id="rId15"/>
    <p:sldId id="269" r:id="rId16"/>
    <p:sldId id="270" r:id="rId17"/>
    <p:sldId id="271" r:id="rId18"/>
    <p:sldId id="272" r:id="rId19"/>
    <p:sldId id="273" r:id="rId20"/>
    <p:sldId id="274" r:id="rId21"/>
    <p:sldId id="275" r:id="rId22"/>
    <p:sldId id="276" r:id="rId23"/>
    <p:sldId id="277" r:id="rId24"/>
    <p:sldId id="278" r:id="rId25"/>
    <p:sldId id="279" r:id="rId26"/>
    <p:sldId id="280" r:id="rId27"/>
    <p:sldId id="281" r:id="rId28"/>
    <p:sldId id="282" r:id="rId29"/>
  </p:sldIdLst>
  <p:sldSz cx="10080625" cy="7559675"/>
  <p:notesSz cx="7772400" cy="10058400"/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/>
</p:presentationPr>
</file>

<file path=ppt/_rels/presentation.xml.rels><?xml version="1.0" encoding="UTF-8"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slideMaster" Target="slideMasters/slideMaster1.xml"/><Relationship Id="rId3" Type="http://schemas.openxmlformats.org/officeDocument/2006/relationships/slide" Target="slides/slide1.xml"/><Relationship Id="rId4" Type="http://schemas.openxmlformats.org/officeDocument/2006/relationships/slide" Target="slides/slide2.xml"/><Relationship Id="rId5" Type="http://schemas.openxmlformats.org/officeDocument/2006/relationships/slide" Target="slides/slide3.xml"/><Relationship Id="rId6" Type="http://schemas.openxmlformats.org/officeDocument/2006/relationships/slide" Target="slides/slide4.xml"/><Relationship Id="rId7" Type="http://schemas.openxmlformats.org/officeDocument/2006/relationships/slide" Target="slides/slide5.xml"/><Relationship Id="rId8" Type="http://schemas.openxmlformats.org/officeDocument/2006/relationships/slide" Target="slides/slide6.xml"/><Relationship Id="rId9" Type="http://schemas.openxmlformats.org/officeDocument/2006/relationships/slide" Target="slides/slide7.xml"/><Relationship Id="rId10" Type="http://schemas.openxmlformats.org/officeDocument/2006/relationships/slide" Target="slides/slide8.xml"/><Relationship Id="rId11" Type="http://schemas.openxmlformats.org/officeDocument/2006/relationships/slide" Target="slides/slide9.xml"/><Relationship Id="rId12" Type="http://schemas.openxmlformats.org/officeDocument/2006/relationships/slide" Target="slides/slide10.xml"/><Relationship Id="rId13" Type="http://schemas.openxmlformats.org/officeDocument/2006/relationships/slide" Target="slides/slide11.xml"/><Relationship Id="rId14" Type="http://schemas.openxmlformats.org/officeDocument/2006/relationships/slide" Target="slides/slide12.xml"/><Relationship Id="rId15" Type="http://schemas.openxmlformats.org/officeDocument/2006/relationships/slide" Target="slides/slide13.xml"/><Relationship Id="rId16" Type="http://schemas.openxmlformats.org/officeDocument/2006/relationships/slide" Target="slides/slide14.xml"/><Relationship Id="rId17" Type="http://schemas.openxmlformats.org/officeDocument/2006/relationships/slide" Target="slides/slide15.xml"/><Relationship Id="rId18" Type="http://schemas.openxmlformats.org/officeDocument/2006/relationships/slide" Target="slides/slide16.xml"/><Relationship Id="rId19" Type="http://schemas.openxmlformats.org/officeDocument/2006/relationships/slide" Target="slides/slide17.xml"/><Relationship Id="rId20" Type="http://schemas.openxmlformats.org/officeDocument/2006/relationships/slide" Target="slides/slide18.xml"/><Relationship Id="rId21" Type="http://schemas.openxmlformats.org/officeDocument/2006/relationships/slide" Target="slides/slide19.xml"/><Relationship Id="rId22" Type="http://schemas.openxmlformats.org/officeDocument/2006/relationships/slide" Target="slides/slide20.xml"/><Relationship Id="rId23" Type="http://schemas.openxmlformats.org/officeDocument/2006/relationships/slide" Target="slides/slide21.xml"/><Relationship Id="rId24" Type="http://schemas.openxmlformats.org/officeDocument/2006/relationships/slide" Target="slides/slide22.xml"/><Relationship Id="rId25" Type="http://schemas.openxmlformats.org/officeDocument/2006/relationships/slide" Target="slides/slide23.xml"/><Relationship Id="rId26" Type="http://schemas.openxmlformats.org/officeDocument/2006/relationships/slide" Target="slides/slide24.xml"/><Relationship Id="rId27" Type="http://schemas.openxmlformats.org/officeDocument/2006/relationships/slide" Target="slides/slide25.xml"/><Relationship Id="rId28" Type="http://schemas.openxmlformats.org/officeDocument/2006/relationships/slide" Target="slides/slide26.xml"/><Relationship Id="rId29" Type="http://schemas.openxmlformats.org/officeDocument/2006/relationships/slide" Target="slides/slide27.xml"/><Relationship Id="rId30" Type="http://schemas.openxmlformats.org/officeDocument/2006/relationships/presProps" Target="presProps.xml"/>
</Relationships>
</file>

<file path=ppt/slideLayouts/_rels/slideLayout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9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0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slideLayout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Blank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C0D50C7A-ABB5-4A64-95A5-B148380051E8}" type="slidenum">
              <a:t>&lt;#&gt;</a:t>
            </a:fld>
          </a:p>
        </p:txBody>
      </p:sp>
      <p:sp>
        <p:nvSpPr>
          <p:cNvPr id="4" name="PlaceHolder 3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x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PlaceHolder 1"/>
          <p:cNvSpPr>
            <a:spLocks noGrp="1"/>
          </p:cNvSpPr>
          <p:nvPr>
            <p:ph type="title"/>
          </p:nvPr>
        </p:nvSpPr>
        <p:spPr>
          <a:xfrm>
            <a:off x="504000" y="301320"/>
            <a:ext cx="9072000" cy="1261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2"/>
          <p:cNvSpPr>
            <a:spLocks noGrp="1"/>
          </p:cNvSpPr>
          <p:nvPr>
            <p:ph type="subTitle"/>
          </p:nvPr>
        </p:nvSpPr>
        <p:spPr>
          <a:xfrm>
            <a:off x="504000" y="1768680"/>
            <a:ext cx="9072000" cy="4384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05D1618D-4800-4798-B474-49D02389B864}" type="slidenum">
              <a:t>&lt;#&gt;</a:t>
            </a:fld>
          </a:p>
        </p:txBody>
      </p:sp>
      <p:sp>
        <p:nvSpPr>
          <p:cNvPr id="6" name="PlaceHolder 5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" preserve="1">
  <p:cSld name="Title,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PlaceHolder 1"/>
          <p:cNvSpPr>
            <a:spLocks noGrp="1"/>
          </p:cNvSpPr>
          <p:nvPr>
            <p:ph type="title"/>
          </p:nvPr>
        </p:nvSpPr>
        <p:spPr>
          <a:xfrm>
            <a:off x="504000" y="301320"/>
            <a:ext cx="9072000" cy="1261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" name="PlaceHolder 2"/>
          <p:cNvSpPr>
            <a:spLocks noGrp="1"/>
          </p:cNvSpPr>
          <p:nvPr>
            <p:ph/>
          </p:nvPr>
        </p:nvSpPr>
        <p:spPr>
          <a:xfrm>
            <a:off x="504000" y="1768680"/>
            <a:ext cx="9072000" cy="4384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606F730D-7D63-450B-9FB6-6C493708660B}" type="slidenum">
              <a:t>&lt;#&gt;</a:t>
            </a:fld>
          </a:p>
        </p:txBody>
      </p:sp>
      <p:sp>
        <p:nvSpPr>
          <p:cNvPr id="6" name="PlaceHolder 5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" preserve="1">
  <p:cSld name="Title,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PlaceHolder 1"/>
          <p:cNvSpPr>
            <a:spLocks noGrp="1"/>
          </p:cNvSpPr>
          <p:nvPr>
            <p:ph type="title"/>
          </p:nvPr>
        </p:nvSpPr>
        <p:spPr>
          <a:xfrm>
            <a:off x="504000" y="301320"/>
            <a:ext cx="9072000" cy="1261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" name="PlaceHolder 2"/>
          <p:cNvSpPr>
            <a:spLocks noGrp="1"/>
          </p:cNvSpPr>
          <p:nvPr>
            <p:ph/>
          </p:nvPr>
        </p:nvSpPr>
        <p:spPr>
          <a:xfrm>
            <a:off x="504000" y="1768680"/>
            <a:ext cx="4426920" cy="4384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" name="PlaceHolder 3"/>
          <p:cNvSpPr>
            <a:spLocks noGrp="1"/>
          </p:cNvSpPr>
          <p:nvPr>
            <p:ph/>
          </p:nvPr>
        </p:nvSpPr>
        <p:spPr>
          <a:xfrm>
            <a:off x="5152680" y="1768680"/>
            <a:ext cx="4426920" cy="4384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6" name="PlaceHolder 5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15B856AA-F207-48C8-8B21-310737A2F9DD}" type="slidenum">
              <a:t>&lt;#&gt;</a:t>
            </a:fld>
          </a:p>
        </p:txBody>
      </p:sp>
      <p:sp>
        <p:nvSpPr>
          <p:cNvPr id="7" name="PlaceHolder 6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PlaceHolder 1"/>
          <p:cNvSpPr>
            <a:spLocks noGrp="1"/>
          </p:cNvSpPr>
          <p:nvPr>
            <p:ph type="title"/>
          </p:nvPr>
        </p:nvSpPr>
        <p:spPr>
          <a:xfrm>
            <a:off x="504000" y="301320"/>
            <a:ext cx="9072000" cy="1261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4" name="PlaceHolder 3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01FF001A-E05E-487D-929E-27EFB243F147}" type="slidenum">
              <a:t>&lt;#&gt;</a:t>
            </a:fld>
          </a:p>
        </p:txBody>
      </p:sp>
      <p:sp>
        <p:nvSpPr>
          <p:cNvPr id="5" name="PlaceHolder 4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nly" preserve="1">
  <p:cSld name="Centere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PlaceHolder 1"/>
          <p:cNvSpPr>
            <a:spLocks noGrp="1"/>
          </p:cNvSpPr>
          <p:nvPr>
            <p:ph type="subTitle"/>
          </p:nvPr>
        </p:nvSpPr>
        <p:spPr>
          <a:xfrm>
            <a:off x="504000" y="301320"/>
            <a:ext cx="9072000" cy="58503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/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4" name="PlaceHolder 3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73CF4A8D-A4EF-40A6-BBAA-E6E645DCC6F9}" type="slidenum">
              <a:t>&lt;#&gt;</a:t>
            </a:fld>
          </a:p>
        </p:txBody>
      </p:sp>
      <p:sp>
        <p:nvSpPr>
          <p:cNvPr id="5" name="PlaceHolder 4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7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AndObj" preserve="1">
  <p:cSld name="Title, 2 Content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PlaceHolder 1"/>
          <p:cNvSpPr>
            <a:spLocks noGrp="1"/>
          </p:cNvSpPr>
          <p:nvPr>
            <p:ph type="title"/>
          </p:nvPr>
        </p:nvSpPr>
        <p:spPr>
          <a:xfrm>
            <a:off x="504000" y="301320"/>
            <a:ext cx="9072000" cy="1261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" name="PlaceHolder 2"/>
          <p:cNvSpPr>
            <a:spLocks noGrp="1"/>
          </p:cNvSpPr>
          <p:nvPr>
            <p:ph/>
          </p:nvPr>
        </p:nvSpPr>
        <p:spPr>
          <a:xfrm>
            <a:off x="504000" y="1768680"/>
            <a:ext cx="4426920" cy="2090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" name="PlaceHolder 3"/>
          <p:cNvSpPr>
            <a:spLocks noGrp="1"/>
          </p:cNvSpPr>
          <p:nvPr>
            <p:ph/>
          </p:nvPr>
        </p:nvSpPr>
        <p:spPr>
          <a:xfrm>
            <a:off x="5152680" y="1768680"/>
            <a:ext cx="4426920" cy="4384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" name="PlaceHolder 4"/>
          <p:cNvSpPr>
            <a:spLocks noGrp="1"/>
          </p:cNvSpPr>
          <p:nvPr>
            <p:ph/>
          </p:nvPr>
        </p:nvSpPr>
        <p:spPr>
          <a:xfrm>
            <a:off x="504000" y="4058640"/>
            <a:ext cx="4426920" cy="2090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AB6D9D97-2714-416B-B16B-82FA9B5749CC}" type="slidenum">
              <a:t>&lt;#&gt;</a:t>
            </a:fld>
          </a:p>
        </p:txBody>
      </p:sp>
      <p:sp>
        <p:nvSpPr>
          <p:cNvPr id="8" name="PlaceHolder 7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8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AndTwoObj" preserve="1">
  <p:cSld name="Title Content and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PlaceHolder 1"/>
          <p:cNvSpPr>
            <a:spLocks noGrp="1"/>
          </p:cNvSpPr>
          <p:nvPr>
            <p:ph type="title"/>
          </p:nvPr>
        </p:nvSpPr>
        <p:spPr>
          <a:xfrm>
            <a:off x="504000" y="301320"/>
            <a:ext cx="9072000" cy="1261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9" name="PlaceHolder 2"/>
          <p:cNvSpPr>
            <a:spLocks noGrp="1"/>
          </p:cNvSpPr>
          <p:nvPr>
            <p:ph/>
          </p:nvPr>
        </p:nvSpPr>
        <p:spPr>
          <a:xfrm>
            <a:off x="504000" y="1768680"/>
            <a:ext cx="4426920" cy="4384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0" name="PlaceHolder 3"/>
          <p:cNvSpPr>
            <a:spLocks noGrp="1"/>
          </p:cNvSpPr>
          <p:nvPr>
            <p:ph/>
          </p:nvPr>
        </p:nvSpPr>
        <p:spPr>
          <a:xfrm>
            <a:off x="5152680" y="1768680"/>
            <a:ext cx="4426920" cy="2090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1" name="PlaceHolder 4"/>
          <p:cNvSpPr>
            <a:spLocks noGrp="1"/>
          </p:cNvSpPr>
          <p:nvPr>
            <p:ph/>
          </p:nvPr>
        </p:nvSpPr>
        <p:spPr>
          <a:xfrm>
            <a:off x="5152680" y="4058640"/>
            <a:ext cx="4426920" cy="2090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465E0360-58C3-47F7-8DA4-A79869D994BF}" type="slidenum">
              <a:t>&lt;#&gt;</a:t>
            </a:fld>
          </a:p>
        </p:txBody>
      </p:sp>
      <p:sp>
        <p:nvSpPr>
          <p:cNvPr id="8" name="PlaceHolder 7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9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OverTx" preserve="1">
  <p:cSld name="Title, 2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PlaceHolder 1"/>
          <p:cNvSpPr>
            <a:spLocks noGrp="1"/>
          </p:cNvSpPr>
          <p:nvPr>
            <p:ph type="title"/>
          </p:nvPr>
        </p:nvSpPr>
        <p:spPr>
          <a:xfrm>
            <a:off x="504000" y="301320"/>
            <a:ext cx="9072000" cy="1261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3" name="PlaceHolder 2"/>
          <p:cNvSpPr>
            <a:spLocks noGrp="1"/>
          </p:cNvSpPr>
          <p:nvPr>
            <p:ph/>
          </p:nvPr>
        </p:nvSpPr>
        <p:spPr>
          <a:xfrm>
            <a:off x="504000" y="1768680"/>
            <a:ext cx="4426920" cy="2090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4" name="PlaceHolder 3"/>
          <p:cNvSpPr>
            <a:spLocks noGrp="1"/>
          </p:cNvSpPr>
          <p:nvPr>
            <p:ph/>
          </p:nvPr>
        </p:nvSpPr>
        <p:spPr>
          <a:xfrm>
            <a:off x="5152680" y="1768680"/>
            <a:ext cx="4426920" cy="2090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5" name="PlaceHolder 4"/>
          <p:cNvSpPr>
            <a:spLocks noGrp="1"/>
          </p:cNvSpPr>
          <p:nvPr>
            <p:ph/>
          </p:nvPr>
        </p:nvSpPr>
        <p:spPr>
          <a:xfrm>
            <a:off x="504000" y="4058640"/>
            <a:ext cx="9072000" cy="2090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B256B3CB-60B6-4129-A274-18D01E8AD5C5}" type="slidenum">
              <a:t>&lt;#&gt;</a:t>
            </a:fld>
          </a:p>
        </p:txBody>
      </p:sp>
      <p:sp>
        <p:nvSpPr>
          <p:cNvPr id="8" name="PlaceHolder 7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0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verTx" preserve="1">
  <p:cSld name="Title,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PlaceHolder 1"/>
          <p:cNvSpPr>
            <a:spLocks noGrp="1"/>
          </p:cNvSpPr>
          <p:nvPr>
            <p:ph type="title"/>
          </p:nvPr>
        </p:nvSpPr>
        <p:spPr>
          <a:xfrm>
            <a:off x="504000" y="301320"/>
            <a:ext cx="9072000" cy="1261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7" name="PlaceHolder 2"/>
          <p:cNvSpPr>
            <a:spLocks noGrp="1"/>
          </p:cNvSpPr>
          <p:nvPr>
            <p:ph/>
          </p:nvPr>
        </p:nvSpPr>
        <p:spPr>
          <a:xfrm>
            <a:off x="504000" y="1768680"/>
            <a:ext cx="9072000" cy="2090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8" name="PlaceHolder 3"/>
          <p:cNvSpPr>
            <a:spLocks noGrp="1"/>
          </p:cNvSpPr>
          <p:nvPr>
            <p:ph/>
          </p:nvPr>
        </p:nvSpPr>
        <p:spPr>
          <a:xfrm>
            <a:off x="504000" y="4058640"/>
            <a:ext cx="9072000" cy="2090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6" name="PlaceHolder 5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3CCB8FE8-ABCA-411B-9E06-94734558E2F5}" type="slidenum">
              <a:t>&lt;#&gt;</a:t>
            </a:fld>
          </a:p>
        </p:txBody>
      </p:sp>
      <p:sp>
        <p:nvSpPr>
          <p:cNvPr id="7" name="PlaceHolder 6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fourObj" preserve="1">
  <p:cSld name="Title, 4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PlaceHolder 1"/>
          <p:cNvSpPr>
            <a:spLocks noGrp="1"/>
          </p:cNvSpPr>
          <p:nvPr>
            <p:ph type="title"/>
          </p:nvPr>
        </p:nvSpPr>
        <p:spPr>
          <a:xfrm>
            <a:off x="504000" y="301320"/>
            <a:ext cx="9072000" cy="1261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0" name="PlaceHolder 2"/>
          <p:cNvSpPr>
            <a:spLocks noGrp="1"/>
          </p:cNvSpPr>
          <p:nvPr>
            <p:ph/>
          </p:nvPr>
        </p:nvSpPr>
        <p:spPr>
          <a:xfrm>
            <a:off x="504000" y="1768680"/>
            <a:ext cx="4426920" cy="2090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1" name="PlaceHolder 3"/>
          <p:cNvSpPr>
            <a:spLocks noGrp="1"/>
          </p:cNvSpPr>
          <p:nvPr>
            <p:ph/>
          </p:nvPr>
        </p:nvSpPr>
        <p:spPr>
          <a:xfrm>
            <a:off x="5152680" y="1768680"/>
            <a:ext cx="4426920" cy="2090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2" name="PlaceHolder 4"/>
          <p:cNvSpPr>
            <a:spLocks noGrp="1"/>
          </p:cNvSpPr>
          <p:nvPr>
            <p:ph/>
          </p:nvPr>
        </p:nvSpPr>
        <p:spPr>
          <a:xfrm>
            <a:off x="504000" y="4058640"/>
            <a:ext cx="4426920" cy="2090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3" name="PlaceHolder 5"/>
          <p:cNvSpPr>
            <a:spLocks noGrp="1"/>
          </p:cNvSpPr>
          <p:nvPr>
            <p:ph/>
          </p:nvPr>
        </p:nvSpPr>
        <p:spPr>
          <a:xfrm>
            <a:off x="5152680" y="4058640"/>
            <a:ext cx="4426920" cy="2090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" name="PlaceHolder 6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8" name="PlaceHolder 7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0BC5DAA2-69CD-4945-808C-16F28A2995BF}" type="slidenum">
              <a:t>&lt;#&gt;</a:t>
            </a:fld>
          </a:p>
        </p:txBody>
      </p:sp>
      <p:sp>
        <p:nvSpPr>
          <p:cNvPr id="9" name="PlaceHolder 8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Title, 6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PlaceHolder 1"/>
          <p:cNvSpPr>
            <a:spLocks noGrp="1"/>
          </p:cNvSpPr>
          <p:nvPr>
            <p:ph type="title"/>
          </p:nvPr>
        </p:nvSpPr>
        <p:spPr>
          <a:xfrm>
            <a:off x="504000" y="301320"/>
            <a:ext cx="9072000" cy="1261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5" name="PlaceHolder 2"/>
          <p:cNvSpPr>
            <a:spLocks noGrp="1"/>
          </p:cNvSpPr>
          <p:nvPr>
            <p:ph/>
          </p:nvPr>
        </p:nvSpPr>
        <p:spPr>
          <a:xfrm>
            <a:off x="504000" y="1768680"/>
            <a:ext cx="2921040" cy="2090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6" name="PlaceHolder 3"/>
          <p:cNvSpPr>
            <a:spLocks noGrp="1"/>
          </p:cNvSpPr>
          <p:nvPr>
            <p:ph/>
          </p:nvPr>
        </p:nvSpPr>
        <p:spPr>
          <a:xfrm>
            <a:off x="3571560" y="1768680"/>
            <a:ext cx="2921040" cy="2090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7" name="PlaceHolder 4"/>
          <p:cNvSpPr>
            <a:spLocks noGrp="1"/>
          </p:cNvSpPr>
          <p:nvPr>
            <p:ph/>
          </p:nvPr>
        </p:nvSpPr>
        <p:spPr>
          <a:xfrm>
            <a:off x="6639120" y="1768680"/>
            <a:ext cx="2921040" cy="2090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8" name="PlaceHolder 5"/>
          <p:cNvSpPr>
            <a:spLocks noGrp="1"/>
          </p:cNvSpPr>
          <p:nvPr>
            <p:ph/>
          </p:nvPr>
        </p:nvSpPr>
        <p:spPr>
          <a:xfrm>
            <a:off x="504000" y="4058640"/>
            <a:ext cx="2921040" cy="2090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9" name="PlaceHolder 6"/>
          <p:cNvSpPr>
            <a:spLocks noGrp="1"/>
          </p:cNvSpPr>
          <p:nvPr>
            <p:ph/>
          </p:nvPr>
        </p:nvSpPr>
        <p:spPr>
          <a:xfrm>
            <a:off x="3571560" y="4058640"/>
            <a:ext cx="2921040" cy="2090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0" name="PlaceHolder 7"/>
          <p:cNvSpPr>
            <a:spLocks noGrp="1"/>
          </p:cNvSpPr>
          <p:nvPr>
            <p:ph/>
          </p:nvPr>
        </p:nvSpPr>
        <p:spPr>
          <a:xfrm>
            <a:off x="6639120" y="4058640"/>
            <a:ext cx="2921040" cy="2090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" name="PlaceHolder 8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10" name="PlaceHolder 9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F84185AE-1FF5-444A-9A43-348E1CD33ABF}" type="slidenum">
              <a:t>&lt;#&gt;</a:t>
            </a:fld>
          </a:p>
        </p:txBody>
      </p:sp>
      <p:sp>
        <p:nvSpPr>
          <p:cNvPr id="11" name="PlaceHolder 10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Masters/_rels/slideMaster1.xml.rels><?xml version="1.0" encoding="UTF-8"?>
<Relationships xmlns="http://schemas.openxmlformats.org/package/2006/relationships"><Relationship Id="rId1" Type="http://schemas.openxmlformats.org/officeDocument/2006/relationships/theme" Target="../theme/theme1.xml"/><Relationship Id="rId2" Type="http://schemas.openxmlformats.org/officeDocument/2006/relationships/slideLayout" Target="../slideLayouts/slideLayout1.xml"/><Relationship Id="rId3" Type="http://schemas.openxmlformats.org/officeDocument/2006/relationships/slideLayout" Target="../slideLayouts/slideLayout2.xml"/><Relationship Id="rId4" Type="http://schemas.openxmlformats.org/officeDocument/2006/relationships/slideLayout" Target="../slideLayouts/slideLayout3.xml"/><Relationship Id="rId5" Type="http://schemas.openxmlformats.org/officeDocument/2006/relationships/slideLayout" Target="../slideLayouts/slideLayout4.xml"/><Relationship Id="rId6" Type="http://schemas.openxmlformats.org/officeDocument/2006/relationships/slideLayout" Target="../slideLayouts/slideLayout5.xml"/><Relationship Id="rId7" Type="http://schemas.openxmlformats.org/officeDocument/2006/relationships/slideLayout" Target="../slideLayouts/slideLayout6.xml"/><Relationship Id="rId8" Type="http://schemas.openxmlformats.org/officeDocument/2006/relationships/slideLayout" Target="../slideLayouts/slideLayout7.xml"/><Relationship Id="rId9" Type="http://schemas.openxmlformats.org/officeDocument/2006/relationships/slideLayout" Target="../slideLayouts/slideLayout8.xml"/><Relationship Id="rId10" Type="http://schemas.openxmlformats.org/officeDocument/2006/relationships/slideLayout" Target="../slideLayouts/slideLayout9.xml"/><Relationship Id="rId11" Type="http://schemas.openxmlformats.org/officeDocument/2006/relationships/slideLayout" Target="../slideLayouts/slideLayout10.xml"/><Relationship Id="rId12" Type="http://schemas.openxmlformats.org/officeDocument/2006/relationships/slideLayout" Target="../slideLayouts/slideLayout11.xml"/><Relationship Id="rId13" Type="http://schemas.openxmlformats.org/officeDocument/2006/relationships/slideLayout" Target="../slideLayouts/slideLayout12.xml"/>
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0" name="PlaceHolder 1"/>
          <p:cNvSpPr>
            <a:spLocks noGrp="1"/>
          </p:cNvSpPr>
          <p:nvPr>
            <p:ph type="ftr" idx="1"/>
          </p:nvPr>
        </p:nvSpPr>
        <p:spPr>
          <a:xfrm>
            <a:off x="3442320" y="7005240"/>
            <a:ext cx="3182760" cy="39312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&lt;footer&gt;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" name="PlaceHolder 2"/>
          <p:cNvSpPr>
            <a:spLocks noGrp="1"/>
          </p:cNvSpPr>
          <p:nvPr>
            <p:ph type="sldNum" idx="2"/>
          </p:nvPr>
        </p:nvSpPr>
        <p:spPr>
          <a:xfrm>
            <a:off x="7223040" y="7005240"/>
            <a:ext cx="2343240" cy="39312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n-US" sz="1200" spc="-1" strike="noStrike">
                <a:solidFill>
                  <a:srgbClr val="8b8b8b"/>
                </a:solidFill>
                <a:latin typeface="Calibri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3EFDFCB8-3B84-41D7-ACEA-B54CC527425E}" type="slidenum">
              <a:rPr b="0" lang="en-US" sz="1200" spc="-1" strike="noStrike">
                <a:solidFill>
                  <a:srgbClr val="8b8b8b"/>
                </a:solidFill>
                <a:latin typeface="Calibri"/>
              </a:rPr>
              <a:t>&lt;number&gt;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" name="PlaceHolder 3"/>
          <p:cNvSpPr>
            <a:spLocks noGrp="1"/>
          </p:cNvSpPr>
          <p:nvPr>
            <p:ph type="dt" idx="3"/>
          </p:nvPr>
        </p:nvSpPr>
        <p:spPr>
          <a:xfrm>
            <a:off x="502920" y="7005240"/>
            <a:ext cx="2343240" cy="39312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indent="0">
              <a:buNone/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>
              <a:buNone/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&lt;date/time&gt;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" name="PlaceHolder 4"/>
          <p:cNvSpPr>
            <a:spLocks noGrp="1"/>
          </p:cNvSpPr>
          <p:nvPr>
            <p:ph type="title"/>
          </p:nvPr>
        </p:nvSpPr>
        <p:spPr>
          <a:xfrm>
            <a:off x="504000" y="301320"/>
            <a:ext cx="9072000" cy="1261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r>
              <a:rPr b="0" lang="en-US" sz="4400" spc="-1" strike="noStrike">
                <a:solidFill>
                  <a:srgbClr val="000000"/>
                </a:solidFill>
                <a:latin typeface="Arial"/>
              </a:rPr>
              <a:t>Click to edit the title text format</a:t>
            </a: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" name="PlaceHolder 5"/>
          <p:cNvSpPr>
            <a:spLocks noGrp="1"/>
          </p:cNvSpPr>
          <p:nvPr>
            <p:ph type="body"/>
          </p:nvPr>
        </p:nvSpPr>
        <p:spPr>
          <a:xfrm>
            <a:off x="504000" y="1768680"/>
            <a:ext cx="9072000" cy="4384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3200" spc="-1" strike="noStrike">
                <a:solidFill>
                  <a:srgbClr val="000000"/>
                </a:solidFill>
                <a:latin typeface="Arial"/>
              </a:rPr>
              <a:t>Click to edit the outline text format</a:t>
            </a: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800" spc="-1" strike="noStrike">
                <a:solidFill>
                  <a:srgbClr val="000000"/>
                </a:solidFill>
                <a:latin typeface="Arial"/>
              </a:rPr>
              <a:t>Second Outline Level</a:t>
            </a:r>
            <a:endParaRPr b="0" lang="en-US" sz="2800" spc="-1" strike="noStrike">
              <a:solidFill>
                <a:srgbClr val="000000"/>
              </a:solidFill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400" spc="-1" strike="noStrike">
                <a:solidFill>
                  <a:srgbClr val="000000"/>
                </a:solidFill>
                <a:latin typeface="Arial"/>
              </a:rPr>
              <a:t>Third Outline Level</a:t>
            </a:r>
            <a:endParaRPr b="0" lang="en-US" sz="2400" spc="-1" strike="noStrike">
              <a:solidFill>
                <a:srgbClr val="000000"/>
              </a:solidFill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Fourth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Fifth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Sixth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Seventh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  <p:sldLayoutId id="2147483660" r:id="rId13"/>
  </p:sldLayoutIdLst>
</p:sldMaster>
</file>

<file path=ppt/slides/_rels/slide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4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5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6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7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8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9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10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1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1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1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14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15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16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17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18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19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20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2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2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2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24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25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26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27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" name="Rectangle 1"/>
          <p:cNvSpPr/>
          <p:nvPr/>
        </p:nvSpPr>
        <p:spPr>
          <a:xfrm>
            <a:off x="1440" y="1800"/>
            <a:ext cx="13427640" cy="7551000"/>
          </a:xfrm>
          <a:prstGeom prst="rect">
            <a:avLst/>
          </a:prstGeom>
          <a:solidFill>
            <a:srgbClr val="0b0b0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2" name="Rectangle 2"/>
          <p:cNvSpPr/>
          <p:nvPr/>
        </p:nvSpPr>
        <p:spPr>
          <a:xfrm>
            <a:off x="1440" y="1800"/>
            <a:ext cx="11880" cy="75510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3" name="Rectangle 3"/>
          <p:cNvSpPr/>
          <p:nvPr/>
        </p:nvSpPr>
        <p:spPr>
          <a:xfrm>
            <a:off x="1005480" y="1800"/>
            <a:ext cx="11880" cy="75510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4" name="Rectangle 4"/>
          <p:cNvSpPr/>
          <p:nvPr/>
        </p:nvSpPr>
        <p:spPr>
          <a:xfrm>
            <a:off x="2013480" y="1800"/>
            <a:ext cx="11880" cy="75510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5" name="Rectangle 5"/>
          <p:cNvSpPr/>
          <p:nvPr/>
        </p:nvSpPr>
        <p:spPr>
          <a:xfrm>
            <a:off x="3021480" y="1800"/>
            <a:ext cx="11880" cy="75510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6" name="Rectangle 6"/>
          <p:cNvSpPr/>
          <p:nvPr/>
        </p:nvSpPr>
        <p:spPr>
          <a:xfrm>
            <a:off x="4029480" y="1800"/>
            <a:ext cx="11880" cy="75510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7" name="Rectangle 7"/>
          <p:cNvSpPr/>
          <p:nvPr/>
        </p:nvSpPr>
        <p:spPr>
          <a:xfrm>
            <a:off x="5037480" y="1800"/>
            <a:ext cx="11880" cy="75510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8" name="Rectangle 8"/>
          <p:cNvSpPr/>
          <p:nvPr/>
        </p:nvSpPr>
        <p:spPr>
          <a:xfrm>
            <a:off x="6045480" y="1800"/>
            <a:ext cx="11880" cy="75510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9" name="Rectangle 9"/>
          <p:cNvSpPr/>
          <p:nvPr/>
        </p:nvSpPr>
        <p:spPr>
          <a:xfrm>
            <a:off x="7053480" y="1800"/>
            <a:ext cx="11880" cy="75510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0" name="Rectangle 10"/>
          <p:cNvSpPr/>
          <p:nvPr/>
        </p:nvSpPr>
        <p:spPr>
          <a:xfrm>
            <a:off x="8061480" y="1800"/>
            <a:ext cx="11880" cy="75510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1" name="Rectangle 11"/>
          <p:cNvSpPr/>
          <p:nvPr/>
        </p:nvSpPr>
        <p:spPr>
          <a:xfrm>
            <a:off x="9069480" y="1800"/>
            <a:ext cx="11880" cy="75510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2" name="Rectangle 12"/>
          <p:cNvSpPr/>
          <p:nvPr/>
        </p:nvSpPr>
        <p:spPr>
          <a:xfrm>
            <a:off x="10077480" y="1800"/>
            <a:ext cx="11880" cy="75510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3" name="Rectangle 13"/>
          <p:cNvSpPr/>
          <p:nvPr/>
        </p:nvSpPr>
        <p:spPr>
          <a:xfrm>
            <a:off x="11085480" y="1800"/>
            <a:ext cx="11880" cy="75510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4" name="Rectangle 14"/>
          <p:cNvSpPr/>
          <p:nvPr/>
        </p:nvSpPr>
        <p:spPr>
          <a:xfrm>
            <a:off x="12093480" y="1800"/>
            <a:ext cx="11880" cy="75510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5" name="Rectangle 15"/>
          <p:cNvSpPr/>
          <p:nvPr/>
        </p:nvSpPr>
        <p:spPr>
          <a:xfrm>
            <a:off x="13101480" y="1800"/>
            <a:ext cx="11880" cy="75510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6" name="Rectangle 16"/>
          <p:cNvSpPr/>
          <p:nvPr/>
        </p:nvSpPr>
        <p:spPr>
          <a:xfrm>
            <a:off x="1440" y="1800"/>
            <a:ext cx="343800" cy="7551000"/>
          </a:xfrm>
          <a:prstGeom prst="rect">
            <a:avLst/>
          </a:prstGeom>
          <a:solidFill>
            <a:srgbClr val="ff8c0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7" name="Rounded Rectangle 17"/>
          <p:cNvSpPr/>
          <p:nvPr/>
        </p:nvSpPr>
        <p:spPr>
          <a:xfrm>
            <a:off x="10884960" y="401400"/>
            <a:ext cx="2208240" cy="544320"/>
          </a:xfrm>
          <a:prstGeom prst="roundRect">
            <a:avLst>
              <a:gd name="adj" fmla="val 16667"/>
            </a:avLst>
          </a:prstGeom>
          <a:solidFill>
            <a:srgbClr val="1e1e24"/>
          </a:solidFill>
          <a:ln>
            <a:solidFill>
              <a:srgbClr val="ff8c0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1" lang="en-US" sz="1400" spc="-1" strike="noStrike">
                <a:solidFill>
                  <a:srgbClr val="ffb45a"/>
                </a:solidFill>
                <a:latin typeface="Calibri"/>
                <a:ea typeface="DejaVu Sans"/>
              </a:rPr>
              <a:t>JAVA CORE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8" name="TextBox 18"/>
          <p:cNvSpPr/>
          <p:nvPr/>
        </p:nvSpPr>
        <p:spPr>
          <a:xfrm>
            <a:off x="4376880" y="1107000"/>
            <a:ext cx="3334320" cy="820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en-US" sz="4800" spc="-1" strike="noStrike">
                <a:solidFill>
                  <a:srgbClr val="f5f5f5"/>
                </a:solidFill>
                <a:latin typeface="Calibri"/>
                <a:ea typeface="DejaVu Sans"/>
              </a:rPr>
              <a:t>Introduction</a:t>
            </a:r>
            <a:endParaRPr b="0" lang="en-US" sz="4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9" name="TextBox 19"/>
          <p:cNvSpPr/>
          <p:nvPr/>
        </p:nvSpPr>
        <p:spPr>
          <a:xfrm>
            <a:off x="1824120" y="2266200"/>
            <a:ext cx="9095040" cy="668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900" spc="-1" strike="noStrike">
                <a:solidFill>
                  <a:srgbClr val="aaaaaa"/>
                </a:solidFill>
                <a:latin typeface="Calibri"/>
                <a:ea typeface="DejaVu Sans"/>
              </a:rPr>
              <a:t>An overview of the Java programming language and the topics covered in this presentation.</a:t>
            </a:r>
            <a:endParaRPr b="0" lang="en-US" sz="1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0" name="Rounded Rectangle 20"/>
          <p:cNvSpPr/>
          <p:nvPr/>
        </p:nvSpPr>
        <p:spPr>
          <a:xfrm>
            <a:off x="1086840" y="3506040"/>
            <a:ext cx="3619800" cy="301500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1" name="Rounded Rectangle 21"/>
          <p:cNvSpPr/>
          <p:nvPr/>
        </p:nvSpPr>
        <p:spPr>
          <a:xfrm>
            <a:off x="1006560" y="3425760"/>
            <a:ext cx="3620160" cy="301536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• </a:t>
            </a: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Introduce the Java programming language  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• </a:t>
            </a: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Explain core concepts and fundamentals  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• </a:t>
            </a: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Build a strong foundation for Java development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62" name="Rounded Rectangle 22"/>
          <p:cNvSpPr/>
          <p:nvPr/>
        </p:nvSpPr>
        <p:spPr>
          <a:xfrm>
            <a:off x="4968360" y="3506040"/>
            <a:ext cx="3619800" cy="301500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3" name="Rounded Rectangle 23"/>
          <p:cNvSpPr/>
          <p:nvPr/>
        </p:nvSpPr>
        <p:spPr>
          <a:xfrm>
            <a:off x="4886640" y="3425760"/>
            <a:ext cx="3620160" cy="301536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            </a:t>
            </a: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Introduction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                    ↓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            </a:t>
            </a: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What is Java?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                    ↓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            </a:t>
            </a: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What Will You Learn?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                    ↓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               </a:t>
            </a: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Java History</a:t>
            </a:r>
            <a:br>
              <a:rPr sz="1800"/>
            </a:b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	</a:t>
            </a: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...more!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64" name="Rounded Rectangle 24"/>
          <p:cNvSpPr/>
          <p:nvPr/>
        </p:nvSpPr>
        <p:spPr>
          <a:xfrm>
            <a:off x="8849160" y="3506040"/>
            <a:ext cx="3619800" cy="301500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5" name="Rounded Rectangle 25"/>
          <p:cNvSpPr/>
          <p:nvPr/>
        </p:nvSpPr>
        <p:spPr>
          <a:xfrm>
            <a:off x="8767440" y="3425760"/>
            <a:ext cx="3620160" cy="301536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0" lang="en-US" sz="2000" spc="-1" strike="noStrike">
                <a:solidFill>
                  <a:srgbClr val="78ffc8"/>
                </a:solidFill>
                <a:latin typeface="Consolas"/>
                <a:ea typeface="DejaVu Sans"/>
              </a:rPr>
              <a:t>Introduction for Java</a:t>
            </a: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66" name="TextBox 26"/>
          <p:cNvSpPr/>
          <p:nvPr/>
        </p:nvSpPr>
        <p:spPr>
          <a:xfrm>
            <a:off x="5224320" y="7104600"/>
            <a:ext cx="305100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Java • Ultra Premium Template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Rectangle 32"/>
          <p:cNvSpPr/>
          <p:nvPr/>
        </p:nvSpPr>
        <p:spPr>
          <a:xfrm>
            <a:off x="1440" y="1800"/>
            <a:ext cx="13427640" cy="7551000"/>
          </a:xfrm>
          <a:prstGeom prst="rect">
            <a:avLst/>
          </a:prstGeom>
          <a:solidFill>
            <a:srgbClr val="0b0b0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8" name="Rectangle 33"/>
          <p:cNvSpPr/>
          <p:nvPr/>
        </p:nvSpPr>
        <p:spPr>
          <a:xfrm>
            <a:off x="1440" y="1800"/>
            <a:ext cx="11880" cy="75510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9" name="Rectangle 34"/>
          <p:cNvSpPr/>
          <p:nvPr/>
        </p:nvSpPr>
        <p:spPr>
          <a:xfrm>
            <a:off x="1005480" y="1800"/>
            <a:ext cx="11880" cy="75510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0" name="Rectangle 35"/>
          <p:cNvSpPr/>
          <p:nvPr/>
        </p:nvSpPr>
        <p:spPr>
          <a:xfrm>
            <a:off x="2013480" y="1800"/>
            <a:ext cx="11880" cy="75510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1" name="Rectangle 36"/>
          <p:cNvSpPr/>
          <p:nvPr/>
        </p:nvSpPr>
        <p:spPr>
          <a:xfrm>
            <a:off x="3021480" y="1800"/>
            <a:ext cx="11880" cy="75510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2" name="Rectangle 37"/>
          <p:cNvSpPr/>
          <p:nvPr/>
        </p:nvSpPr>
        <p:spPr>
          <a:xfrm>
            <a:off x="4029480" y="1800"/>
            <a:ext cx="11880" cy="75510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3" name="Rectangle 38"/>
          <p:cNvSpPr/>
          <p:nvPr/>
        </p:nvSpPr>
        <p:spPr>
          <a:xfrm>
            <a:off x="5037480" y="1800"/>
            <a:ext cx="11880" cy="75510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4" name="Rectangle 39"/>
          <p:cNvSpPr/>
          <p:nvPr/>
        </p:nvSpPr>
        <p:spPr>
          <a:xfrm>
            <a:off x="6045480" y="1800"/>
            <a:ext cx="11880" cy="75510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5" name="Rectangle 40"/>
          <p:cNvSpPr/>
          <p:nvPr/>
        </p:nvSpPr>
        <p:spPr>
          <a:xfrm>
            <a:off x="7053480" y="1800"/>
            <a:ext cx="11880" cy="75510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6" name="Rectangle 41"/>
          <p:cNvSpPr/>
          <p:nvPr/>
        </p:nvSpPr>
        <p:spPr>
          <a:xfrm>
            <a:off x="8061480" y="1800"/>
            <a:ext cx="11880" cy="75510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7" name="Rectangle 42"/>
          <p:cNvSpPr/>
          <p:nvPr/>
        </p:nvSpPr>
        <p:spPr>
          <a:xfrm>
            <a:off x="9069480" y="1800"/>
            <a:ext cx="11880" cy="75510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8" name="Rectangle 43"/>
          <p:cNvSpPr/>
          <p:nvPr/>
        </p:nvSpPr>
        <p:spPr>
          <a:xfrm>
            <a:off x="10077480" y="1800"/>
            <a:ext cx="11880" cy="75510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9" name="Rectangle 44"/>
          <p:cNvSpPr/>
          <p:nvPr/>
        </p:nvSpPr>
        <p:spPr>
          <a:xfrm>
            <a:off x="11085480" y="1800"/>
            <a:ext cx="11880" cy="75510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80" name="Rectangle 45"/>
          <p:cNvSpPr/>
          <p:nvPr/>
        </p:nvSpPr>
        <p:spPr>
          <a:xfrm>
            <a:off x="12093480" y="1800"/>
            <a:ext cx="11880" cy="75510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81" name="Rectangle 46"/>
          <p:cNvSpPr/>
          <p:nvPr/>
        </p:nvSpPr>
        <p:spPr>
          <a:xfrm>
            <a:off x="13101480" y="1800"/>
            <a:ext cx="11880" cy="75510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82" name="Rectangle 47"/>
          <p:cNvSpPr/>
          <p:nvPr/>
        </p:nvSpPr>
        <p:spPr>
          <a:xfrm>
            <a:off x="1440" y="1800"/>
            <a:ext cx="343800" cy="7551000"/>
          </a:xfrm>
          <a:prstGeom prst="rect">
            <a:avLst/>
          </a:prstGeom>
          <a:solidFill>
            <a:srgbClr val="ff8c0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83" name="Rounded Rectangle 8"/>
          <p:cNvSpPr/>
          <p:nvPr/>
        </p:nvSpPr>
        <p:spPr>
          <a:xfrm>
            <a:off x="10884960" y="401400"/>
            <a:ext cx="2208240" cy="544320"/>
          </a:xfrm>
          <a:prstGeom prst="roundRect">
            <a:avLst>
              <a:gd name="adj" fmla="val 16667"/>
            </a:avLst>
          </a:prstGeom>
          <a:solidFill>
            <a:srgbClr val="1e1e24"/>
          </a:solidFill>
          <a:ln>
            <a:solidFill>
              <a:srgbClr val="ff8c0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1" lang="en-US" sz="1400" spc="-1" strike="noStrike">
                <a:solidFill>
                  <a:srgbClr val="ffb45a"/>
                </a:solidFill>
                <a:latin typeface="Calibri"/>
                <a:ea typeface="DejaVu Sans"/>
              </a:rPr>
              <a:t>JAVA CORE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84" name="TextBox 4"/>
          <p:cNvSpPr/>
          <p:nvPr/>
        </p:nvSpPr>
        <p:spPr>
          <a:xfrm>
            <a:off x="4249800" y="1107000"/>
            <a:ext cx="3590280" cy="820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en-US" sz="4800" spc="-1" strike="noStrike">
                <a:solidFill>
                  <a:srgbClr val="f5f5f5"/>
                </a:solidFill>
                <a:latin typeface="Calibri"/>
                <a:ea typeface="DejaVu Sans"/>
              </a:rPr>
              <a:t>What is Java?</a:t>
            </a:r>
            <a:endParaRPr b="0" lang="en-US" sz="4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5" name="TextBox 5"/>
          <p:cNvSpPr/>
          <p:nvPr/>
        </p:nvSpPr>
        <p:spPr>
          <a:xfrm>
            <a:off x="3414600" y="2266200"/>
            <a:ext cx="5909760" cy="957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900" spc="-1" strike="noStrike">
                <a:solidFill>
                  <a:srgbClr val="aaaaaa"/>
                </a:solidFill>
                <a:latin typeface="Calibri"/>
                <a:ea typeface="DejaVu Sans"/>
              </a:rPr>
              <a:t>Java is a high-level, object-oriented programming language</a:t>
            </a:r>
            <a:endParaRPr b="0" lang="en-US" sz="1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900" spc="-1" strike="noStrike">
                <a:solidFill>
                  <a:srgbClr val="aaaaaa"/>
                </a:solidFill>
                <a:latin typeface="Calibri"/>
                <a:ea typeface="DejaVu Sans"/>
              </a:rPr>
              <a:t>designed to be platform-independent and reliable.</a:t>
            </a:r>
            <a:endParaRPr b="0" lang="en-US" sz="1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6" name="Rounded Rectangle 9"/>
          <p:cNvSpPr/>
          <p:nvPr/>
        </p:nvSpPr>
        <p:spPr>
          <a:xfrm>
            <a:off x="1086840" y="3506040"/>
            <a:ext cx="3619800" cy="301500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87" name="Rounded Rectangle 10"/>
          <p:cNvSpPr/>
          <p:nvPr/>
        </p:nvSpPr>
        <p:spPr>
          <a:xfrm>
            <a:off x="1006560" y="3425040"/>
            <a:ext cx="3620160" cy="301536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• </a:t>
            </a: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High-level programming language  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• </a:t>
            </a: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Object-oriented (OOP) approach  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• </a:t>
            </a: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Platform-independent using JVM  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• </a:t>
            </a: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Secure and robust by design  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• </a:t>
            </a: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Widely used in enterprise and web applications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88" name="Rounded Rectangle 11"/>
          <p:cNvSpPr/>
          <p:nvPr/>
        </p:nvSpPr>
        <p:spPr>
          <a:xfrm>
            <a:off x="4968360" y="3506040"/>
            <a:ext cx="3619800" cy="301500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89" name="Rounded Rectangle 12"/>
          <p:cNvSpPr/>
          <p:nvPr/>
        </p:nvSpPr>
        <p:spPr>
          <a:xfrm>
            <a:off x="4886640" y="3425040"/>
            <a:ext cx="3620160" cy="301536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      </a:t>
            </a: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Java Source Code (.java)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            ↓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        </a:t>
            </a: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Java Compiler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            ↓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        </a:t>
            </a: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Bytecode (.class)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            ↓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    </a:t>
            </a: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Java Virtual Machine (JVM)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            ↓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      </a:t>
            </a: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Operating System</a:t>
            </a:r>
            <a:br>
              <a:rPr sz="1500"/>
            </a:br>
            <a:br>
              <a:rPr sz="1500"/>
            </a:b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Write Once, Run Anywhere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90" name="Rounded Rectangle 13"/>
          <p:cNvSpPr/>
          <p:nvPr/>
        </p:nvSpPr>
        <p:spPr>
          <a:xfrm>
            <a:off x="8849160" y="3506040"/>
            <a:ext cx="3619800" cy="301500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91" name="Rounded Rectangle 14"/>
          <p:cNvSpPr/>
          <p:nvPr/>
        </p:nvSpPr>
        <p:spPr>
          <a:xfrm>
            <a:off x="8767440" y="3425760"/>
            <a:ext cx="3620160" cy="301536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0" lang="en-US" sz="14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class Main {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4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4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static void main(String[] args) {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4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4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System.out.println("Hello, Java!");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4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4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4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92" name="TextBox 6"/>
          <p:cNvSpPr/>
          <p:nvPr/>
        </p:nvSpPr>
        <p:spPr>
          <a:xfrm>
            <a:off x="5224320" y="7104600"/>
            <a:ext cx="305100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Java • Ultra Premium Template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Rectangle 17"/>
          <p:cNvSpPr/>
          <p:nvPr/>
        </p:nvSpPr>
        <p:spPr>
          <a:xfrm>
            <a:off x="1440" y="1800"/>
            <a:ext cx="13427640" cy="7551000"/>
          </a:xfrm>
          <a:prstGeom prst="rect">
            <a:avLst/>
          </a:prstGeom>
          <a:solidFill>
            <a:srgbClr val="0b0b0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94" name="Rectangle 18"/>
          <p:cNvSpPr/>
          <p:nvPr/>
        </p:nvSpPr>
        <p:spPr>
          <a:xfrm>
            <a:off x="1440" y="1800"/>
            <a:ext cx="11880" cy="75510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95" name="Rectangle 19"/>
          <p:cNvSpPr/>
          <p:nvPr/>
        </p:nvSpPr>
        <p:spPr>
          <a:xfrm>
            <a:off x="1005480" y="1800"/>
            <a:ext cx="11880" cy="75510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96" name="Rectangle 20"/>
          <p:cNvSpPr/>
          <p:nvPr/>
        </p:nvSpPr>
        <p:spPr>
          <a:xfrm>
            <a:off x="2013480" y="1800"/>
            <a:ext cx="11880" cy="75510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97" name="Rectangle 21"/>
          <p:cNvSpPr/>
          <p:nvPr/>
        </p:nvSpPr>
        <p:spPr>
          <a:xfrm>
            <a:off x="3021480" y="1800"/>
            <a:ext cx="11880" cy="75510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98" name="Rectangle 22"/>
          <p:cNvSpPr/>
          <p:nvPr/>
        </p:nvSpPr>
        <p:spPr>
          <a:xfrm>
            <a:off x="4029480" y="1800"/>
            <a:ext cx="11880" cy="75510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99" name="Rectangle 23"/>
          <p:cNvSpPr/>
          <p:nvPr/>
        </p:nvSpPr>
        <p:spPr>
          <a:xfrm>
            <a:off x="5037480" y="1800"/>
            <a:ext cx="11880" cy="75510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00" name="Rectangle 24"/>
          <p:cNvSpPr/>
          <p:nvPr/>
        </p:nvSpPr>
        <p:spPr>
          <a:xfrm>
            <a:off x="6045480" y="1800"/>
            <a:ext cx="11880" cy="75510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01" name="Rectangle 25"/>
          <p:cNvSpPr/>
          <p:nvPr/>
        </p:nvSpPr>
        <p:spPr>
          <a:xfrm>
            <a:off x="7053480" y="1800"/>
            <a:ext cx="11880" cy="75510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02" name="Rectangle 26"/>
          <p:cNvSpPr/>
          <p:nvPr/>
        </p:nvSpPr>
        <p:spPr>
          <a:xfrm>
            <a:off x="8061480" y="1800"/>
            <a:ext cx="11880" cy="75510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03" name="Rectangle 27"/>
          <p:cNvSpPr/>
          <p:nvPr/>
        </p:nvSpPr>
        <p:spPr>
          <a:xfrm>
            <a:off x="9069480" y="1800"/>
            <a:ext cx="11880" cy="75510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04" name="Rectangle 28"/>
          <p:cNvSpPr/>
          <p:nvPr/>
        </p:nvSpPr>
        <p:spPr>
          <a:xfrm>
            <a:off x="10077480" y="1800"/>
            <a:ext cx="11880" cy="75510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05" name="Rectangle 29"/>
          <p:cNvSpPr/>
          <p:nvPr/>
        </p:nvSpPr>
        <p:spPr>
          <a:xfrm>
            <a:off x="11085480" y="1800"/>
            <a:ext cx="11880" cy="75510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06" name="Rectangle 30"/>
          <p:cNvSpPr/>
          <p:nvPr/>
        </p:nvSpPr>
        <p:spPr>
          <a:xfrm>
            <a:off x="12093480" y="1800"/>
            <a:ext cx="11880" cy="75510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07" name="Rectangle 31"/>
          <p:cNvSpPr/>
          <p:nvPr/>
        </p:nvSpPr>
        <p:spPr>
          <a:xfrm>
            <a:off x="13101480" y="1800"/>
            <a:ext cx="11880" cy="75510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08" name="Rectangle 48"/>
          <p:cNvSpPr/>
          <p:nvPr/>
        </p:nvSpPr>
        <p:spPr>
          <a:xfrm>
            <a:off x="1440" y="1800"/>
            <a:ext cx="343800" cy="7551000"/>
          </a:xfrm>
          <a:prstGeom prst="rect">
            <a:avLst/>
          </a:prstGeom>
          <a:solidFill>
            <a:srgbClr val="ff8c0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09" name="Rounded Rectangle 15"/>
          <p:cNvSpPr/>
          <p:nvPr/>
        </p:nvSpPr>
        <p:spPr>
          <a:xfrm>
            <a:off x="10884960" y="401400"/>
            <a:ext cx="2208240" cy="544320"/>
          </a:xfrm>
          <a:prstGeom prst="roundRect">
            <a:avLst>
              <a:gd name="adj" fmla="val 16667"/>
            </a:avLst>
          </a:prstGeom>
          <a:solidFill>
            <a:srgbClr val="1e1e24"/>
          </a:solidFill>
          <a:ln>
            <a:solidFill>
              <a:srgbClr val="ff8c0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1" lang="en-US" sz="1400" spc="-1" strike="noStrike">
                <a:solidFill>
                  <a:srgbClr val="ffb45a"/>
                </a:solidFill>
                <a:latin typeface="Calibri"/>
                <a:ea typeface="DejaVu Sans"/>
              </a:rPr>
              <a:t>JAVA CORE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10" name="TextBox 7"/>
          <p:cNvSpPr/>
          <p:nvPr/>
        </p:nvSpPr>
        <p:spPr>
          <a:xfrm>
            <a:off x="3248280" y="1107000"/>
            <a:ext cx="5594400" cy="820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en-US" sz="4800" spc="-1" strike="noStrike">
                <a:solidFill>
                  <a:srgbClr val="f5f5f5"/>
                </a:solidFill>
                <a:latin typeface="Calibri"/>
                <a:ea typeface="DejaVu Sans"/>
              </a:rPr>
              <a:t>What Will You Learn?</a:t>
            </a:r>
            <a:endParaRPr b="0" lang="en-US" sz="4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1" name="TextBox 8"/>
          <p:cNvSpPr/>
          <p:nvPr/>
        </p:nvSpPr>
        <p:spPr>
          <a:xfrm>
            <a:off x="3017520" y="2266200"/>
            <a:ext cx="6703920" cy="668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900" spc="-1" strike="noStrike">
                <a:solidFill>
                  <a:srgbClr val="aaaaaa"/>
                </a:solidFill>
                <a:latin typeface="Calibri"/>
                <a:ea typeface="DejaVu Sans"/>
              </a:rPr>
              <a:t>An overview of the key topics and skills covered in this Java course.</a:t>
            </a:r>
            <a:endParaRPr b="0" lang="en-US" sz="1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2" name="Rounded Rectangle 16"/>
          <p:cNvSpPr/>
          <p:nvPr/>
        </p:nvSpPr>
        <p:spPr>
          <a:xfrm>
            <a:off x="1086840" y="3506040"/>
            <a:ext cx="3619800" cy="301500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13" name="Rounded Rectangle 18"/>
          <p:cNvSpPr/>
          <p:nvPr/>
        </p:nvSpPr>
        <p:spPr>
          <a:xfrm>
            <a:off x="1006560" y="3425760"/>
            <a:ext cx="3620160" cy="301536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• </a:t>
            </a: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Understand Java fundamentals  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• </a:t>
            </a: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Learn object-oriented programming concepts  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• </a:t>
            </a: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Write and run Java programs  • Build a strong programming foundation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14" name="Rounded Rectangle 19"/>
          <p:cNvSpPr/>
          <p:nvPr/>
        </p:nvSpPr>
        <p:spPr>
          <a:xfrm>
            <a:off x="4968360" y="3506040"/>
            <a:ext cx="3619800" cy="301500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15" name="Rounded Rectangle 26"/>
          <p:cNvSpPr/>
          <p:nvPr/>
        </p:nvSpPr>
        <p:spPr>
          <a:xfrm>
            <a:off x="4886640" y="3424320"/>
            <a:ext cx="3620160" cy="301536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Java Syntax &amp; Basics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          ↓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Variables &amp; Data Types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          ↓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Control Flow (if / loops)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          ↓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Methods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          ↓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Object-Oriented Programming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16" name="Rounded Rectangle 27"/>
          <p:cNvSpPr/>
          <p:nvPr/>
        </p:nvSpPr>
        <p:spPr>
          <a:xfrm>
            <a:off x="8849160" y="3506040"/>
            <a:ext cx="3619800" cy="301500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17" name="Rounded Rectangle 28"/>
          <p:cNvSpPr/>
          <p:nvPr/>
        </p:nvSpPr>
        <p:spPr>
          <a:xfrm>
            <a:off x="8767440" y="3425040"/>
            <a:ext cx="3620160" cy="301536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0" lang="en-US" sz="1400" spc="-1" strike="noStrike">
                <a:solidFill>
                  <a:srgbClr val="78ffc8"/>
                </a:solidFill>
                <a:latin typeface="Consolas"/>
                <a:ea typeface="DejaVu Sans"/>
              </a:rPr>
              <a:t>int number = 10;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400" spc="-1" strike="noStrike">
                <a:solidFill>
                  <a:srgbClr val="78ffc8"/>
                </a:solidFill>
                <a:latin typeface="Consolas"/>
                <a:ea typeface="DejaVu Sans"/>
              </a:rPr>
              <a:t>if (number &gt; 0) {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4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4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System.out.println("Positive");}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400" spc="-1" strike="noStrike">
                <a:solidFill>
                  <a:srgbClr val="78ffc8"/>
                </a:solidFill>
                <a:latin typeface="Consolas"/>
                <a:ea typeface="DejaVu Sans"/>
              </a:rPr>
              <a:t>for (int i = 0; i &lt; 3; i++) {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4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4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System.out.println(i);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4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18" name="TextBox 9"/>
          <p:cNvSpPr/>
          <p:nvPr/>
        </p:nvSpPr>
        <p:spPr>
          <a:xfrm>
            <a:off x="5224320" y="7104600"/>
            <a:ext cx="305100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Java • Ultra Premium Template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Rectangle 49"/>
          <p:cNvSpPr/>
          <p:nvPr/>
        </p:nvSpPr>
        <p:spPr>
          <a:xfrm>
            <a:off x="1440" y="1800"/>
            <a:ext cx="13427640" cy="7551000"/>
          </a:xfrm>
          <a:prstGeom prst="rect">
            <a:avLst/>
          </a:prstGeom>
          <a:solidFill>
            <a:srgbClr val="0b0b0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20" name="Rectangle 50"/>
          <p:cNvSpPr/>
          <p:nvPr/>
        </p:nvSpPr>
        <p:spPr>
          <a:xfrm>
            <a:off x="1440" y="1800"/>
            <a:ext cx="11880" cy="75510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21" name="Rectangle 51"/>
          <p:cNvSpPr/>
          <p:nvPr/>
        </p:nvSpPr>
        <p:spPr>
          <a:xfrm>
            <a:off x="1005480" y="1800"/>
            <a:ext cx="11880" cy="75510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22" name="Rectangle 52"/>
          <p:cNvSpPr/>
          <p:nvPr/>
        </p:nvSpPr>
        <p:spPr>
          <a:xfrm>
            <a:off x="2013480" y="1800"/>
            <a:ext cx="11880" cy="75510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23" name="Rectangle 53"/>
          <p:cNvSpPr/>
          <p:nvPr/>
        </p:nvSpPr>
        <p:spPr>
          <a:xfrm>
            <a:off x="3021480" y="1800"/>
            <a:ext cx="11880" cy="75510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24" name="Rectangle 54"/>
          <p:cNvSpPr/>
          <p:nvPr/>
        </p:nvSpPr>
        <p:spPr>
          <a:xfrm>
            <a:off x="4029480" y="1800"/>
            <a:ext cx="11880" cy="75510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25" name="Rectangle 55"/>
          <p:cNvSpPr/>
          <p:nvPr/>
        </p:nvSpPr>
        <p:spPr>
          <a:xfrm>
            <a:off x="5037480" y="1800"/>
            <a:ext cx="11880" cy="75510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26" name="Rectangle 56"/>
          <p:cNvSpPr/>
          <p:nvPr/>
        </p:nvSpPr>
        <p:spPr>
          <a:xfrm>
            <a:off x="6045480" y="1800"/>
            <a:ext cx="11880" cy="75510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27" name="Rectangle 57"/>
          <p:cNvSpPr/>
          <p:nvPr/>
        </p:nvSpPr>
        <p:spPr>
          <a:xfrm>
            <a:off x="7053480" y="1800"/>
            <a:ext cx="11880" cy="75510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28" name="Rectangle 58"/>
          <p:cNvSpPr/>
          <p:nvPr/>
        </p:nvSpPr>
        <p:spPr>
          <a:xfrm>
            <a:off x="8061480" y="1800"/>
            <a:ext cx="11880" cy="75510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29" name="Rectangle 59"/>
          <p:cNvSpPr/>
          <p:nvPr/>
        </p:nvSpPr>
        <p:spPr>
          <a:xfrm>
            <a:off x="9069480" y="1800"/>
            <a:ext cx="11880" cy="75510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30" name="Rectangle 60"/>
          <p:cNvSpPr/>
          <p:nvPr/>
        </p:nvSpPr>
        <p:spPr>
          <a:xfrm>
            <a:off x="10077480" y="1800"/>
            <a:ext cx="11880" cy="75510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31" name="Rectangle 61"/>
          <p:cNvSpPr/>
          <p:nvPr/>
        </p:nvSpPr>
        <p:spPr>
          <a:xfrm>
            <a:off x="11085480" y="1800"/>
            <a:ext cx="11880" cy="75510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32" name="Rectangle 62"/>
          <p:cNvSpPr/>
          <p:nvPr/>
        </p:nvSpPr>
        <p:spPr>
          <a:xfrm>
            <a:off x="12093480" y="1800"/>
            <a:ext cx="11880" cy="75510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33" name="Rectangle 63"/>
          <p:cNvSpPr/>
          <p:nvPr/>
        </p:nvSpPr>
        <p:spPr>
          <a:xfrm>
            <a:off x="13101480" y="1800"/>
            <a:ext cx="11880" cy="75510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34" name="Rectangle 64"/>
          <p:cNvSpPr/>
          <p:nvPr/>
        </p:nvSpPr>
        <p:spPr>
          <a:xfrm>
            <a:off x="1440" y="1800"/>
            <a:ext cx="343800" cy="7551000"/>
          </a:xfrm>
          <a:prstGeom prst="rect">
            <a:avLst/>
          </a:prstGeom>
          <a:solidFill>
            <a:srgbClr val="ff8c0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35" name="Rounded Rectangle 29"/>
          <p:cNvSpPr/>
          <p:nvPr/>
        </p:nvSpPr>
        <p:spPr>
          <a:xfrm>
            <a:off x="10884960" y="401400"/>
            <a:ext cx="2208240" cy="544320"/>
          </a:xfrm>
          <a:prstGeom prst="roundRect">
            <a:avLst>
              <a:gd name="adj" fmla="val 16667"/>
            </a:avLst>
          </a:prstGeom>
          <a:solidFill>
            <a:srgbClr val="1e1e24"/>
          </a:solidFill>
          <a:ln>
            <a:solidFill>
              <a:srgbClr val="ff8c0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1" lang="en-US" sz="1400" spc="-1" strike="noStrike">
                <a:solidFill>
                  <a:srgbClr val="ffb45a"/>
                </a:solidFill>
                <a:latin typeface="Calibri"/>
                <a:ea typeface="DejaVu Sans"/>
              </a:rPr>
              <a:t>JAVA CORE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36" name="TextBox 10"/>
          <p:cNvSpPr/>
          <p:nvPr/>
        </p:nvSpPr>
        <p:spPr>
          <a:xfrm>
            <a:off x="4443480" y="1107000"/>
            <a:ext cx="3200040" cy="820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en-US" sz="4800" spc="-1" strike="noStrike">
                <a:solidFill>
                  <a:srgbClr val="f5f5f5"/>
                </a:solidFill>
                <a:latin typeface="Calibri"/>
                <a:ea typeface="DejaVu Sans"/>
              </a:rPr>
              <a:t>Java History</a:t>
            </a:r>
            <a:endParaRPr b="0" lang="en-US" sz="4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7" name="TextBox 11"/>
          <p:cNvSpPr/>
          <p:nvPr/>
        </p:nvSpPr>
        <p:spPr>
          <a:xfrm>
            <a:off x="1890720" y="2266200"/>
            <a:ext cx="8962560" cy="379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900" spc="-1" strike="noStrike">
                <a:solidFill>
                  <a:srgbClr val="aaaaaa"/>
                </a:solidFill>
                <a:latin typeface="Calibri"/>
                <a:ea typeface="DejaVu Sans"/>
              </a:rPr>
              <a:t>How Java was born and why it became one of the most powerful programming languages.</a:t>
            </a:r>
            <a:endParaRPr b="0" lang="en-US" sz="1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8" name="Rounded Rectangle 30"/>
          <p:cNvSpPr/>
          <p:nvPr/>
        </p:nvSpPr>
        <p:spPr>
          <a:xfrm>
            <a:off x="1086840" y="3506040"/>
            <a:ext cx="3619800" cy="301500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39" name="Rounded Rectangle 31"/>
          <p:cNvSpPr/>
          <p:nvPr/>
        </p:nvSpPr>
        <p:spPr>
          <a:xfrm>
            <a:off x="1006560" y="3425040"/>
            <a:ext cx="3620160" cy="301536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1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The Beginning (1990)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Java was created at Sun Microsystems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Developed by James Gosling and his team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Originally called Oak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Initial goal: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Software for consumer electronics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TVs, set-top boxes, embedded systems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Key problem: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Different hardware, different software ❌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“</a:t>
            </a:r>
            <a:r>
              <a:rPr b="0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We needed one language that could run everywhere.”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40" name="Rounded Rectangle 32"/>
          <p:cNvSpPr/>
          <p:nvPr/>
        </p:nvSpPr>
        <p:spPr>
          <a:xfrm>
            <a:off x="4968360" y="3506040"/>
            <a:ext cx="3619800" cy="301500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41" name="Rounded Rectangle 33"/>
          <p:cNvSpPr/>
          <p:nvPr/>
        </p:nvSpPr>
        <p:spPr>
          <a:xfrm>
            <a:off x="4886640" y="3425040"/>
            <a:ext cx="3620160" cy="301536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0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Write Once, Run Anywhere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↓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Java source code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Compiled to Bytecode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Runs on JVM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Works on every OS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Released in 1995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Built for the Internet era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42" name="Rounded Rectangle 34"/>
          <p:cNvSpPr/>
          <p:nvPr/>
        </p:nvSpPr>
        <p:spPr>
          <a:xfrm>
            <a:off x="8849160" y="3506040"/>
            <a:ext cx="3619800" cy="301500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43" name="Rounded Rectangle 35"/>
          <p:cNvSpPr/>
          <p:nvPr/>
        </p:nvSpPr>
        <p:spPr>
          <a:xfrm>
            <a:off x="8767440" y="3425040"/>
            <a:ext cx="3620160" cy="301536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class Main {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static void main(String[] args) {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System.out.println("Java History Begins!");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int year = 1995;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if (year &gt;= 1995) {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    </a:t>
            </a: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System.out.println("Java is born");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44" name="TextBox 12"/>
          <p:cNvSpPr/>
          <p:nvPr/>
        </p:nvSpPr>
        <p:spPr>
          <a:xfrm>
            <a:off x="5224320" y="7104600"/>
            <a:ext cx="305100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Java • Ultra Premium Template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Rectangle 65"/>
          <p:cNvSpPr/>
          <p:nvPr/>
        </p:nvSpPr>
        <p:spPr>
          <a:xfrm>
            <a:off x="1440" y="1800"/>
            <a:ext cx="13427640" cy="7551000"/>
          </a:xfrm>
          <a:prstGeom prst="rect">
            <a:avLst/>
          </a:prstGeom>
          <a:solidFill>
            <a:srgbClr val="0b0b0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46" name="Rectangle 66"/>
          <p:cNvSpPr/>
          <p:nvPr/>
        </p:nvSpPr>
        <p:spPr>
          <a:xfrm>
            <a:off x="1440" y="1800"/>
            <a:ext cx="11880" cy="75510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47" name="Rectangle 67"/>
          <p:cNvSpPr/>
          <p:nvPr/>
        </p:nvSpPr>
        <p:spPr>
          <a:xfrm>
            <a:off x="1005480" y="1800"/>
            <a:ext cx="11880" cy="75510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48" name="Rectangle 68"/>
          <p:cNvSpPr/>
          <p:nvPr/>
        </p:nvSpPr>
        <p:spPr>
          <a:xfrm>
            <a:off x="2013480" y="1800"/>
            <a:ext cx="11880" cy="75510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49" name="Rectangle 69"/>
          <p:cNvSpPr/>
          <p:nvPr/>
        </p:nvSpPr>
        <p:spPr>
          <a:xfrm>
            <a:off x="3021480" y="1800"/>
            <a:ext cx="11880" cy="75510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50" name="Rectangle 70"/>
          <p:cNvSpPr/>
          <p:nvPr/>
        </p:nvSpPr>
        <p:spPr>
          <a:xfrm>
            <a:off x="4029480" y="1800"/>
            <a:ext cx="11880" cy="75510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51" name="Rectangle 71"/>
          <p:cNvSpPr/>
          <p:nvPr/>
        </p:nvSpPr>
        <p:spPr>
          <a:xfrm>
            <a:off x="5037480" y="1800"/>
            <a:ext cx="11880" cy="75510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52" name="Rectangle 72"/>
          <p:cNvSpPr/>
          <p:nvPr/>
        </p:nvSpPr>
        <p:spPr>
          <a:xfrm>
            <a:off x="6045480" y="1800"/>
            <a:ext cx="11880" cy="75510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53" name="Rectangle 73"/>
          <p:cNvSpPr/>
          <p:nvPr/>
        </p:nvSpPr>
        <p:spPr>
          <a:xfrm>
            <a:off x="7053480" y="1800"/>
            <a:ext cx="11880" cy="75510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54" name="Rectangle 74"/>
          <p:cNvSpPr/>
          <p:nvPr/>
        </p:nvSpPr>
        <p:spPr>
          <a:xfrm>
            <a:off x="8061480" y="1800"/>
            <a:ext cx="11880" cy="75510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55" name="Rectangle 75"/>
          <p:cNvSpPr/>
          <p:nvPr/>
        </p:nvSpPr>
        <p:spPr>
          <a:xfrm>
            <a:off x="9069480" y="1800"/>
            <a:ext cx="11880" cy="75510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56" name="Rectangle 76"/>
          <p:cNvSpPr/>
          <p:nvPr/>
        </p:nvSpPr>
        <p:spPr>
          <a:xfrm>
            <a:off x="10077480" y="1800"/>
            <a:ext cx="11880" cy="75510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57" name="Rectangle 77"/>
          <p:cNvSpPr/>
          <p:nvPr/>
        </p:nvSpPr>
        <p:spPr>
          <a:xfrm>
            <a:off x="11085480" y="1800"/>
            <a:ext cx="11880" cy="75510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58" name="Rectangle 78"/>
          <p:cNvSpPr/>
          <p:nvPr/>
        </p:nvSpPr>
        <p:spPr>
          <a:xfrm>
            <a:off x="12093480" y="1800"/>
            <a:ext cx="11880" cy="75510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59" name="Rectangle 79"/>
          <p:cNvSpPr/>
          <p:nvPr/>
        </p:nvSpPr>
        <p:spPr>
          <a:xfrm>
            <a:off x="13101480" y="1800"/>
            <a:ext cx="11880" cy="75510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60" name="Rectangle 80"/>
          <p:cNvSpPr/>
          <p:nvPr/>
        </p:nvSpPr>
        <p:spPr>
          <a:xfrm>
            <a:off x="1440" y="1800"/>
            <a:ext cx="343800" cy="7551000"/>
          </a:xfrm>
          <a:prstGeom prst="rect">
            <a:avLst/>
          </a:prstGeom>
          <a:solidFill>
            <a:srgbClr val="ff8c0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61" name="Rounded Rectangle 36"/>
          <p:cNvSpPr/>
          <p:nvPr/>
        </p:nvSpPr>
        <p:spPr>
          <a:xfrm>
            <a:off x="10884960" y="401400"/>
            <a:ext cx="2208240" cy="544320"/>
          </a:xfrm>
          <a:prstGeom prst="roundRect">
            <a:avLst>
              <a:gd name="adj" fmla="val 16667"/>
            </a:avLst>
          </a:prstGeom>
          <a:solidFill>
            <a:srgbClr val="1e1e24"/>
          </a:solidFill>
          <a:ln>
            <a:solidFill>
              <a:srgbClr val="ff8c0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1" lang="en-US" sz="1400" spc="-1" strike="noStrike">
                <a:solidFill>
                  <a:srgbClr val="ffb45a"/>
                </a:solidFill>
                <a:latin typeface="Calibri"/>
                <a:ea typeface="DejaVu Sans"/>
              </a:rPr>
              <a:t>JAVA CORE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62" name="TextBox 13"/>
          <p:cNvSpPr/>
          <p:nvPr/>
        </p:nvSpPr>
        <p:spPr>
          <a:xfrm>
            <a:off x="2634120" y="1107000"/>
            <a:ext cx="6822720" cy="820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en-US" sz="4800" spc="-1" strike="noStrike">
                <a:solidFill>
                  <a:srgbClr val="f5f5f5"/>
                </a:solidFill>
                <a:latin typeface="Calibri"/>
                <a:ea typeface="DejaVu Sans"/>
              </a:rPr>
              <a:t>   </a:t>
            </a:r>
            <a:r>
              <a:rPr b="1" lang="en-US" sz="4800" spc="-1" strike="noStrike">
                <a:solidFill>
                  <a:srgbClr val="f5f5f5"/>
                </a:solidFill>
                <a:latin typeface="Calibri"/>
                <a:ea typeface="DejaVu Sans"/>
              </a:rPr>
              <a:t>The Problem Before Java</a:t>
            </a:r>
            <a:endParaRPr b="0" lang="en-US" sz="4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3" name="TextBox 14"/>
          <p:cNvSpPr/>
          <p:nvPr/>
        </p:nvSpPr>
        <p:spPr>
          <a:xfrm>
            <a:off x="3651840" y="2266200"/>
            <a:ext cx="5437440" cy="379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900" spc="-1" strike="noStrike">
                <a:solidFill>
                  <a:srgbClr val="aaaaaa"/>
                </a:solidFill>
                <a:latin typeface="Calibri"/>
                <a:ea typeface="DejaVu Sans"/>
              </a:rPr>
              <a:t>Why the world needed a new programming language.</a:t>
            </a:r>
            <a:endParaRPr b="0" lang="en-US" sz="1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4" name="Rounded Rectangle 37"/>
          <p:cNvSpPr/>
          <p:nvPr/>
        </p:nvSpPr>
        <p:spPr>
          <a:xfrm>
            <a:off x="1086840" y="3506040"/>
            <a:ext cx="3619800" cy="301500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65" name="Rounded Rectangle 38"/>
          <p:cNvSpPr/>
          <p:nvPr/>
        </p:nvSpPr>
        <p:spPr>
          <a:xfrm>
            <a:off x="679680" y="3273840"/>
            <a:ext cx="4027320" cy="316548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Software Chaos (Early 1990s)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The situation: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Different computers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Different processors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Different operating systems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Result: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Programs worked on one machine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Failed on another ❌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Big issue: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Developers had to rewrite the same software again and again.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“</a:t>
            </a: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Write once” did NOT exist yet.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66" name="Rounded Rectangle 39"/>
          <p:cNvSpPr/>
          <p:nvPr/>
        </p:nvSpPr>
        <p:spPr>
          <a:xfrm>
            <a:off x="4968360" y="3506040"/>
            <a:ext cx="3619800" cy="301500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67" name="Rounded Rectangle 40"/>
          <p:cNvSpPr/>
          <p:nvPr/>
        </p:nvSpPr>
        <p:spPr>
          <a:xfrm>
            <a:off x="4886640" y="3425760"/>
            <a:ext cx="3620160" cy="301536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1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Why Existing Languages Failed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C / C++ → Hardware dependent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Platform-specific binaries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Memory management issues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Security problems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Main pain: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One system = one build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i="1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No universal solution.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68" name="Rounded Rectangle 41"/>
          <p:cNvSpPr/>
          <p:nvPr/>
        </p:nvSpPr>
        <p:spPr>
          <a:xfrm>
            <a:off x="8849160" y="3506040"/>
            <a:ext cx="3619800" cy="301500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69" name="Rounded Rectangle 42"/>
          <p:cNvSpPr/>
          <p:nvPr/>
        </p:nvSpPr>
        <p:spPr>
          <a:xfrm>
            <a:off x="8767440" y="3425040"/>
            <a:ext cx="3620160" cy="301536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400" spc="-1" strike="noStrike">
                <a:solidFill>
                  <a:srgbClr val="78ffc8"/>
                </a:solidFill>
                <a:latin typeface="Consolas"/>
                <a:ea typeface="DejaVu Sans"/>
              </a:rPr>
              <a:t>// Before Java philosophy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400" spc="-1" strike="noStrike">
                <a:solidFill>
                  <a:srgbClr val="78ffc8"/>
                </a:solidFill>
                <a:latin typeface="Consolas"/>
                <a:ea typeface="DejaVu Sans"/>
              </a:rPr>
              <a:t>// Code depended on hardware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400" spc="-1" strike="noStrike">
                <a:solidFill>
                  <a:srgbClr val="78ffc8"/>
                </a:solidFill>
                <a:latin typeface="Consolas"/>
                <a:ea typeface="DejaVu Sans"/>
              </a:rPr>
              <a:t>int device = 1991;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400" spc="-1" strike="noStrike">
                <a:solidFill>
                  <a:srgbClr val="78ffc8"/>
                </a:solidFill>
                <a:latin typeface="Consolas"/>
                <a:ea typeface="DejaVu Sans"/>
              </a:rPr>
              <a:t>if (device != 1995) {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4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4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System.out.println("Rewrite the software!");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4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 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70" name="TextBox 15"/>
          <p:cNvSpPr/>
          <p:nvPr/>
        </p:nvSpPr>
        <p:spPr>
          <a:xfrm>
            <a:off x="5224320" y="7104600"/>
            <a:ext cx="305100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Java • Ultra Premium Template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1" name="Rectangle 81"/>
          <p:cNvSpPr/>
          <p:nvPr/>
        </p:nvSpPr>
        <p:spPr>
          <a:xfrm>
            <a:off x="1440" y="1800"/>
            <a:ext cx="13427640" cy="7551000"/>
          </a:xfrm>
          <a:prstGeom prst="rect">
            <a:avLst/>
          </a:prstGeom>
          <a:solidFill>
            <a:srgbClr val="0b0b0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72" name="Rectangle 82"/>
          <p:cNvSpPr/>
          <p:nvPr/>
        </p:nvSpPr>
        <p:spPr>
          <a:xfrm>
            <a:off x="1440" y="1800"/>
            <a:ext cx="11880" cy="75510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73" name="Rectangle 83"/>
          <p:cNvSpPr/>
          <p:nvPr/>
        </p:nvSpPr>
        <p:spPr>
          <a:xfrm>
            <a:off x="1005480" y="1800"/>
            <a:ext cx="11880" cy="75510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74" name="Rectangle 84"/>
          <p:cNvSpPr/>
          <p:nvPr/>
        </p:nvSpPr>
        <p:spPr>
          <a:xfrm>
            <a:off x="2013480" y="1800"/>
            <a:ext cx="11880" cy="75510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75" name="Rectangle 85"/>
          <p:cNvSpPr/>
          <p:nvPr/>
        </p:nvSpPr>
        <p:spPr>
          <a:xfrm>
            <a:off x="3021480" y="1800"/>
            <a:ext cx="11880" cy="75510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76" name="Rectangle 86"/>
          <p:cNvSpPr/>
          <p:nvPr/>
        </p:nvSpPr>
        <p:spPr>
          <a:xfrm>
            <a:off x="4029480" y="1800"/>
            <a:ext cx="11880" cy="75510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77" name="Rectangle 87"/>
          <p:cNvSpPr/>
          <p:nvPr/>
        </p:nvSpPr>
        <p:spPr>
          <a:xfrm>
            <a:off x="5037480" y="1800"/>
            <a:ext cx="11880" cy="75510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78" name="Rectangle 88"/>
          <p:cNvSpPr/>
          <p:nvPr/>
        </p:nvSpPr>
        <p:spPr>
          <a:xfrm>
            <a:off x="6045480" y="1800"/>
            <a:ext cx="11880" cy="75510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79" name="Rectangle 89"/>
          <p:cNvSpPr/>
          <p:nvPr/>
        </p:nvSpPr>
        <p:spPr>
          <a:xfrm>
            <a:off x="7053480" y="1800"/>
            <a:ext cx="11880" cy="75510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80" name="Rectangle 90"/>
          <p:cNvSpPr/>
          <p:nvPr/>
        </p:nvSpPr>
        <p:spPr>
          <a:xfrm>
            <a:off x="8061480" y="1800"/>
            <a:ext cx="11880" cy="75510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81" name="Rectangle 91"/>
          <p:cNvSpPr/>
          <p:nvPr/>
        </p:nvSpPr>
        <p:spPr>
          <a:xfrm>
            <a:off x="9069480" y="1800"/>
            <a:ext cx="11880" cy="75510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82" name="Rectangle 92"/>
          <p:cNvSpPr/>
          <p:nvPr/>
        </p:nvSpPr>
        <p:spPr>
          <a:xfrm>
            <a:off x="10077480" y="1800"/>
            <a:ext cx="11880" cy="75510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83" name="Rectangle 93"/>
          <p:cNvSpPr/>
          <p:nvPr/>
        </p:nvSpPr>
        <p:spPr>
          <a:xfrm>
            <a:off x="11085480" y="1800"/>
            <a:ext cx="11880" cy="75510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84" name="Rectangle 94"/>
          <p:cNvSpPr/>
          <p:nvPr/>
        </p:nvSpPr>
        <p:spPr>
          <a:xfrm>
            <a:off x="12093480" y="1800"/>
            <a:ext cx="11880" cy="75510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85" name="Rectangle 95"/>
          <p:cNvSpPr/>
          <p:nvPr/>
        </p:nvSpPr>
        <p:spPr>
          <a:xfrm>
            <a:off x="13101480" y="1800"/>
            <a:ext cx="11880" cy="75510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86" name="Rectangle 96"/>
          <p:cNvSpPr/>
          <p:nvPr/>
        </p:nvSpPr>
        <p:spPr>
          <a:xfrm>
            <a:off x="1440" y="1800"/>
            <a:ext cx="343800" cy="7551000"/>
          </a:xfrm>
          <a:prstGeom prst="rect">
            <a:avLst/>
          </a:prstGeom>
          <a:solidFill>
            <a:srgbClr val="ff8c0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87" name="Rounded Rectangle 43"/>
          <p:cNvSpPr/>
          <p:nvPr/>
        </p:nvSpPr>
        <p:spPr>
          <a:xfrm>
            <a:off x="10884960" y="401400"/>
            <a:ext cx="2208240" cy="544320"/>
          </a:xfrm>
          <a:prstGeom prst="roundRect">
            <a:avLst>
              <a:gd name="adj" fmla="val 16667"/>
            </a:avLst>
          </a:prstGeom>
          <a:solidFill>
            <a:srgbClr val="1e1e24"/>
          </a:solidFill>
          <a:ln>
            <a:solidFill>
              <a:srgbClr val="ff8c0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1" lang="en-US" sz="1400" spc="-1" strike="noStrike">
                <a:solidFill>
                  <a:srgbClr val="ffb45a"/>
                </a:solidFill>
                <a:latin typeface="Calibri"/>
                <a:ea typeface="DejaVu Sans"/>
              </a:rPr>
              <a:t>JAVA CORE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88" name="TextBox 16"/>
          <p:cNvSpPr/>
          <p:nvPr/>
        </p:nvSpPr>
        <p:spPr>
          <a:xfrm>
            <a:off x="1678320" y="1107000"/>
            <a:ext cx="8742960" cy="820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en-US" sz="4800" spc="-1" strike="noStrike">
                <a:solidFill>
                  <a:srgbClr val="f5f5f5"/>
                </a:solidFill>
                <a:latin typeface="Calibri"/>
                <a:ea typeface="DejaVu Sans"/>
              </a:rPr>
              <a:t>       </a:t>
            </a:r>
            <a:r>
              <a:rPr b="1" lang="en-US" sz="4800" spc="-1" strike="noStrike">
                <a:solidFill>
                  <a:srgbClr val="f5f5f5"/>
                </a:solidFill>
                <a:latin typeface="Calibri"/>
                <a:ea typeface="DejaVu Sans"/>
              </a:rPr>
              <a:t>Java History – The Oak Project</a:t>
            </a:r>
            <a:endParaRPr b="0" lang="en-US" sz="4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89" name="TextBox 17"/>
          <p:cNvSpPr/>
          <p:nvPr/>
        </p:nvSpPr>
        <p:spPr>
          <a:xfrm>
            <a:off x="4784760" y="2266200"/>
            <a:ext cx="316980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aaaaaa"/>
                </a:solidFill>
                <a:latin typeface="Calibri"/>
                <a:ea typeface="DejaVu Sans"/>
              </a:rPr>
              <a:t>The idea that later became Java.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90" name="Rounded Rectangle 44"/>
          <p:cNvSpPr/>
          <p:nvPr/>
        </p:nvSpPr>
        <p:spPr>
          <a:xfrm>
            <a:off x="1086840" y="3506040"/>
            <a:ext cx="3619800" cy="301500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91" name="Rounded Rectangle 45"/>
          <p:cNvSpPr/>
          <p:nvPr/>
        </p:nvSpPr>
        <p:spPr>
          <a:xfrm>
            <a:off x="1006560" y="3424320"/>
            <a:ext cx="3620160" cy="301536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1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Project Oak (1991)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Sun Microsystems internal project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Led by James Gosling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Small, focused team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Original name: Oak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Purpose: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Software for smart devices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(TVs, set-top boxes, embedded systems)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92" name="Rounded Rectangle 46"/>
          <p:cNvSpPr/>
          <p:nvPr/>
        </p:nvSpPr>
        <p:spPr>
          <a:xfrm>
            <a:off x="4968360" y="3506040"/>
            <a:ext cx="3619800" cy="301500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93" name="Rounded Rectangle 48"/>
          <p:cNvSpPr/>
          <p:nvPr/>
        </p:nvSpPr>
        <p:spPr>
          <a:xfrm>
            <a:off x="8849160" y="3506040"/>
            <a:ext cx="3619800" cy="301500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94" name="Rounded Rectangle 49"/>
          <p:cNvSpPr/>
          <p:nvPr/>
        </p:nvSpPr>
        <p:spPr>
          <a:xfrm>
            <a:off x="8767440" y="3425760"/>
            <a:ext cx="3620160" cy="301536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class OakIdea {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static void main(String[] args) {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boolean runEverywhere = true;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if (runEverywhere) {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    </a:t>
            </a: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System.out.println("This idea will change software");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95" name="TextBox 20"/>
          <p:cNvSpPr/>
          <p:nvPr/>
        </p:nvSpPr>
        <p:spPr>
          <a:xfrm>
            <a:off x="5224320" y="7104600"/>
            <a:ext cx="305100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Java • Ultra Premium Template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96" name="Rounded Rectangle 1"/>
          <p:cNvSpPr/>
          <p:nvPr/>
        </p:nvSpPr>
        <p:spPr>
          <a:xfrm>
            <a:off x="4941000" y="3449880"/>
            <a:ext cx="3620160" cy="301536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1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The Core Idea Behind Oak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Simple syntax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Strong security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No direct hardware dependency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Automatic memory management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Revolutionary thought: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One language for many devices.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“</a:t>
            </a:r>
            <a:r>
              <a:rPr b="1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The same code should run everywhere.”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7" name="Rectangle 97"/>
          <p:cNvSpPr/>
          <p:nvPr/>
        </p:nvSpPr>
        <p:spPr>
          <a:xfrm>
            <a:off x="1440" y="1800"/>
            <a:ext cx="13427640" cy="7551000"/>
          </a:xfrm>
          <a:prstGeom prst="rect">
            <a:avLst/>
          </a:prstGeom>
          <a:solidFill>
            <a:srgbClr val="0b0b0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98" name="Rectangle 98"/>
          <p:cNvSpPr/>
          <p:nvPr/>
        </p:nvSpPr>
        <p:spPr>
          <a:xfrm>
            <a:off x="1440" y="1800"/>
            <a:ext cx="11880" cy="75510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99" name="Rectangle 99"/>
          <p:cNvSpPr/>
          <p:nvPr/>
        </p:nvSpPr>
        <p:spPr>
          <a:xfrm>
            <a:off x="1005480" y="1800"/>
            <a:ext cx="11880" cy="75510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00" name="Rectangle 100"/>
          <p:cNvSpPr/>
          <p:nvPr/>
        </p:nvSpPr>
        <p:spPr>
          <a:xfrm>
            <a:off x="2013480" y="1800"/>
            <a:ext cx="11880" cy="75510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01" name="Rectangle 101"/>
          <p:cNvSpPr/>
          <p:nvPr/>
        </p:nvSpPr>
        <p:spPr>
          <a:xfrm>
            <a:off x="3021480" y="1800"/>
            <a:ext cx="11880" cy="75510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02" name="Rectangle 102"/>
          <p:cNvSpPr/>
          <p:nvPr/>
        </p:nvSpPr>
        <p:spPr>
          <a:xfrm>
            <a:off x="4029480" y="1800"/>
            <a:ext cx="11880" cy="75510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03" name="Rectangle 103"/>
          <p:cNvSpPr/>
          <p:nvPr/>
        </p:nvSpPr>
        <p:spPr>
          <a:xfrm>
            <a:off x="5037480" y="1800"/>
            <a:ext cx="11880" cy="75510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04" name="Rectangle 104"/>
          <p:cNvSpPr/>
          <p:nvPr/>
        </p:nvSpPr>
        <p:spPr>
          <a:xfrm>
            <a:off x="6045480" y="1800"/>
            <a:ext cx="11880" cy="75510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05" name="Rectangle 105"/>
          <p:cNvSpPr/>
          <p:nvPr/>
        </p:nvSpPr>
        <p:spPr>
          <a:xfrm>
            <a:off x="7053480" y="1800"/>
            <a:ext cx="11880" cy="75510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06" name="Rectangle 106"/>
          <p:cNvSpPr/>
          <p:nvPr/>
        </p:nvSpPr>
        <p:spPr>
          <a:xfrm>
            <a:off x="8061480" y="1800"/>
            <a:ext cx="11880" cy="75510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07" name="Rectangle 107"/>
          <p:cNvSpPr/>
          <p:nvPr/>
        </p:nvSpPr>
        <p:spPr>
          <a:xfrm>
            <a:off x="9069480" y="1800"/>
            <a:ext cx="11880" cy="75510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08" name="Rectangle 108"/>
          <p:cNvSpPr/>
          <p:nvPr/>
        </p:nvSpPr>
        <p:spPr>
          <a:xfrm>
            <a:off x="10077480" y="1800"/>
            <a:ext cx="11880" cy="75510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09" name="Rectangle 109"/>
          <p:cNvSpPr/>
          <p:nvPr/>
        </p:nvSpPr>
        <p:spPr>
          <a:xfrm>
            <a:off x="11085480" y="1800"/>
            <a:ext cx="11880" cy="75510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10" name="Rectangle 110"/>
          <p:cNvSpPr/>
          <p:nvPr/>
        </p:nvSpPr>
        <p:spPr>
          <a:xfrm>
            <a:off x="12093480" y="1800"/>
            <a:ext cx="11880" cy="75510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11" name="Rectangle 111"/>
          <p:cNvSpPr/>
          <p:nvPr/>
        </p:nvSpPr>
        <p:spPr>
          <a:xfrm>
            <a:off x="13101480" y="1800"/>
            <a:ext cx="11880" cy="75510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12" name="Rectangle 112"/>
          <p:cNvSpPr/>
          <p:nvPr/>
        </p:nvSpPr>
        <p:spPr>
          <a:xfrm>
            <a:off x="1440" y="1800"/>
            <a:ext cx="343800" cy="7551000"/>
          </a:xfrm>
          <a:prstGeom prst="rect">
            <a:avLst/>
          </a:prstGeom>
          <a:solidFill>
            <a:srgbClr val="ff8c0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13" name="Rounded Rectangle 47"/>
          <p:cNvSpPr/>
          <p:nvPr/>
        </p:nvSpPr>
        <p:spPr>
          <a:xfrm>
            <a:off x="10884960" y="401400"/>
            <a:ext cx="2208240" cy="544320"/>
          </a:xfrm>
          <a:prstGeom prst="roundRect">
            <a:avLst>
              <a:gd name="adj" fmla="val 16667"/>
            </a:avLst>
          </a:prstGeom>
          <a:solidFill>
            <a:srgbClr val="1e1e24"/>
          </a:solidFill>
          <a:ln>
            <a:solidFill>
              <a:srgbClr val="ff8c0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1" lang="en-US" sz="1400" spc="-1" strike="noStrike">
                <a:solidFill>
                  <a:srgbClr val="ffb45a"/>
                </a:solidFill>
                <a:latin typeface="Calibri"/>
                <a:ea typeface="DejaVu Sans"/>
              </a:rPr>
              <a:t>JAVA CORE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14" name="TextBox 21"/>
          <p:cNvSpPr/>
          <p:nvPr/>
        </p:nvSpPr>
        <p:spPr>
          <a:xfrm>
            <a:off x="1764720" y="1107360"/>
            <a:ext cx="8575200" cy="729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en-US" sz="4200" spc="-1" strike="noStrike">
                <a:solidFill>
                  <a:srgbClr val="f5f5f5"/>
                </a:solidFill>
                <a:latin typeface="Calibri"/>
                <a:ea typeface="DejaVu Sans"/>
              </a:rPr>
              <a:t>            </a:t>
            </a:r>
            <a:r>
              <a:rPr b="1" lang="en-US" sz="4200" spc="-1" strike="noStrike">
                <a:solidFill>
                  <a:srgbClr val="f5f5f5"/>
                </a:solidFill>
                <a:latin typeface="Calibri"/>
                <a:ea typeface="DejaVu Sans"/>
              </a:rPr>
              <a:t>Java History – From Oak to Java</a:t>
            </a:r>
            <a:endParaRPr b="0" lang="en-US" sz="4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15" name="TextBox 22"/>
          <p:cNvSpPr/>
          <p:nvPr/>
        </p:nvSpPr>
        <p:spPr>
          <a:xfrm>
            <a:off x="3970080" y="2266200"/>
            <a:ext cx="479880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aaaaaa"/>
                </a:solidFill>
                <a:latin typeface="Calibri"/>
                <a:ea typeface="DejaVu Sans"/>
              </a:rPr>
              <a:t>How Oak became Java and found its real purpose.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16" name="Rounded Rectangle 50"/>
          <p:cNvSpPr/>
          <p:nvPr/>
        </p:nvSpPr>
        <p:spPr>
          <a:xfrm>
            <a:off x="1086840" y="3506040"/>
            <a:ext cx="3619800" cy="301500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17" name="Rounded Rectangle 51"/>
          <p:cNvSpPr/>
          <p:nvPr/>
        </p:nvSpPr>
        <p:spPr>
          <a:xfrm>
            <a:off x="1006560" y="3425040"/>
            <a:ext cx="3620160" cy="301536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The Turning Point (1994)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What went wrong?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• </a:t>
            </a: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Smart TV market failed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• </a:t>
            </a: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Oak had no commercial future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• </a:t>
            </a: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Project almost canceled ❌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But something changed…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• </a:t>
            </a: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Internet started to grow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• </a:t>
            </a: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Web browsers became popular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• </a:t>
            </a: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Need for portable, secure code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Key realization: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“</a:t>
            </a: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The future is not TVs — it’s the Web.”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18" name="Rounded Rectangle 52"/>
          <p:cNvSpPr/>
          <p:nvPr/>
        </p:nvSpPr>
        <p:spPr>
          <a:xfrm>
            <a:off x="4968360" y="3506040"/>
            <a:ext cx="3619800" cy="301500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19" name="Rounded Rectangle 53"/>
          <p:cNvSpPr/>
          <p:nvPr/>
        </p:nvSpPr>
        <p:spPr>
          <a:xfrm>
            <a:off x="8849160" y="3506040"/>
            <a:ext cx="3619800" cy="301500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20" name="Rounded Rectangle 54"/>
          <p:cNvSpPr/>
          <p:nvPr/>
        </p:nvSpPr>
        <p:spPr>
          <a:xfrm>
            <a:off x="8767440" y="3425040"/>
            <a:ext cx="3620160" cy="301536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class WebFuture {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static void main(String[] args) {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boolean internetEra = true;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if (internetEra) {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    </a:t>
            </a: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      </a:t>
            </a: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"Java is ready for the Web!"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    </a:t>
            </a: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);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21" name="TextBox 23"/>
          <p:cNvSpPr/>
          <p:nvPr/>
        </p:nvSpPr>
        <p:spPr>
          <a:xfrm>
            <a:off x="5224320" y="7104600"/>
            <a:ext cx="305100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Java • Ultra Premium Template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22" name="Rounded Rectangle 55"/>
          <p:cNvSpPr/>
          <p:nvPr/>
        </p:nvSpPr>
        <p:spPr>
          <a:xfrm>
            <a:off x="4941000" y="3449520"/>
            <a:ext cx="3620160" cy="301536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The Web Opportunity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Why Oak was perfect for the Internet?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• </a:t>
            </a: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Platform-independent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• </a:t>
            </a: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Secure by design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• </a:t>
            </a: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Small &amp; efficient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• </a:t>
            </a: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No direct hardware dependency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New direction: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• </a:t>
            </a: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From devices → browsers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• </a:t>
            </a: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From Oak → Java ☕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1995: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Java officially introduced to the world.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Rectangle 113"/>
          <p:cNvSpPr/>
          <p:nvPr/>
        </p:nvSpPr>
        <p:spPr>
          <a:xfrm>
            <a:off x="1440" y="1800"/>
            <a:ext cx="13427640" cy="7551000"/>
          </a:xfrm>
          <a:prstGeom prst="rect">
            <a:avLst/>
          </a:prstGeom>
          <a:solidFill>
            <a:srgbClr val="0b0b0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24" name="Rectangle 114"/>
          <p:cNvSpPr/>
          <p:nvPr/>
        </p:nvSpPr>
        <p:spPr>
          <a:xfrm>
            <a:off x="1440" y="1800"/>
            <a:ext cx="11880" cy="75510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25" name="Rectangle 115"/>
          <p:cNvSpPr/>
          <p:nvPr/>
        </p:nvSpPr>
        <p:spPr>
          <a:xfrm>
            <a:off x="1005480" y="1800"/>
            <a:ext cx="11880" cy="75510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26" name="Rectangle 116"/>
          <p:cNvSpPr/>
          <p:nvPr/>
        </p:nvSpPr>
        <p:spPr>
          <a:xfrm>
            <a:off x="2013480" y="1800"/>
            <a:ext cx="11880" cy="75510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27" name="Rectangle 117"/>
          <p:cNvSpPr/>
          <p:nvPr/>
        </p:nvSpPr>
        <p:spPr>
          <a:xfrm>
            <a:off x="3021480" y="1800"/>
            <a:ext cx="11880" cy="75510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28" name="Rectangle 118"/>
          <p:cNvSpPr/>
          <p:nvPr/>
        </p:nvSpPr>
        <p:spPr>
          <a:xfrm>
            <a:off x="4029480" y="1800"/>
            <a:ext cx="11880" cy="75510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29" name="Rectangle 119"/>
          <p:cNvSpPr/>
          <p:nvPr/>
        </p:nvSpPr>
        <p:spPr>
          <a:xfrm>
            <a:off x="5037480" y="1800"/>
            <a:ext cx="11880" cy="75510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30" name="Rectangle 120"/>
          <p:cNvSpPr/>
          <p:nvPr/>
        </p:nvSpPr>
        <p:spPr>
          <a:xfrm>
            <a:off x="6045480" y="1800"/>
            <a:ext cx="11880" cy="75510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31" name="Rectangle 121"/>
          <p:cNvSpPr/>
          <p:nvPr/>
        </p:nvSpPr>
        <p:spPr>
          <a:xfrm>
            <a:off x="7053480" y="1800"/>
            <a:ext cx="11880" cy="75510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32" name="Rectangle 122"/>
          <p:cNvSpPr/>
          <p:nvPr/>
        </p:nvSpPr>
        <p:spPr>
          <a:xfrm>
            <a:off x="8061480" y="1800"/>
            <a:ext cx="11880" cy="75510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33" name="Rectangle 123"/>
          <p:cNvSpPr/>
          <p:nvPr/>
        </p:nvSpPr>
        <p:spPr>
          <a:xfrm>
            <a:off x="9069480" y="1800"/>
            <a:ext cx="11880" cy="75510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34" name="Rectangle 124"/>
          <p:cNvSpPr/>
          <p:nvPr/>
        </p:nvSpPr>
        <p:spPr>
          <a:xfrm>
            <a:off x="10077480" y="1800"/>
            <a:ext cx="11880" cy="75510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35" name="Rectangle 125"/>
          <p:cNvSpPr/>
          <p:nvPr/>
        </p:nvSpPr>
        <p:spPr>
          <a:xfrm>
            <a:off x="11085480" y="1800"/>
            <a:ext cx="11880" cy="75510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36" name="Rectangle 126"/>
          <p:cNvSpPr/>
          <p:nvPr/>
        </p:nvSpPr>
        <p:spPr>
          <a:xfrm>
            <a:off x="12093480" y="1800"/>
            <a:ext cx="11880" cy="75510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37" name="Rectangle 127"/>
          <p:cNvSpPr/>
          <p:nvPr/>
        </p:nvSpPr>
        <p:spPr>
          <a:xfrm>
            <a:off x="13101480" y="1800"/>
            <a:ext cx="11880" cy="75510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38" name="Rectangle 128"/>
          <p:cNvSpPr/>
          <p:nvPr/>
        </p:nvSpPr>
        <p:spPr>
          <a:xfrm>
            <a:off x="1440" y="1800"/>
            <a:ext cx="343800" cy="7551000"/>
          </a:xfrm>
          <a:prstGeom prst="rect">
            <a:avLst/>
          </a:prstGeom>
          <a:solidFill>
            <a:srgbClr val="ff8c0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39" name="Rounded Rectangle 56"/>
          <p:cNvSpPr/>
          <p:nvPr/>
        </p:nvSpPr>
        <p:spPr>
          <a:xfrm>
            <a:off x="10884960" y="401400"/>
            <a:ext cx="2208240" cy="544320"/>
          </a:xfrm>
          <a:prstGeom prst="roundRect">
            <a:avLst>
              <a:gd name="adj" fmla="val 16667"/>
            </a:avLst>
          </a:prstGeom>
          <a:solidFill>
            <a:srgbClr val="1e1e24"/>
          </a:solidFill>
          <a:ln>
            <a:solidFill>
              <a:srgbClr val="ff8c0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1" lang="en-US" sz="1400" spc="-1" strike="noStrike">
                <a:solidFill>
                  <a:srgbClr val="ffb45a"/>
                </a:solidFill>
                <a:latin typeface="Calibri"/>
                <a:ea typeface="DejaVu Sans"/>
              </a:rPr>
              <a:t>JAVA CORE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40" name="TextBox 24"/>
          <p:cNvSpPr/>
          <p:nvPr/>
        </p:nvSpPr>
        <p:spPr>
          <a:xfrm>
            <a:off x="179640" y="1107360"/>
            <a:ext cx="11750040" cy="729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en-US" sz="4200" spc="-1" strike="noStrike">
                <a:solidFill>
                  <a:srgbClr val="f5f5f5"/>
                </a:solidFill>
                <a:latin typeface="Calibri"/>
                <a:ea typeface="DejaVu Sans"/>
              </a:rPr>
              <a:t>             </a:t>
            </a:r>
            <a:r>
              <a:rPr b="1" lang="en-US" sz="4200" spc="-1" strike="noStrike">
                <a:solidFill>
                  <a:srgbClr val="f5f5f5"/>
                </a:solidFill>
                <a:latin typeface="Calibri"/>
                <a:ea typeface="DejaVu Sans"/>
              </a:rPr>
              <a:t>Java Philosophy – Write Once, Run Anywhere</a:t>
            </a:r>
            <a:endParaRPr b="0" lang="en-US" sz="4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41" name="TextBox 25"/>
          <p:cNvSpPr/>
          <p:nvPr/>
        </p:nvSpPr>
        <p:spPr>
          <a:xfrm>
            <a:off x="3797640" y="2266200"/>
            <a:ext cx="514620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aaaaaa"/>
                </a:solidFill>
                <a:latin typeface="Calibri"/>
                <a:ea typeface="DejaVu Sans"/>
              </a:rPr>
              <a:t>The idea that changed software development forever.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42" name="Rounded Rectangle 57"/>
          <p:cNvSpPr/>
          <p:nvPr/>
        </p:nvSpPr>
        <p:spPr>
          <a:xfrm>
            <a:off x="1086840" y="3506040"/>
            <a:ext cx="3619800" cy="301500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43" name="Rounded Rectangle 58"/>
          <p:cNvSpPr/>
          <p:nvPr/>
        </p:nvSpPr>
        <p:spPr>
          <a:xfrm>
            <a:off x="1006560" y="3425040"/>
            <a:ext cx="3620160" cy="301536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The Big Promise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Before Java: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• </a:t>
            </a: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One OS = one build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• </a:t>
            </a: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Recompile for every system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• </a:t>
            </a: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High maintenance cost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With Java: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• </a:t>
            </a: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One source code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• </a:t>
            </a: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One compiled bytecode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• </a:t>
            </a: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Runs everywhere 🌍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Famous slogan: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Write Once, Run Anywhere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44" name="Rounded Rectangle 59"/>
          <p:cNvSpPr/>
          <p:nvPr/>
        </p:nvSpPr>
        <p:spPr>
          <a:xfrm>
            <a:off x="4968360" y="3506040"/>
            <a:ext cx="3619800" cy="301500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45" name="Rounded Rectangle 60"/>
          <p:cNvSpPr/>
          <p:nvPr/>
        </p:nvSpPr>
        <p:spPr>
          <a:xfrm>
            <a:off x="8849160" y="3506040"/>
            <a:ext cx="3619800" cy="301500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46" name="Rounded Rectangle 61"/>
          <p:cNvSpPr/>
          <p:nvPr/>
        </p:nvSpPr>
        <p:spPr>
          <a:xfrm>
            <a:off x="8767440" y="3425040"/>
            <a:ext cx="3620160" cy="301536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class Anywhere {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static void main(String[] args) {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String os = System.getProperty("os.name");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  </a:t>
            </a: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"Running on: " + os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);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  </a:t>
            </a: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"Same code. Same result."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);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47" name="TextBox 27"/>
          <p:cNvSpPr/>
          <p:nvPr/>
        </p:nvSpPr>
        <p:spPr>
          <a:xfrm>
            <a:off x="5224320" y="7104600"/>
            <a:ext cx="305100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Java • Ultra Premium Template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48" name="Rounded Rectangle 62"/>
          <p:cNvSpPr/>
          <p:nvPr/>
        </p:nvSpPr>
        <p:spPr>
          <a:xfrm>
            <a:off x="4941000" y="3450960"/>
            <a:ext cx="3620160" cy="301536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How It Works (Simple View)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Java execution model: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• </a:t>
            </a: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Java Source Code (.java)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↓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• </a:t>
            </a: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Java Compiler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↓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• </a:t>
            </a: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Bytecode (.class)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↓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• </a:t>
            </a: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JVM (per OS)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↓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• </a:t>
            </a: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Runs on any platform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9" name="Rectangle 129"/>
          <p:cNvSpPr/>
          <p:nvPr/>
        </p:nvSpPr>
        <p:spPr>
          <a:xfrm>
            <a:off x="16920" y="1800"/>
            <a:ext cx="13427640" cy="7551000"/>
          </a:xfrm>
          <a:prstGeom prst="rect">
            <a:avLst/>
          </a:prstGeom>
          <a:solidFill>
            <a:srgbClr val="0b0b0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50" name="Rectangle 130"/>
          <p:cNvSpPr/>
          <p:nvPr/>
        </p:nvSpPr>
        <p:spPr>
          <a:xfrm>
            <a:off x="1440" y="1800"/>
            <a:ext cx="11880" cy="75510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51" name="Rectangle 131"/>
          <p:cNvSpPr/>
          <p:nvPr/>
        </p:nvSpPr>
        <p:spPr>
          <a:xfrm>
            <a:off x="1005480" y="1800"/>
            <a:ext cx="11880" cy="75510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52" name="Rectangle 132"/>
          <p:cNvSpPr/>
          <p:nvPr/>
        </p:nvSpPr>
        <p:spPr>
          <a:xfrm>
            <a:off x="2013480" y="1800"/>
            <a:ext cx="11880" cy="75510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53" name="Rectangle 133"/>
          <p:cNvSpPr/>
          <p:nvPr/>
        </p:nvSpPr>
        <p:spPr>
          <a:xfrm>
            <a:off x="3021480" y="1800"/>
            <a:ext cx="11880" cy="75510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54" name="Rectangle 134"/>
          <p:cNvSpPr/>
          <p:nvPr/>
        </p:nvSpPr>
        <p:spPr>
          <a:xfrm>
            <a:off x="4029480" y="1800"/>
            <a:ext cx="11880" cy="75510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55" name="Rectangle 135"/>
          <p:cNvSpPr/>
          <p:nvPr/>
        </p:nvSpPr>
        <p:spPr>
          <a:xfrm>
            <a:off x="5037480" y="1800"/>
            <a:ext cx="11880" cy="75510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56" name="Rectangle 136"/>
          <p:cNvSpPr/>
          <p:nvPr/>
        </p:nvSpPr>
        <p:spPr>
          <a:xfrm>
            <a:off x="6045480" y="1800"/>
            <a:ext cx="11880" cy="75510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57" name="Rectangle 137"/>
          <p:cNvSpPr/>
          <p:nvPr/>
        </p:nvSpPr>
        <p:spPr>
          <a:xfrm>
            <a:off x="7053480" y="1800"/>
            <a:ext cx="11880" cy="75510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58" name="Rectangle 138"/>
          <p:cNvSpPr/>
          <p:nvPr/>
        </p:nvSpPr>
        <p:spPr>
          <a:xfrm>
            <a:off x="8061480" y="1800"/>
            <a:ext cx="11880" cy="75510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59" name="Rectangle 139"/>
          <p:cNvSpPr/>
          <p:nvPr/>
        </p:nvSpPr>
        <p:spPr>
          <a:xfrm>
            <a:off x="9069480" y="1800"/>
            <a:ext cx="11880" cy="75510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60" name="Rectangle 140"/>
          <p:cNvSpPr/>
          <p:nvPr/>
        </p:nvSpPr>
        <p:spPr>
          <a:xfrm>
            <a:off x="10077480" y="1800"/>
            <a:ext cx="11880" cy="75510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61" name="Rectangle 141"/>
          <p:cNvSpPr/>
          <p:nvPr/>
        </p:nvSpPr>
        <p:spPr>
          <a:xfrm>
            <a:off x="11085480" y="1800"/>
            <a:ext cx="11880" cy="75510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62" name="Rectangle 142"/>
          <p:cNvSpPr/>
          <p:nvPr/>
        </p:nvSpPr>
        <p:spPr>
          <a:xfrm>
            <a:off x="12093480" y="1800"/>
            <a:ext cx="11880" cy="75510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63" name="Rectangle 143"/>
          <p:cNvSpPr/>
          <p:nvPr/>
        </p:nvSpPr>
        <p:spPr>
          <a:xfrm>
            <a:off x="13101480" y="1800"/>
            <a:ext cx="11880" cy="75510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64" name="Rectangle 144"/>
          <p:cNvSpPr/>
          <p:nvPr/>
        </p:nvSpPr>
        <p:spPr>
          <a:xfrm>
            <a:off x="1440" y="1800"/>
            <a:ext cx="343800" cy="7551000"/>
          </a:xfrm>
          <a:prstGeom prst="rect">
            <a:avLst/>
          </a:prstGeom>
          <a:solidFill>
            <a:srgbClr val="ff8c0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65" name="Rounded Rectangle 63"/>
          <p:cNvSpPr/>
          <p:nvPr/>
        </p:nvSpPr>
        <p:spPr>
          <a:xfrm>
            <a:off x="10884960" y="401400"/>
            <a:ext cx="2208240" cy="544320"/>
          </a:xfrm>
          <a:prstGeom prst="roundRect">
            <a:avLst>
              <a:gd name="adj" fmla="val 16667"/>
            </a:avLst>
          </a:prstGeom>
          <a:solidFill>
            <a:srgbClr val="1e1e24"/>
          </a:solidFill>
          <a:ln>
            <a:solidFill>
              <a:srgbClr val="ff8c0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1" lang="en-US" sz="1400" spc="-1" strike="noStrike">
                <a:solidFill>
                  <a:srgbClr val="ffb45a"/>
                </a:solidFill>
                <a:latin typeface="Calibri"/>
                <a:ea typeface="DejaVu Sans"/>
              </a:rPr>
              <a:t>JAVA CORE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66" name="TextBox 28"/>
          <p:cNvSpPr/>
          <p:nvPr/>
        </p:nvSpPr>
        <p:spPr>
          <a:xfrm>
            <a:off x="3444480" y="1107360"/>
            <a:ext cx="5216400" cy="729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en-US" sz="4200" spc="-1" strike="noStrike">
                <a:solidFill>
                  <a:srgbClr val="f5f5f5"/>
                </a:solidFill>
                <a:latin typeface="Calibri"/>
                <a:ea typeface="DejaVu Sans"/>
              </a:rPr>
              <a:t>    </a:t>
            </a:r>
            <a:r>
              <a:rPr b="1" lang="en-US" sz="4200" spc="-1" strike="noStrike">
                <a:solidFill>
                  <a:srgbClr val="f5f5f5"/>
                </a:solidFill>
                <a:latin typeface="Calibri"/>
                <a:ea typeface="DejaVu Sans"/>
              </a:rPr>
              <a:t>Java Goes Enterprise</a:t>
            </a:r>
            <a:endParaRPr b="0" lang="en-US" sz="4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67" name="TextBox 29"/>
          <p:cNvSpPr/>
          <p:nvPr/>
        </p:nvSpPr>
        <p:spPr>
          <a:xfrm>
            <a:off x="4513680" y="2266200"/>
            <a:ext cx="371376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aaaaaa"/>
                </a:solidFill>
                <a:latin typeface="Calibri"/>
                <a:ea typeface="DejaVu Sans"/>
              </a:rPr>
              <a:t>How Java entered large-scale systems.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68" name="Rounded Rectangle 64"/>
          <p:cNvSpPr/>
          <p:nvPr/>
        </p:nvSpPr>
        <p:spPr>
          <a:xfrm>
            <a:off x="1086840" y="3506040"/>
            <a:ext cx="3619800" cy="301500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69" name="Rounded Rectangle 65"/>
          <p:cNvSpPr/>
          <p:nvPr/>
        </p:nvSpPr>
        <p:spPr>
          <a:xfrm>
            <a:off x="1006560" y="3425040"/>
            <a:ext cx="3620160" cy="301536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In the late 1990s, the Internet rapidly expanded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Companies needed software that could scale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Security became a critical requirement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Systems had to run on different operating systems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Java solved these problems with: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lvl="1" marL="432000" indent="-216000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Platform independence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lvl="1" marL="432000" indent="-216000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Strong object-oriented design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lvl="1" marL="432000" indent="-216000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Built-in security features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Result: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Java became the preferred language for enterprise systems.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70" name="Rounded Rectangle 66"/>
          <p:cNvSpPr/>
          <p:nvPr/>
        </p:nvSpPr>
        <p:spPr>
          <a:xfrm>
            <a:off x="4968360" y="3506040"/>
            <a:ext cx="3619800" cy="301500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71" name="Rounded Rectangle 67"/>
          <p:cNvSpPr/>
          <p:nvPr/>
        </p:nvSpPr>
        <p:spPr>
          <a:xfrm>
            <a:off x="8849160" y="3506040"/>
            <a:ext cx="3619800" cy="301500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72" name="Rounded Rectangle 68"/>
          <p:cNvSpPr/>
          <p:nvPr/>
        </p:nvSpPr>
        <p:spPr>
          <a:xfrm>
            <a:off x="8767440" y="3425040"/>
            <a:ext cx="3620160" cy="301536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6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class Enterprise {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6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6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static void main(String[] args) {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6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6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System.out.println("Java enters the enterprise world!");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6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6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6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73" name="TextBox 30"/>
          <p:cNvSpPr/>
          <p:nvPr/>
        </p:nvSpPr>
        <p:spPr>
          <a:xfrm>
            <a:off x="5224320" y="7104600"/>
            <a:ext cx="305100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Java • Ultra Premium Template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74" name="Rounded Rectangle 69"/>
          <p:cNvSpPr/>
          <p:nvPr/>
        </p:nvSpPr>
        <p:spPr>
          <a:xfrm>
            <a:off x="4941000" y="3450960"/>
            <a:ext cx="3620160" cy="301536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1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Java adoption path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↓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Web applications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↓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Databases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↓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Enterprise systems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5" name="Rectangle 145"/>
          <p:cNvSpPr/>
          <p:nvPr/>
        </p:nvSpPr>
        <p:spPr>
          <a:xfrm>
            <a:off x="16920" y="1800"/>
            <a:ext cx="13427640" cy="7551000"/>
          </a:xfrm>
          <a:prstGeom prst="rect">
            <a:avLst/>
          </a:prstGeom>
          <a:solidFill>
            <a:srgbClr val="0b0b0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76" name="Rectangle 146"/>
          <p:cNvSpPr/>
          <p:nvPr/>
        </p:nvSpPr>
        <p:spPr>
          <a:xfrm>
            <a:off x="1440" y="1800"/>
            <a:ext cx="11880" cy="75510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77" name="Rectangle 147"/>
          <p:cNvSpPr/>
          <p:nvPr/>
        </p:nvSpPr>
        <p:spPr>
          <a:xfrm>
            <a:off x="1005480" y="1800"/>
            <a:ext cx="11880" cy="75510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78" name="Rectangle 148"/>
          <p:cNvSpPr/>
          <p:nvPr/>
        </p:nvSpPr>
        <p:spPr>
          <a:xfrm>
            <a:off x="2013480" y="1800"/>
            <a:ext cx="11880" cy="75510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79" name="Rectangle 149"/>
          <p:cNvSpPr/>
          <p:nvPr/>
        </p:nvSpPr>
        <p:spPr>
          <a:xfrm>
            <a:off x="3021480" y="1800"/>
            <a:ext cx="11880" cy="75510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80" name="Rectangle 150"/>
          <p:cNvSpPr/>
          <p:nvPr/>
        </p:nvSpPr>
        <p:spPr>
          <a:xfrm>
            <a:off x="4029480" y="1800"/>
            <a:ext cx="11880" cy="75510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81" name="Rectangle 151"/>
          <p:cNvSpPr/>
          <p:nvPr/>
        </p:nvSpPr>
        <p:spPr>
          <a:xfrm>
            <a:off x="5037480" y="1800"/>
            <a:ext cx="11880" cy="75510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82" name="Rectangle 152"/>
          <p:cNvSpPr/>
          <p:nvPr/>
        </p:nvSpPr>
        <p:spPr>
          <a:xfrm>
            <a:off x="6045480" y="1800"/>
            <a:ext cx="11880" cy="75510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83" name="Rectangle 153"/>
          <p:cNvSpPr/>
          <p:nvPr/>
        </p:nvSpPr>
        <p:spPr>
          <a:xfrm>
            <a:off x="7053480" y="1800"/>
            <a:ext cx="11880" cy="75510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84" name="Rectangle 154"/>
          <p:cNvSpPr/>
          <p:nvPr/>
        </p:nvSpPr>
        <p:spPr>
          <a:xfrm>
            <a:off x="8061480" y="1800"/>
            <a:ext cx="11880" cy="75510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85" name="Rectangle 155"/>
          <p:cNvSpPr/>
          <p:nvPr/>
        </p:nvSpPr>
        <p:spPr>
          <a:xfrm>
            <a:off x="9069480" y="1800"/>
            <a:ext cx="11880" cy="75510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86" name="Rectangle 156"/>
          <p:cNvSpPr/>
          <p:nvPr/>
        </p:nvSpPr>
        <p:spPr>
          <a:xfrm>
            <a:off x="10077480" y="1800"/>
            <a:ext cx="11880" cy="75510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87" name="Rectangle 157"/>
          <p:cNvSpPr/>
          <p:nvPr/>
        </p:nvSpPr>
        <p:spPr>
          <a:xfrm>
            <a:off x="11085480" y="1800"/>
            <a:ext cx="11880" cy="75510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88" name="Rectangle 158"/>
          <p:cNvSpPr/>
          <p:nvPr/>
        </p:nvSpPr>
        <p:spPr>
          <a:xfrm>
            <a:off x="12093480" y="1800"/>
            <a:ext cx="11880" cy="75510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89" name="Rectangle 159"/>
          <p:cNvSpPr/>
          <p:nvPr/>
        </p:nvSpPr>
        <p:spPr>
          <a:xfrm>
            <a:off x="13101480" y="1800"/>
            <a:ext cx="11880" cy="75510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90" name="Rectangle 160"/>
          <p:cNvSpPr/>
          <p:nvPr/>
        </p:nvSpPr>
        <p:spPr>
          <a:xfrm>
            <a:off x="1440" y="1800"/>
            <a:ext cx="343800" cy="7551000"/>
          </a:xfrm>
          <a:prstGeom prst="rect">
            <a:avLst/>
          </a:prstGeom>
          <a:solidFill>
            <a:srgbClr val="ff8c0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91" name="Rounded Rectangle 70"/>
          <p:cNvSpPr/>
          <p:nvPr/>
        </p:nvSpPr>
        <p:spPr>
          <a:xfrm>
            <a:off x="10884960" y="401400"/>
            <a:ext cx="2208240" cy="544320"/>
          </a:xfrm>
          <a:prstGeom prst="roundRect">
            <a:avLst>
              <a:gd name="adj" fmla="val 16667"/>
            </a:avLst>
          </a:prstGeom>
          <a:solidFill>
            <a:srgbClr val="1e1e24"/>
          </a:solidFill>
          <a:ln>
            <a:solidFill>
              <a:srgbClr val="ff8c0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1" lang="en-US" sz="1400" spc="-1" strike="noStrike">
                <a:solidFill>
                  <a:srgbClr val="ffb45a"/>
                </a:solidFill>
                <a:latin typeface="Calibri"/>
                <a:ea typeface="DejaVu Sans"/>
              </a:rPr>
              <a:t>JAVA CORE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92" name="TextBox 31"/>
          <p:cNvSpPr/>
          <p:nvPr/>
        </p:nvSpPr>
        <p:spPr>
          <a:xfrm>
            <a:off x="2260440" y="1107360"/>
            <a:ext cx="7587720" cy="729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en-US" sz="4200" spc="-1" strike="noStrike">
                <a:solidFill>
                  <a:srgbClr val="f5f5f5"/>
                </a:solidFill>
                <a:latin typeface="Calibri"/>
                <a:ea typeface="DejaVu Sans"/>
              </a:rPr>
              <a:t>           </a:t>
            </a:r>
            <a:r>
              <a:rPr b="1" lang="en-US" sz="4200" spc="-1" strike="noStrike">
                <a:solidFill>
                  <a:srgbClr val="f5f5f5"/>
                </a:solidFill>
                <a:latin typeface="Calibri"/>
                <a:ea typeface="DejaVu Sans"/>
              </a:rPr>
              <a:t>Java History – Java Versions</a:t>
            </a:r>
            <a:endParaRPr b="0" lang="en-US" sz="4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93" name="TextBox 32"/>
          <p:cNvSpPr/>
          <p:nvPr/>
        </p:nvSpPr>
        <p:spPr>
          <a:xfrm>
            <a:off x="4847040" y="2266200"/>
            <a:ext cx="304632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aaaaaa"/>
                </a:solidFill>
                <a:latin typeface="Calibri"/>
                <a:ea typeface="DejaVu Sans"/>
              </a:rPr>
              <a:t>How Java evolved step by step.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94" name="Rounded Rectangle 71"/>
          <p:cNvSpPr/>
          <p:nvPr/>
        </p:nvSpPr>
        <p:spPr>
          <a:xfrm>
            <a:off x="1086840" y="3506040"/>
            <a:ext cx="3619800" cy="301500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95" name="Rounded Rectangle 72"/>
          <p:cNvSpPr/>
          <p:nvPr/>
        </p:nvSpPr>
        <p:spPr>
          <a:xfrm>
            <a:off x="1006560" y="3424320"/>
            <a:ext cx="3620160" cy="301536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After 1994, Java changed direction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The language was renamed from Oak to Java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Java started to be developed for the Web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Sun Microsystems decided to release Java publicly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From this point on, Java versions began to appear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i="1" lang="en-US" sz="1500" spc="-1" strike="noStrike" u="sng">
                <a:solidFill>
                  <a:schemeClr val="lt1"/>
                </a:solidFill>
                <a:uFillTx/>
                <a:latin typeface="Calibri"/>
                <a:ea typeface="DejaVu Sans"/>
              </a:rPr>
              <a:t>Key idea: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Each version improved Java without breaking the old ones.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96" name="Rounded Rectangle 73"/>
          <p:cNvSpPr/>
          <p:nvPr/>
        </p:nvSpPr>
        <p:spPr>
          <a:xfrm>
            <a:off x="4968360" y="3506040"/>
            <a:ext cx="3619800" cy="301500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97" name="Rounded Rectangle 74"/>
          <p:cNvSpPr/>
          <p:nvPr/>
        </p:nvSpPr>
        <p:spPr>
          <a:xfrm>
            <a:off x="8849160" y="3506040"/>
            <a:ext cx="3619800" cy="301500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98" name="Rounded Rectangle 75"/>
          <p:cNvSpPr/>
          <p:nvPr/>
        </p:nvSpPr>
        <p:spPr>
          <a:xfrm>
            <a:off x="8767440" y="3425040"/>
            <a:ext cx="3620160" cy="301536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97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6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class JavaVersionIntro {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6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6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static void main(String[] args) {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6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6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System.out.println("Java keeps evolving version by version.");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6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6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6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97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99" name="TextBox 33"/>
          <p:cNvSpPr/>
          <p:nvPr/>
        </p:nvSpPr>
        <p:spPr>
          <a:xfrm>
            <a:off x="5224320" y="7104600"/>
            <a:ext cx="305100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Java • Ultra Premium Template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00" name="Rounded Rectangle 76"/>
          <p:cNvSpPr/>
          <p:nvPr/>
        </p:nvSpPr>
        <p:spPr>
          <a:xfrm>
            <a:off x="4941000" y="3450960"/>
            <a:ext cx="3620160" cy="301536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Java versions are not rewrites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↓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They are gradual improvements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↓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New features + same core idea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Philosophy: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Write once, improve forever.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Rectangle 161"/>
          <p:cNvSpPr/>
          <p:nvPr/>
        </p:nvSpPr>
        <p:spPr>
          <a:xfrm>
            <a:off x="16920" y="1800"/>
            <a:ext cx="13427640" cy="7551000"/>
          </a:xfrm>
          <a:prstGeom prst="rect">
            <a:avLst/>
          </a:prstGeom>
          <a:solidFill>
            <a:srgbClr val="0b0b0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02" name="Rectangle 162"/>
          <p:cNvSpPr/>
          <p:nvPr/>
        </p:nvSpPr>
        <p:spPr>
          <a:xfrm>
            <a:off x="1440" y="1800"/>
            <a:ext cx="11880" cy="75510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03" name="Rectangle 163"/>
          <p:cNvSpPr/>
          <p:nvPr/>
        </p:nvSpPr>
        <p:spPr>
          <a:xfrm>
            <a:off x="1005480" y="1800"/>
            <a:ext cx="11880" cy="75510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04" name="Rectangle 164"/>
          <p:cNvSpPr/>
          <p:nvPr/>
        </p:nvSpPr>
        <p:spPr>
          <a:xfrm>
            <a:off x="2013480" y="1800"/>
            <a:ext cx="11880" cy="75510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05" name="Rectangle 165"/>
          <p:cNvSpPr/>
          <p:nvPr/>
        </p:nvSpPr>
        <p:spPr>
          <a:xfrm>
            <a:off x="3021480" y="1800"/>
            <a:ext cx="11880" cy="75510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06" name="Rectangle 166"/>
          <p:cNvSpPr/>
          <p:nvPr/>
        </p:nvSpPr>
        <p:spPr>
          <a:xfrm>
            <a:off x="4029480" y="1800"/>
            <a:ext cx="11880" cy="75510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07" name="Rectangle 167"/>
          <p:cNvSpPr/>
          <p:nvPr/>
        </p:nvSpPr>
        <p:spPr>
          <a:xfrm>
            <a:off x="5037480" y="1800"/>
            <a:ext cx="11880" cy="75510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08" name="Rectangle 168"/>
          <p:cNvSpPr/>
          <p:nvPr/>
        </p:nvSpPr>
        <p:spPr>
          <a:xfrm>
            <a:off x="6045480" y="1800"/>
            <a:ext cx="11880" cy="75510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09" name="Rectangle 169"/>
          <p:cNvSpPr/>
          <p:nvPr/>
        </p:nvSpPr>
        <p:spPr>
          <a:xfrm>
            <a:off x="7053480" y="1800"/>
            <a:ext cx="11880" cy="75510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10" name="Rectangle 170"/>
          <p:cNvSpPr/>
          <p:nvPr/>
        </p:nvSpPr>
        <p:spPr>
          <a:xfrm>
            <a:off x="8061480" y="1800"/>
            <a:ext cx="11880" cy="75510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11" name="Rectangle 171"/>
          <p:cNvSpPr/>
          <p:nvPr/>
        </p:nvSpPr>
        <p:spPr>
          <a:xfrm>
            <a:off x="9069480" y="1800"/>
            <a:ext cx="11880" cy="75510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12" name="Rectangle 172"/>
          <p:cNvSpPr/>
          <p:nvPr/>
        </p:nvSpPr>
        <p:spPr>
          <a:xfrm>
            <a:off x="10077480" y="1800"/>
            <a:ext cx="11880" cy="75510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13" name="Rectangle 173"/>
          <p:cNvSpPr/>
          <p:nvPr/>
        </p:nvSpPr>
        <p:spPr>
          <a:xfrm>
            <a:off x="11085480" y="1800"/>
            <a:ext cx="11880" cy="75510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14" name="Rectangle 174"/>
          <p:cNvSpPr/>
          <p:nvPr/>
        </p:nvSpPr>
        <p:spPr>
          <a:xfrm>
            <a:off x="12093480" y="1800"/>
            <a:ext cx="11880" cy="75510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15" name="Rectangle 175"/>
          <p:cNvSpPr/>
          <p:nvPr/>
        </p:nvSpPr>
        <p:spPr>
          <a:xfrm>
            <a:off x="13101480" y="1800"/>
            <a:ext cx="11880" cy="75510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16" name="Rectangle 176"/>
          <p:cNvSpPr/>
          <p:nvPr/>
        </p:nvSpPr>
        <p:spPr>
          <a:xfrm>
            <a:off x="1440" y="1800"/>
            <a:ext cx="343800" cy="7551000"/>
          </a:xfrm>
          <a:prstGeom prst="rect">
            <a:avLst/>
          </a:prstGeom>
          <a:solidFill>
            <a:srgbClr val="ff8c0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17" name="Rounded Rectangle 77"/>
          <p:cNvSpPr/>
          <p:nvPr/>
        </p:nvSpPr>
        <p:spPr>
          <a:xfrm>
            <a:off x="10884960" y="401400"/>
            <a:ext cx="2208240" cy="544320"/>
          </a:xfrm>
          <a:prstGeom prst="roundRect">
            <a:avLst>
              <a:gd name="adj" fmla="val 16667"/>
            </a:avLst>
          </a:prstGeom>
          <a:solidFill>
            <a:srgbClr val="1e1e24"/>
          </a:solidFill>
          <a:ln>
            <a:solidFill>
              <a:srgbClr val="ff8c0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1" lang="en-US" sz="1400" spc="-1" strike="noStrike">
                <a:solidFill>
                  <a:srgbClr val="ffb45a"/>
                </a:solidFill>
                <a:latin typeface="Calibri"/>
                <a:ea typeface="DejaVu Sans"/>
              </a:rPr>
              <a:t>JAVA CORE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18" name="TextBox 34"/>
          <p:cNvSpPr/>
          <p:nvPr/>
        </p:nvSpPr>
        <p:spPr>
          <a:xfrm>
            <a:off x="1610280" y="1107360"/>
            <a:ext cx="8890560" cy="729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en-US" sz="4200" spc="-1" strike="noStrike">
                <a:solidFill>
                  <a:srgbClr val="f5f5f5"/>
                </a:solidFill>
                <a:latin typeface="Calibri"/>
                <a:ea typeface="DejaVu Sans"/>
              </a:rPr>
              <a:t>          </a:t>
            </a:r>
            <a:r>
              <a:rPr b="1" lang="en-US" sz="4200" spc="-1" strike="noStrike">
                <a:solidFill>
                  <a:srgbClr val="f5f5f5"/>
                </a:solidFill>
                <a:latin typeface="Calibri"/>
                <a:ea typeface="DejaVu Sans"/>
              </a:rPr>
              <a:t>The Enterprise Boom (2000–2005)</a:t>
            </a:r>
            <a:endParaRPr b="0" lang="en-US" sz="4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19" name="TextBox 35"/>
          <p:cNvSpPr/>
          <p:nvPr/>
        </p:nvSpPr>
        <p:spPr>
          <a:xfrm>
            <a:off x="3708360" y="2266200"/>
            <a:ext cx="532476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aaaaaa"/>
                </a:solidFill>
                <a:latin typeface="Calibri"/>
                <a:ea typeface="DejaVu Sans"/>
              </a:rPr>
              <a:t>How Java became the backbone of enterprise software.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20" name="Rounded Rectangle 78"/>
          <p:cNvSpPr/>
          <p:nvPr/>
        </p:nvSpPr>
        <p:spPr>
          <a:xfrm>
            <a:off x="1086840" y="3506040"/>
            <a:ext cx="3619800" cy="301500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21" name="Rounded Rectangle 79"/>
          <p:cNvSpPr/>
          <p:nvPr/>
        </p:nvSpPr>
        <p:spPr>
          <a:xfrm>
            <a:off x="1006560" y="3424320"/>
            <a:ext cx="3620160" cy="301536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1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The early 2000s: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• </a:t>
            </a: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Internet usage exploded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• </a:t>
            </a: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E-commerce started to grow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• </a:t>
            </a: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Companies needed large-scale systems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• </a:t>
            </a: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Systems had to be: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  </a:t>
            </a: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- Reliable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  </a:t>
            </a: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- Secure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  </a:t>
            </a: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- Scalable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22" name="Rounded Rectangle 80"/>
          <p:cNvSpPr/>
          <p:nvPr/>
        </p:nvSpPr>
        <p:spPr>
          <a:xfrm>
            <a:off x="4968360" y="3506040"/>
            <a:ext cx="3619800" cy="301500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23" name="Rounded Rectangle 81"/>
          <p:cNvSpPr/>
          <p:nvPr/>
        </p:nvSpPr>
        <p:spPr>
          <a:xfrm>
            <a:off x="8849160" y="3506040"/>
            <a:ext cx="3619800" cy="301500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24" name="Rounded Rectangle 82"/>
          <p:cNvSpPr/>
          <p:nvPr/>
        </p:nvSpPr>
        <p:spPr>
          <a:xfrm>
            <a:off x="8767440" y="3425040"/>
            <a:ext cx="3620160" cy="301536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class EnterpriseEra {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static void main(String[] args) {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boolean systemOnline = true;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if (systemOnline) {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    </a:t>
            </a: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        </a:t>
            </a: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"Enterprise systems are running 24/7."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    </a:t>
            </a: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);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25" name="TextBox 36"/>
          <p:cNvSpPr/>
          <p:nvPr/>
        </p:nvSpPr>
        <p:spPr>
          <a:xfrm>
            <a:off x="5224320" y="7104600"/>
            <a:ext cx="305100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Java • Ultra Premium Template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26" name="Rounded Rectangle 83"/>
          <p:cNvSpPr/>
          <p:nvPr/>
        </p:nvSpPr>
        <p:spPr>
          <a:xfrm>
            <a:off x="4941000" y="3450960"/>
            <a:ext cx="3620160" cy="301536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1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Why Java dominated this era: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• </a:t>
            </a: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Java 2 Platform (J2SE, J2EE, J2ME)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• </a:t>
            </a: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Strong server-side programming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• </a:t>
            </a: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Multi-tier architecture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• </a:t>
            </a: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Built-in security model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• </a:t>
            </a: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Database-driven applications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7" name="Rectangle 177"/>
          <p:cNvSpPr/>
          <p:nvPr/>
        </p:nvSpPr>
        <p:spPr>
          <a:xfrm>
            <a:off x="16920" y="1800"/>
            <a:ext cx="13427640" cy="7551000"/>
          </a:xfrm>
          <a:prstGeom prst="rect">
            <a:avLst/>
          </a:prstGeom>
          <a:solidFill>
            <a:srgbClr val="0b0b0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28" name="Rectangle 178"/>
          <p:cNvSpPr/>
          <p:nvPr/>
        </p:nvSpPr>
        <p:spPr>
          <a:xfrm>
            <a:off x="1440" y="1800"/>
            <a:ext cx="11880" cy="75510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29" name="Rectangle 179"/>
          <p:cNvSpPr/>
          <p:nvPr/>
        </p:nvSpPr>
        <p:spPr>
          <a:xfrm>
            <a:off x="1005480" y="1800"/>
            <a:ext cx="11880" cy="75510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30" name="Rectangle 180"/>
          <p:cNvSpPr/>
          <p:nvPr/>
        </p:nvSpPr>
        <p:spPr>
          <a:xfrm>
            <a:off x="2013480" y="1800"/>
            <a:ext cx="11880" cy="75510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31" name="Rectangle 181"/>
          <p:cNvSpPr/>
          <p:nvPr/>
        </p:nvSpPr>
        <p:spPr>
          <a:xfrm>
            <a:off x="3021480" y="1800"/>
            <a:ext cx="11880" cy="75510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32" name="Rectangle 182"/>
          <p:cNvSpPr/>
          <p:nvPr/>
        </p:nvSpPr>
        <p:spPr>
          <a:xfrm>
            <a:off x="4029480" y="1800"/>
            <a:ext cx="11880" cy="75510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33" name="Rectangle 183"/>
          <p:cNvSpPr/>
          <p:nvPr/>
        </p:nvSpPr>
        <p:spPr>
          <a:xfrm>
            <a:off x="5037480" y="1800"/>
            <a:ext cx="11880" cy="75510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34" name="Rectangle 184"/>
          <p:cNvSpPr/>
          <p:nvPr/>
        </p:nvSpPr>
        <p:spPr>
          <a:xfrm>
            <a:off x="6045480" y="1800"/>
            <a:ext cx="11880" cy="75510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35" name="Rectangle 185"/>
          <p:cNvSpPr/>
          <p:nvPr/>
        </p:nvSpPr>
        <p:spPr>
          <a:xfrm>
            <a:off x="7053480" y="1800"/>
            <a:ext cx="11880" cy="75510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36" name="Rectangle 186"/>
          <p:cNvSpPr/>
          <p:nvPr/>
        </p:nvSpPr>
        <p:spPr>
          <a:xfrm>
            <a:off x="8061480" y="1800"/>
            <a:ext cx="11880" cy="75510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37" name="Rectangle 187"/>
          <p:cNvSpPr/>
          <p:nvPr/>
        </p:nvSpPr>
        <p:spPr>
          <a:xfrm>
            <a:off x="9069480" y="1800"/>
            <a:ext cx="11880" cy="75510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38" name="Rectangle 188"/>
          <p:cNvSpPr/>
          <p:nvPr/>
        </p:nvSpPr>
        <p:spPr>
          <a:xfrm>
            <a:off x="10077480" y="1800"/>
            <a:ext cx="11880" cy="75510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39" name="Rectangle 189"/>
          <p:cNvSpPr/>
          <p:nvPr/>
        </p:nvSpPr>
        <p:spPr>
          <a:xfrm>
            <a:off x="11085480" y="1800"/>
            <a:ext cx="11880" cy="75510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40" name="Rectangle 190"/>
          <p:cNvSpPr/>
          <p:nvPr/>
        </p:nvSpPr>
        <p:spPr>
          <a:xfrm>
            <a:off x="12093480" y="1800"/>
            <a:ext cx="11880" cy="75510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41" name="Rectangle 191"/>
          <p:cNvSpPr/>
          <p:nvPr/>
        </p:nvSpPr>
        <p:spPr>
          <a:xfrm>
            <a:off x="13101480" y="1800"/>
            <a:ext cx="11880" cy="75510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42" name="Rectangle 192"/>
          <p:cNvSpPr/>
          <p:nvPr/>
        </p:nvSpPr>
        <p:spPr>
          <a:xfrm>
            <a:off x="1440" y="1800"/>
            <a:ext cx="343800" cy="7551000"/>
          </a:xfrm>
          <a:prstGeom prst="rect">
            <a:avLst/>
          </a:prstGeom>
          <a:solidFill>
            <a:srgbClr val="ff8c0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43" name="Rounded Rectangle 84"/>
          <p:cNvSpPr/>
          <p:nvPr/>
        </p:nvSpPr>
        <p:spPr>
          <a:xfrm>
            <a:off x="10884960" y="401400"/>
            <a:ext cx="2208240" cy="544320"/>
          </a:xfrm>
          <a:prstGeom prst="roundRect">
            <a:avLst>
              <a:gd name="adj" fmla="val 16667"/>
            </a:avLst>
          </a:prstGeom>
          <a:solidFill>
            <a:srgbClr val="1e1e24"/>
          </a:solidFill>
          <a:ln>
            <a:solidFill>
              <a:srgbClr val="ff8c0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1" lang="en-US" sz="1400" spc="-1" strike="noStrike">
                <a:solidFill>
                  <a:srgbClr val="ffb45a"/>
                </a:solidFill>
                <a:latin typeface="Calibri"/>
                <a:ea typeface="DejaVu Sans"/>
              </a:rPr>
              <a:t>JAVA CORE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44" name="TextBox 37"/>
          <p:cNvSpPr/>
          <p:nvPr/>
        </p:nvSpPr>
        <p:spPr>
          <a:xfrm>
            <a:off x="1154160" y="1107360"/>
            <a:ext cx="9803880" cy="729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en-US" sz="4200" spc="-1" strike="noStrike">
                <a:solidFill>
                  <a:srgbClr val="f5f5f5"/>
                </a:solidFill>
                <a:latin typeface="Calibri"/>
                <a:ea typeface="DejaVu Sans"/>
              </a:rPr>
              <a:t>         </a:t>
            </a:r>
            <a:r>
              <a:rPr b="1" lang="en-US" sz="4200" spc="-1" strike="noStrike">
                <a:solidFill>
                  <a:srgbClr val="f5f5f5"/>
                </a:solidFill>
                <a:latin typeface="Calibri"/>
                <a:ea typeface="DejaVu Sans"/>
              </a:rPr>
              <a:t>Java Technologies Between 2000–2005</a:t>
            </a:r>
            <a:endParaRPr b="0" lang="en-US" sz="4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45" name="TextBox 38"/>
          <p:cNvSpPr/>
          <p:nvPr/>
        </p:nvSpPr>
        <p:spPr>
          <a:xfrm>
            <a:off x="4301280" y="2266200"/>
            <a:ext cx="413748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aaaaaa"/>
                </a:solidFill>
                <a:latin typeface="Calibri"/>
                <a:ea typeface="DejaVu Sans"/>
              </a:rPr>
              <a:t>The foundation of modern enterprise Java.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46" name="Rounded Rectangle 85"/>
          <p:cNvSpPr/>
          <p:nvPr/>
        </p:nvSpPr>
        <p:spPr>
          <a:xfrm>
            <a:off x="1086840" y="3506040"/>
            <a:ext cx="3619800" cy="301500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47" name="Rounded Rectangle 86"/>
          <p:cNvSpPr/>
          <p:nvPr/>
        </p:nvSpPr>
        <p:spPr>
          <a:xfrm>
            <a:off x="1006560" y="3424320"/>
            <a:ext cx="3620160" cy="301536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1" lang="en-US" sz="2000" spc="-1" strike="noStrike">
                <a:solidFill>
                  <a:schemeClr val="lt1"/>
                </a:solidFill>
                <a:latin typeface="Calibri"/>
                <a:ea typeface="DejaVu Sans"/>
              </a:rPr>
              <a:t>Key technologies:</a:t>
            </a: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2000" spc="-1" strike="noStrike">
                <a:solidFill>
                  <a:schemeClr val="lt1"/>
                </a:solidFill>
                <a:latin typeface="Calibri"/>
                <a:ea typeface="DejaVu Sans"/>
              </a:rPr>
              <a:t>• </a:t>
            </a:r>
            <a:r>
              <a:rPr b="0" lang="en-US" sz="2000" spc="-1" strike="noStrike">
                <a:solidFill>
                  <a:schemeClr val="lt1"/>
                </a:solidFill>
                <a:latin typeface="Calibri"/>
                <a:ea typeface="DejaVu Sans"/>
              </a:rPr>
              <a:t>Servlets</a:t>
            </a: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2000" spc="-1" strike="noStrike">
                <a:solidFill>
                  <a:schemeClr val="lt1"/>
                </a:solidFill>
                <a:latin typeface="Calibri"/>
                <a:ea typeface="DejaVu Sans"/>
              </a:rPr>
              <a:t>• </a:t>
            </a:r>
            <a:r>
              <a:rPr b="0" lang="en-US" sz="2000" spc="-1" strike="noStrike">
                <a:solidFill>
                  <a:schemeClr val="lt1"/>
                </a:solidFill>
                <a:latin typeface="Calibri"/>
                <a:ea typeface="DejaVu Sans"/>
              </a:rPr>
              <a:t>JSP (JavaServer Pages)</a:t>
            </a: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2000" spc="-1" strike="noStrike">
                <a:solidFill>
                  <a:schemeClr val="lt1"/>
                </a:solidFill>
                <a:latin typeface="Calibri"/>
                <a:ea typeface="DejaVu Sans"/>
              </a:rPr>
              <a:t>• </a:t>
            </a:r>
            <a:r>
              <a:rPr b="0" lang="en-US" sz="2000" spc="-1" strike="noStrike">
                <a:solidFill>
                  <a:schemeClr val="lt1"/>
                </a:solidFill>
                <a:latin typeface="Calibri"/>
                <a:ea typeface="DejaVu Sans"/>
              </a:rPr>
              <a:t>JDBC</a:t>
            </a: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2000" spc="-1" strike="noStrike">
                <a:solidFill>
                  <a:schemeClr val="lt1"/>
                </a:solidFill>
                <a:latin typeface="Calibri"/>
                <a:ea typeface="DejaVu Sans"/>
              </a:rPr>
              <a:t>• </a:t>
            </a:r>
            <a:r>
              <a:rPr b="0" lang="en-US" sz="2000" spc="-1" strike="noStrike">
                <a:solidFill>
                  <a:schemeClr val="lt1"/>
                </a:solidFill>
                <a:latin typeface="Calibri"/>
                <a:ea typeface="DejaVu Sans"/>
              </a:rPr>
              <a:t>JNDI</a:t>
            </a: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2000" spc="-1" strike="noStrike">
                <a:solidFill>
                  <a:schemeClr val="lt1"/>
                </a:solidFill>
                <a:latin typeface="Calibri"/>
                <a:ea typeface="DejaVu Sans"/>
              </a:rPr>
              <a:t>• </a:t>
            </a:r>
            <a:r>
              <a:rPr b="0" lang="en-US" sz="2000" spc="-1" strike="noStrike">
                <a:solidFill>
                  <a:schemeClr val="lt1"/>
                </a:solidFill>
                <a:latin typeface="Calibri"/>
                <a:ea typeface="DejaVu Sans"/>
              </a:rPr>
              <a:t>EJB (Enterprise JavaBeans)</a:t>
            </a: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48" name="Rounded Rectangle 87"/>
          <p:cNvSpPr/>
          <p:nvPr/>
        </p:nvSpPr>
        <p:spPr>
          <a:xfrm>
            <a:off x="4968360" y="3506040"/>
            <a:ext cx="3619800" cy="301500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49" name="Rounded Rectangle 88"/>
          <p:cNvSpPr/>
          <p:nvPr/>
        </p:nvSpPr>
        <p:spPr>
          <a:xfrm>
            <a:off x="8849160" y="3506040"/>
            <a:ext cx="3619800" cy="301500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50" name="Rounded Rectangle 89"/>
          <p:cNvSpPr/>
          <p:nvPr/>
        </p:nvSpPr>
        <p:spPr>
          <a:xfrm>
            <a:off x="8767440" y="3425040"/>
            <a:ext cx="3620160" cy="301536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2000" spc="-1" strike="noStrike">
                <a:solidFill>
                  <a:srgbClr val="78ffc8"/>
                </a:solidFill>
                <a:latin typeface="Consolas"/>
                <a:ea typeface="DejaVu Sans"/>
              </a:rPr>
              <a:t> </a:t>
            </a: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2000" spc="-1" strike="noStrike">
                <a:solidFill>
                  <a:srgbClr val="78ffc8"/>
                </a:solidFill>
                <a:latin typeface="Consolas"/>
                <a:ea typeface="DejaVu Sans"/>
              </a:rPr>
              <a:t>String user = "Client";</a:t>
            </a: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20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</a:t>
            </a: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20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2000" spc="-1" strike="noStrike">
                <a:solidFill>
                  <a:srgbClr val="78ffc8"/>
                </a:solidFill>
                <a:latin typeface="Consolas"/>
                <a:ea typeface="DejaVu Sans"/>
              </a:rPr>
              <a:t>"Welcome to the enterprise system, " + user</a:t>
            </a: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2000" spc="-1" strike="noStrike">
                <a:solidFill>
                  <a:srgbClr val="78ffc8"/>
                </a:solidFill>
                <a:latin typeface="Consolas"/>
                <a:ea typeface="DejaVu Sans"/>
              </a:rPr>
              <a:t>);</a:t>
            </a: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51" name="TextBox 39"/>
          <p:cNvSpPr/>
          <p:nvPr/>
        </p:nvSpPr>
        <p:spPr>
          <a:xfrm>
            <a:off x="5224320" y="7104600"/>
            <a:ext cx="305100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Java • Ultra Premium Template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52" name="Rounded Rectangle 90"/>
          <p:cNvSpPr/>
          <p:nvPr/>
        </p:nvSpPr>
        <p:spPr>
          <a:xfrm>
            <a:off x="4941000" y="3450960"/>
            <a:ext cx="3620160" cy="301536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1" lang="en-US" sz="2100" spc="-1" strike="noStrike">
                <a:solidFill>
                  <a:schemeClr val="lt1"/>
                </a:solidFill>
                <a:latin typeface="Calibri"/>
                <a:ea typeface="DejaVu Sans"/>
              </a:rPr>
              <a:t>With these technologies:</a:t>
            </a:r>
            <a:endParaRPr b="0" lang="en-US" sz="21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21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2100" spc="-1" strike="noStrike">
                <a:solidFill>
                  <a:schemeClr val="lt1"/>
                </a:solidFill>
                <a:latin typeface="Calibri"/>
                <a:ea typeface="DejaVu Sans"/>
              </a:rPr>
              <a:t>↓ </a:t>
            </a:r>
            <a:r>
              <a:rPr b="0" lang="en-US" sz="2100" spc="-1" strike="noStrike">
                <a:solidFill>
                  <a:schemeClr val="lt1"/>
                </a:solidFill>
                <a:latin typeface="Calibri"/>
                <a:ea typeface="DejaVu Sans"/>
              </a:rPr>
              <a:t>Dynamic web applications</a:t>
            </a:r>
            <a:endParaRPr b="0" lang="en-US" sz="21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2100" spc="-1" strike="noStrike">
                <a:solidFill>
                  <a:schemeClr val="lt1"/>
                </a:solidFill>
                <a:latin typeface="Calibri"/>
                <a:ea typeface="DejaVu Sans"/>
              </a:rPr>
              <a:t>↓ </a:t>
            </a:r>
            <a:r>
              <a:rPr b="0" lang="en-US" sz="2100" spc="-1" strike="noStrike">
                <a:solidFill>
                  <a:schemeClr val="lt1"/>
                </a:solidFill>
                <a:latin typeface="Calibri"/>
                <a:ea typeface="DejaVu Sans"/>
              </a:rPr>
              <a:t>Database-driven systems</a:t>
            </a:r>
            <a:endParaRPr b="0" lang="en-US" sz="21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2100" spc="-1" strike="noStrike">
                <a:solidFill>
                  <a:schemeClr val="lt1"/>
                </a:solidFill>
                <a:latin typeface="Calibri"/>
                <a:ea typeface="DejaVu Sans"/>
              </a:rPr>
              <a:t>↓ </a:t>
            </a:r>
            <a:r>
              <a:rPr b="0" lang="en-US" sz="2100" spc="-1" strike="noStrike">
                <a:solidFill>
                  <a:schemeClr val="lt1"/>
                </a:solidFill>
                <a:latin typeface="Calibri"/>
                <a:ea typeface="DejaVu Sans"/>
              </a:rPr>
              <a:t>Transaction management</a:t>
            </a:r>
            <a:endParaRPr b="0" lang="en-US" sz="21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2100" spc="-1" strike="noStrike">
                <a:solidFill>
                  <a:schemeClr val="lt1"/>
                </a:solidFill>
                <a:latin typeface="Calibri"/>
                <a:ea typeface="DejaVu Sans"/>
              </a:rPr>
              <a:t>↓ </a:t>
            </a:r>
            <a:r>
              <a:rPr b="0" lang="en-US" sz="2100" spc="-1" strike="noStrike">
                <a:solidFill>
                  <a:schemeClr val="lt1"/>
                </a:solidFill>
                <a:latin typeface="Calibri"/>
                <a:ea typeface="DejaVu Sans"/>
              </a:rPr>
              <a:t>Distributed applications</a:t>
            </a:r>
            <a:endParaRPr b="0" lang="en-US" sz="21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2100" spc="-1" strike="noStrike">
                <a:solidFill>
                  <a:schemeClr val="lt1"/>
                </a:solidFill>
                <a:latin typeface="Calibri"/>
                <a:ea typeface="DejaVu Sans"/>
              </a:rPr>
              <a:t>↓ </a:t>
            </a:r>
            <a:r>
              <a:rPr b="0" lang="en-US" sz="2100" spc="-1" strike="noStrike">
                <a:solidFill>
                  <a:schemeClr val="lt1"/>
                </a:solidFill>
                <a:latin typeface="Calibri"/>
                <a:ea typeface="DejaVu Sans"/>
              </a:rPr>
              <a:t>Enterprise scalability</a:t>
            </a:r>
            <a:endParaRPr b="0" lang="en-US" sz="21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2100" spc="-1" strike="noStrike">
              <a:solidFill>
                <a:srgbClr val="ffffff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3" name="Rectangle 193"/>
          <p:cNvSpPr/>
          <p:nvPr/>
        </p:nvSpPr>
        <p:spPr>
          <a:xfrm>
            <a:off x="16920" y="1800"/>
            <a:ext cx="13427640" cy="7551000"/>
          </a:xfrm>
          <a:prstGeom prst="rect">
            <a:avLst/>
          </a:prstGeom>
          <a:solidFill>
            <a:srgbClr val="0b0b0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54" name="Rectangle 194"/>
          <p:cNvSpPr/>
          <p:nvPr/>
        </p:nvSpPr>
        <p:spPr>
          <a:xfrm>
            <a:off x="1440" y="1800"/>
            <a:ext cx="11880" cy="75510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55" name="Rectangle 195"/>
          <p:cNvSpPr/>
          <p:nvPr/>
        </p:nvSpPr>
        <p:spPr>
          <a:xfrm>
            <a:off x="1005480" y="1800"/>
            <a:ext cx="11880" cy="75510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56" name="Rectangle 196"/>
          <p:cNvSpPr/>
          <p:nvPr/>
        </p:nvSpPr>
        <p:spPr>
          <a:xfrm>
            <a:off x="2013480" y="1800"/>
            <a:ext cx="11880" cy="75510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57" name="Rectangle 197"/>
          <p:cNvSpPr/>
          <p:nvPr/>
        </p:nvSpPr>
        <p:spPr>
          <a:xfrm>
            <a:off x="3021480" y="1800"/>
            <a:ext cx="11880" cy="75510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58" name="Rectangle 198"/>
          <p:cNvSpPr/>
          <p:nvPr/>
        </p:nvSpPr>
        <p:spPr>
          <a:xfrm>
            <a:off x="4029480" y="1800"/>
            <a:ext cx="11880" cy="75510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59" name="Rectangle 199"/>
          <p:cNvSpPr/>
          <p:nvPr/>
        </p:nvSpPr>
        <p:spPr>
          <a:xfrm>
            <a:off x="5037480" y="1800"/>
            <a:ext cx="11880" cy="75510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60" name="Rectangle 200"/>
          <p:cNvSpPr/>
          <p:nvPr/>
        </p:nvSpPr>
        <p:spPr>
          <a:xfrm>
            <a:off x="6045480" y="1800"/>
            <a:ext cx="11880" cy="75510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61" name="Rectangle 201"/>
          <p:cNvSpPr/>
          <p:nvPr/>
        </p:nvSpPr>
        <p:spPr>
          <a:xfrm>
            <a:off x="7053480" y="1800"/>
            <a:ext cx="11880" cy="75510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62" name="Rectangle 202"/>
          <p:cNvSpPr/>
          <p:nvPr/>
        </p:nvSpPr>
        <p:spPr>
          <a:xfrm>
            <a:off x="8061480" y="1800"/>
            <a:ext cx="11880" cy="75510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63" name="Rectangle 203"/>
          <p:cNvSpPr/>
          <p:nvPr/>
        </p:nvSpPr>
        <p:spPr>
          <a:xfrm>
            <a:off x="9069480" y="1800"/>
            <a:ext cx="11880" cy="75510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64" name="Rectangle 204"/>
          <p:cNvSpPr/>
          <p:nvPr/>
        </p:nvSpPr>
        <p:spPr>
          <a:xfrm>
            <a:off x="10077480" y="1800"/>
            <a:ext cx="11880" cy="75510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65" name="Rectangle 205"/>
          <p:cNvSpPr/>
          <p:nvPr/>
        </p:nvSpPr>
        <p:spPr>
          <a:xfrm>
            <a:off x="11085480" y="1800"/>
            <a:ext cx="11880" cy="75510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66" name="Rectangle 206"/>
          <p:cNvSpPr/>
          <p:nvPr/>
        </p:nvSpPr>
        <p:spPr>
          <a:xfrm>
            <a:off x="12093480" y="1800"/>
            <a:ext cx="11880" cy="75510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67" name="Rectangle 207"/>
          <p:cNvSpPr/>
          <p:nvPr/>
        </p:nvSpPr>
        <p:spPr>
          <a:xfrm>
            <a:off x="13101480" y="1800"/>
            <a:ext cx="11880" cy="75510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68" name="Rectangle 208"/>
          <p:cNvSpPr/>
          <p:nvPr/>
        </p:nvSpPr>
        <p:spPr>
          <a:xfrm>
            <a:off x="1440" y="1800"/>
            <a:ext cx="343800" cy="7551000"/>
          </a:xfrm>
          <a:prstGeom prst="rect">
            <a:avLst/>
          </a:prstGeom>
          <a:solidFill>
            <a:srgbClr val="ff8c0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69" name="Rounded Rectangle 91"/>
          <p:cNvSpPr/>
          <p:nvPr/>
        </p:nvSpPr>
        <p:spPr>
          <a:xfrm>
            <a:off x="10884960" y="401400"/>
            <a:ext cx="2208240" cy="544320"/>
          </a:xfrm>
          <a:prstGeom prst="roundRect">
            <a:avLst>
              <a:gd name="adj" fmla="val 16667"/>
            </a:avLst>
          </a:prstGeom>
          <a:solidFill>
            <a:srgbClr val="1e1e24"/>
          </a:solidFill>
          <a:ln>
            <a:solidFill>
              <a:srgbClr val="ff8c0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1" lang="en-US" sz="1400" spc="-1" strike="noStrike">
                <a:solidFill>
                  <a:srgbClr val="ffb45a"/>
                </a:solidFill>
                <a:latin typeface="Calibri"/>
                <a:ea typeface="DejaVu Sans"/>
              </a:rPr>
              <a:t>JAVA CORE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70" name="TextBox 40"/>
          <p:cNvSpPr/>
          <p:nvPr/>
        </p:nvSpPr>
        <p:spPr>
          <a:xfrm>
            <a:off x="2151360" y="1107360"/>
            <a:ext cx="7810200" cy="729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en-US" sz="4200" spc="-1" strike="noStrike">
                <a:solidFill>
                  <a:srgbClr val="f5f5f5"/>
                </a:solidFill>
                <a:latin typeface="Calibri"/>
                <a:ea typeface="DejaVu Sans"/>
              </a:rPr>
              <a:t>       </a:t>
            </a:r>
            <a:r>
              <a:rPr b="1" lang="en-US" sz="4200" spc="-1" strike="noStrike">
                <a:solidFill>
                  <a:srgbClr val="f5f5f5"/>
                </a:solidFill>
                <a:latin typeface="Calibri"/>
                <a:ea typeface="DejaVu Sans"/>
              </a:rPr>
              <a:t>Java Technologies (2005–2010)</a:t>
            </a:r>
            <a:endParaRPr b="0" lang="en-US" sz="4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71" name="TextBox 41"/>
          <p:cNvSpPr/>
          <p:nvPr/>
        </p:nvSpPr>
        <p:spPr>
          <a:xfrm>
            <a:off x="5032440" y="2266200"/>
            <a:ext cx="267444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aaaaaa"/>
                </a:solidFill>
                <a:latin typeface="Calibri"/>
                <a:ea typeface="DejaVu Sans"/>
              </a:rPr>
              <a:t>The Framework Revolution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72" name="Rounded Rectangle 92"/>
          <p:cNvSpPr/>
          <p:nvPr/>
        </p:nvSpPr>
        <p:spPr>
          <a:xfrm>
            <a:off x="1086840" y="3506040"/>
            <a:ext cx="3619800" cy="301500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73" name="Rounded Rectangle 93"/>
          <p:cNvSpPr/>
          <p:nvPr/>
        </p:nvSpPr>
        <p:spPr>
          <a:xfrm>
            <a:off x="1006560" y="3424320"/>
            <a:ext cx="3620160" cy="301536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Key Technologies (What emerged):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Spring Framework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(Inversion of Control, Dependency Injection)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Hibernate / JPA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(Object–Relational Mapping)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Java EE 5 &amp; 6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(Annotations replace XML-heavy configs)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JSF (JavaServer Faces)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(Component-based UI)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Maven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(Standard build &amp; dependency management)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74" name="Rounded Rectangle 94"/>
          <p:cNvSpPr/>
          <p:nvPr/>
        </p:nvSpPr>
        <p:spPr>
          <a:xfrm>
            <a:off x="4968360" y="3506040"/>
            <a:ext cx="3619800" cy="301500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75" name="Rounded Rectangle 95"/>
          <p:cNvSpPr/>
          <p:nvPr/>
        </p:nvSpPr>
        <p:spPr>
          <a:xfrm>
            <a:off x="8849160" y="3506040"/>
            <a:ext cx="3619800" cy="301500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76" name="Rounded Rectangle 96"/>
          <p:cNvSpPr/>
          <p:nvPr/>
        </p:nvSpPr>
        <p:spPr>
          <a:xfrm>
            <a:off x="8767440" y="3425040"/>
            <a:ext cx="3620160" cy="301536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@Service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class OrderService {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@Autowired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private OrderRepository repository;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Order findOrder(Long id) {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return repository.findById(id);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};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77" name="TextBox 42"/>
          <p:cNvSpPr/>
          <p:nvPr/>
        </p:nvSpPr>
        <p:spPr>
          <a:xfrm>
            <a:off x="5224320" y="7104600"/>
            <a:ext cx="305100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Java • Ultra Premium Template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78" name="Rounded Rectangle 97"/>
          <p:cNvSpPr/>
          <p:nvPr/>
        </p:nvSpPr>
        <p:spPr>
          <a:xfrm>
            <a:off x="4941000" y="3450960"/>
            <a:ext cx="3620160" cy="301536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Why this era mattered: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↓ </a:t>
            </a: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XML-heavy enterprise Java was simplified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↓ </a:t>
            </a: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Boilerplate code dramatically reduced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↓ </a:t>
            </a: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Loose coupling became standard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↓ </a:t>
            </a: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MVC and layered architecture spread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↓ </a:t>
            </a: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Developers gained productivity and flexibility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Before 2005: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Enterprise Java = complex, verbose, hard to maintain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After 2005: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Enterprise Java = cleaner, modular, framework-driven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9" name="Rectangle 209"/>
          <p:cNvSpPr/>
          <p:nvPr/>
        </p:nvSpPr>
        <p:spPr>
          <a:xfrm>
            <a:off x="16920" y="1800"/>
            <a:ext cx="13427640" cy="7551000"/>
          </a:xfrm>
          <a:prstGeom prst="rect">
            <a:avLst/>
          </a:prstGeom>
          <a:solidFill>
            <a:srgbClr val="0b0b0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80" name="Rectangle 210"/>
          <p:cNvSpPr/>
          <p:nvPr/>
        </p:nvSpPr>
        <p:spPr>
          <a:xfrm>
            <a:off x="1440" y="1800"/>
            <a:ext cx="11880" cy="75510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81" name="Rectangle 211"/>
          <p:cNvSpPr/>
          <p:nvPr/>
        </p:nvSpPr>
        <p:spPr>
          <a:xfrm>
            <a:off x="1005480" y="1800"/>
            <a:ext cx="11880" cy="75510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82" name="Rectangle 212"/>
          <p:cNvSpPr/>
          <p:nvPr/>
        </p:nvSpPr>
        <p:spPr>
          <a:xfrm>
            <a:off x="2013480" y="1800"/>
            <a:ext cx="11880" cy="75510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83" name="Rectangle 213"/>
          <p:cNvSpPr/>
          <p:nvPr/>
        </p:nvSpPr>
        <p:spPr>
          <a:xfrm>
            <a:off x="3021480" y="1800"/>
            <a:ext cx="11880" cy="75510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84" name="Rectangle 214"/>
          <p:cNvSpPr/>
          <p:nvPr/>
        </p:nvSpPr>
        <p:spPr>
          <a:xfrm>
            <a:off x="4029480" y="1800"/>
            <a:ext cx="11880" cy="75510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85" name="Rectangle 215"/>
          <p:cNvSpPr/>
          <p:nvPr/>
        </p:nvSpPr>
        <p:spPr>
          <a:xfrm>
            <a:off x="5037480" y="1800"/>
            <a:ext cx="11880" cy="75510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86" name="Rectangle 216"/>
          <p:cNvSpPr/>
          <p:nvPr/>
        </p:nvSpPr>
        <p:spPr>
          <a:xfrm>
            <a:off x="6045480" y="1800"/>
            <a:ext cx="11880" cy="75510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87" name="Rectangle 217"/>
          <p:cNvSpPr/>
          <p:nvPr/>
        </p:nvSpPr>
        <p:spPr>
          <a:xfrm>
            <a:off x="7053480" y="1800"/>
            <a:ext cx="11880" cy="75510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88" name="Rectangle 218"/>
          <p:cNvSpPr/>
          <p:nvPr/>
        </p:nvSpPr>
        <p:spPr>
          <a:xfrm>
            <a:off x="8061480" y="1800"/>
            <a:ext cx="11880" cy="75510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89" name="Rectangle 219"/>
          <p:cNvSpPr/>
          <p:nvPr/>
        </p:nvSpPr>
        <p:spPr>
          <a:xfrm>
            <a:off x="9069480" y="1800"/>
            <a:ext cx="11880" cy="75510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90" name="Rectangle 220"/>
          <p:cNvSpPr/>
          <p:nvPr/>
        </p:nvSpPr>
        <p:spPr>
          <a:xfrm>
            <a:off x="10077480" y="1800"/>
            <a:ext cx="11880" cy="75510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91" name="Rectangle 221"/>
          <p:cNvSpPr/>
          <p:nvPr/>
        </p:nvSpPr>
        <p:spPr>
          <a:xfrm>
            <a:off x="11085480" y="1800"/>
            <a:ext cx="11880" cy="75510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92" name="Rectangle 222"/>
          <p:cNvSpPr/>
          <p:nvPr/>
        </p:nvSpPr>
        <p:spPr>
          <a:xfrm>
            <a:off x="12093480" y="1800"/>
            <a:ext cx="11880" cy="75510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93" name="Rectangle 223"/>
          <p:cNvSpPr/>
          <p:nvPr/>
        </p:nvSpPr>
        <p:spPr>
          <a:xfrm>
            <a:off x="13101480" y="1800"/>
            <a:ext cx="11880" cy="75510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94" name="Rectangle 224"/>
          <p:cNvSpPr/>
          <p:nvPr/>
        </p:nvSpPr>
        <p:spPr>
          <a:xfrm>
            <a:off x="1440" y="1800"/>
            <a:ext cx="343800" cy="7551000"/>
          </a:xfrm>
          <a:prstGeom prst="rect">
            <a:avLst/>
          </a:prstGeom>
          <a:solidFill>
            <a:srgbClr val="ff8c0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95" name="Rounded Rectangle 98"/>
          <p:cNvSpPr/>
          <p:nvPr/>
        </p:nvSpPr>
        <p:spPr>
          <a:xfrm>
            <a:off x="10884960" y="401400"/>
            <a:ext cx="2208240" cy="544320"/>
          </a:xfrm>
          <a:prstGeom prst="roundRect">
            <a:avLst>
              <a:gd name="adj" fmla="val 16667"/>
            </a:avLst>
          </a:prstGeom>
          <a:solidFill>
            <a:srgbClr val="1e1e24"/>
          </a:solidFill>
          <a:ln>
            <a:solidFill>
              <a:srgbClr val="ff8c0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1" lang="en-US" sz="1400" spc="-1" strike="noStrike">
                <a:solidFill>
                  <a:srgbClr val="ffb45a"/>
                </a:solidFill>
                <a:latin typeface="Calibri"/>
                <a:ea typeface="DejaVu Sans"/>
              </a:rPr>
              <a:t>JAVA CORE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96" name="TextBox 43"/>
          <p:cNvSpPr/>
          <p:nvPr/>
        </p:nvSpPr>
        <p:spPr>
          <a:xfrm>
            <a:off x="2586960" y="1107360"/>
            <a:ext cx="6940080" cy="729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en-US" sz="4200" spc="-1" strike="noStrike">
                <a:solidFill>
                  <a:srgbClr val="f5f5f5"/>
                </a:solidFill>
                <a:latin typeface="Calibri"/>
                <a:ea typeface="DejaVu Sans"/>
              </a:rPr>
              <a:t>          </a:t>
            </a:r>
            <a:r>
              <a:rPr b="1" lang="en-US" sz="4200" spc="-1" strike="noStrike">
                <a:solidFill>
                  <a:srgbClr val="f5f5f5"/>
                </a:solidFill>
                <a:latin typeface="Calibri"/>
                <a:ea typeface="DejaVu Sans"/>
              </a:rPr>
              <a:t>Modern Java &amp; Cloud Era</a:t>
            </a:r>
            <a:endParaRPr b="0" lang="en-US" sz="4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97" name="TextBox 44"/>
          <p:cNvSpPr/>
          <p:nvPr/>
        </p:nvSpPr>
        <p:spPr>
          <a:xfrm>
            <a:off x="5032440" y="2266200"/>
            <a:ext cx="267444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aaaaaa"/>
                </a:solidFill>
                <a:latin typeface="Calibri"/>
                <a:ea typeface="DejaVu Sans"/>
              </a:rPr>
              <a:t>The Framework Revolution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98" name="Rounded Rectangle 99"/>
          <p:cNvSpPr/>
          <p:nvPr/>
        </p:nvSpPr>
        <p:spPr>
          <a:xfrm>
            <a:off x="1086840" y="3506040"/>
            <a:ext cx="3619800" cy="301500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99" name="Rounded Rectangle 100"/>
          <p:cNvSpPr/>
          <p:nvPr/>
        </p:nvSpPr>
        <p:spPr>
          <a:xfrm>
            <a:off x="1020960" y="3424320"/>
            <a:ext cx="3620160" cy="301536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1" lang="en-US" sz="2100" spc="-1" strike="noStrike">
                <a:solidFill>
                  <a:schemeClr val="lt1"/>
                </a:solidFill>
                <a:latin typeface="Calibri"/>
                <a:ea typeface="DejaVu Sans"/>
              </a:rPr>
              <a:t>(Key technologies):</a:t>
            </a:r>
            <a:endParaRPr b="0" lang="en-US" sz="21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2100" spc="-1" strike="noStrike">
                <a:solidFill>
                  <a:schemeClr val="lt1"/>
                </a:solidFill>
                <a:latin typeface="Calibri"/>
                <a:ea typeface="DejaVu Sans"/>
              </a:rPr>
              <a:t>Spring Boot</a:t>
            </a:r>
            <a:endParaRPr b="0" lang="en-US" sz="21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2100" spc="-1" strike="noStrike">
                <a:solidFill>
                  <a:schemeClr val="lt1"/>
                </a:solidFill>
                <a:latin typeface="Calibri"/>
                <a:ea typeface="DejaVu Sans"/>
              </a:rPr>
              <a:t>REST APIs</a:t>
            </a:r>
            <a:endParaRPr b="0" lang="en-US" sz="21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2100" spc="-1" strike="noStrike">
                <a:solidFill>
                  <a:schemeClr val="lt1"/>
                </a:solidFill>
                <a:latin typeface="Calibri"/>
                <a:ea typeface="DejaVu Sans"/>
              </a:rPr>
              <a:t>Microservices</a:t>
            </a:r>
            <a:endParaRPr b="0" lang="en-US" sz="21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2100" spc="-1" strike="noStrike">
                <a:solidFill>
                  <a:schemeClr val="lt1"/>
                </a:solidFill>
                <a:latin typeface="Calibri"/>
                <a:ea typeface="DejaVu Sans"/>
              </a:rPr>
              <a:t>Docker &amp; Kubernetes</a:t>
            </a:r>
            <a:endParaRPr b="0" lang="en-US" sz="21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2100" spc="-1" strike="noStrike">
                <a:solidFill>
                  <a:schemeClr val="lt1"/>
                </a:solidFill>
                <a:latin typeface="Calibri"/>
                <a:ea typeface="DejaVu Sans"/>
              </a:rPr>
              <a:t>Java 8+ (Lambdas, Streams)</a:t>
            </a:r>
            <a:endParaRPr b="0" lang="en-US" sz="21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00" name="Rounded Rectangle 101"/>
          <p:cNvSpPr/>
          <p:nvPr/>
        </p:nvSpPr>
        <p:spPr>
          <a:xfrm>
            <a:off x="4968360" y="3506040"/>
            <a:ext cx="3619800" cy="301500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01" name="Rounded Rectangle 102"/>
          <p:cNvSpPr/>
          <p:nvPr/>
        </p:nvSpPr>
        <p:spPr>
          <a:xfrm>
            <a:off x="8849160" y="3506040"/>
            <a:ext cx="3619800" cy="301500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02" name="Rounded Rectangle 103"/>
          <p:cNvSpPr/>
          <p:nvPr/>
        </p:nvSpPr>
        <p:spPr>
          <a:xfrm>
            <a:off x="8767440" y="3425040"/>
            <a:ext cx="3620160" cy="301536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800" spc="-1" strike="noStrike">
                <a:solidFill>
                  <a:srgbClr val="78ffc8"/>
                </a:solidFill>
                <a:latin typeface="Consolas"/>
                <a:ea typeface="DejaVu Sans"/>
              </a:rPr>
              <a:t>@GetMapping("/users/{id}")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8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User getUser(@PathVariable Long id) {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8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800" spc="-1" strike="noStrike">
                <a:solidFill>
                  <a:srgbClr val="78ffc8"/>
                </a:solidFill>
                <a:latin typeface="Consolas"/>
                <a:ea typeface="DejaVu Sans"/>
              </a:rPr>
              <a:t>return userService.getUser(id);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8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03" name="TextBox 45"/>
          <p:cNvSpPr/>
          <p:nvPr/>
        </p:nvSpPr>
        <p:spPr>
          <a:xfrm>
            <a:off x="5224320" y="7104600"/>
            <a:ext cx="305100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Java • Ultra Premium Template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04" name="Rounded Rectangle 104"/>
          <p:cNvSpPr/>
          <p:nvPr/>
        </p:nvSpPr>
        <p:spPr>
          <a:xfrm>
            <a:off x="4941000" y="3450960"/>
            <a:ext cx="3620160" cy="301536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1" lang="en-US" sz="2100" spc="-1" strike="noStrike">
                <a:solidFill>
                  <a:schemeClr val="lt1"/>
                </a:solidFill>
                <a:latin typeface="Calibri"/>
                <a:ea typeface="DejaVu Sans"/>
              </a:rPr>
              <a:t>↓ </a:t>
            </a:r>
            <a:r>
              <a:rPr b="1" lang="en-US" sz="2100" spc="-1" strike="noStrike">
                <a:solidFill>
                  <a:schemeClr val="lt1"/>
                </a:solidFill>
                <a:latin typeface="Calibri"/>
                <a:ea typeface="DejaVu Sans"/>
              </a:rPr>
              <a:t>Cloud-native apps</a:t>
            </a:r>
            <a:endParaRPr b="0" lang="en-US" sz="21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2100" spc="-1" strike="noStrike">
                <a:solidFill>
                  <a:schemeClr val="lt1"/>
                </a:solidFill>
                <a:latin typeface="Calibri"/>
                <a:ea typeface="DejaVu Sans"/>
              </a:rPr>
              <a:t>↓ </a:t>
            </a:r>
            <a:r>
              <a:rPr b="1" lang="en-US" sz="2100" spc="-1" strike="noStrike">
                <a:solidFill>
                  <a:schemeClr val="lt1"/>
                </a:solidFill>
                <a:latin typeface="Calibri"/>
                <a:ea typeface="DejaVu Sans"/>
              </a:rPr>
              <a:t>Microservice scalability</a:t>
            </a:r>
            <a:endParaRPr b="0" lang="en-US" sz="21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2100" spc="-1" strike="noStrike">
                <a:solidFill>
                  <a:schemeClr val="lt1"/>
                </a:solidFill>
                <a:latin typeface="Calibri"/>
                <a:ea typeface="DejaVu Sans"/>
              </a:rPr>
              <a:t>↓ </a:t>
            </a:r>
            <a:r>
              <a:rPr b="1" lang="en-US" sz="2100" spc="-1" strike="noStrike">
                <a:solidFill>
                  <a:schemeClr val="lt1"/>
                </a:solidFill>
                <a:latin typeface="Calibri"/>
                <a:ea typeface="DejaVu Sans"/>
              </a:rPr>
              <a:t>Fast deployment</a:t>
            </a:r>
            <a:endParaRPr b="0" lang="en-US" sz="21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2100" spc="-1" strike="noStrike">
                <a:solidFill>
                  <a:schemeClr val="lt1"/>
                </a:solidFill>
                <a:latin typeface="Calibri"/>
                <a:ea typeface="DejaVu Sans"/>
              </a:rPr>
              <a:t>↓ </a:t>
            </a:r>
            <a:r>
              <a:rPr b="1" lang="en-US" sz="2100" spc="-1" strike="noStrike">
                <a:solidFill>
                  <a:schemeClr val="lt1"/>
                </a:solidFill>
                <a:latin typeface="Calibri"/>
                <a:ea typeface="DejaVu Sans"/>
              </a:rPr>
              <a:t>Functional programming</a:t>
            </a:r>
            <a:endParaRPr b="0" lang="en-US" sz="21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2100" spc="-1" strike="noStrike">
                <a:solidFill>
                  <a:schemeClr val="lt1"/>
                </a:solidFill>
                <a:latin typeface="Calibri"/>
                <a:ea typeface="DejaVu Sans"/>
              </a:rPr>
              <a:t>↓ </a:t>
            </a:r>
            <a:r>
              <a:rPr b="1" lang="en-US" sz="2100" spc="-1" strike="noStrike">
                <a:solidFill>
                  <a:schemeClr val="lt1"/>
                </a:solidFill>
                <a:latin typeface="Calibri"/>
                <a:ea typeface="DejaVu Sans"/>
              </a:rPr>
              <a:t>Long-term support (LTS)</a:t>
            </a:r>
            <a:endParaRPr b="0" lang="en-US" sz="2100" spc="-1" strike="noStrike">
              <a:solidFill>
                <a:srgbClr val="ffffff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5" name="Rectangle 225"/>
          <p:cNvSpPr/>
          <p:nvPr/>
        </p:nvSpPr>
        <p:spPr>
          <a:xfrm>
            <a:off x="16920" y="1800"/>
            <a:ext cx="13427640" cy="7551000"/>
          </a:xfrm>
          <a:prstGeom prst="rect">
            <a:avLst/>
          </a:prstGeom>
          <a:solidFill>
            <a:srgbClr val="0b0b0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06" name="Rectangle 226"/>
          <p:cNvSpPr/>
          <p:nvPr/>
        </p:nvSpPr>
        <p:spPr>
          <a:xfrm>
            <a:off x="1440" y="1800"/>
            <a:ext cx="11880" cy="75510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07" name="Rectangle 227"/>
          <p:cNvSpPr/>
          <p:nvPr/>
        </p:nvSpPr>
        <p:spPr>
          <a:xfrm>
            <a:off x="1005480" y="1800"/>
            <a:ext cx="11880" cy="75510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08" name="Rectangle 228"/>
          <p:cNvSpPr/>
          <p:nvPr/>
        </p:nvSpPr>
        <p:spPr>
          <a:xfrm>
            <a:off x="2013480" y="1800"/>
            <a:ext cx="11880" cy="75510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09" name="Rectangle 229"/>
          <p:cNvSpPr/>
          <p:nvPr/>
        </p:nvSpPr>
        <p:spPr>
          <a:xfrm>
            <a:off x="3021480" y="1800"/>
            <a:ext cx="11880" cy="75510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10" name="Rectangle 230"/>
          <p:cNvSpPr/>
          <p:nvPr/>
        </p:nvSpPr>
        <p:spPr>
          <a:xfrm>
            <a:off x="4029480" y="1800"/>
            <a:ext cx="11880" cy="75510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11" name="Rectangle 231"/>
          <p:cNvSpPr/>
          <p:nvPr/>
        </p:nvSpPr>
        <p:spPr>
          <a:xfrm>
            <a:off x="5037480" y="1800"/>
            <a:ext cx="11880" cy="75510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12" name="Rectangle 232"/>
          <p:cNvSpPr/>
          <p:nvPr/>
        </p:nvSpPr>
        <p:spPr>
          <a:xfrm>
            <a:off x="6045480" y="1800"/>
            <a:ext cx="11880" cy="75510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13" name="Rectangle 233"/>
          <p:cNvSpPr/>
          <p:nvPr/>
        </p:nvSpPr>
        <p:spPr>
          <a:xfrm>
            <a:off x="7053480" y="1800"/>
            <a:ext cx="11880" cy="75510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14" name="Rectangle 234"/>
          <p:cNvSpPr/>
          <p:nvPr/>
        </p:nvSpPr>
        <p:spPr>
          <a:xfrm>
            <a:off x="8061480" y="1800"/>
            <a:ext cx="11880" cy="75510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15" name="Rectangle 235"/>
          <p:cNvSpPr/>
          <p:nvPr/>
        </p:nvSpPr>
        <p:spPr>
          <a:xfrm>
            <a:off x="9069480" y="1800"/>
            <a:ext cx="11880" cy="75510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16" name="Rectangle 236"/>
          <p:cNvSpPr/>
          <p:nvPr/>
        </p:nvSpPr>
        <p:spPr>
          <a:xfrm>
            <a:off x="10077480" y="1800"/>
            <a:ext cx="11880" cy="75510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17" name="Rectangle 237"/>
          <p:cNvSpPr/>
          <p:nvPr/>
        </p:nvSpPr>
        <p:spPr>
          <a:xfrm>
            <a:off x="11085480" y="1800"/>
            <a:ext cx="11880" cy="75510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18" name="Rectangle 238"/>
          <p:cNvSpPr/>
          <p:nvPr/>
        </p:nvSpPr>
        <p:spPr>
          <a:xfrm>
            <a:off x="12093480" y="1800"/>
            <a:ext cx="11880" cy="75510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19" name="Rectangle 239"/>
          <p:cNvSpPr/>
          <p:nvPr/>
        </p:nvSpPr>
        <p:spPr>
          <a:xfrm>
            <a:off x="13101480" y="1800"/>
            <a:ext cx="11880" cy="75510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20" name="Rectangle 240"/>
          <p:cNvSpPr/>
          <p:nvPr/>
        </p:nvSpPr>
        <p:spPr>
          <a:xfrm>
            <a:off x="1440" y="1800"/>
            <a:ext cx="343800" cy="7551000"/>
          </a:xfrm>
          <a:prstGeom prst="rect">
            <a:avLst/>
          </a:prstGeom>
          <a:solidFill>
            <a:srgbClr val="ff8c0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21" name="Rounded Rectangle 105"/>
          <p:cNvSpPr/>
          <p:nvPr/>
        </p:nvSpPr>
        <p:spPr>
          <a:xfrm>
            <a:off x="10884960" y="401400"/>
            <a:ext cx="2208240" cy="544320"/>
          </a:xfrm>
          <a:prstGeom prst="roundRect">
            <a:avLst>
              <a:gd name="adj" fmla="val 16667"/>
            </a:avLst>
          </a:prstGeom>
          <a:solidFill>
            <a:srgbClr val="1e1e24"/>
          </a:solidFill>
          <a:ln>
            <a:solidFill>
              <a:srgbClr val="ff8c0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1" lang="en-US" sz="1400" spc="-1" strike="noStrike">
                <a:solidFill>
                  <a:srgbClr val="ffb45a"/>
                </a:solidFill>
                <a:latin typeface="Calibri"/>
                <a:ea typeface="DejaVu Sans"/>
              </a:rPr>
              <a:t>JAVA CORE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22" name="TextBox 46"/>
          <p:cNvSpPr/>
          <p:nvPr/>
        </p:nvSpPr>
        <p:spPr>
          <a:xfrm>
            <a:off x="3785400" y="1107360"/>
            <a:ext cx="4542840" cy="729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en-US" sz="4200" spc="-1" strike="noStrike">
                <a:solidFill>
                  <a:srgbClr val="f5f5f5"/>
                </a:solidFill>
                <a:latin typeface="Calibri"/>
                <a:ea typeface="DejaVu Sans"/>
              </a:rPr>
              <a:t>      </a:t>
            </a:r>
            <a:r>
              <a:rPr b="1" lang="en-US" sz="4200" spc="-1" strike="noStrike">
                <a:solidFill>
                  <a:srgbClr val="f5f5f5"/>
                </a:solidFill>
                <a:latin typeface="Calibri"/>
                <a:ea typeface="DejaVu Sans"/>
              </a:rPr>
              <a:t>Java After 2015: </a:t>
            </a:r>
            <a:endParaRPr b="0" lang="en-US" sz="4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23" name="TextBox 47"/>
          <p:cNvSpPr/>
          <p:nvPr/>
        </p:nvSpPr>
        <p:spPr>
          <a:xfrm>
            <a:off x="4500360" y="2266200"/>
            <a:ext cx="373968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aaaaaa"/>
                </a:solidFill>
                <a:latin typeface="Calibri"/>
                <a:ea typeface="DejaVu Sans"/>
              </a:rPr>
              <a:t>Java grows up: faster, cleaner, smarter.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24" name="Rounded Rectangle 106"/>
          <p:cNvSpPr/>
          <p:nvPr/>
        </p:nvSpPr>
        <p:spPr>
          <a:xfrm>
            <a:off x="1086840" y="3506040"/>
            <a:ext cx="3619800" cy="301500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25" name="Rounded Rectangle 107"/>
          <p:cNvSpPr/>
          <p:nvPr/>
        </p:nvSpPr>
        <p:spPr>
          <a:xfrm>
            <a:off x="1020960" y="3424320"/>
            <a:ext cx="3620160" cy="301536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1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Java 8+ Lambda Expressions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1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Streams API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1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Optional &amp; Functional Interfaces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1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CompletableFuture (Async programming)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1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Records (immutable data carriers)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1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Pattern Matching (instanceof, switch)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26" name="Rounded Rectangle 108"/>
          <p:cNvSpPr/>
          <p:nvPr/>
        </p:nvSpPr>
        <p:spPr>
          <a:xfrm>
            <a:off x="4968360" y="3506040"/>
            <a:ext cx="3619800" cy="301500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27" name="Rounded Rectangle 109"/>
          <p:cNvSpPr/>
          <p:nvPr/>
        </p:nvSpPr>
        <p:spPr>
          <a:xfrm>
            <a:off x="8849160" y="3506040"/>
            <a:ext cx="3619800" cy="301500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28" name="Rounded Rectangle 110"/>
          <p:cNvSpPr/>
          <p:nvPr/>
        </p:nvSpPr>
        <p:spPr>
          <a:xfrm>
            <a:off x="8767440" y="3425040"/>
            <a:ext cx="3620160" cy="301536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2000" spc="-1" strike="noStrike">
                <a:solidFill>
                  <a:srgbClr val="78ffc8"/>
                </a:solidFill>
                <a:latin typeface="Consolas"/>
                <a:ea typeface="DejaVu Sans"/>
              </a:rPr>
              <a:t>List&lt;String&gt; activeUsers =</a:t>
            </a: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20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2000" spc="-1" strike="noStrike">
                <a:solidFill>
                  <a:srgbClr val="78ffc8"/>
                </a:solidFill>
                <a:latin typeface="Consolas"/>
                <a:ea typeface="DejaVu Sans"/>
              </a:rPr>
              <a:t>users.stream()</a:t>
            </a: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20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 </a:t>
            </a:r>
            <a:r>
              <a:rPr b="0" lang="en-US" sz="2000" spc="-1" strike="noStrike">
                <a:solidFill>
                  <a:srgbClr val="78ffc8"/>
                </a:solidFill>
                <a:latin typeface="Consolas"/>
                <a:ea typeface="DejaVu Sans"/>
              </a:rPr>
              <a:t>.filter(User::isActive)</a:t>
            </a: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20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 </a:t>
            </a:r>
            <a:r>
              <a:rPr b="0" lang="en-US" sz="2000" spc="-1" strike="noStrike">
                <a:solidFill>
                  <a:srgbClr val="78ffc8"/>
                </a:solidFill>
                <a:latin typeface="Consolas"/>
                <a:ea typeface="DejaVu Sans"/>
              </a:rPr>
              <a:t>.map(User::getName)</a:t>
            </a: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20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 </a:t>
            </a:r>
            <a:r>
              <a:rPr b="0" lang="en-US" sz="2000" spc="-1" strike="noStrike">
                <a:solidFill>
                  <a:srgbClr val="78ffc8"/>
                </a:solidFill>
                <a:latin typeface="Consolas"/>
                <a:ea typeface="DejaVu Sans"/>
              </a:rPr>
              <a:t>.toList();</a:t>
            </a: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29" name="TextBox 48"/>
          <p:cNvSpPr/>
          <p:nvPr/>
        </p:nvSpPr>
        <p:spPr>
          <a:xfrm>
            <a:off x="5224320" y="7104600"/>
            <a:ext cx="305100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Java • Ultra Premium Template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30" name="Rounded Rectangle 111"/>
          <p:cNvSpPr/>
          <p:nvPr/>
        </p:nvSpPr>
        <p:spPr>
          <a:xfrm>
            <a:off x="4941000" y="3450960"/>
            <a:ext cx="3620160" cy="301536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1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↓ </a:t>
            </a:r>
            <a:r>
              <a:rPr b="1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More expressive code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↓ </a:t>
            </a:r>
            <a:r>
              <a:rPr b="1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Less boilerplate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↓ </a:t>
            </a:r>
            <a:r>
              <a:rPr b="1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Better performance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↓ </a:t>
            </a:r>
            <a:r>
              <a:rPr b="1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Parallel &amp; async processing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↓ </a:t>
            </a:r>
            <a:r>
              <a:rPr b="1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Modern programming paradigms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↓ </a:t>
            </a:r>
            <a:r>
              <a:rPr b="1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Readability + maintainability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Before Java 8: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Imperative, verbose, loop-heavy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After Java 8+: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Declarative, functional, fluent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1" name="Rectangle 241"/>
          <p:cNvSpPr/>
          <p:nvPr/>
        </p:nvSpPr>
        <p:spPr>
          <a:xfrm>
            <a:off x="16920" y="1800"/>
            <a:ext cx="13427640" cy="7551000"/>
          </a:xfrm>
          <a:prstGeom prst="rect">
            <a:avLst/>
          </a:prstGeom>
          <a:solidFill>
            <a:srgbClr val="0b0b0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32" name="Rectangle 242"/>
          <p:cNvSpPr/>
          <p:nvPr/>
        </p:nvSpPr>
        <p:spPr>
          <a:xfrm>
            <a:off x="1440" y="1800"/>
            <a:ext cx="11880" cy="75510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33" name="Rectangle 243"/>
          <p:cNvSpPr/>
          <p:nvPr/>
        </p:nvSpPr>
        <p:spPr>
          <a:xfrm>
            <a:off x="1005480" y="1800"/>
            <a:ext cx="11880" cy="75510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34" name="Rectangle 244"/>
          <p:cNvSpPr/>
          <p:nvPr/>
        </p:nvSpPr>
        <p:spPr>
          <a:xfrm>
            <a:off x="2013480" y="1800"/>
            <a:ext cx="11880" cy="75510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35" name="Rectangle 245"/>
          <p:cNvSpPr/>
          <p:nvPr/>
        </p:nvSpPr>
        <p:spPr>
          <a:xfrm>
            <a:off x="3021480" y="1800"/>
            <a:ext cx="11880" cy="75510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36" name="Rectangle 246"/>
          <p:cNvSpPr/>
          <p:nvPr/>
        </p:nvSpPr>
        <p:spPr>
          <a:xfrm>
            <a:off x="4029480" y="1800"/>
            <a:ext cx="11880" cy="75510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37" name="Rectangle 247"/>
          <p:cNvSpPr/>
          <p:nvPr/>
        </p:nvSpPr>
        <p:spPr>
          <a:xfrm>
            <a:off x="5037480" y="1800"/>
            <a:ext cx="11880" cy="75510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38" name="Rectangle 248"/>
          <p:cNvSpPr/>
          <p:nvPr/>
        </p:nvSpPr>
        <p:spPr>
          <a:xfrm>
            <a:off x="6045480" y="1800"/>
            <a:ext cx="11880" cy="75510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39" name="Rectangle 249"/>
          <p:cNvSpPr/>
          <p:nvPr/>
        </p:nvSpPr>
        <p:spPr>
          <a:xfrm>
            <a:off x="7053480" y="1800"/>
            <a:ext cx="11880" cy="75510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40" name="Rectangle 250"/>
          <p:cNvSpPr/>
          <p:nvPr/>
        </p:nvSpPr>
        <p:spPr>
          <a:xfrm>
            <a:off x="8061480" y="1800"/>
            <a:ext cx="11880" cy="75510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41" name="Rectangle 251"/>
          <p:cNvSpPr/>
          <p:nvPr/>
        </p:nvSpPr>
        <p:spPr>
          <a:xfrm>
            <a:off x="9069480" y="1800"/>
            <a:ext cx="11880" cy="75510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42" name="Rectangle 252"/>
          <p:cNvSpPr/>
          <p:nvPr/>
        </p:nvSpPr>
        <p:spPr>
          <a:xfrm>
            <a:off x="10077480" y="1800"/>
            <a:ext cx="11880" cy="75510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43" name="Rectangle 253"/>
          <p:cNvSpPr/>
          <p:nvPr/>
        </p:nvSpPr>
        <p:spPr>
          <a:xfrm>
            <a:off x="11085480" y="1800"/>
            <a:ext cx="11880" cy="75510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44" name="Rectangle 254"/>
          <p:cNvSpPr/>
          <p:nvPr/>
        </p:nvSpPr>
        <p:spPr>
          <a:xfrm>
            <a:off x="12093480" y="1800"/>
            <a:ext cx="11880" cy="75510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45" name="Rectangle 255"/>
          <p:cNvSpPr/>
          <p:nvPr/>
        </p:nvSpPr>
        <p:spPr>
          <a:xfrm>
            <a:off x="13101480" y="1800"/>
            <a:ext cx="11880" cy="75510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46" name="Rectangle 256"/>
          <p:cNvSpPr/>
          <p:nvPr/>
        </p:nvSpPr>
        <p:spPr>
          <a:xfrm>
            <a:off x="1440" y="1800"/>
            <a:ext cx="343800" cy="7551000"/>
          </a:xfrm>
          <a:prstGeom prst="rect">
            <a:avLst/>
          </a:prstGeom>
          <a:solidFill>
            <a:srgbClr val="ff8c0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47" name="Rounded Rectangle 112"/>
          <p:cNvSpPr/>
          <p:nvPr/>
        </p:nvSpPr>
        <p:spPr>
          <a:xfrm>
            <a:off x="10884960" y="401400"/>
            <a:ext cx="2208240" cy="544320"/>
          </a:xfrm>
          <a:prstGeom prst="roundRect">
            <a:avLst>
              <a:gd name="adj" fmla="val 16667"/>
            </a:avLst>
          </a:prstGeom>
          <a:solidFill>
            <a:srgbClr val="1e1e24"/>
          </a:solidFill>
          <a:ln>
            <a:solidFill>
              <a:srgbClr val="ff8c0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1" lang="en-US" sz="1400" spc="-1" strike="noStrike">
                <a:solidFill>
                  <a:srgbClr val="ffb45a"/>
                </a:solidFill>
                <a:latin typeface="Calibri"/>
                <a:ea typeface="DejaVu Sans"/>
              </a:rPr>
              <a:t>JAVA CORE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48" name="TextBox 49"/>
          <p:cNvSpPr/>
          <p:nvPr/>
        </p:nvSpPr>
        <p:spPr>
          <a:xfrm>
            <a:off x="1012680" y="1107360"/>
            <a:ext cx="10091520" cy="729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en-US" sz="4200" spc="-1" strike="noStrike">
                <a:solidFill>
                  <a:srgbClr val="f5f5f5"/>
                </a:solidFill>
                <a:latin typeface="Calibri"/>
                <a:ea typeface="DejaVu Sans"/>
              </a:rPr>
              <a:t>          </a:t>
            </a:r>
            <a:r>
              <a:rPr b="1" lang="en-US" sz="4200" spc="-1" strike="noStrike">
                <a:solidFill>
                  <a:srgbClr val="f5f5f5"/>
                </a:solidFill>
                <a:latin typeface="Calibri"/>
                <a:ea typeface="DejaVu Sans"/>
              </a:rPr>
              <a:t>Java Today: Enterprise, Cloud &amp; Beyond</a:t>
            </a:r>
            <a:endParaRPr b="0" lang="en-US" sz="4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49" name="TextBox 50"/>
          <p:cNvSpPr/>
          <p:nvPr/>
        </p:nvSpPr>
        <p:spPr>
          <a:xfrm>
            <a:off x="3928320" y="2266200"/>
            <a:ext cx="488412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aaaaaa"/>
                </a:solidFill>
                <a:latin typeface="Calibri"/>
                <a:ea typeface="DejaVu Sans"/>
              </a:rPr>
              <a:t>Java is no longer just enterprise — it’s everywhere.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50" name="Rounded Rectangle 113"/>
          <p:cNvSpPr/>
          <p:nvPr/>
        </p:nvSpPr>
        <p:spPr>
          <a:xfrm>
            <a:off x="1086840" y="3506040"/>
            <a:ext cx="3619800" cy="301500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51" name="Rounded Rectangle 114"/>
          <p:cNvSpPr/>
          <p:nvPr/>
        </p:nvSpPr>
        <p:spPr>
          <a:xfrm>
            <a:off x="1020960" y="3424320"/>
            <a:ext cx="3620160" cy="301536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1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Cloud-native backends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1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High-performance APIs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1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Financial systems &amp; banking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1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Big data &amp; streaming platforms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1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Android (core language roots)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1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Game servers &amp; real-time systems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52" name="Rounded Rectangle 115"/>
          <p:cNvSpPr/>
          <p:nvPr/>
        </p:nvSpPr>
        <p:spPr>
          <a:xfrm>
            <a:off x="4968360" y="3506040"/>
            <a:ext cx="3619800" cy="301500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53" name="Rounded Rectangle 116"/>
          <p:cNvSpPr/>
          <p:nvPr/>
        </p:nvSpPr>
        <p:spPr>
          <a:xfrm>
            <a:off x="8849160" y="3506040"/>
            <a:ext cx="3619800" cy="301500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54" name="Rounded Rectangle 117"/>
          <p:cNvSpPr/>
          <p:nvPr/>
        </p:nvSpPr>
        <p:spPr>
          <a:xfrm>
            <a:off x="8767440" y="3425040"/>
            <a:ext cx="3620160" cy="301536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2000" spc="-1" strike="noStrike">
                <a:solidFill>
                  <a:srgbClr val="78ffc8"/>
                </a:solidFill>
                <a:latin typeface="Consolas"/>
                <a:ea typeface="DejaVu Sans"/>
              </a:rPr>
              <a:t>@GetMapping("/health")</a:t>
            </a: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20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ResponseEntity&lt;String&gt; status() {</a:t>
            </a: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20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2000" spc="-1" strike="noStrike">
                <a:solidFill>
                  <a:srgbClr val="78ffc8"/>
                </a:solidFill>
                <a:latin typeface="Consolas"/>
                <a:ea typeface="DejaVu Sans"/>
              </a:rPr>
              <a:t>return ResponseEntity.ok("Service is running");</a:t>
            </a: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20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55" name="TextBox 51"/>
          <p:cNvSpPr/>
          <p:nvPr/>
        </p:nvSpPr>
        <p:spPr>
          <a:xfrm>
            <a:off x="5224320" y="7104600"/>
            <a:ext cx="305100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Java • Ultra Premium Template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56" name="Rounded Rectangle 118"/>
          <p:cNvSpPr/>
          <p:nvPr/>
        </p:nvSpPr>
        <p:spPr>
          <a:xfrm>
            <a:off x="4941000" y="3450960"/>
            <a:ext cx="3620160" cy="301536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1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↓ </a:t>
            </a:r>
            <a:r>
              <a:rPr b="1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Spring Boot &amp; Spring Cloud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↓ </a:t>
            </a:r>
            <a:r>
              <a:rPr b="1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Reactive programming (WebFlux)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↓ </a:t>
            </a:r>
            <a:r>
              <a:rPr b="1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Kubernetes-native deployments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↓ </a:t>
            </a:r>
            <a:r>
              <a:rPr b="1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GraalVM &amp; Native Images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↓ </a:t>
            </a:r>
            <a:r>
              <a:rPr b="1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Observability (metrics, tracing)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↓ </a:t>
            </a:r>
            <a:r>
              <a:rPr b="1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Long-term support stability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7" name="Rectangle 257"/>
          <p:cNvSpPr/>
          <p:nvPr/>
        </p:nvSpPr>
        <p:spPr>
          <a:xfrm>
            <a:off x="16920" y="1800"/>
            <a:ext cx="13427640" cy="7551000"/>
          </a:xfrm>
          <a:prstGeom prst="rect">
            <a:avLst/>
          </a:prstGeom>
          <a:solidFill>
            <a:srgbClr val="0b0b0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58" name="Rectangle 258"/>
          <p:cNvSpPr/>
          <p:nvPr/>
        </p:nvSpPr>
        <p:spPr>
          <a:xfrm>
            <a:off x="1440" y="1800"/>
            <a:ext cx="11880" cy="75510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59" name="Rectangle 259"/>
          <p:cNvSpPr/>
          <p:nvPr/>
        </p:nvSpPr>
        <p:spPr>
          <a:xfrm>
            <a:off x="1005480" y="1800"/>
            <a:ext cx="11880" cy="75510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60" name="Rectangle 260"/>
          <p:cNvSpPr/>
          <p:nvPr/>
        </p:nvSpPr>
        <p:spPr>
          <a:xfrm>
            <a:off x="2013480" y="1800"/>
            <a:ext cx="11880" cy="75510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61" name="Rectangle 261"/>
          <p:cNvSpPr/>
          <p:nvPr/>
        </p:nvSpPr>
        <p:spPr>
          <a:xfrm>
            <a:off x="3021480" y="1800"/>
            <a:ext cx="11880" cy="75510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62" name="Rectangle 262"/>
          <p:cNvSpPr/>
          <p:nvPr/>
        </p:nvSpPr>
        <p:spPr>
          <a:xfrm>
            <a:off x="4029480" y="1800"/>
            <a:ext cx="11880" cy="75510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63" name="Rectangle 263"/>
          <p:cNvSpPr/>
          <p:nvPr/>
        </p:nvSpPr>
        <p:spPr>
          <a:xfrm>
            <a:off x="5037480" y="1800"/>
            <a:ext cx="11880" cy="75510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64" name="Rectangle 264"/>
          <p:cNvSpPr/>
          <p:nvPr/>
        </p:nvSpPr>
        <p:spPr>
          <a:xfrm>
            <a:off x="6045480" y="1800"/>
            <a:ext cx="11880" cy="75510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65" name="Rectangle 265"/>
          <p:cNvSpPr/>
          <p:nvPr/>
        </p:nvSpPr>
        <p:spPr>
          <a:xfrm>
            <a:off x="7053480" y="1800"/>
            <a:ext cx="11880" cy="75510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66" name="Rectangle 266"/>
          <p:cNvSpPr/>
          <p:nvPr/>
        </p:nvSpPr>
        <p:spPr>
          <a:xfrm>
            <a:off x="8061480" y="1800"/>
            <a:ext cx="11880" cy="75510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67" name="Rectangle 267"/>
          <p:cNvSpPr/>
          <p:nvPr/>
        </p:nvSpPr>
        <p:spPr>
          <a:xfrm>
            <a:off x="9069480" y="1800"/>
            <a:ext cx="11880" cy="75510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68" name="Rectangle 268"/>
          <p:cNvSpPr/>
          <p:nvPr/>
        </p:nvSpPr>
        <p:spPr>
          <a:xfrm>
            <a:off x="10077480" y="1800"/>
            <a:ext cx="11880" cy="75510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69" name="Rectangle 269"/>
          <p:cNvSpPr/>
          <p:nvPr/>
        </p:nvSpPr>
        <p:spPr>
          <a:xfrm>
            <a:off x="11085480" y="1800"/>
            <a:ext cx="11880" cy="75510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70" name="Rectangle 270"/>
          <p:cNvSpPr/>
          <p:nvPr/>
        </p:nvSpPr>
        <p:spPr>
          <a:xfrm>
            <a:off x="12093480" y="1800"/>
            <a:ext cx="11880" cy="75510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71" name="Rectangle 271"/>
          <p:cNvSpPr/>
          <p:nvPr/>
        </p:nvSpPr>
        <p:spPr>
          <a:xfrm>
            <a:off x="13101480" y="1800"/>
            <a:ext cx="11880" cy="75510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72" name="Rectangle 272"/>
          <p:cNvSpPr/>
          <p:nvPr/>
        </p:nvSpPr>
        <p:spPr>
          <a:xfrm>
            <a:off x="1440" y="1800"/>
            <a:ext cx="343800" cy="7551000"/>
          </a:xfrm>
          <a:prstGeom prst="rect">
            <a:avLst/>
          </a:prstGeom>
          <a:solidFill>
            <a:srgbClr val="ff8c0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73" name="Rounded Rectangle 119"/>
          <p:cNvSpPr/>
          <p:nvPr/>
        </p:nvSpPr>
        <p:spPr>
          <a:xfrm>
            <a:off x="10884960" y="401400"/>
            <a:ext cx="2208240" cy="544320"/>
          </a:xfrm>
          <a:prstGeom prst="roundRect">
            <a:avLst>
              <a:gd name="adj" fmla="val 16667"/>
            </a:avLst>
          </a:prstGeom>
          <a:solidFill>
            <a:srgbClr val="1e1e24"/>
          </a:solidFill>
          <a:ln>
            <a:solidFill>
              <a:srgbClr val="ff8c0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1" lang="en-US" sz="1400" spc="-1" strike="noStrike">
                <a:solidFill>
                  <a:srgbClr val="ffb45a"/>
                </a:solidFill>
                <a:latin typeface="Calibri"/>
                <a:ea typeface="DejaVu Sans"/>
              </a:rPr>
              <a:t>JAVA CORE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74" name="TextBox 52"/>
          <p:cNvSpPr/>
          <p:nvPr/>
        </p:nvSpPr>
        <p:spPr>
          <a:xfrm>
            <a:off x="2129400" y="1107360"/>
            <a:ext cx="7857720" cy="729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en-US" sz="4200" spc="-1" strike="noStrike">
                <a:solidFill>
                  <a:srgbClr val="f5f5f5"/>
                </a:solidFill>
                <a:latin typeface="Calibri"/>
                <a:ea typeface="DejaVu Sans"/>
              </a:rPr>
              <a:t>Java in Practice: From Idea to Code</a:t>
            </a:r>
            <a:endParaRPr b="0" lang="en-US" sz="4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75" name="TextBox 53"/>
          <p:cNvSpPr/>
          <p:nvPr/>
        </p:nvSpPr>
        <p:spPr>
          <a:xfrm>
            <a:off x="2773080" y="2266200"/>
            <a:ext cx="719316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aaaaaa"/>
                </a:solidFill>
                <a:latin typeface="Calibri"/>
                <a:ea typeface="DejaVu Sans"/>
              </a:rPr>
              <a:t>Java focuses on turning ideas into clean, structured, and maintainable code.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76" name="Rounded Rectangle 120"/>
          <p:cNvSpPr/>
          <p:nvPr/>
        </p:nvSpPr>
        <p:spPr>
          <a:xfrm>
            <a:off x="1086840" y="3506040"/>
            <a:ext cx="3619800" cy="301500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77" name="Rounded Rectangle 121"/>
          <p:cNvSpPr/>
          <p:nvPr/>
        </p:nvSpPr>
        <p:spPr>
          <a:xfrm>
            <a:off x="1020960" y="3424320"/>
            <a:ext cx="3620160" cy="301536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1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Java is designed for clarity and structure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1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Strong typing prevents many runtime errors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1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Code readability improves long-term maintenance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1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Suitable for large and long-lived systems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78" name="Rounded Rectangle 122"/>
          <p:cNvSpPr/>
          <p:nvPr/>
        </p:nvSpPr>
        <p:spPr>
          <a:xfrm>
            <a:off x="4968360" y="3506040"/>
            <a:ext cx="3619800" cy="301500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79" name="Rounded Rectangle 123"/>
          <p:cNvSpPr/>
          <p:nvPr/>
        </p:nvSpPr>
        <p:spPr>
          <a:xfrm>
            <a:off x="8849160" y="3506040"/>
            <a:ext cx="3619800" cy="301500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80" name="Rounded Rectangle 124"/>
          <p:cNvSpPr/>
          <p:nvPr/>
        </p:nvSpPr>
        <p:spPr>
          <a:xfrm>
            <a:off x="8767440" y="3425040"/>
            <a:ext cx="3620160" cy="301536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class Calculator {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static int add(int a, int b) {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return a + b;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static void main(String[] args) {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int result = add(10, 20);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System.out.println(result);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81" name="TextBox 54"/>
          <p:cNvSpPr/>
          <p:nvPr/>
        </p:nvSpPr>
        <p:spPr>
          <a:xfrm>
            <a:off x="5224320" y="7104600"/>
            <a:ext cx="305100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Java • Ultra Premium Template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82" name="Rounded Rectangle 125"/>
          <p:cNvSpPr/>
          <p:nvPr/>
        </p:nvSpPr>
        <p:spPr>
          <a:xfrm>
            <a:off x="4941000" y="3450960"/>
            <a:ext cx="3620160" cy="301536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Problem Definition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↓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Solution Planning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↓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Class &amp; Method Design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↓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Implementation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↓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Compilation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↓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Program Execution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3" name="Rectangle 273"/>
          <p:cNvSpPr/>
          <p:nvPr/>
        </p:nvSpPr>
        <p:spPr>
          <a:xfrm>
            <a:off x="16920" y="1800"/>
            <a:ext cx="13427640" cy="7551000"/>
          </a:xfrm>
          <a:prstGeom prst="rect">
            <a:avLst/>
          </a:prstGeom>
          <a:solidFill>
            <a:srgbClr val="0b0b0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84" name="Rectangle 274"/>
          <p:cNvSpPr/>
          <p:nvPr/>
        </p:nvSpPr>
        <p:spPr>
          <a:xfrm>
            <a:off x="1440" y="1800"/>
            <a:ext cx="11880" cy="75510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85" name="Rectangle 275"/>
          <p:cNvSpPr/>
          <p:nvPr/>
        </p:nvSpPr>
        <p:spPr>
          <a:xfrm>
            <a:off x="1005480" y="1800"/>
            <a:ext cx="11880" cy="75510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86" name="Rectangle 276"/>
          <p:cNvSpPr/>
          <p:nvPr/>
        </p:nvSpPr>
        <p:spPr>
          <a:xfrm>
            <a:off x="2013480" y="1800"/>
            <a:ext cx="11880" cy="75510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87" name="Rectangle 277"/>
          <p:cNvSpPr/>
          <p:nvPr/>
        </p:nvSpPr>
        <p:spPr>
          <a:xfrm>
            <a:off x="3021480" y="1800"/>
            <a:ext cx="11880" cy="75510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88" name="Rectangle 278"/>
          <p:cNvSpPr/>
          <p:nvPr/>
        </p:nvSpPr>
        <p:spPr>
          <a:xfrm>
            <a:off x="4029480" y="1800"/>
            <a:ext cx="11880" cy="75510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89" name="Rectangle 279"/>
          <p:cNvSpPr/>
          <p:nvPr/>
        </p:nvSpPr>
        <p:spPr>
          <a:xfrm>
            <a:off x="5037480" y="1800"/>
            <a:ext cx="11880" cy="75510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90" name="Rectangle 280"/>
          <p:cNvSpPr/>
          <p:nvPr/>
        </p:nvSpPr>
        <p:spPr>
          <a:xfrm>
            <a:off x="6045480" y="1800"/>
            <a:ext cx="11880" cy="75510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91" name="Rectangle 281"/>
          <p:cNvSpPr/>
          <p:nvPr/>
        </p:nvSpPr>
        <p:spPr>
          <a:xfrm>
            <a:off x="7053480" y="1800"/>
            <a:ext cx="11880" cy="75510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92" name="Rectangle 282"/>
          <p:cNvSpPr/>
          <p:nvPr/>
        </p:nvSpPr>
        <p:spPr>
          <a:xfrm>
            <a:off x="8061480" y="1800"/>
            <a:ext cx="11880" cy="75510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93" name="Rectangle 283"/>
          <p:cNvSpPr/>
          <p:nvPr/>
        </p:nvSpPr>
        <p:spPr>
          <a:xfrm>
            <a:off x="9069480" y="1800"/>
            <a:ext cx="11880" cy="75510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94" name="Rectangle 284"/>
          <p:cNvSpPr/>
          <p:nvPr/>
        </p:nvSpPr>
        <p:spPr>
          <a:xfrm>
            <a:off x="10077480" y="1800"/>
            <a:ext cx="11880" cy="75510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95" name="Rectangle 285"/>
          <p:cNvSpPr/>
          <p:nvPr/>
        </p:nvSpPr>
        <p:spPr>
          <a:xfrm>
            <a:off x="11085480" y="1800"/>
            <a:ext cx="11880" cy="75510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96" name="Rectangle 286"/>
          <p:cNvSpPr/>
          <p:nvPr/>
        </p:nvSpPr>
        <p:spPr>
          <a:xfrm>
            <a:off x="12093480" y="1800"/>
            <a:ext cx="11880" cy="75510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97" name="Rectangle 287"/>
          <p:cNvSpPr/>
          <p:nvPr/>
        </p:nvSpPr>
        <p:spPr>
          <a:xfrm>
            <a:off x="13101480" y="1800"/>
            <a:ext cx="11880" cy="75510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98" name="Rectangle 288"/>
          <p:cNvSpPr/>
          <p:nvPr/>
        </p:nvSpPr>
        <p:spPr>
          <a:xfrm>
            <a:off x="1440" y="1800"/>
            <a:ext cx="343800" cy="7551000"/>
          </a:xfrm>
          <a:prstGeom prst="rect">
            <a:avLst/>
          </a:prstGeom>
          <a:solidFill>
            <a:srgbClr val="ff8c0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99" name="Rounded Rectangle 126"/>
          <p:cNvSpPr/>
          <p:nvPr/>
        </p:nvSpPr>
        <p:spPr>
          <a:xfrm>
            <a:off x="10884960" y="401400"/>
            <a:ext cx="2208240" cy="544320"/>
          </a:xfrm>
          <a:prstGeom prst="roundRect">
            <a:avLst>
              <a:gd name="adj" fmla="val 16667"/>
            </a:avLst>
          </a:prstGeom>
          <a:solidFill>
            <a:srgbClr val="1e1e24"/>
          </a:solidFill>
          <a:ln>
            <a:solidFill>
              <a:srgbClr val="ff8c0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1" lang="en-US" sz="1400" spc="-1" strike="noStrike">
                <a:solidFill>
                  <a:srgbClr val="ffb45a"/>
                </a:solidFill>
                <a:latin typeface="Calibri"/>
                <a:ea typeface="DejaVu Sans"/>
              </a:rPr>
              <a:t>JAVA CORE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00" name="TextBox 55"/>
          <p:cNvSpPr/>
          <p:nvPr/>
        </p:nvSpPr>
        <p:spPr>
          <a:xfrm>
            <a:off x="2240640" y="1107360"/>
            <a:ext cx="7633440" cy="729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en-US" sz="4200" spc="-1" strike="noStrike">
                <a:solidFill>
                  <a:srgbClr val="f5f5f5"/>
                </a:solidFill>
                <a:latin typeface="Calibri"/>
                <a:ea typeface="DejaVu Sans"/>
              </a:rPr>
              <a:t>Java Core Features – An Overview</a:t>
            </a:r>
            <a:endParaRPr b="0" lang="en-US" sz="4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01" name="TextBox 56"/>
          <p:cNvSpPr/>
          <p:nvPr/>
        </p:nvSpPr>
        <p:spPr>
          <a:xfrm>
            <a:off x="3222000" y="2266200"/>
            <a:ext cx="629532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aaaaaa"/>
                </a:solidFill>
                <a:latin typeface="Calibri"/>
                <a:ea typeface="DejaVu Sans"/>
              </a:rPr>
              <a:t>A first look at the fundamental features that shape Java programs.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02" name="Rounded Rectangle 127"/>
          <p:cNvSpPr/>
          <p:nvPr/>
        </p:nvSpPr>
        <p:spPr>
          <a:xfrm>
            <a:off x="1086840" y="3506040"/>
            <a:ext cx="3619800" cy="301500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03" name="Rounded Rectangle 128"/>
          <p:cNvSpPr/>
          <p:nvPr/>
        </p:nvSpPr>
        <p:spPr>
          <a:xfrm>
            <a:off x="1020960" y="3424320"/>
            <a:ext cx="3620160" cy="301536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Java is designed with a set of core features that help developers write programs in a clear, structured, and predictable way.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These features reduce common programming errors, improve code readability, and make applications easier to maintain over time.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Rather than focusing on low-level system details, Java allows developers to concentrate on program logic and problem-solving.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04" name="Rounded Rectangle 129"/>
          <p:cNvSpPr/>
          <p:nvPr/>
        </p:nvSpPr>
        <p:spPr>
          <a:xfrm>
            <a:off x="4968360" y="3506040"/>
            <a:ext cx="3619800" cy="301500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05" name="Rounded Rectangle 130"/>
          <p:cNvSpPr/>
          <p:nvPr/>
        </p:nvSpPr>
        <p:spPr>
          <a:xfrm>
            <a:off x="8849160" y="3506040"/>
            <a:ext cx="3619800" cy="301500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06" name="Rounded Rectangle 131"/>
          <p:cNvSpPr/>
          <p:nvPr/>
        </p:nvSpPr>
        <p:spPr>
          <a:xfrm>
            <a:off x="8767440" y="3425040"/>
            <a:ext cx="3620160" cy="301536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2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2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2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2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2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2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2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2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2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2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2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2100" spc="-1" strike="noStrike">
                <a:solidFill>
                  <a:srgbClr val="78ffc8"/>
                </a:solidFill>
                <a:latin typeface="Consolas"/>
                <a:ea typeface="DejaVu Sans"/>
              </a:rPr>
              <a:t>int number = 5;</a:t>
            </a:r>
            <a:endParaRPr b="0" lang="en-US" sz="2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2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2100" spc="-1" strike="noStrike">
                <a:solidFill>
                  <a:srgbClr val="78ffc8"/>
                </a:solidFill>
                <a:latin typeface="Consolas"/>
                <a:ea typeface="DejaVu Sans"/>
              </a:rPr>
              <a:t>if (number &gt; 0) {</a:t>
            </a:r>
            <a:endParaRPr b="0" lang="en-US" sz="2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21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21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System.out.println("Positive number");</a:t>
            </a:r>
            <a:endParaRPr b="0" lang="en-US" sz="2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21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2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2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2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2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2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2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2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2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2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2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2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21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07" name="TextBox 57"/>
          <p:cNvSpPr/>
          <p:nvPr/>
        </p:nvSpPr>
        <p:spPr>
          <a:xfrm>
            <a:off x="5224320" y="7104600"/>
            <a:ext cx="305100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Java • Ultra Premium Template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08" name="Rounded Rectangle 132"/>
          <p:cNvSpPr/>
          <p:nvPr/>
        </p:nvSpPr>
        <p:spPr>
          <a:xfrm>
            <a:off x="4941000" y="3450960"/>
            <a:ext cx="3620160" cy="301536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1" lang="en-US" sz="2400" spc="-1" strike="noStrike">
                <a:solidFill>
                  <a:schemeClr val="lt1"/>
                </a:solidFill>
                <a:latin typeface="Calibri"/>
                <a:ea typeface="DejaVu Sans"/>
              </a:rPr>
              <a:t>What I Want to Do</a:t>
            </a:r>
            <a:endParaRPr b="0" lang="en-US" sz="2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2400" spc="-1" strike="noStrike">
                <a:solidFill>
                  <a:schemeClr val="lt1"/>
                </a:solidFill>
                <a:latin typeface="Calibri"/>
                <a:ea typeface="DejaVu Sans"/>
              </a:rPr>
              <a:t>What Java Allows</a:t>
            </a:r>
            <a:endParaRPr b="0" lang="en-US" sz="2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2400" spc="-1" strike="noStrike">
                <a:solidFill>
                  <a:schemeClr val="lt1"/>
                </a:solidFill>
                <a:latin typeface="Calibri"/>
                <a:ea typeface="DejaVu Sans"/>
              </a:rPr>
              <a:t>How I Must Write It</a:t>
            </a:r>
            <a:endParaRPr b="0" lang="en-US" sz="2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2400" spc="-1" strike="noStrike">
                <a:solidFill>
                  <a:schemeClr val="lt1"/>
                </a:solidFill>
                <a:latin typeface="Calibri"/>
                <a:ea typeface="DejaVu Sans"/>
              </a:rPr>
              <a:t>How It Executes</a:t>
            </a:r>
            <a:endParaRPr b="0" lang="en-US" sz="2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2400" spc="-1" strike="noStrike">
                <a:solidFill>
                  <a:schemeClr val="lt1"/>
                </a:solidFill>
                <a:latin typeface="Calibri"/>
                <a:ea typeface="DejaVu Sans"/>
              </a:rPr>
              <a:t>What I Get</a:t>
            </a:r>
            <a:endParaRPr b="0" lang="en-US" sz="2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2400" spc="-1" strike="noStrike">
              <a:solidFill>
                <a:srgbClr val="ffffff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9" name="Rectangle 289"/>
          <p:cNvSpPr/>
          <p:nvPr/>
        </p:nvSpPr>
        <p:spPr>
          <a:xfrm>
            <a:off x="16920" y="1800"/>
            <a:ext cx="13427640" cy="7551000"/>
          </a:xfrm>
          <a:prstGeom prst="rect">
            <a:avLst/>
          </a:prstGeom>
          <a:solidFill>
            <a:srgbClr val="0b0b0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10" name="Rectangle 290"/>
          <p:cNvSpPr/>
          <p:nvPr/>
        </p:nvSpPr>
        <p:spPr>
          <a:xfrm>
            <a:off x="1440" y="1800"/>
            <a:ext cx="11880" cy="75510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11" name="Rectangle 291"/>
          <p:cNvSpPr/>
          <p:nvPr/>
        </p:nvSpPr>
        <p:spPr>
          <a:xfrm>
            <a:off x="1005480" y="1800"/>
            <a:ext cx="11880" cy="75510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12" name="Rectangle 292"/>
          <p:cNvSpPr/>
          <p:nvPr/>
        </p:nvSpPr>
        <p:spPr>
          <a:xfrm>
            <a:off x="2013480" y="1800"/>
            <a:ext cx="11880" cy="75510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13" name="Rectangle 293"/>
          <p:cNvSpPr/>
          <p:nvPr/>
        </p:nvSpPr>
        <p:spPr>
          <a:xfrm>
            <a:off x="3021480" y="1800"/>
            <a:ext cx="11880" cy="75510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14" name="Rectangle 294"/>
          <p:cNvSpPr/>
          <p:nvPr/>
        </p:nvSpPr>
        <p:spPr>
          <a:xfrm>
            <a:off x="4029480" y="1800"/>
            <a:ext cx="11880" cy="75510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15" name="Rectangle 295"/>
          <p:cNvSpPr/>
          <p:nvPr/>
        </p:nvSpPr>
        <p:spPr>
          <a:xfrm>
            <a:off x="5037480" y="1800"/>
            <a:ext cx="11880" cy="75510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16" name="Rectangle 296"/>
          <p:cNvSpPr/>
          <p:nvPr/>
        </p:nvSpPr>
        <p:spPr>
          <a:xfrm>
            <a:off x="6045480" y="1800"/>
            <a:ext cx="11880" cy="75510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17" name="Rectangle 297"/>
          <p:cNvSpPr/>
          <p:nvPr/>
        </p:nvSpPr>
        <p:spPr>
          <a:xfrm>
            <a:off x="7053480" y="1800"/>
            <a:ext cx="11880" cy="75510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18" name="Rectangle 298"/>
          <p:cNvSpPr/>
          <p:nvPr/>
        </p:nvSpPr>
        <p:spPr>
          <a:xfrm>
            <a:off x="8061480" y="1800"/>
            <a:ext cx="11880" cy="75510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19" name="Rectangle 299"/>
          <p:cNvSpPr/>
          <p:nvPr/>
        </p:nvSpPr>
        <p:spPr>
          <a:xfrm>
            <a:off x="9069480" y="1800"/>
            <a:ext cx="11880" cy="75510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20" name="Rectangle 300"/>
          <p:cNvSpPr/>
          <p:nvPr/>
        </p:nvSpPr>
        <p:spPr>
          <a:xfrm>
            <a:off x="10077480" y="1800"/>
            <a:ext cx="11880" cy="75510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21" name="Rectangle 301"/>
          <p:cNvSpPr/>
          <p:nvPr/>
        </p:nvSpPr>
        <p:spPr>
          <a:xfrm>
            <a:off x="11085480" y="1800"/>
            <a:ext cx="11880" cy="75510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22" name="Rectangle 302"/>
          <p:cNvSpPr/>
          <p:nvPr/>
        </p:nvSpPr>
        <p:spPr>
          <a:xfrm>
            <a:off x="12093480" y="1800"/>
            <a:ext cx="11880" cy="75510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23" name="Rectangle 303"/>
          <p:cNvSpPr/>
          <p:nvPr/>
        </p:nvSpPr>
        <p:spPr>
          <a:xfrm>
            <a:off x="13101480" y="1800"/>
            <a:ext cx="11880" cy="75510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24" name="Rectangle 304"/>
          <p:cNvSpPr/>
          <p:nvPr/>
        </p:nvSpPr>
        <p:spPr>
          <a:xfrm>
            <a:off x="1440" y="1800"/>
            <a:ext cx="343800" cy="7551000"/>
          </a:xfrm>
          <a:prstGeom prst="rect">
            <a:avLst/>
          </a:prstGeom>
          <a:solidFill>
            <a:srgbClr val="ff8c0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25" name="Rounded Rectangle 133"/>
          <p:cNvSpPr/>
          <p:nvPr/>
        </p:nvSpPr>
        <p:spPr>
          <a:xfrm>
            <a:off x="10884960" y="401400"/>
            <a:ext cx="2208240" cy="544320"/>
          </a:xfrm>
          <a:prstGeom prst="roundRect">
            <a:avLst>
              <a:gd name="adj" fmla="val 16667"/>
            </a:avLst>
          </a:prstGeom>
          <a:solidFill>
            <a:srgbClr val="1e1e24"/>
          </a:solidFill>
          <a:ln>
            <a:solidFill>
              <a:srgbClr val="ff8c0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1" lang="en-US" sz="1400" spc="-1" strike="noStrike">
                <a:solidFill>
                  <a:srgbClr val="ffb45a"/>
                </a:solidFill>
                <a:latin typeface="Calibri"/>
                <a:ea typeface="DejaVu Sans"/>
              </a:rPr>
              <a:t>JAVA CORE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26" name="TextBox 58"/>
          <p:cNvSpPr/>
          <p:nvPr/>
        </p:nvSpPr>
        <p:spPr>
          <a:xfrm>
            <a:off x="4180320" y="1107360"/>
            <a:ext cx="3753360" cy="729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en-US" sz="4200" spc="-1" strike="noStrike">
                <a:solidFill>
                  <a:srgbClr val="f5f5f5"/>
                </a:solidFill>
                <a:latin typeface="Calibri"/>
                <a:ea typeface="DejaVu Sans"/>
              </a:rPr>
              <a:t>Object-Oriented</a:t>
            </a:r>
            <a:endParaRPr b="0" lang="en-US" sz="4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27" name="TextBox 59"/>
          <p:cNvSpPr/>
          <p:nvPr/>
        </p:nvSpPr>
        <p:spPr>
          <a:xfrm>
            <a:off x="2378880" y="2266200"/>
            <a:ext cx="7982640" cy="63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aaaaaa"/>
                </a:solidFill>
                <a:latin typeface="Calibri"/>
                <a:ea typeface="DejaVu Sans"/>
              </a:rPr>
              <a:t>Java is an object-oriented programming language.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aaaaaa"/>
                </a:solidFill>
                <a:latin typeface="Calibri"/>
                <a:ea typeface="DejaVu Sans"/>
              </a:rPr>
              <a:t>This means Java programs are built using objects, which represent real-world things.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28" name="Rounded Rectangle 134"/>
          <p:cNvSpPr/>
          <p:nvPr/>
        </p:nvSpPr>
        <p:spPr>
          <a:xfrm>
            <a:off x="1086840" y="3506040"/>
            <a:ext cx="3619800" cy="301500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29" name="Rounded Rectangle 135"/>
          <p:cNvSpPr/>
          <p:nvPr/>
        </p:nvSpPr>
        <p:spPr>
          <a:xfrm>
            <a:off x="1020960" y="3424320"/>
            <a:ext cx="3620160" cy="301536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Object-Oriented Programming (OOP):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Everything in Java is based on classes and objects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A class is a blueprint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An object is a real instance of a class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OOP makes programs easier to understand and manage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Examples of real-world objects: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Car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Student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Account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30" name="Rounded Rectangle 136"/>
          <p:cNvSpPr/>
          <p:nvPr/>
        </p:nvSpPr>
        <p:spPr>
          <a:xfrm>
            <a:off x="4968360" y="3506040"/>
            <a:ext cx="3619800" cy="301500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31" name="Rounded Rectangle 137"/>
          <p:cNvSpPr/>
          <p:nvPr/>
        </p:nvSpPr>
        <p:spPr>
          <a:xfrm>
            <a:off x="8849160" y="3506040"/>
            <a:ext cx="3619800" cy="301500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32" name="Rounded Rectangle 138"/>
          <p:cNvSpPr/>
          <p:nvPr/>
        </p:nvSpPr>
        <p:spPr>
          <a:xfrm>
            <a:off x="8767440" y="3425040"/>
            <a:ext cx="3620160" cy="301536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2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2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2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2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2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2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2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2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2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2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2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2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2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2100" spc="-1" strike="noStrike">
                <a:solidFill>
                  <a:srgbClr val="78ffc8"/>
                </a:solidFill>
                <a:latin typeface="Consolas"/>
                <a:ea typeface="DejaVu Sans"/>
              </a:rPr>
              <a:t>class Car {</a:t>
            </a:r>
            <a:endParaRPr b="0" lang="en-US" sz="2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21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2100" spc="-1" strike="noStrike">
                <a:solidFill>
                  <a:srgbClr val="78ffc8"/>
                </a:solidFill>
                <a:latin typeface="Consolas"/>
                <a:ea typeface="DejaVu Sans"/>
              </a:rPr>
              <a:t>String model;</a:t>
            </a:r>
            <a:endParaRPr b="0" lang="en-US" sz="2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21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2100" spc="-1" strike="noStrike">
                <a:solidFill>
                  <a:srgbClr val="78ffc8"/>
                </a:solidFill>
                <a:latin typeface="Consolas"/>
                <a:ea typeface="DejaVu Sans"/>
              </a:rPr>
              <a:t>String color;</a:t>
            </a:r>
            <a:endParaRPr b="0" lang="en-US" sz="2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21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2100" spc="-1" strike="noStrike">
                <a:solidFill>
                  <a:srgbClr val="78ffc8"/>
                </a:solidFill>
                <a:latin typeface="Consolas"/>
                <a:ea typeface="DejaVu Sans"/>
              </a:rPr>
              <a:t>int year;</a:t>
            </a:r>
            <a:endParaRPr b="0" lang="en-US" sz="2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21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2100" spc="-1" strike="noStrike">
                <a:solidFill>
                  <a:srgbClr val="78ffc8"/>
                </a:solidFill>
                <a:latin typeface="Consolas"/>
                <a:ea typeface="DejaVu Sans"/>
              </a:rPr>
              <a:t>double price;</a:t>
            </a:r>
            <a:endParaRPr b="0" lang="en-US" sz="2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21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2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2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2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2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2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2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2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2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2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2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2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2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2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21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33" name="TextBox 60"/>
          <p:cNvSpPr/>
          <p:nvPr/>
        </p:nvSpPr>
        <p:spPr>
          <a:xfrm>
            <a:off x="5224320" y="7104600"/>
            <a:ext cx="305100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Java • Ultra Premium Template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34" name="Rounded Rectangle 139"/>
          <p:cNvSpPr/>
          <p:nvPr/>
        </p:nvSpPr>
        <p:spPr>
          <a:xfrm>
            <a:off x="4941000" y="3450960"/>
            <a:ext cx="3620160" cy="301536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Real World Object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        ↓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      </a:t>
            </a: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Class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        ↓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     </a:t>
            </a: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Object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        ↓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   </a:t>
            </a: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Program Logic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Explanation: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First, we define a class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Then, we create objects from that class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Objects are used inside the program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5" name="Rectangle 305"/>
          <p:cNvSpPr/>
          <p:nvPr/>
        </p:nvSpPr>
        <p:spPr>
          <a:xfrm>
            <a:off x="16920" y="1800"/>
            <a:ext cx="13427640" cy="7551000"/>
          </a:xfrm>
          <a:prstGeom prst="rect">
            <a:avLst/>
          </a:prstGeom>
          <a:solidFill>
            <a:srgbClr val="0b0b0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36" name="Rectangle 306"/>
          <p:cNvSpPr/>
          <p:nvPr/>
        </p:nvSpPr>
        <p:spPr>
          <a:xfrm>
            <a:off x="1440" y="1800"/>
            <a:ext cx="11880" cy="75510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37" name="Rectangle 307"/>
          <p:cNvSpPr/>
          <p:nvPr/>
        </p:nvSpPr>
        <p:spPr>
          <a:xfrm>
            <a:off x="1005480" y="1800"/>
            <a:ext cx="11880" cy="75510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38" name="Rectangle 308"/>
          <p:cNvSpPr/>
          <p:nvPr/>
        </p:nvSpPr>
        <p:spPr>
          <a:xfrm>
            <a:off x="2013480" y="1800"/>
            <a:ext cx="11880" cy="75510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39" name="Rectangle 309"/>
          <p:cNvSpPr/>
          <p:nvPr/>
        </p:nvSpPr>
        <p:spPr>
          <a:xfrm>
            <a:off x="3021480" y="1800"/>
            <a:ext cx="11880" cy="75510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40" name="Rectangle 310"/>
          <p:cNvSpPr/>
          <p:nvPr/>
        </p:nvSpPr>
        <p:spPr>
          <a:xfrm>
            <a:off x="4029480" y="1800"/>
            <a:ext cx="11880" cy="75510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41" name="Rectangle 311"/>
          <p:cNvSpPr/>
          <p:nvPr/>
        </p:nvSpPr>
        <p:spPr>
          <a:xfrm>
            <a:off x="5037480" y="1800"/>
            <a:ext cx="11880" cy="75510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42" name="Rectangle 312"/>
          <p:cNvSpPr/>
          <p:nvPr/>
        </p:nvSpPr>
        <p:spPr>
          <a:xfrm>
            <a:off x="6045480" y="1800"/>
            <a:ext cx="11880" cy="75510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43" name="Rectangle 313"/>
          <p:cNvSpPr/>
          <p:nvPr/>
        </p:nvSpPr>
        <p:spPr>
          <a:xfrm>
            <a:off x="7053480" y="1800"/>
            <a:ext cx="11880" cy="75510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44" name="Rectangle 314"/>
          <p:cNvSpPr/>
          <p:nvPr/>
        </p:nvSpPr>
        <p:spPr>
          <a:xfrm>
            <a:off x="8061480" y="1800"/>
            <a:ext cx="11880" cy="75510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45" name="Rectangle 315"/>
          <p:cNvSpPr/>
          <p:nvPr/>
        </p:nvSpPr>
        <p:spPr>
          <a:xfrm>
            <a:off x="9069480" y="1800"/>
            <a:ext cx="11880" cy="75510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46" name="Rectangle 316"/>
          <p:cNvSpPr/>
          <p:nvPr/>
        </p:nvSpPr>
        <p:spPr>
          <a:xfrm>
            <a:off x="10077480" y="1800"/>
            <a:ext cx="11880" cy="75510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47" name="Rectangle 317"/>
          <p:cNvSpPr/>
          <p:nvPr/>
        </p:nvSpPr>
        <p:spPr>
          <a:xfrm>
            <a:off x="11085480" y="1800"/>
            <a:ext cx="11880" cy="75510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48" name="Rectangle 318"/>
          <p:cNvSpPr/>
          <p:nvPr/>
        </p:nvSpPr>
        <p:spPr>
          <a:xfrm>
            <a:off x="12093480" y="1800"/>
            <a:ext cx="11880" cy="75510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49" name="Rectangle 319"/>
          <p:cNvSpPr/>
          <p:nvPr/>
        </p:nvSpPr>
        <p:spPr>
          <a:xfrm>
            <a:off x="13101480" y="1800"/>
            <a:ext cx="11880" cy="75510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50" name="Rectangle 320"/>
          <p:cNvSpPr/>
          <p:nvPr/>
        </p:nvSpPr>
        <p:spPr>
          <a:xfrm>
            <a:off x="1440" y="1800"/>
            <a:ext cx="343800" cy="7551000"/>
          </a:xfrm>
          <a:prstGeom prst="rect">
            <a:avLst/>
          </a:prstGeom>
          <a:solidFill>
            <a:srgbClr val="ff8c0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51" name="Rounded Rectangle 140"/>
          <p:cNvSpPr/>
          <p:nvPr/>
        </p:nvSpPr>
        <p:spPr>
          <a:xfrm>
            <a:off x="10884960" y="401400"/>
            <a:ext cx="2208240" cy="544320"/>
          </a:xfrm>
          <a:prstGeom prst="roundRect">
            <a:avLst>
              <a:gd name="adj" fmla="val 16667"/>
            </a:avLst>
          </a:prstGeom>
          <a:solidFill>
            <a:srgbClr val="1e1e24"/>
          </a:solidFill>
          <a:ln>
            <a:solidFill>
              <a:srgbClr val="ff8c0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1" lang="en-US" sz="1400" spc="-1" strike="noStrike">
                <a:solidFill>
                  <a:srgbClr val="ffb45a"/>
                </a:solidFill>
                <a:latin typeface="Calibri"/>
                <a:ea typeface="DejaVu Sans"/>
              </a:rPr>
              <a:t>JAVA CORE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52" name="TextBox 61"/>
          <p:cNvSpPr/>
          <p:nvPr/>
        </p:nvSpPr>
        <p:spPr>
          <a:xfrm>
            <a:off x="5227200" y="1107360"/>
            <a:ext cx="1659600" cy="729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en-US" sz="4200" spc="-1" strike="noStrike">
                <a:solidFill>
                  <a:srgbClr val="f5f5f5"/>
                </a:solidFill>
                <a:latin typeface="Calibri"/>
                <a:ea typeface="DejaVu Sans"/>
              </a:rPr>
              <a:t>Secure</a:t>
            </a:r>
            <a:endParaRPr b="0" lang="en-US" sz="4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53" name="TextBox 62"/>
          <p:cNvSpPr/>
          <p:nvPr/>
        </p:nvSpPr>
        <p:spPr>
          <a:xfrm>
            <a:off x="651600" y="2266200"/>
            <a:ext cx="11437560" cy="912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aaaaaa"/>
                </a:solidFill>
                <a:latin typeface="Calibri"/>
                <a:ea typeface="DejaVu Sans"/>
              </a:rPr>
              <a:t>Java is designed to be a secure programming language.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aaaaaa"/>
                </a:solidFill>
                <a:latin typeface="Calibri"/>
                <a:ea typeface="DejaVu Sans"/>
              </a:rPr>
              <a:t>It allows developers to build virus-free and tamper-free applications.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aaaaaa"/>
                </a:solidFill>
                <a:latin typeface="Calibri"/>
                <a:ea typeface="DejaVu Sans"/>
              </a:rPr>
              <a:t>Java security is based on strong concepts like public-key encryption, bytecode verification, and controlled memory access.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54" name="Rounded Rectangle 141"/>
          <p:cNvSpPr/>
          <p:nvPr/>
        </p:nvSpPr>
        <p:spPr>
          <a:xfrm>
            <a:off x="1086840" y="3506040"/>
            <a:ext cx="3619800" cy="301500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55" name="Rounded Rectangle 142"/>
          <p:cNvSpPr/>
          <p:nvPr/>
        </p:nvSpPr>
        <p:spPr>
          <a:xfrm>
            <a:off x="1020960" y="3424320"/>
            <a:ext cx="3620160" cy="301536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Java does not allow direct memory access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No pointers like in C/C++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Programs run inside the Java Virtual Machine (JVM)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Bytecode is verified before execution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Common problems like: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       </a:t>
            </a: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- Memory leaks</a:t>
            </a:r>
            <a:br>
              <a:rPr sz="1400"/>
            </a:b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       - Buffer overflow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Additional security advantages: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Built-in exception handling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Automatic garbage collection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Secure class loading mechanism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56" name="Rounded Rectangle 143"/>
          <p:cNvSpPr/>
          <p:nvPr/>
        </p:nvSpPr>
        <p:spPr>
          <a:xfrm>
            <a:off x="4968360" y="3506040"/>
            <a:ext cx="3619800" cy="301500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57" name="Rounded Rectangle 144"/>
          <p:cNvSpPr/>
          <p:nvPr/>
        </p:nvSpPr>
        <p:spPr>
          <a:xfrm>
            <a:off x="8849160" y="3506040"/>
            <a:ext cx="3619800" cy="301500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58" name="Rounded Rectangle 145"/>
          <p:cNvSpPr/>
          <p:nvPr/>
        </p:nvSpPr>
        <p:spPr>
          <a:xfrm>
            <a:off x="8767440" y="3425040"/>
            <a:ext cx="3620160" cy="301536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4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class SecureExample {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4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4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static void main(String[] args) {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4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400" spc="-1" strike="noStrike">
                <a:solidFill>
                  <a:srgbClr val="78ffc8"/>
                </a:solidFill>
                <a:latin typeface="Consolas"/>
                <a:ea typeface="DejaVu Sans"/>
              </a:rPr>
              <a:t>try {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4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    </a:t>
            </a:r>
            <a:r>
              <a:rPr b="0" lang="en-US" sz="1400" spc="-1" strike="noStrike">
                <a:solidFill>
                  <a:srgbClr val="78ffc8"/>
                </a:solidFill>
                <a:latin typeface="Consolas"/>
                <a:ea typeface="DejaVu Sans"/>
              </a:rPr>
              <a:t>int number = 10 / 0;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4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400" spc="-1" strike="noStrike">
                <a:solidFill>
                  <a:srgbClr val="78ffc8"/>
                </a:solidFill>
                <a:latin typeface="Consolas"/>
                <a:ea typeface="DejaVu Sans"/>
              </a:rPr>
              <a:t>} catch (Exception e) {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4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    </a:t>
            </a:r>
            <a:r>
              <a:rPr b="0" lang="en-US" sz="14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System.out.println("Error handled safely");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4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4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4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4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4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59" name="TextBox 63"/>
          <p:cNvSpPr/>
          <p:nvPr/>
        </p:nvSpPr>
        <p:spPr>
          <a:xfrm>
            <a:off x="5224320" y="7104600"/>
            <a:ext cx="305100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Java • Ultra Premium Template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60" name="Rounded Rectangle 146"/>
          <p:cNvSpPr/>
          <p:nvPr/>
        </p:nvSpPr>
        <p:spPr>
          <a:xfrm>
            <a:off x="4941000" y="3450960"/>
            <a:ext cx="3620160" cy="301536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2000" spc="-1" strike="noStrike">
                <a:solidFill>
                  <a:schemeClr val="lt1"/>
                </a:solidFill>
                <a:latin typeface="Calibri"/>
                <a:ea typeface="DejaVu Sans"/>
              </a:rPr>
              <a:t>        </a:t>
            </a:r>
            <a:r>
              <a:rPr b="1" lang="en-US" sz="2000" spc="-1" strike="noStrike">
                <a:solidFill>
                  <a:schemeClr val="lt1"/>
                </a:solidFill>
                <a:latin typeface="Calibri"/>
                <a:ea typeface="DejaVu Sans"/>
              </a:rPr>
              <a:t>Java Source Code</a:t>
            </a: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2000" spc="-1" strike="noStrike">
                <a:solidFill>
                  <a:schemeClr val="lt1"/>
                </a:solidFill>
                <a:latin typeface="Calibri"/>
                <a:ea typeface="DejaVu Sans"/>
              </a:rPr>
              <a:t>                    ↓</a:t>
            </a: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2000" spc="-1" strike="noStrike">
                <a:solidFill>
                  <a:schemeClr val="lt1"/>
                </a:solidFill>
                <a:latin typeface="Calibri"/>
                <a:ea typeface="DejaVu Sans"/>
              </a:rPr>
              <a:t>               </a:t>
            </a:r>
            <a:r>
              <a:rPr b="1" lang="en-US" sz="2000" spc="-1" strike="noStrike">
                <a:solidFill>
                  <a:schemeClr val="lt1"/>
                </a:solidFill>
                <a:latin typeface="Calibri"/>
                <a:ea typeface="DejaVu Sans"/>
              </a:rPr>
              <a:t>Compiler</a:t>
            </a: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2000" spc="-1" strike="noStrike">
                <a:solidFill>
                  <a:schemeClr val="lt1"/>
                </a:solidFill>
                <a:latin typeface="Calibri"/>
                <a:ea typeface="DejaVu Sans"/>
              </a:rPr>
              <a:t>                    ↓</a:t>
            </a: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2000" spc="-1" strike="noStrike">
                <a:solidFill>
                  <a:schemeClr val="lt1"/>
                </a:solidFill>
                <a:latin typeface="Calibri"/>
                <a:ea typeface="DejaVu Sans"/>
              </a:rPr>
              <a:t>               </a:t>
            </a:r>
            <a:r>
              <a:rPr b="1" lang="en-US" sz="2000" spc="-1" strike="noStrike">
                <a:solidFill>
                  <a:schemeClr val="lt1"/>
                </a:solidFill>
                <a:latin typeface="Calibri"/>
                <a:ea typeface="DejaVu Sans"/>
              </a:rPr>
              <a:t>Bytecode</a:t>
            </a: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2000" spc="-1" strike="noStrike">
                <a:solidFill>
                  <a:schemeClr val="lt1"/>
                </a:solidFill>
                <a:latin typeface="Calibri"/>
                <a:ea typeface="DejaVu Sans"/>
              </a:rPr>
              <a:t>                    ↓</a:t>
            </a: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2000" spc="-1" strike="noStrike">
                <a:solidFill>
                  <a:schemeClr val="lt1"/>
                </a:solidFill>
                <a:latin typeface="Calibri"/>
                <a:ea typeface="DejaVu Sans"/>
              </a:rPr>
              <a:t>         </a:t>
            </a:r>
            <a:r>
              <a:rPr b="1" lang="en-US" sz="2000" spc="-1" strike="noStrike">
                <a:solidFill>
                  <a:schemeClr val="lt1"/>
                </a:solidFill>
                <a:latin typeface="Calibri"/>
                <a:ea typeface="DejaVu Sans"/>
              </a:rPr>
              <a:t>JVM Security Check</a:t>
            </a: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2000" spc="-1" strike="noStrike">
                <a:solidFill>
                  <a:schemeClr val="lt1"/>
                </a:solidFill>
                <a:latin typeface="Calibri"/>
                <a:ea typeface="DejaVu Sans"/>
              </a:rPr>
              <a:t>                    ↓</a:t>
            </a: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2000" spc="-1" strike="noStrike">
                <a:solidFill>
                  <a:schemeClr val="lt1"/>
                </a:solidFill>
                <a:latin typeface="Calibri"/>
                <a:ea typeface="DejaVu Sans"/>
              </a:rPr>
              <a:t>           </a:t>
            </a:r>
            <a:r>
              <a:rPr b="1" lang="en-US" sz="2000" spc="-1" strike="noStrike">
                <a:solidFill>
                  <a:schemeClr val="lt1"/>
                </a:solidFill>
                <a:latin typeface="Calibri"/>
                <a:ea typeface="DejaVu Sans"/>
              </a:rPr>
              <a:t>Safe Execution</a:t>
            </a: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1" name="Rectangle 321"/>
          <p:cNvSpPr/>
          <p:nvPr/>
        </p:nvSpPr>
        <p:spPr>
          <a:xfrm>
            <a:off x="16920" y="1800"/>
            <a:ext cx="13427640" cy="7551000"/>
          </a:xfrm>
          <a:prstGeom prst="rect">
            <a:avLst/>
          </a:prstGeom>
          <a:solidFill>
            <a:srgbClr val="0b0b0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62" name="Rectangle 322"/>
          <p:cNvSpPr/>
          <p:nvPr/>
        </p:nvSpPr>
        <p:spPr>
          <a:xfrm>
            <a:off x="1440" y="1800"/>
            <a:ext cx="11880" cy="75510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63" name="Rectangle 323"/>
          <p:cNvSpPr/>
          <p:nvPr/>
        </p:nvSpPr>
        <p:spPr>
          <a:xfrm>
            <a:off x="1005480" y="1800"/>
            <a:ext cx="11880" cy="75510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64" name="Rectangle 324"/>
          <p:cNvSpPr/>
          <p:nvPr/>
        </p:nvSpPr>
        <p:spPr>
          <a:xfrm>
            <a:off x="2013480" y="1800"/>
            <a:ext cx="11880" cy="75510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65" name="Rectangle 325"/>
          <p:cNvSpPr/>
          <p:nvPr/>
        </p:nvSpPr>
        <p:spPr>
          <a:xfrm>
            <a:off x="3021480" y="1800"/>
            <a:ext cx="11880" cy="75510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66" name="Rectangle 326"/>
          <p:cNvSpPr/>
          <p:nvPr/>
        </p:nvSpPr>
        <p:spPr>
          <a:xfrm>
            <a:off x="4029480" y="1800"/>
            <a:ext cx="11880" cy="75510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67" name="Rectangle 327"/>
          <p:cNvSpPr/>
          <p:nvPr/>
        </p:nvSpPr>
        <p:spPr>
          <a:xfrm>
            <a:off x="5037480" y="1800"/>
            <a:ext cx="11880" cy="75510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68" name="Rectangle 328"/>
          <p:cNvSpPr/>
          <p:nvPr/>
        </p:nvSpPr>
        <p:spPr>
          <a:xfrm>
            <a:off x="6045480" y="1800"/>
            <a:ext cx="11880" cy="75510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69" name="Rectangle 329"/>
          <p:cNvSpPr/>
          <p:nvPr/>
        </p:nvSpPr>
        <p:spPr>
          <a:xfrm>
            <a:off x="7053480" y="1800"/>
            <a:ext cx="11880" cy="75510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70" name="Rectangle 330"/>
          <p:cNvSpPr/>
          <p:nvPr/>
        </p:nvSpPr>
        <p:spPr>
          <a:xfrm>
            <a:off x="8061480" y="1800"/>
            <a:ext cx="11880" cy="75510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71" name="Rectangle 331"/>
          <p:cNvSpPr/>
          <p:nvPr/>
        </p:nvSpPr>
        <p:spPr>
          <a:xfrm>
            <a:off x="9069480" y="1800"/>
            <a:ext cx="11880" cy="75510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72" name="Rectangle 332"/>
          <p:cNvSpPr/>
          <p:nvPr/>
        </p:nvSpPr>
        <p:spPr>
          <a:xfrm>
            <a:off x="10077480" y="1800"/>
            <a:ext cx="11880" cy="75510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73" name="Rectangle 333"/>
          <p:cNvSpPr/>
          <p:nvPr/>
        </p:nvSpPr>
        <p:spPr>
          <a:xfrm>
            <a:off x="11085480" y="1800"/>
            <a:ext cx="11880" cy="75510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74" name="Rectangle 334"/>
          <p:cNvSpPr/>
          <p:nvPr/>
        </p:nvSpPr>
        <p:spPr>
          <a:xfrm>
            <a:off x="12093480" y="1800"/>
            <a:ext cx="11880" cy="75510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75" name="Rectangle 335"/>
          <p:cNvSpPr/>
          <p:nvPr/>
        </p:nvSpPr>
        <p:spPr>
          <a:xfrm>
            <a:off x="13101480" y="1800"/>
            <a:ext cx="11880" cy="75510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76" name="Rectangle 336"/>
          <p:cNvSpPr/>
          <p:nvPr/>
        </p:nvSpPr>
        <p:spPr>
          <a:xfrm>
            <a:off x="1440" y="1800"/>
            <a:ext cx="343800" cy="7551000"/>
          </a:xfrm>
          <a:prstGeom prst="rect">
            <a:avLst/>
          </a:prstGeom>
          <a:solidFill>
            <a:srgbClr val="ff8c0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77" name="Rounded Rectangle 147"/>
          <p:cNvSpPr/>
          <p:nvPr/>
        </p:nvSpPr>
        <p:spPr>
          <a:xfrm>
            <a:off x="10884960" y="401400"/>
            <a:ext cx="2208240" cy="544320"/>
          </a:xfrm>
          <a:prstGeom prst="roundRect">
            <a:avLst>
              <a:gd name="adj" fmla="val 16667"/>
            </a:avLst>
          </a:prstGeom>
          <a:solidFill>
            <a:srgbClr val="1e1e24"/>
          </a:solidFill>
          <a:ln>
            <a:solidFill>
              <a:srgbClr val="ff8c0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1" lang="en-US" sz="1400" spc="-1" strike="noStrike">
                <a:solidFill>
                  <a:srgbClr val="ffb45a"/>
                </a:solidFill>
                <a:latin typeface="Calibri"/>
                <a:ea typeface="DejaVu Sans"/>
              </a:rPr>
              <a:t>JAVA CORE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78" name="TextBox 64"/>
          <p:cNvSpPr/>
          <p:nvPr/>
        </p:nvSpPr>
        <p:spPr>
          <a:xfrm>
            <a:off x="4704480" y="1107360"/>
            <a:ext cx="2706480" cy="729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en-US" sz="4200" spc="-1" strike="noStrike">
                <a:solidFill>
                  <a:srgbClr val="f5f5f5"/>
                </a:solidFill>
                <a:latin typeface="Calibri"/>
                <a:ea typeface="DejaVu Sans"/>
              </a:rPr>
              <a:t>Interpreted</a:t>
            </a:r>
            <a:endParaRPr b="0" lang="en-US" sz="4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79" name="TextBox 65"/>
          <p:cNvSpPr/>
          <p:nvPr/>
        </p:nvSpPr>
        <p:spPr>
          <a:xfrm>
            <a:off x="2012400" y="2266200"/>
            <a:ext cx="871416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aaaaaa"/>
                </a:solidFill>
                <a:latin typeface="Calibri"/>
                <a:ea typeface="DejaVu Sans"/>
              </a:rPr>
              <a:t>Java code is executed through an intermediate step instead of running directly on hardware.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80" name="Rounded Rectangle 148"/>
          <p:cNvSpPr/>
          <p:nvPr/>
        </p:nvSpPr>
        <p:spPr>
          <a:xfrm>
            <a:off x="1086840" y="3506040"/>
            <a:ext cx="3619800" cy="301500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81" name="Rounded Rectangle 149"/>
          <p:cNvSpPr/>
          <p:nvPr/>
        </p:nvSpPr>
        <p:spPr>
          <a:xfrm>
            <a:off x="1020960" y="3424320"/>
            <a:ext cx="3620160" cy="301536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Java source code is first compiled into Bytecode, not machine code.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This Bytecode is translated on the fly into native machine instructions while the program runs.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The translated instructions are not stored permanently</a:t>
            </a: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.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Because of this model: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• </a:t>
            </a: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Development is faster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• </a:t>
            </a: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Compilation and linking are lightweight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• </a:t>
            </a: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Code analysis and debugging become easier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82" name="Rounded Rectangle 150"/>
          <p:cNvSpPr/>
          <p:nvPr/>
        </p:nvSpPr>
        <p:spPr>
          <a:xfrm>
            <a:off x="4968360" y="3506040"/>
            <a:ext cx="3619800" cy="301500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83" name="Rounded Rectangle 151"/>
          <p:cNvSpPr/>
          <p:nvPr/>
        </p:nvSpPr>
        <p:spPr>
          <a:xfrm>
            <a:off x="8849160" y="3506040"/>
            <a:ext cx="3619800" cy="301500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84" name="Rounded Rectangle 152"/>
          <p:cNvSpPr/>
          <p:nvPr/>
        </p:nvSpPr>
        <p:spPr>
          <a:xfrm>
            <a:off x="8767440" y="3425040"/>
            <a:ext cx="3620160" cy="301536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4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class InterpretedExample {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4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4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static void main(String[] args) {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4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4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System.out.println("Java runs through the JVM");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4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4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4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85" name="TextBox 66"/>
          <p:cNvSpPr/>
          <p:nvPr/>
        </p:nvSpPr>
        <p:spPr>
          <a:xfrm>
            <a:off x="5224320" y="7104600"/>
            <a:ext cx="305100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Java • Ultra Premium Template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86" name="Rounded Rectangle 153"/>
          <p:cNvSpPr/>
          <p:nvPr/>
        </p:nvSpPr>
        <p:spPr>
          <a:xfrm>
            <a:off x="4941000" y="3450960"/>
            <a:ext cx="3620160" cy="301536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How Java Executes: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    </a:t>
            </a:r>
            <a:r>
              <a:rPr b="1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Java Source Code (.java)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                    ↓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      </a:t>
            </a:r>
            <a:r>
              <a:rPr b="1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Java Compiler (javac)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                    ↓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          </a:t>
            </a:r>
            <a:r>
              <a:rPr b="1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Bytecode (.class)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                    ↓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Java Virtual Machine (JVM)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                    ↓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Native Machine Instructions (runtime)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87" name="Rectangle 337"/>
          <p:cNvSpPr/>
          <p:nvPr/>
        </p:nvSpPr>
        <p:spPr>
          <a:xfrm>
            <a:off x="16920" y="1800"/>
            <a:ext cx="13427640" cy="7551000"/>
          </a:xfrm>
          <a:prstGeom prst="rect">
            <a:avLst/>
          </a:prstGeom>
          <a:solidFill>
            <a:srgbClr val="0b0b0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88" name="Rectangle 338"/>
          <p:cNvSpPr/>
          <p:nvPr/>
        </p:nvSpPr>
        <p:spPr>
          <a:xfrm>
            <a:off x="1440" y="1800"/>
            <a:ext cx="11880" cy="75510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89" name="Rectangle 339"/>
          <p:cNvSpPr/>
          <p:nvPr/>
        </p:nvSpPr>
        <p:spPr>
          <a:xfrm>
            <a:off x="1005480" y="1800"/>
            <a:ext cx="11880" cy="75510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90" name="Rectangle 340"/>
          <p:cNvSpPr/>
          <p:nvPr/>
        </p:nvSpPr>
        <p:spPr>
          <a:xfrm>
            <a:off x="2013480" y="1800"/>
            <a:ext cx="11880" cy="75510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91" name="Rectangle 341"/>
          <p:cNvSpPr/>
          <p:nvPr/>
        </p:nvSpPr>
        <p:spPr>
          <a:xfrm>
            <a:off x="3021480" y="1800"/>
            <a:ext cx="11880" cy="75510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92" name="Rectangle 342"/>
          <p:cNvSpPr/>
          <p:nvPr/>
        </p:nvSpPr>
        <p:spPr>
          <a:xfrm>
            <a:off x="4029480" y="1800"/>
            <a:ext cx="11880" cy="75510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93" name="Rectangle 343"/>
          <p:cNvSpPr/>
          <p:nvPr/>
        </p:nvSpPr>
        <p:spPr>
          <a:xfrm>
            <a:off x="5037480" y="1800"/>
            <a:ext cx="11880" cy="75510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94" name="Rectangle 344"/>
          <p:cNvSpPr/>
          <p:nvPr/>
        </p:nvSpPr>
        <p:spPr>
          <a:xfrm>
            <a:off x="6045480" y="1800"/>
            <a:ext cx="11880" cy="75510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95" name="Rectangle 345"/>
          <p:cNvSpPr/>
          <p:nvPr/>
        </p:nvSpPr>
        <p:spPr>
          <a:xfrm>
            <a:off x="7053480" y="1800"/>
            <a:ext cx="11880" cy="75510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96" name="Rectangle 346"/>
          <p:cNvSpPr/>
          <p:nvPr/>
        </p:nvSpPr>
        <p:spPr>
          <a:xfrm>
            <a:off x="8061480" y="1800"/>
            <a:ext cx="11880" cy="75510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97" name="Rectangle 347"/>
          <p:cNvSpPr/>
          <p:nvPr/>
        </p:nvSpPr>
        <p:spPr>
          <a:xfrm>
            <a:off x="9069480" y="1800"/>
            <a:ext cx="11880" cy="75510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98" name="Rectangle 348"/>
          <p:cNvSpPr/>
          <p:nvPr/>
        </p:nvSpPr>
        <p:spPr>
          <a:xfrm>
            <a:off x="10077480" y="1800"/>
            <a:ext cx="11880" cy="75510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99" name="Rectangle 349"/>
          <p:cNvSpPr/>
          <p:nvPr/>
        </p:nvSpPr>
        <p:spPr>
          <a:xfrm>
            <a:off x="11085480" y="1800"/>
            <a:ext cx="11880" cy="75510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00" name="Rectangle 350"/>
          <p:cNvSpPr/>
          <p:nvPr/>
        </p:nvSpPr>
        <p:spPr>
          <a:xfrm>
            <a:off x="12093480" y="1800"/>
            <a:ext cx="11880" cy="75510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01" name="Rectangle 351"/>
          <p:cNvSpPr/>
          <p:nvPr/>
        </p:nvSpPr>
        <p:spPr>
          <a:xfrm>
            <a:off x="13101480" y="1800"/>
            <a:ext cx="11880" cy="75510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02" name="Rectangle 352"/>
          <p:cNvSpPr/>
          <p:nvPr/>
        </p:nvSpPr>
        <p:spPr>
          <a:xfrm>
            <a:off x="1440" y="1800"/>
            <a:ext cx="343800" cy="7551000"/>
          </a:xfrm>
          <a:prstGeom prst="rect">
            <a:avLst/>
          </a:prstGeom>
          <a:solidFill>
            <a:srgbClr val="ff8c0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03" name="Rounded Rectangle 154"/>
          <p:cNvSpPr/>
          <p:nvPr/>
        </p:nvSpPr>
        <p:spPr>
          <a:xfrm>
            <a:off x="10884960" y="401400"/>
            <a:ext cx="2208240" cy="544320"/>
          </a:xfrm>
          <a:prstGeom prst="roundRect">
            <a:avLst>
              <a:gd name="adj" fmla="val 16667"/>
            </a:avLst>
          </a:prstGeom>
          <a:solidFill>
            <a:srgbClr val="1e1e24"/>
          </a:solidFill>
          <a:ln>
            <a:solidFill>
              <a:srgbClr val="ff8c0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1" lang="en-US" sz="1400" spc="-1" strike="noStrike">
                <a:solidFill>
                  <a:srgbClr val="ffb45a"/>
                </a:solidFill>
                <a:latin typeface="Calibri"/>
                <a:ea typeface="DejaVu Sans"/>
              </a:rPr>
              <a:t>JAVA CORE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604" name="TextBox 67"/>
          <p:cNvSpPr/>
          <p:nvPr/>
        </p:nvSpPr>
        <p:spPr>
          <a:xfrm>
            <a:off x="2430720" y="1107360"/>
            <a:ext cx="7254000" cy="729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en-US" sz="4200" spc="-1" strike="noStrike">
                <a:solidFill>
                  <a:srgbClr val="f5f5f5"/>
                </a:solidFill>
                <a:latin typeface="Calibri"/>
                <a:ea typeface="DejaVu Sans"/>
              </a:rPr>
              <a:t>High Performance &amp; Distributed</a:t>
            </a:r>
            <a:endParaRPr b="0" lang="en-US" sz="4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05" name="TextBox 68"/>
          <p:cNvSpPr/>
          <p:nvPr/>
        </p:nvSpPr>
        <p:spPr>
          <a:xfrm>
            <a:off x="3008160" y="2266200"/>
            <a:ext cx="672228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aaaaaa"/>
                </a:solidFill>
                <a:latin typeface="Calibri"/>
                <a:ea typeface="DejaVu Sans"/>
              </a:rPr>
              <a:t>Java combines performance and networking support in its core design.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06" name="Rounded Rectangle 155"/>
          <p:cNvSpPr/>
          <p:nvPr/>
        </p:nvSpPr>
        <p:spPr>
          <a:xfrm>
            <a:off x="1086840" y="3506040"/>
            <a:ext cx="3619800" cy="301500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07" name="Rounded Rectangle 156"/>
          <p:cNvSpPr/>
          <p:nvPr/>
        </p:nvSpPr>
        <p:spPr>
          <a:xfrm>
            <a:off x="1020960" y="2971800"/>
            <a:ext cx="3620160" cy="346788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High Performance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Java achieves high performance using Just-In-Time (JIT) compilation.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The JVM compiles frequently used Bytecode into optimized native code while the program is running.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Common JIT optimizations include: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• </a:t>
            </a: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Method inlining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• </a:t>
            </a: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Dead code elimination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• </a:t>
            </a: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Constant folding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• </a:t>
            </a: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Optimized method calls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Result: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• </a:t>
            </a: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Faster execution over time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• </a:t>
            </a: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Near native performance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608" name="Rounded Rectangle 157"/>
          <p:cNvSpPr/>
          <p:nvPr/>
        </p:nvSpPr>
        <p:spPr>
          <a:xfrm>
            <a:off x="4968360" y="3506040"/>
            <a:ext cx="3619800" cy="301500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09" name="Rounded Rectangle 158"/>
          <p:cNvSpPr/>
          <p:nvPr/>
        </p:nvSpPr>
        <p:spPr>
          <a:xfrm>
            <a:off x="8849160" y="3506040"/>
            <a:ext cx="3619800" cy="301500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10" name="Rounded Rectangle 159"/>
          <p:cNvSpPr/>
          <p:nvPr/>
        </p:nvSpPr>
        <p:spPr>
          <a:xfrm>
            <a:off x="8767440" y="3425040"/>
            <a:ext cx="3620160" cy="301536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6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class PerformanceDemo {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6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6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static void main(String[] args) {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6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6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System.out.println("Fast and distributed Java applications");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6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6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6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611" name="TextBox 69"/>
          <p:cNvSpPr/>
          <p:nvPr/>
        </p:nvSpPr>
        <p:spPr>
          <a:xfrm>
            <a:off x="5224320" y="7104600"/>
            <a:ext cx="305100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Java • Ultra Premium Template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12" name="Rounded Rectangle 160"/>
          <p:cNvSpPr/>
          <p:nvPr/>
        </p:nvSpPr>
        <p:spPr>
          <a:xfrm>
            <a:off x="4941000" y="3450960"/>
            <a:ext cx="3620160" cy="301536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1" lang="en-US" sz="1500" spc="-1" strike="noStrike">
                <a:solidFill>
                  <a:srgbClr val="ffffff"/>
                </a:solidFill>
                <a:latin typeface="Arial"/>
                <a:ea typeface="DejaVu Sans"/>
              </a:rPr>
              <a:t>Distributed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500" spc="-1" strike="noStrike">
                <a:solidFill>
                  <a:srgbClr val="ffffff"/>
                </a:solidFill>
                <a:latin typeface="Arial"/>
                <a:ea typeface="DejaVu Sans"/>
              </a:rPr>
              <a:t>Java is designed for distributed environments, especially the Internet.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500" spc="-1" strike="noStrike">
                <a:solidFill>
                  <a:srgbClr val="ffffff"/>
                </a:solidFill>
                <a:latin typeface="Arial"/>
                <a:ea typeface="DejaVu Sans"/>
              </a:rPr>
              <a:t>It provides built-in support for: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rgbClr val="ffffff"/>
                </a:solidFill>
                <a:latin typeface="Arial"/>
                <a:ea typeface="DejaVu Sans"/>
              </a:rPr>
              <a:t>• </a:t>
            </a:r>
            <a:r>
              <a:rPr b="0" lang="en-US" sz="1500" spc="-1" strike="noStrike">
                <a:solidFill>
                  <a:srgbClr val="ffffff"/>
                </a:solidFill>
                <a:latin typeface="Arial"/>
                <a:ea typeface="DejaVu Sans"/>
              </a:rPr>
              <a:t>Networking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rgbClr val="ffffff"/>
                </a:solidFill>
                <a:latin typeface="Arial"/>
                <a:ea typeface="DejaVu Sans"/>
              </a:rPr>
              <a:t>• </a:t>
            </a:r>
            <a:r>
              <a:rPr b="0" lang="en-US" sz="1500" spc="-1" strike="noStrike">
                <a:solidFill>
                  <a:srgbClr val="ffffff"/>
                </a:solidFill>
                <a:latin typeface="Arial"/>
                <a:ea typeface="DejaVu Sans"/>
              </a:rPr>
              <a:t>Remote method calls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rgbClr val="ffffff"/>
                </a:solidFill>
                <a:latin typeface="Arial"/>
                <a:ea typeface="DejaVu Sans"/>
              </a:rPr>
              <a:t>• </a:t>
            </a:r>
            <a:r>
              <a:rPr b="0" lang="en-US" sz="1500" spc="-1" strike="noStrike">
                <a:solidFill>
                  <a:srgbClr val="ffffff"/>
                </a:solidFill>
                <a:latin typeface="Arial"/>
                <a:ea typeface="DejaVu Sans"/>
              </a:rPr>
              <a:t>Distributed systems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rgbClr val="ffffff"/>
                </a:solidFill>
                <a:latin typeface="Arial"/>
                <a:ea typeface="DejaVu Sans"/>
              </a:rPr>
              <a:t>Java applications can easily communicate over networks and run on multiple machines.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3" name="Rectangle 353"/>
          <p:cNvSpPr/>
          <p:nvPr/>
        </p:nvSpPr>
        <p:spPr>
          <a:xfrm>
            <a:off x="16920" y="1800"/>
            <a:ext cx="13427640" cy="7551000"/>
          </a:xfrm>
          <a:prstGeom prst="rect">
            <a:avLst/>
          </a:prstGeom>
          <a:solidFill>
            <a:srgbClr val="0b0b0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14" name="Rectangle 354"/>
          <p:cNvSpPr/>
          <p:nvPr/>
        </p:nvSpPr>
        <p:spPr>
          <a:xfrm>
            <a:off x="1440" y="1800"/>
            <a:ext cx="11880" cy="75510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15" name="Rectangle 355"/>
          <p:cNvSpPr/>
          <p:nvPr/>
        </p:nvSpPr>
        <p:spPr>
          <a:xfrm>
            <a:off x="1005480" y="1800"/>
            <a:ext cx="11880" cy="75510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16" name="Rectangle 356"/>
          <p:cNvSpPr/>
          <p:nvPr/>
        </p:nvSpPr>
        <p:spPr>
          <a:xfrm>
            <a:off x="2013480" y="1800"/>
            <a:ext cx="11880" cy="75510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17" name="Rectangle 357"/>
          <p:cNvSpPr/>
          <p:nvPr/>
        </p:nvSpPr>
        <p:spPr>
          <a:xfrm>
            <a:off x="3021480" y="1800"/>
            <a:ext cx="11880" cy="75510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18" name="Rectangle 358"/>
          <p:cNvSpPr/>
          <p:nvPr/>
        </p:nvSpPr>
        <p:spPr>
          <a:xfrm>
            <a:off x="4029480" y="1800"/>
            <a:ext cx="11880" cy="75510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19" name="Rectangle 359"/>
          <p:cNvSpPr/>
          <p:nvPr/>
        </p:nvSpPr>
        <p:spPr>
          <a:xfrm>
            <a:off x="5037480" y="1800"/>
            <a:ext cx="11880" cy="75510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20" name="Rectangle 360"/>
          <p:cNvSpPr/>
          <p:nvPr/>
        </p:nvSpPr>
        <p:spPr>
          <a:xfrm>
            <a:off x="6045480" y="1800"/>
            <a:ext cx="11880" cy="75510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21" name="Rectangle 361"/>
          <p:cNvSpPr/>
          <p:nvPr/>
        </p:nvSpPr>
        <p:spPr>
          <a:xfrm>
            <a:off x="7053480" y="1800"/>
            <a:ext cx="11880" cy="75510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22" name="Rectangle 362"/>
          <p:cNvSpPr/>
          <p:nvPr/>
        </p:nvSpPr>
        <p:spPr>
          <a:xfrm>
            <a:off x="8061480" y="1800"/>
            <a:ext cx="11880" cy="75510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23" name="Rectangle 363"/>
          <p:cNvSpPr/>
          <p:nvPr/>
        </p:nvSpPr>
        <p:spPr>
          <a:xfrm>
            <a:off x="9069480" y="1800"/>
            <a:ext cx="11880" cy="75510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24" name="Rectangle 364"/>
          <p:cNvSpPr/>
          <p:nvPr/>
        </p:nvSpPr>
        <p:spPr>
          <a:xfrm>
            <a:off x="10077480" y="1800"/>
            <a:ext cx="11880" cy="75510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25" name="Rectangle 365"/>
          <p:cNvSpPr/>
          <p:nvPr/>
        </p:nvSpPr>
        <p:spPr>
          <a:xfrm>
            <a:off x="11085480" y="1800"/>
            <a:ext cx="11880" cy="75510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26" name="Rectangle 366"/>
          <p:cNvSpPr/>
          <p:nvPr/>
        </p:nvSpPr>
        <p:spPr>
          <a:xfrm>
            <a:off x="12093480" y="1800"/>
            <a:ext cx="11880" cy="75510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27" name="Rectangle 367"/>
          <p:cNvSpPr/>
          <p:nvPr/>
        </p:nvSpPr>
        <p:spPr>
          <a:xfrm>
            <a:off x="13101480" y="1800"/>
            <a:ext cx="11880" cy="75510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28" name="Rectangle 368"/>
          <p:cNvSpPr/>
          <p:nvPr/>
        </p:nvSpPr>
        <p:spPr>
          <a:xfrm>
            <a:off x="1440" y="1800"/>
            <a:ext cx="343800" cy="7551000"/>
          </a:xfrm>
          <a:prstGeom prst="rect">
            <a:avLst/>
          </a:prstGeom>
          <a:solidFill>
            <a:srgbClr val="ff8c0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29" name="Rounded Rectangle 161"/>
          <p:cNvSpPr/>
          <p:nvPr/>
        </p:nvSpPr>
        <p:spPr>
          <a:xfrm>
            <a:off x="10884960" y="401400"/>
            <a:ext cx="2208240" cy="544320"/>
          </a:xfrm>
          <a:prstGeom prst="roundRect">
            <a:avLst>
              <a:gd name="adj" fmla="val 16667"/>
            </a:avLst>
          </a:prstGeom>
          <a:solidFill>
            <a:srgbClr val="1e1e24"/>
          </a:solidFill>
          <a:ln>
            <a:solidFill>
              <a:srgbClr val="ff8c0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1" lang="en-US" sz="1400" spc="-1" strike="noStrike">
                <a:solidFill>
                  <a:srgbClr val="ffb45a"/>
                </a:solidFill>
                <a:latin typeface="Calibri"/>
                <a:ea typeface="DejaVu Sans"/>
              </a:rPr>
              <a:t>JAVA CORE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630" name="TextBox 70"/>
          <p:cNvSpPr/>
          <p:nvPr/>
        </p:nvSpPr>
        <p:spPr>
          <a:xfrm>
            <a:off x="1630080" y="1107360"/>
            <a:ext cx="8855640" cy="729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en-US" sz="4200" spc="-1" strike="noStrike">
                <a:solidFill>
                  <a:srgbClr val="f5f5f5"/>
                </a:solidFill>
                <a:latin typeface="Calibri"/>
                <a:ea typeface="DejaVu Sans"/>
              </a:rPr>
              <a:t>Some Other Important Features of Java</a:t>
            </a:r>
            <a:endParaRPr b="0" lang="en-US" sz="4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31" name="TextBox 71"/>
          <p:cNvSpPr/>
          <p:nvPr/>
        </p:nvSpPr>
        <p:spPr>
          <a:xfrm>
            <a:off x="1341720" y="2266200"/>
            <a:ext cx="1005660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aaaaaa"/>
                </a:solidFill>
                <a:latin typeface="Calibri"/>
                <a:ea typeface="DejaVu Sans"/>
              </a:rPr>
              <a:t>Java provides several unique features that help developers write clean, stable, and maintainable programs.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32" name="Rounded Rectangle 162"/>
          <p:cNvSpPr/>
          <p:nvPr/>
        </p:nvSpPr>
        <p:spPr>
          <a:xfrm>
            <a:off x="1086840" y="3506040"/>
            <a:ext cx="3619800" cy="301500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33" name="Rounded Rectangle 163"/>
          <p:cNvSpPr/>
          <p:nvPr/>
        </p:nvSpPr>
        <p:spPr>
          <a:xfrm>
            <a:off x="1020960" y="2971800"/>
            <a:ext cx="3620160" cy="346788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1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Simple &amp; Easy to Learn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Java has a clear and readable syntax. Complex features like pointers are removed, making it easier for beginners.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Strongly Typed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Every variable has a defined type. This helps detect errors at compile time instead of runtime.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Automatic Memory Management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Java automatically manages memory using Garbage Collection, so developers do not need to free memory manually.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Multithreaded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Java supports multithreading, allowing programs to perform multiple tasks at the same time.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Rich Standard Library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Java provides a large set of built-in libraries for collections, file handling, networking, and more.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634" name="Rounded Rectangle 164"/>
          <p:cNvSpPr/>
          <p:nvPr/>
        </p:nvSpPr>
        <p:spPr>
          <a:xfrm>
            <a:off x="4968360" y="3506040"/>
            <a:ext cx="3619800" cy="301500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35" name="Rounded Rectangle 165"/>
          <p:cNvSpPr/>
          <p:nvPr/>
        </p:nvSpPr>
        <p:spPr>
          <a:xfrm>
            <a:off x="8849160" y="3506040"/>
            <a:ext cx="3619800" cy="301500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36" name="Rounded Rectangle 166"/>
          <p:cNvSpPr/>
          <p:nvPr/>
        </p:nvSpPr>
        <p:spPr>
          <a:xfrm>
            <a:off x="8767440" y="3425040"/>
            <a:ext cx="3620160" cy="301536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600" spc="-1" strike="noStrike">
                <a:solidFill>
                  <a:srgbClr val="78ffc8"/>
                </a:solidFill>
                <a:latin typeface="Consolas"/>
                <a:ea typeface="DejaVu Sans"/>
              </a:rPr>
              <a:t>class FeatureDemo {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6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6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static void main(String[] args) {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6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600" spc="-1" strike="noStrike">
                <a:solidFill>
                  <a:srgbClr val="78ffc8"/>
                </a:solidFill>
                <a:latin typeface="Consolas"/>
                <a:ea typeface="DejaVu Sans"/>
              </a:rPr>
              <a:t>int number = 10;   // strongly typed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6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6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System.out.println("Java is easy and powerful");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6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6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6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637" name="TextBox 72"/>
          <p:cNvSpPr/>
          <p:nvPr/>
        </p:nvSpPr>
        <p:spPr>
          <a:xfrm>
            <a:off x="5224320" y="7104600"/>
            <a:ext cx="305100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Java • Ultra Premium Template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38" name="Rounded Rectangle 167"/>
          <p:cNvSpPr/>
          <p:nvPr/>
        </p:nvSpPr>
        <p:spPr>
          <a:xfrm>
            <a:off x="4941000" y="3450960"/>
            <a:ext cx="3620160" cy="301536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1" lang="en-US" sz="1300" spc="-1" strike="noStrike">
                <a:solidFill>
                  <a:srgbClr val="ffffff"/>
                </a:solidFill>
                <a:latin typeface="Arial"/>
                <a:ea typeface="DejaVu Sans"/>
              </a:rPr>
              <a:t>Simple Syntax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300" spc="-1" strike="noStrike">
                <a:solidFill>
                  <a:srgbClr val="ffffff"/>
                </a:solidFill>
                <a:latin typeface="Arial"/>
                <a:ea typeface="DejaVu Sans"/>
              </a:rPr>
              <a:t>     ↓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300" spc="-1" strike="noStrike">
                <a:solidFill>
                  <a:srgbClr val="ffffff"/>
                </a:solidFill>
                <a:latin typeface="Arial"/>
                <a:ea typeface="DejaVu Sans"/>
              </a:rPr>
              <a:t>Easy to Learn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300" spc="-1" strike="noStrike">
                <a:solidFill>
                  <a:srgbClr val="ffffff"/>
                </a:solidFill>
                <a:latin typeface="Arial"/>
                <a:ea typeface="DejaVu Sans"/>
              </a:rPr>
              <a:t>     ↓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300" spc="-1" strike="noStrike">
                <a:solidFill>
                  <a:srgbClr val="ffffff"/>
                </a:solidFill>
                <a:latin typeface="Arial"/>
                <a:ea typeface="DejaVu Sans"/>
              </a:rPr>
              <a:t>Strong Typing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300" spc="-1" strike="noStrike">
                <a:solidFill>
                  <a:srgbClr val="ffffff"/>
                </a:solidFill>
                <a:latin typeface="Arial"/>
                <a:ea typeface="DejaVu Sans"/>
              </a:rPr>
              <a:t>     ↓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300" spc="-1" strike="noStrike">
                <a:solidFill>
                  <a:srgbClr val="ffffff"/>
                </a:solidFill>
                <a:latin typeface="Arial"/>
                <a:ea typeface="DejaVu Sans"/>
              </a:rPr>
              <a:t>Automatic Memory Management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300" spc="-1" strike="noStrike">
                <a:solidFill>
                  <a:srgbClr val="ffffff"/>
                </a:solidFill>
                <a:latin typeface="Arial"/>
                <a:ea typeface="DejaVu Sans"/>
              </a:rPr>
              <a:t>     ↓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300" spc="-1" strike="noStrike">
                <a:solidFill>
                  <a:srgbClr val="ffffff"/>
                </a:solidFill>
                <a:latin typeface="Arial"/>
                <a:ea typeface="DejaVu Sans"/>
              </a:rPr>
              <a:t>Multithreading Support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300" spc="-1" strike="noStrike">
                <a:solidFill>
                  <a:srgbClr val="ffffff"/>
                </a:solidFill>
                <a:latin typeface="Arial"/>
                <a:ea typeface="DejaVu Sans"/>
              </a:rPr>
              <a:t>     ↓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300" spc="-1" strike="noStrike">
                <a:solidFill>
                  <a:srgbClr val="ffffff"/>
                </a:solidFill>
                <a:latin typeface="Arial"/>
                <a:ea typeface="DejaVu Sans"/>
              </a:rPr>
              <a:t>Rich Standard Library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300" spc="-1" strike="noStrike">
                <a:solidFill>
                  <a:srgbClr val="ffffff"/>
                </a:solidFill>
                <a:latin typeface="Arial"/>
                <a:ea typeface="DejaVu Sans"/>
              </a:rPr>
              <a:t>     ↓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300" spc="-1" strike="noStrike">
                <a:solidFill>
                  <a:srgbClr val="ffffff"/>
                </a:solidFill>
                <a:latin typeface="Arial"/>
                <a:ea typeface="DejaVu Sans"/>
              </a:rPr>
              <a:t>Clean &amp; Maintainable Java Programs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9" name="Rectangle 369"/>
          <p:cNvSpPr/>
          <p:nvPr/>
        </p:nvSpPr>
        <p:spPr>
          <a:xfrm>
            <a:off x="16920" y="1800"/>
            <a:ext cx="13427640" cy="7551000"/>
          </a:xfrm>
          <a:prstGeom prst="rect">
            <a:avLst/>
          </a:prstGeom>
          <a:solidFill>
            <a:srgbClr val="0b0b0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40" name="Rectangle 370"/>
          <p:cNvSpPr/>
          <p:nvPr/>
        </p:nvSpPr>
        <p:spPr>
          <a:xfrm>
            <a:off x="1440" y="1800"/>
            <a:ext cx="11880" cy="75510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41" name="Rectangle 371"/>
          <p:cNvSpPr/>
          <p:nvPr/>
        </p:nvSpPr>
        <p:spPr>
          <a:xfrm>
            <a:off x="1005480" y="1800"/>
            <a:ext cx="11880" cy="75510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42" name="Rectangle 372"/>
          <p:cNvSpPr/>
          <p:nvPr/>
        </p:nvSpPr>
        <p:spPr>
          <a:xfrm>
            <a:off x="2013480" y="1800"/>
            <a:ext cx="11880" cy="75510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43" name="Rectangle 373"/>
          <p:cNvSpPr/>
          <p:nvPr/>
        </p:nvSpPr>
        <p:spPr>
          <a:xfrm>
            <a:off x="3021480" y="1800"/>
            <a:ext cx="11880" cy="75510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44" name="Rectangle 374"/>
          <p:cNvSpPr/>
          <p:nvPr/>
        </p:nvSpPr>
        <p:spPr>
          <a:xfrm>
            <a:off x="4029480" y="1800"/>
            <a:ext cx="11880" cy="75510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45" name="Rectangle 375"/>
          <p:cNvSpPr/>
          <p:nvPr/>
        </p:nvSpPr>
        <p:spPr>
          <a:xfrm>
            <a:off x="5037480" y="1800"/>
            <a:ext cx="11880" cy="75510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46" name="Rectangle 376"/>
          <p:cNvSpPr/>
          <p:nvPr/>
        </p:nvSpPr>
        <p:spPr>
          <a:xfrm>
            <a:off x="6045480" y="1800"/>
            <a:ext cx="11880" cy="75510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47" name="Rectangle 377"/>
          <p:cNvSpPr/>
          <p:nvPr/>
        </p:nvSpPr>
        <p:spPr>
          <a:xfrm>
            <a:off x="7053480" y="1800"/>
            <a:ext cx="11880" cy="75510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48" name="Rectangle 378"/>
          <p:cNvSpPr/>
          <p:nvPr/>
        </p:nvSpPr>
        <p:spPr>
          <a:xfrm>
            <a:off x="8061480" y="1800"/>
            <a:ext cx="11880" cy="75510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49" name="Rectangle 379"/>
          <p:cNvSpPr/>
          <p:nvPr/>
        </p:nvSpPr>
        <p:spPr>
          <a:xfrm>
            <a:off x="9069480" y="1800"/>
            <a:ext cx="11880" cy="75510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50" name="Rectangle 380"/>
          <p:cNvSpPr/>
          <p:nvPr/>
        </p:nvSpPr>
        <p:spPr>
          <a:xfrm>
            <a:off x="10077480" y="1800"/>
            <a:ext cx="11880" cy="75510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51" name="Rectangle 381"/>
          <p:cNvSpPr/>
          <p:nvPr/>
        </p:nvSpPr>
        <p:spPr>
          <a:xfrm>
            <a:off x="11085480" y="1800"/>
            <a:ext cx="11880" cy="75510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52" name="Rectangle 382"/>
          <p:cNvSpPr/>
          <p:nvPr/>
        </p:nvSpPr>
        <p:spPr>
          <a:xfrm>
            <a:off x="12093480" y="1800"/>
            <a:ext cx="11880" cy="75510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53" name="Rectangle 383"/>
          <p:cNvSpPr/>
          <p:nvPr/>
        </p:nvSpPr>
        <p:spPr>
          <a:xfrm>
            <a:off x="13101480" y="1800"/>
            <a:ext cx="11880" cy="75510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54" name="Rectangle 384"/>
          <p:cNvSpPr/>
          <p:nvPr/>
        </p:nvSpPr>
        <p:spPr>
          <a:xfrm>
            <a:off x="1440" y="1800"/>
            <a:ext cx="343800" cy="7551000"/>
          </a:xfrm>
          <a:prstGeom prst="rect">
            <a:avLst/>
          </a:prstGeom>
          <a:solidFill>
            <a:srgbClr val="ff8c0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55" name="Rounded Rectangle 168"/>
          <p:cNvSpPr/>
          <p:nvPr/>
        </p:nvSpPr>
        <p:spPr>
          <a:xfrm>
            <a:off x="10884960" y="401400"/>
            <a:ext cx="2208240" cy="544320"/>
          </a:xfrm>
          <a:prstGeom prst="roundRect">
            <a:avLst>
              <a:gd name="adj" fmla="val 16667"/>
            </a:avLst>
          </a:prstGeom>
          <a:solidFill>
            <a:srgbClr val="1e1e24"/>
          </a:solidFill>
          <a:ln>
            <a:solidFill>
              <a:srgbClr val="ff8c0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1" lang="en-US" sz="1400" spc="-1" strike="noStrike">
                <a:solidFill>
                  <a:srgbClr val="ffb45a"/>
                </a:solidFill>
                <a:latin typeface="Calibri"/>
                <a:ea typeface="DejaVu Sans"/>
              </a:rPr>
              <a:t>JAVA CORE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656" name="TextBox 73"/>
          <p:cNvSpPr/>
          <p:nvPr/>
        </p:nvSpPr>
        <p:spPr>
          <a:xfrm>
            <a:off x="3201840" y="1107360"/>
            <a:ext cx="5710320" cy="729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en-US" sz="4200" spc="-1" strike="noStrike">
                <a:solidFill>
                  <a:srgbClr val="f5f5f5"/>
                </a:solidFill>
                <a:latin typeface="Calibri"/>
                <a:ea typeface="DejaVu Sans"/>
              </a:rPr>
              <a:t>A High-Level Comparison</a:t>
            </a:r>
            <a:endParaRPr b="0" lang="en-US" sz="4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57" name="TextBox 74"/>
          <p:cNvSpPr/>
          <p:nvPr/>
        </p:nvSpPr>
        <p:spPr>
          <a:xfrm>
            <a:off x="2435040" y="2266200"/>
            <a:ext cx="7868160" cy="63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aaaaaa"/>
                </a:solidFill>
                <a:latin typeface="Calibri"/>
                <a:ea typeface="DejaVu Sans"/>
              </a:rPr>
              <a:t>This slide introduces the fundamental differences between Java and C++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aaaaaa"/>
                </a:solidFill>
                <a:latin typeface="Calibri"/>
                <a:ea typeface="DejaVu Sans"/>
              </a:rPr>
              <a:t>by comparing their design philosophy, execution model, and developer experience.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58" name="Rounded Rectangle 169"/>
          <p:cNvSpPr/>
          <p:nvPr/>
        </p:nvSpPr>
        <p:spPr>
          <a:xfrm>
            <a:off x="1086840" y="3506040"/>
            <a:ext cx="3619800" cy="301500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59" name="Rounded Rectangle 170"/>
          <p:cNvSpPr/>
          <p:nvPr/>
        </p:nvSpPr>
        <p:spPr>
          <a:xfrm>
            <a:off x="1020960" y="2971800"/>
            <a:ext cx="3620160" cy="346788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1" lang="en-US" sz="1180" spc="-1" strike="noStrike">
                <a:solidFill>
                  <a:schemeClr val="lt1"/>
                </a:solidFill>
                <a:latin typeface="Calibri"/>
                <a:ea typeface="DejaVu Sans"/>
              </a:rPr>
              <a:t>Java</a:t>
            </a:r>
            <a:endParaRPr b="0" lang="en-US" sz="118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180" spc="-1" strike="noStrike">
                <a:solidFill>
                  <a:schemeClr val="lt1"/>
                </a:solidFill>
                <a:latin typeface="Calibri"/>
                <a:ea typeface="DejaVu Sans"/>
              </a:rPr>
              <a:t>Runs on the Java Virtual Machine (JVM)</a:t>
            </a:r>
            <a:endParaRPr b="0" lang="en-US" sz="118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180" spc="-1" strike="noStrike">
                <a:solidFill>
                  <a:schemeClr val="lt1"/>
                </a:solidFill>
                <a:latin typeface="Calibri"/>
                <a:ea typeface="DejaVu Sans"/>
              </a:rPr>
              <a:t>Platform-independent (Write Once, Run Anywhere)</a:t>
            </a:r>
            <a:endParaRPr b="0" lang="en-US" sz="118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180" spc="-1" strike="noStrike">
                <a:solidFill>
                  <a:schemeClr val="lt1"/>
                </a:solidFill>
                <a:latin typeface="Calibri"/>
                <a:ea typeface="DejaVu Sans"/>
              </a:rPr>
              <a:t>Automatic memory management (Garbage Collection)</a:t>
            </a:r>
            <a:endParaRPr b="0" lang="en-US" sz="118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180" spc="-1" strike="noStrike">
                <a:solidFill>
                  <a:schemeClr val="lt1"/>
                </a:solidFill>
                <a:latin typeface="Calibri"/>
                <a:ea typeface="DejaVu Sans"/>
              </a:rPr>
              <a:t>Focuses on safety, portability, and maintainability</a:t>
            </a:r>
            <a:endParaRPr b="0" lang="en-US" sz="118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180" spc="-1" strike="noStrike">
                <a:solidFill>
                  <a:schemeClr val="lt1"/>
                </a:solidFill>
                <a:latin typeface="Calibri"/>
                <a:ea typeface="DejaVu Sans"/>
              </a:rPr>
              <a:t>Widely used in enterprise, web, and cloud systems</a:t>
            </a:r>
            <a:endParaRPr b="0" lang="en-US" sz="118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180" spc="-1" strike="noStrike">
                <a:solidFill>
                  <a:schemeClr val="lt1"/>
                </a:solidFill>
                <a:latin typeface="Calibri"/>
                <a:ea typeface="DejaVu Sans"/>
              </a:rPr>
              <a:t>C++</a:t>
            </a:r>
            <a:endParaRPr b="0" lang="en-US" sz="118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180" spc="-1" strike="noStrike">
                <a:solidFill>
                  <a:schemeClr val="lt1"/>
                </a:solidFill>
                <a:latin typeface="Calibri"/>
                <a:ea typeface="DejaVu Sans"/>
              </a:rPr>
              <a:t>Compiled directly to native machine code</a:t>
            </a:r>
            <a:endParaRPr b="0" lang="en-US" sz="118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180" spc="-1" strike="noStrike">
                <a:solidFill>
                  <a:schemeClr val="lt1"/>
                </a:solidFill>
                <a:latin typeface="Calibri"/>
                <a:ea typeface="DejaVu Sans"/>
              </a:rPr>
              <a:t>Platform-dependent</a:t>
            </a:r>
            <a:endParaRPr b="0" lang="en-US" sz="118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180" spc="-1" strike="noStrike">
                <a:solidFill>
                  <a:schemeClr val="lt1"/>
                </a:solidFill>
                <a:latin typeface="Calibri"/>
                <a:ea typeface="DejaVu Sans"/>
              </a:rPr>
              <a:t>Manual memory management (pointers, memory allocation)</a:t>
            </a:r>
            <a:endParaRPr b="0" lang="en-US" sz="118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180" spc="-1" strike="noStrike">
                <a:solidFill>
                  <a:schemeClr val="lt1"/>
                </a:solidFill>
                <a:latin typeface="Calibri"/>
                <a:ea typeface="DejaVu Sans"/>
              </a:rPr>
              <a:t>Focuses on performance and low-level control</a:t>
            </a:r>
            <a:endParaRPr b="0" lang="en-US" sz="118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180" spc="-1" strike="noStrike">
                <a:solidFill>
                  <a:schemeClr val="lt1"/>
                </a:solidFill>
                <a:latin typeface="Calibri"/>
                <a:ea typeface="DejaVu Sans"/>
              </a:rPr>
              <a:t>Widely used in system software, game engines, embedded systems</a:t>
            </a:r>
            <a:endParaRPr b="0" lang="en-US" sz="118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660" name="Rounded Rectangle 171"/>
          <p:cNvSpPr/>
          <p:nvPr/>
        </p:nvSpPr>
        <p:spPr>
          <a:xfrm>
            <a:off x="4968360" y="3506040"/>
            <a:ext cx="3619800" cy="301500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61" name="Rounded Rectangle 172"/>
          <p:cNvSpPr/>
          <p:nvPr/>
        </p:nvSpPr>
        <p:spPr>
          <a:xfrm>
            <a:off x="8849160" y="3506040"/>
            <a:ext cx="3619800" cy="301500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62" name="Rounded Rectangle 173"/>
          <p:cNvSpPr/>
          <p:nvPr/>
        </p:nvSpPr>
        <p:spPr>
          <a:xfrm>
            <a:off x="8767440" y="3425040"/>
            <a:ext cx="3620160" cy="301536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class FeatureDemo {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static void main(String[] args) {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int number = 10;   // strongly typed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    </a:t>
            </a: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"Java hides complexity"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);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663" name="TextBox 75"/>
          <p:cNvSpPr/>
          <p:nvPr/>
        </p:nvSpPr>
        <p:spPr>
          <a:xfrm>
            <a:off x="5224320" y="7104600"/>
            <a:ext cx="305100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Java • Ultra Premium Template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64" name="Rounded Rectangle 174"/>
          <p:cNvSpPr/>
          <p:nvPr/>
        </p:nvSpPr>
        <p:spPr>
          <a:xfrm>
            <a:off x="4941000" y="3450960"/>
            <a:ext cx="3620160" cy="301536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1" lang="en-US" sz="1300" spc="-1" strike="noStrike">
                <a:solidFill>
                  <a:srgbClr val="ffffff"/>
                </a:solidFill>
                <a:latin typeface="Arial"/>
                <a:ea typeface="DejaVu Sans"/>
              </a:rPr>
              <a:t>Java Source → Bytecode → JVM → Any OS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300" spc="-1" strike="noStrike">
                <a:solidFill>
                  <a:srgbClr val="ffffff"/>
                </a:solidFill>
                <a:latin typeface="Arial"/>
                <a:ea typeface="DejaVu Sans"/>
              </a:rPr>
              <a:t>C++ Source  → Native Code → Specific OS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5" name="Rectangle 385"/>
          <p:cNvSpPr/>
          <p:nvPr/>
        </p:nvSpPr>
        <p:spPr>
          <a:xfrm>
            <a:off x="16920" y="1800"/>
            <a:ext cx="13427640" cy="7551000"/>
          </a:xfrm>
          <a:prstGeom prst="rect">
            <a:avLst/>
          </a:prstGeom>
          <a:solidFill>
            <a:srgbClr val="0b0b0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66" name="Rectangle 386"/>
          <p:cNvSpPr/>
          <p:nvPr/>
        </p:nvSpPr>
        <p:spPr>
          <a:xfrm>
            <a:off x="1440" y="1800"/>
            <a:ext cx="11880" cy="75510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67" name="Rectangle 387"/>
          <p:cNvSpPr/>
          <p:nvPr/>
        </p:nvSpPr>
        <p:spPr>
          <a:xfrm>
            <a:off x="1005480" y="1800"/>
            <a:ext cx="11880" cy="75510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68" name="Rectangle 388"/>
          <p:cNvSpPr/>
          <p:nvPr/>
        </p:nvSpPr>
        <p:spPr>
          <a:xfrm>
            <a:off x="2013480" y="1800"/>
            <a:ext cx="11880" cy="75510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69" name="Rectangle 389"/>
          <p:cNvSpPr/>
          <p:nvPr/>
        </p:nvSpPr>
        <p:spPr>
          <a:xfrm>
            <a:off x="3021480" y="1800"/>
            <a:ext cx="11880" cy="75510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70" name="Rectangle 390"/>
          <p:cNvSpPr/>
          <p:nvPr/>
        </p:nvSpPr>
        <p:spPr>
          <a:xfrm>
            <a:off x="4029480" y="1800"/>
            <a:ext cx="11880" cy="75510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71" name="Rectangle 391"/>
          <p:cNvSpPr/>
          <p:nvPr/>
        </p:nvSpPr>
        <p:spPr>
          <a:xfrm>
            <a:off x="5037480" y="1800"/>
            <a:ext cx="11880" cy="75510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72" name="Rectangle 392"/>
          <p:cNvSpPr/>
          <p:nvPr/>
        </p:nvSpPr>
        <p:spPr>
          <a:xfrm>
            <a:off x="6045480" y="1800"/>
            <a:ext cx="11880" cy="75510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73" name="Rectangle 393"/>
          <p:cNvSpPr/>
          <p:nvPr/>
        </p:nvSpPr>
        <p:spPr>
          <a:xfrm>
            <a:off x="7053480" y="1800"/>
            <a:ext cx="11880" cy="75510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74" name="Rectangle 394"/>
          <p:cNvSpPr/>
          <p:nvPr/>
        </p:nvSpPr>
        <p:spPr>
          <a:xfrm>
            <a:off x="8061480" y="1800"/>
            <a:ext cx="11880" cy="75510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75" name="Rectangle 395"/>
          <p:cNvSpPr/>
          <p:nvPr/>
        </p:nvSpPr>
        <p:spPr>
          <a:xfrm>
            <a:off x="9069480" y="1800"/>
            <a:ext cx="11880" cy="75510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76" name="Rectangle 396"/>
          <p:cNvSpPr/>
          <p:nvPr/>
        </p:nvSpPr>
        <p:spPr>
          <a:xfrm>
            <a:off x="10077480" y="1800"/>
            <a:ext cx="11880" cy="75510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77" name="Rectangle 397"/>
          <p:cNvSpPr/>
          <p:nvPr/>
        </p:nvSpPr>
        <p:spPr>
          <a:xfrm>
            <a:off x="11085480" y="1800"/>
            <a:ext cx="11880" cy="75510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78" name="Rectangle 398"/>
          <p:cNvSpPr/>
          <p:nvPr/>
        </p:nvSpPr>
        <p:spPr>
          <a:xfrm>
            <a:off x="12093480" y="1800"/>
            <a:ext cx="11880" cy="75510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79" name="Rectangle 399"/>
          <p:cNvSpPr/>
          <p:nvPr/>
        </p:nvSpPr>
        <p:spPr>
          <a:xfrm>
            <a:off x="13101480" y="1800"/>
            <a:ext cx="11880" cy="75510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80" name="Rectangle 400"/>
          <p:cNvSpPr/>
          <p:nvPr/>
        </p:nvSpPr>
        <p:spPr>
          <a:xfrm>
            <a:off x="1440" y="1800"/>
            <a:ext cx="343800" cy="7551000"/>
          </a:xfrm>
          <a:prstGeom prst="rect">
            <a:avLst/>
          </a:prstGeom>
          <a:solidFill>
            <a:srgbClr val="ff8c0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81" name="Rounded Rectangle 175"/>
          <p:cNvSpPr/>
          <p:nvPr/>
        </p:nvSpPr>
        <p:spPr>
          <a:xfrm>
            <a:off x="10884960" y="401400"/>
            <a:ext cx="2208240" cy="544320"/>
          </a:xfrm>
          <a:prstGeom prst="roundRect">
            <a:avLst>
              <a:gd name="adj" fmla="val 16667"/>
            </a:avLst>
          </a:prstGeom>
          <a:solidFill>
            <a:srgbClr val="1e1e24"/>
          </a:solidFill>
          <a:ln>
            <a:solidFill>
              <a:srgbClr val="ff8c0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1" lang="en-US" sz="1400" spc="-1" strike="noStrike">
                <a:solidFill>
                  <a:srgbClr val="ffb45a"/>
                </a:solidFill>
                <a:latin typeface="Calibri"/>
                <a:ea typeface="DejaVu Sans"/>
              </a:rPr>
              <a:t>JAVA CORE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682" name="TextBox 76"/>
          <p:cNvSpPr/>
          <p:nvPr/>
        </p:nvSpPr>
        <p:spPr>
          <a:xfrm>
            <a:off x="1291320" y="1107360"/>
            <a:ext cx="9532440" cy="729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en-US" sz="4200" spc="-1" strike="noStrike">
                <a:solidFill>
                  <a:srgbClr val="f5f5f5"/>
                </a:solidFill>
                <a:latin typeface="Calibri"/>
                <a:ea typeface="DejaVu Sans"/>
              </a:rPr>
              <a:t>Java vs C++ – Advantages &amp; Disadvantages</a:t>
            </a:r>
            <a:endParaRPr b="0" lang="en-US" sz="4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83" name="TextBox 77"/>
          <p:cNvSpPr/>
          <p:nvPr/>
        </p:nvSpPr>
        <p:spPr>
          <a:xfrm>
            <a:off x="2435040" y="2266200"/>
            <a:ext cx="7868160" cy="63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aaaaaa"/>
                </a:solidFill>
                <a:latin typeface="Calibri"/>
                <a:ea typeface="DejaVu Sans"/>
              </a:rPr>
              <a:t>This slide introduces the fundamental differences between Java and C++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aaaaaa"/>
                </a:solidFill>
                <a:latin typeface="Calibri"/>
                <a:ea typeface="DejaVu Sans"/>
              </a:rPr>
              <a:t>by comparing their design philosophy, execution model, and developer experience.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84" name="Rounded Rectangle 176"/>
          <p:cNvSpPr/>
          <p:nvPr/>
        </p:nvSpPr>
        <p:spPr>
          <a:xfrm>
            <a:off x="1086840" y="3506040"/>
            <a:ext cx="3619800" cy="301500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85" name="Rounded Rectangle 177"/>
          <p:cNvSpPr/>
          <p:nvPr/>
        </p:nvSpPr>
        <p:spPr>
          <a:xfrm>
            <a:off x="1020960" y="3506040"/>
            <a:ext cx="3620160" cy="289368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1" lang="en-US" sz="1180" spc="-1" strike="noStrike">
                <a:solidFill>
                  <a:schemeClr val="lt1"/>
                </a:solidFill>
                <a:latin typeface="Calibri"/>
                <a:ea typeface="DejaVu Sans"/>
              </a:rPr>
              <a:t>Java – Advantages</a:t>
            </a:r>
            <a:endParaRPr b="0" lang="en-US" sz="118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180" spc="-1" strike="noStrike">
                <a:solidFill>
                  <a:schemeClr val="lt1"/>
                </a:solidFill>
                <a:latin typeface="Calibri"/>
                <a:ea typeface="DejaVu Sans"/>
              </a:rPr>
              <a:t>Platform independent (Write Once, Run Anywhere)</a:t>
            </a:r>
            <a:endParaRPr b="0" lang="en-US" sz="118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180" spc="-1" strike="noStrike">
                <a:solidFill>
                  <a:schemeClr val="lt1"/>
                </a:solidFill>
                <a:latin typeface="Calibri"/>
                <a:ea typeface="DejaVu Sans"/>
              </a:rPr>
              <a:t>Automatic memory management (Garbage Collection)</a:t>
            </a:r>
            <a:endParaRPr b="0" lang="en-US" sz="118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180" spc="-1" strike="noStrike">
                <a:solidFill>
                  <a:schemeClr val="lt1"/>
                </a:solidFill>
                <a:latin typeface="Calibri"/>
                <a:ea typeface="DejaVu Sans"/>
              </a:rPr>
              <a:t>Safer execution (no pointers, JVM security checks)</a:t>
            </a:r>
            <a:endParaRPr b="0" lang="en-US" sz="118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180" spc="-1" strike="noStrike">
                <a:solidFill>
                  <a:schemeClr val="lt1"/>
                </a:solidFill>
                <a:latin typeface="Calibri"/>
                <a:ea typeface="DejaVu Sans"/>
              </a:rPr>
              <a:t>Easier to learn and read</a:t>
            </a:r>
            <a:endParaRPr b="0" lang="en-US" sz="118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180" spc="-1" strike="noStrike">
                <a:solidFill>
                  <a:schemeClr val="lt1"/>
                </a:solidFill>
                <a:latin typeface="Calibri"/>
                <a:ea typeface="DejaVu Sans"/>
              </a:rPr>
              <a:t>Rich standard library and frameworks</a:t>
            </a:r>
            <a:br>
              <a:rPr sz="1180"/>
            </a:br>
            <a:r>
              <a:rPr b="0" lang="en-US" sz="1180" spc="-1" strike="noStrike">
                <a:solidFill>
                  <a:schemeClr val="lt1"/>
                </a:solidFill>
                <a:latin typeface="Calibri"/>
                <a:ea typeface="DejaVu Sans"/>
              </a:rPr>
              <a:t>Ideal for large, long-term, enterprise systems</a:t>
            </a:r>
            <a:endParaRPr b="0" lang="en-US" sz="118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180" spc="-1" strike="noStrike">
                <a:solidFill>
                  <a:schemeClr val="lt1"/>
                </a:solidFill>
                <a:latin typeface="Calibri"/>
                <a:ea typeface="DejaVu Sans"/>
              </a:rPr>
              <a:t>Java – Disadvantages</a:t>
            </a:r>
            <a:endParaRPr b="0" lang="en-US" sz="118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180" spc="-1" strike="noStrike">
                <a:solidFill>
                  <a:schemeClr val="lt1"/>
                </a:solidFill>
                <a:latin typeface="Calibri"/>
                <a:ea typeface="DejaVu Sans"/>
              </a:rPr>
              <a:t>Slightly slower than native C++ in some cases</a:t>
            </a:r>
            <a:endParaRPr b="0" lang="en-US" sz="118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180" spc="-1" strike="noStrike">
                <a:solidFill>
                  <a:schemeClr val="lt1"/>
                </a:solidFill>
                <a:latin typeface="Calibri"/>
                <a:ea typeface="DejaVu Sans"/>
              </a:rPr>
              <a:t>Less control over hardware and memory</a:t>
            </a:r>
            <a:endParaRPr b="0" lang="en-US" sz="118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180" spc="-1" strike="noStrike">
                <a:solidFill>
                  <a:schemeClr val="lt1"/>
                </a:solidFill>
                <a:latin typeface="Calibri"/>
                <a:ea typeface="DejaVu Sans"/>
              </a:rPr>
              <a:t>JVM overhead (startup time, memory usage)</a:t>
            </a:r>
            <a:endParaRPr b="0" lang="en-US" sz="118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686" name="Rounded Rectangle 178"/>
          <p:cNvSpPr/>
          <p:nvPr/>
        </p:nvSpPr>
        <p:spPr>
          <a:xfrm>
            <a:off x="4968360" y="3506040"/>
            <a:ext cx="3619800" cy="301500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87" name="Rounded Rectangle 179"/>
          <p:cNvSpPr/>
          <p:nvPr/>
        </p:nvSpPr>
        <p:spPr>
          <a:xfrm>
            <a:off x="8849160" y="3506040"/>
            <a:ext cx="3619800" cy="301500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88" name="Rounded Rectangle 180"/>
          <p:cNvSpPr/>
          <p:nvPr/>
        </p:nvSpPr>
        <p:spPr>
          <a:xfrm>
            <a:off x="8767440" y="3425040"/>
            <a:ext cx="3620160" cy="301536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2000" spc="-1" strike="noStrike">
                <a:solidFill>
                  <a:srgbClr val="78ffc8"/>
                </a:solidFill>
                <a:latin typeface="Consolas"/>
                <a:ea typeface="DejaVu Sans"/>
              </a:rPr>
              <a:t>class JavaApp {</a:t>
            </a: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20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20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static void main(String[] args) {</a:t>
            </a: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20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20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System.out.println("Java focuses on safety and portability");</a:t>
            </a: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20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20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20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689" name="TextBox 78"/>
          <p:cNvSpPr/>
          <p:nvPr/>
        </p:nvSpPr>
        <p:spPr>
          <a:xfrm>
            <a:off x="5224320" y="7104600"/>
            <a:ext cx="305100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Java • Ultra Premium Template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90" name="Rounded Rectangle 181"/>
          <p:cNvSpPr/>
          <p:nvPr/>
        </p:nvSpPr>
        <p:spPr>
          <a:xfrm>
            <a:off x="4941000" y="3450960"/>
            <a:ext cx="3620160" cy="301536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200" spc="-1" strike="noStrike">
                <a:solidFill>
                  <a:srgbClr val="ffffff"/>
                </a:solidFill>
                <a:latin typeface="Arial"/>
                <a:ea typeface="DejaVu Sans"/>
              </a:rPr>
              <a:t>Problem Type?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200" spc="-1" strike="noStrike">
                <a:solidFill>
                  <a:srgbClr val="ffffff"/>
                </a:solidFill>
                <a:latin typeface="Arial"/>
                <a:ea typeface="DejaVu Sans"/>
              </a:rPr>
              <a:t>      ↓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200" spc="-1" strike="noStrike">
                <a:solidFill>
                  <a:srgbClr val="ffffff"/>
                </a:solidFill>
                <a:latin typeface="Arial"/>
                <a:ea typeface="DejaVu Sans"/>
              </a:rPr>
              <a:t>Need portability?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200" spc="-1" strike="noStrike">
                <a:solidFill>
                  <a:srgbClr val="ffffff"/>
                </a:solidFill>
                <a:latin typeface="Arial"/>
                <a:ea typeface="DejaVu Sans"/>
              </a:rPr>
              <a:t>(Java runs everywhere)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200" spc="-1" strike="noStrike">
                <a:solidFill>
                  <a:srgbClr val="ffffff"/>
                </a:solidFill>
                <a:latin typeface="Arial"/>
                <a:ea typeface="DejaVu Sans"/>
              </a:rPr>
              <a:t>      ↓ </a:t>
            </a:r>
            <a:r>
              <a:rPr b="1" lang="en-US" sz="1200" spc="-1" strike="noStrike">
                <a:solidFill>
                  <a:srgbClr val="ffffff"/>
                </a:solidFill>
                <a:latin typeface="Arial"/>
                <a:ea typeface="DejaVu Sans"/>
              </a:rPr>
              <a:t>YES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200" spc="-1" strike="noStrike">
                <a:solidFill>
                  <a:srgbClr val="ffffff"/>
                </a:solidFill>
                <a:latin typeface="Arial"/>
                <a:ea typeface="DejaVu Sans"/>
              </a:rPr>
              <a:t>    → </a:t>
            </a:r>
            <a:r>
              <a:rPr b="1" lang="en-US" sz="1200" spc="-1" strike="noStrike">
                <a:solidFill>
                  <a:srgbClr val="ffffff"/>
                </a:solidFill>
                <a:latin typeface="Arial"/>
                <a:ea typeface="DejaVu Sans"/>
              </a:rPr>
              <a:t>JAVA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200" spc="-1" strike="noStrike">
                <a:solidFill>
                  <a:srgbClr val="ffffff"/>
                </a:solidFill>
                <a:latin typeface="Arial"/>
                <a:ea typeface="DejaVu Sans"/>
              </a:rPr>
              <a:t>      ↓ </a:t>
            </a:r>
            <a:r>
              <a:rPr b="1" lang="en-US" sz="1200" spc="-1" strike="noStrike">
                <a:solidFill>
                  <a:srgbClr val="ffffff"/>
                </a:solidFill>
                <a:latin typeface="Arial"/>
                <a:ea typeface="DejaVu Sans"/>
              </a:rPr>
              <a:t>NO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200" spc="-1" strike="noStrike">
                <a:solidFill>
                  <a:srgbClr val="ffffff"/>
                </a:solidFill>
                <a:latin typeface="Arial"/>
                <a:ea typeface="DejaVu Sans"/>
              </a:rPr>
              <a:t>Need maximum performance?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200" spc="-1" strike="noStrike">
                <a:solidFill>
                  <a:srgbClr val="ffffff"/>
                </a:solidFill>
                <a:latin typeface="Arial"/>
                <a:ea typeface="DejaVu Sans"/>
              </a:rPr>
              <a:t>(Low-level control)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200" spc="-1" strike="noStrike">
                <a:solidFill>
                  <a:srgbClr val="ffffff"/>
                </a:solidFill>
                <a:latin typeface="Arial"/>
                <a:ea typeface="DejaVu Sans"/>
              </a:rPr>
              <a:t>      ↓ </a:t>
            </a:r>
            <a:r>
              <a:rPr b="1" lang="en-US" sz="1200" spc="-1" strike="noStrike">
                <a:solidFill>
                  <a:srgbClr val="ffffff"/>
                </a:solidFill>
                <a:latin typeface="Arial"/>
                <a:ea typeface="DejaVu Sans"/>
              </a:rPr>
              <a:t>YES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200" spc="-1" strike="noStrike">
                <a:solidFill>
                  <a:srgbClr val="ffffff"/>
                </a:solidFill>
                <a:latin typeface="Arial"/>
                <a:ea typeface="DejaVu Sans"/>
              </a:rPr>
              <a:t>    → </a:t>
            </a:r>
            <a:r>
              <a:rPr b="1" lang="en-US" sz="1200" spc="-1" strike="noStrike">
                <a:solidFill>
                  <a:srgbClr val="ffffff"/>
                </a:solidFill>
                <a:latin typeface="Arial"/>
                <a:ea typeface="DejaVu Sans"/>
              </a:rPr>
              <a:t>C++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200" spc="-1" strike="noStrike">
                <a:solidFill>
                  <a:srgbClr val="ffffff"/>
                </a:solidFill>
                <a:latin typeface="Arial"/>
                <a:ea typeface="DejaVu Sans"/>
              </a:rPr>
              <a:t>      ↓ </a:t>
            </a:r>
            <a:r>
              <a:rPr b="1" lang="en-US" sz="1200" spc="-1" strike="noStrike">
                <a:solidFill>
                  <a:srgbClr val="ffffff"/>
                </a:solidFill>
                <a:latin typeface="Arial"/>
                <a:ea typeface="DejaVu Sans"/>
              </a:rPr>
              <a:t>NO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200" spc="-1" strike="noStrike">
                <a:solidFill>
                  <a:srgbClr val="ffffff"/>
                </a:solidFill>
                <a:latin typeface="Arial"/>
                <a:ea typeface="DejaVu Sans"/>
              </a:rPr>
              <a:t>Need safety &amp; maintainability?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200" spc="-1" strike="noStrike">
                <a:solidFill>
                  <a:srgbClr val="ffffff"/>
                </a:solidFill>
                <a:latin typeface="Arial"/>
                <a:ea typeface="DejaVu Sans"/>
              </a:rPr>
              <a:t>      ↓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200" spc="-1" strike="noStrike">
                <a:solidFill>
                  <a:srgbClr val="ffffff"/>
                </a:solidFill>
                <a:latin typeface="Arial"/>
                <a:ea typeface="DejaVu Sans"/>
              </a:rPr>
              <a:t>    → </a:t>
            </a:r>
            <a:r>
              <a:rPr b="1" lang="en-US" sz="1200" spc="-1" strike="noStrike">
                <a:solidFill>
                  <a:srgbClr val="ffffff"/>
                </a:solidFill>
                <a:latin typeface="Arial"/>
                <a:ea typeface="DejaVu Sans"/>
              </a:rPr>
              <a:t>JAVA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1" name="Rectangle 401"/>
          <p:cNvSpPr/>
          <p:nvPr/>
        </p:nvSpPr>
        <p:spPr>
          <a:xfrm>
            <a:off x="16920" y="1800"/>
            <a:ext cx="13427640" cy="7551000"/>
          </a:xfrm>
          <a:prstGeom prst="rect">
            <a:avLst/>
          </a:prstGeom>
          <a:solidFill>
            <a:srgbClr val="0b0b0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92" name="Rectangle 402"/>
          <p:cNvSpPr/>
          <p:nvPr/>
        </p:nvSpPr>
        <p:spPr>
          <a:xfrm>
            <a:off x="1440" y="1800"/>
            <a:ext cx="11880" cy="75510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93" name="Rectangle 403"/>
          <p:cNvSpPr/>
          <p:nvPr/>
        </p:nvSpPr>
        <p:spPr>
          <a:xfrm>
            <a:off x="1005480" y="1800"/>
            <a:ext cx="11880" cy="75510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94" name="Rectangle 404"/>
          <p:cNvSpPr/>
          <p:nvPr/>
        </p:nvSpPr>
        <p:spPr>
          <a:xfrm>
            <a:off x="2013480" y="1800"/>
            <a:ext cx="11880" cy="75510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95" name="Rectangle 405"/>
          <p:cNvSpPr/>
          <p:nvPr/>
        </p:nvSpPr>
        <p:spPr>
          <a:xfrm>
            <a:off x="3021480" y="1800"/>
            <a:ext cx="11880" cy="75510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96" name="Rectangle 406"/>
          <p:cNvSpPr/>
          <p:nvPr/>
        </p:nvSpPr>
        <p:spPr>
          <a:xfrm>
            <a:off x="4029480" y="1800"/>
            <a:ext cx="11880" cy="75510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97" name="Rectangle 407"/>
          <p:cNvSpPr/>
          <p:nvPr/>
        </p:nvSpPr>
        <p:spPr>
          <a:xfrm>
            <a:off x="5037480" y="1800"/>
            <a:ext cx="11880" cy="75510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98" name="Rectangle 408"/>
          <p:cNvSpPr/>
          <p:nvPr/>
        </p:nvSpPr>
        <p:spPr>
          <a:xfrm>
            <a:off x="6045480" y="1800"/>
            <a:ext cx="11880" cy="75510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99" name="Rectangle 409"/>
          <p:cNvSpPr/>
          <p:nvPr/>
        </p:nvSpPr>
        <p:spPr>
          <a:xfrm>
            <a:off x="7053480" y="1800"/>
            <a:ext cx="11880" cy="75510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00" name="Rectangle 410"/>
          <p:cNvSpPr/>
          <p:nvPr/>
        </p:nvSpPr>
        <p:spPr>
          <a:xfrm>
            <a:off x="8061480" y="1800"/>
            <a:ext cx="11880" cy="75510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01" name="Rectangle 411"/>
          <p:cNvSpPr/>
          <p:nvPr/>
        </p:nvSpPr>
        <p:spPr>
          <a:xfrm>
            <a:off x="9069480" y="1800"/>
            <a:ext cx="11880" cy="75510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02" name="Rectangle 412"/>
          <p:cNvSpPr/>
          <p:nvPr/>
        </p:nvSpPr>
        <p:spPr>
          <a:xfrm>
            <a:off x="10077480" y="1800"/>
            <a:ext cx="11880" cy="75510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03" name="Rectangle 413"/>
          <p:cNvSpPr/>
          <p:nvPr/>
        </p:nvSpPr>
        <p:spPr>
          <a:xfrm>
            <a:off x="11085480" y="1800"/>
            <a:ext cx="11880" cy="75510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04" name="Rectangle 414"/>
          <p:cNvSpPr/>
          <p:nvPr/>
        </p:nvSpPr>
        <p:spPr>
          <a:xfrm>
            <a:off x="12093480" y="1800"/>
            <a:ext cx="11880" cy="75510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05" name="Rectangle 415"/>
          <p:cNvSpPr/>
          <p:nvPr/>
        </p:nvSpPr>
        <p:spPr>
          <a:xfrm>
            <a:off x="13101480" y="1800"/>
            <a:ext cx="11880" cy="75510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06" name="Rectangle 416"/>
          <p:cNvSpPr/>
          <p:nvPr/>
        </p:nvSpPr>
        <p:spPr>
          <a:xfrm>
            <a:off x="1440" y="1800"/>
            <a:ext cx="343800" cy="7551000"/>
          </a:xfrm>
          <a:prstGeom prst="rect">
            <a:avLst/>
          </a:prstGeom>
          <a:solidFill>
            <a:srgbClr val="ff8c0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07" name="Rounded Rectangle 182"/>
          <p:cNvSpPr/>
          <p:nvPr/>
        </p:nvSpPr>
        <p:spPr>
          <a:xfrm>
            <a:off x="10884960" y="401400"/>
            <a:ext cx="2208240" cy="544320"/>
          </a:xfrm>
          <a:prstGeom prst="roundRect">
            <a:avLst>
              <a:gd name="adj" fmla="val 16667"/>
            </a:avLst>
          </a:prstGeom>
          <a:solidFill>
            <a:srgbClr val="1e1e24"/>
          </a:solidFill>
          <a:ln>
            <a:solidFill>
              <a:srgbClr val="ff8c0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1" lang="en-US" sz="1400" spc="-1" strike="noStrike">
                <a:solidFill>
                  <a:srgbClr val="ffb45a"/>
                </a:solidFill>
                <a:latin typeface="Calibri"/>
                <a:ea typeface="DejaVu Sans"/>
              </a:rPr>
              <a:t>JAVA CORE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708" name="TextBox 79"/>
          <p:cNvSpPr/>
          <p:nvPr/>
        </p:nvSpPr>
        <p:spPr>
          <a:xfrm>
            <a:off x="1291320" y="1107360"/>
            <a:ext cx="9532440" cy="729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en-US" sz="4200" spc="-1" strike="noStrike">
                <a:solidFill>
                  <a:srgbClr val="f5f5f5"/>
                </a:solidFill>
                <a:latin typeface="Calibri"/>
                <a:ea typeface="DejaVu Sans"/>
              </a:rPr>
              <a:t>Java vs C++ – Advantages &amp; Disadvantages</a:t>
            </a:r>
            <a:endParaRPr b="0" lang="en-US" sz="4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09" name="TextBox 80"/>
          <p:cNvSpPr/>
          <p:nvPr/>
        </p:nvSpPr>
        <p:spPr>
          <a:xfrm>
            <a:off x="2435040" y="2266200"/>
            <a:ext cx="7868160" cy="63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aaaaaa"/>
                </a:solidFill>
                <a:latin typeface="Calibri"/>
                <a:ea typeface="DejaVu Sans"/>
              </a:rPr>
              <a:t>This slide introduces the fundamental differences between Java and C++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aaaaaa"/>
                </a:solidFill>
                <a:latin typeface="Calibri"/>
                <a:ea typeface="DejaVu Sans"/>
              </a:rPr>
              <a:t>by comparing their design philosophy, execution model, and developer experience.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10" name="Rounded Rectangle 183"/>
          <p:cNvSpPr/>
          <p:nvPr/>
        </p:nvSpPr>
        <p:spPr>
          <a:xfrm>
            <a:off x="1086840" y="3506040"/>
            <a:ext cx="3619800" cy="301500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11" name="Rounded Rectangle 184"/>
          <p:cNvSpPr/>
          <p:nvPr/>
        </p:nvSpPr>
        <p:spPr>
          <a:xfrm>
            <a:off x="1020960" y="3506040"/>
            <a:ext cx="3620160" cy="289368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1" lang="en-US" sz="1180" spc="-1" strike="noStrike">
                <a:solidFill>
                  <a:schemeClr val="lt1"/>
                </a:solidFill>
                <a:latin typeface="Calibri"/>
                <a:ea typeface="DejaVu Sans"/>
              </a:rPr>
              <a:t>C++ – Advantages</a:t>
            </a:r>
            <a:endParaRPr b="0" lang="en-US" sz="118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180" spc="-1" strike="noStrike">
                <a:solidFill>
                  <a:schemeClr val="lt1"/>
                </a:solidFill>
                <a:latin typeface="Calibri"/>
                <a:ea typeface="DejaVu Sans"/>
              </a:rPr>
              <a:t>Very high performance (native execution)</a:t>
            </a:r>
            <a:endParaRPr b="0" lang="en-US" sz="118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180" spc="-1" strike="noStrike">
                <a:solidFill>
                  <a:schemeClr val="lt1"/>
                </a:solidFill>
                <a:latin typeface="Calibri"/>
                <a:ea typeface="DejaVu Sans"/>
              </a:rPr>
              <a:t>Full control over memory and hardware</a:t>
            </a:r>
            <a:endParaRPr b="0" lang="en-US" sz="118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180" spc="-1" strike="noStrike">
                <a:solidFill>
                  <a:schemeClr val="lt1"/>
                </a:solidFill>
                <a:latin typeface="Calibri"/>
                <a:ea typeface="DejaVu Sans"/>
              </a:rPr>
              <a:t>No virtual machine overhead</a:t>
            </a:r>
            <a:endParaRPr b="0" lang="en-US" sz="118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180" spc="-1" strike="noStrike">
                <a:solidFill>
                  <a:schemeClr val="lt1"/>
                </a:solidFill>
                <a:latin typeface="Calibri"/>
                <a:ea typeface="DejaVu Sans"/>
              </a:rPr>
              <a:t>Ideal for system-level and performance-critical software</a:t>
            </a:r>
            <a:endParaRPr b="0" lang="en-US" sz="118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180" spc="-1" strike="noStrike">
                <a:solidFill>
                  <a:schemeClr val="lt1"/>
                </a:solidFill>
                <a:latin typeface="Calibri"/>
                <a:ea typeface="DejaVu Sans"/>
              </a:rPr>
              <a:t>Widely used in game engines and embedded systems</a:t>
            </a:r>
            <a:endParaRPr b="0" lang="en-US" sz="118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180" spc="-1" strike="noStrike">
                <a:solidFill>
                  <a:schemeClr val="lt1"/>
                </a:solidFill>
                <a:latin typeface="Calibri"/>
                <a:ea typeface="DejaVu Sans"/>
              </a:rPr>
              <a:t>C++ – Disadvantages</a:t>
            </a:r>
            <a:endParaRPr b="0" lang="en-US" sz="118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180" spc="-1" strike="noStrike">
                <a:solidFill>
                  <a:schemeClr val="lt1"/>
                </a:solidFill>
                <a:latin typeface="Calibri"/>
                <a:ea typeface="DejaVu Sans"/>
              </a:rPr>
              <a:t>Platform dependent</a:t>
            </a:r>
            <a:endParaRPr b="0" lang="en-US" sz="118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180" spc="-1" strike="noStrike">
                <a:solidFill>
                  <a:schemeClr val="lt1"/>
                </a:solidFill>
                <a:latin typeface="Calibri"/>
                <a:ea typeface="DejaVu Sans"/>
              </a:rPr>
              <a:t>Manual memory management (risk of memory leaks)</a:t>
            </a:r>
            <a:endParaRPr b="0" lang="en-US" sz="118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180" spc="-1" strike="noStrike">
                <a:solidFill>
                  <a:schemeClr val="lt1"/>
                </a:solidFill>
                <a:latin typeface="Calibri"/>
                <a:ea typeface="DejaVu Sans"/>
              </a:rPr>
              <a:t>More complex syntax</a:t>
            </a:r>
            <a:endParaRPr b="0" lang="en-US" sz="118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180" spc="-1" strike="noStrike">
                <a:solidFill>
                  <a:schemeClr val="lt1"/>
                </a:solidFill>
                <a:latin typeface="Calibri"/>
                <a:ea typeface="DejaVu Sans"/>
              </a:rPr>
              <a:t>Harder to learn and maintain</a:t>
            </a:r>
            <a:endParaRPr b="0" lang="en-US" sz="118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180" spc="-1" strike="noStrike">
                <a:solidFill>
                  <a:schemeClr val="lt1"/>
                </a:solidFill>
                <a:latin typeface="Calibri"/>
                <a:ea typeface="DejaVu Sans"/>
              </a:rPr>
              <a:t>Higher chance of runtime errors</a:t>
            </a:r>
            <a:endParaRPr b="0" lang="en-US" sz="118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712" name="Rounded Rectangle 185"/>
          <p:cNvSpPr/>
          <p:nvPr/>
        </p:nvSpPr>
        <p:spPr>
          <a:xfrm>
            <a:off x="4968360" y="3506040"/>
            <a:ext cx="3619800" cy="301500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13" name="Rounded Rectangle 186"/>
          <p:cNvSpPr/>
          <p:nvPr/>
        </p:nvSpPr>
        <p:spPr>
          <a:xfrm>
            <a:off x="8849160" y="3506040"/>
            <a:ext cx="3619800" cy="301500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14" name="Rounded Rectangle 187"/>
          <p:cNvSpPr/>
          <p:nvPr/>
        </p:nvSpPr>
        <p:spPr>
          <a:xfrm>
            <a:off x="8767440" y="3425040"/>
            <a:ext cx="3620160" cy="301536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2000" spc="-1" strike="noStrike">
                <a:solidFill>
                  <a:srgbClr val="78ffc8"/>
                </a:solidFill>
                <a:latin typeface="Consolas"/>
                <a:ea typeface="DejaVu Sans"/>
              </a:rPr>
              <a:t>#include &lt;iostream&gt;</a:t>
            </a: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2000" spc="-1" strike="noStrike">
                <a:solidFill>
                  <a:srgbClr val="78ffc8"/>
                </a:solidFill>
                <a:latin typeface="Consolas"/>
                <a:ea typeface="DejaVu Sans"/>
              </a:rPr>
              <a:t>using namespace std;</a:t>
            </a: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2000" spc="-1" strike="noStrike">
                <a:solidFill>
                  <a:srgbClr val="78ffc8"/>
                </a:solidFill>
                <a:latin typeface="Consolas"/>
                <a:ea typeface="DejaVu Sans"/>
              </a:rPr>
              <a:t>int main() {</a:t>
            </a: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20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2000" spc="-1" strike="noStrike">
                <a:solidFill>
                  <a:srgbClr val="78ffc8"/>
                </a:solidFill>
                <a:latin typeface="Consolas"/>
                <a:ea typeface="DejaVu Sans"/>
              </a:rPr>
              <a:t>cout &lt;&lt; "C++ focuses on performance and control";</a:t>
            </a: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20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2000" spc="-1" strike="noStrike">
                <a:solidFill>
                  <a:srgbClr val="78ffc8"/>
                </a:solidFill>
                <a:latin typeface="Consolas"/>
                <a:ea typeface="DejaVu Sans"/>
              </a:rPr>
              <a:t>return 0;</a:t>
            </a: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20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715" name="TextBox 81"/>
          <p:cNvSpPr/>
          <p:nvPr/>
        </p:nvSpPr>
        <p:spPr>
          <a:xfrm>
            <a:off x="5224320" y="7104600"/>
            <a:ext cx="305100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Java • Ultra Premium Template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16" name="Rounded Rectangle 188"/>
          <p:cNvSpPr/>
          <p:nvPr/>
        </p:nvSpPr>
        <p:spPr>
          <a:xfrm>
            <a:off x="4941000" y="3450960"/>
            <a:ext cx="3620160" cy="301536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500" spc="-1" strike="noStrike">
                <a:solidFill>
                  <a:srgbClr val="ffffff"/>
                </a:solidFill>
                <a:latin typeface="Arial"/>
                <a:ea typeface="DejaVu Sans"/>
              </a:rPr>
              <a:t>Application Requirement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500" spc="-1" strike="noStrike">
                <a:solidFill>
                  <a:srgbClr val="ffffff"/>
                </a:solidFill>
                <a:latin typeface="Arial"/>
                <a:ea typeface="DejaVu Sans"/>
              </a:rPr>
              <a:t>          ↓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500" spc="-1" strike="noStrike">
                <a:solidFill>
                  <a:srgbClr val="ffffff"/>
                </a:solidFill>
                <a:latin typeface="Arial"/>
                <a:ea typeface="DejaVu Sans"/>
              </a:rPr>
              <a:t>Need maximum performance?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500" spc="-1" strike="noStrike">
                <a:solidFill>
                  <a:srgbClr val="ffffff"/>
                </a:solidFill>
                <a:latin typeface="Arial"/>
                <a:ea typeface="DejaVu Sans"/>
              </a:rPr>
              <a:t>          ↓ </a:t>
            </a:r>
            <a:r>
              <a:rPr b="1" lang="en-US" sz="1500" spc="-1" strike="noStrike">
                <a:solidFill>
                  <a:srgbClr val="ffffff"/>
                </a:solidFill>
                <a:latin typeface="Arial"/>
                <a:ea typeface="DejaVu Sans"/>
              </a:rPr>
              <a:t>YES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500" spc="-1" strike="noStrike">
                <a:solidFill>
                  <a:srgbClr val="ffffff"/>
                </a:solidFill>
                <a:latin typeface="Arial"/>
                <a:ea typeface="DejaVu Sans"/>
              </a:rPr>
              <a:t>Need low-level memory control?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500" spc="-1" strike="noStrike">
                <a:solidFill>
                  <a:srgbClr val="ffffff"/>
                </a:solidFill>
                <a:latin typeface="Arial"/>
                <a:ea typeface="DejaVu Sans"/>
              </a:rPr>
              <a:t>          ↓ </a:t>
            </a:r>
            <a:r>
              <a:rPr b="1" lang="en-US" sz="1500" spc="-1" strike="noStrike">
                <a:solidFill>
                  <a:srgbClr val="ffffff"/>
                </a:solidFill>
                <a:latin typeface="Arial"/>
                <a:ea typeface="DejaVu Sans"/>
              </a:rPr>
              <a:t>YES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500" spc="-1" strike="noStrike">
                <a:solidFill>
                  <a:srgbClr val="ffffff"/>
                </a:solidFill>
                <a:latin typeface="Arial"/>
                <a:ea typeface="DejaVu Sans"/>
              </a:rPr>
              <a:t>System / Game / Embedded?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500" spc="-1" strike="noStrike">
                <a:solidFill>
                  <a:srgbClr val="ffffff"/>
                </a:solidFill>
                <a:latin typeface="Arial"/>
                <a:ea typeface="DejaVu Sans"/>
              </a:rPr>
              <a:t>          ↓ </a:t>
            </a:r>
            <a:r>
              <a:rPr b="1" lang="en-US" sz="1500" spc="-1" strike="noStrike">
                <a:solidFill>
                  <a:srgbClr val="ffffff"/>
                </a:solidFill>
                <a:latin typeface="Arial"/>
                <a:ea typeface="DejaVu Sans"/>
              </a:rPr>
              <a:t>YES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500" spc="-1" strike="noStrike">
                <a:solidFill>
                  <a:srgbClr val="ffffff"/>
                </a:solidFill>
                <a:latin typeface="Arial"/>
                <a:ea typeface="DejaVu Sans"/>
              </a:rPr>
              <a:t>        </a:t>
            </a:r>
            <a:r>
              <a:rPr b="1" lang="en-US" sz="1500" spc="-1" strike="noStrike">
                <a:solidFill>
                  <a:srgbClr val="ffffff"/>
                </a:solidFill>
                <a:latin typeface="Arial"/>
                <a:ea typeface="DejaVu Sans"/>
              </a:rPr>
              <a:t>C++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7" name="Rectangle 417"/>
          <p:cNvSpPr/>
          <p:nvPr/>
        </p:nvSpPr>
        <p:spPr>
          <a:xfrm>
            <a:off x="16920" y="1800"/>
            <a:ext cx="13427640" cy="7551000"/>
          </a:xfrm>
          <a:prstGeom prst="rect">
            <a:avLst/>
          </a:prstGeom>
          <a:solidFill>
            <a:srgbClr val="0b0b0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18" name="Rectangle 418"/>
          <p:cNvSpPr/>
          <p:nvPr/>
        </p:nvSpPr>
        <p:spPr>
          <a:xfrm>
            <a:off x="1440" y="1800"/>
            <a:ext cx="11880" cy="75510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19" name="Rectangle 419"/>
          <p:cNvSpPr/>
          <p:nvPr/>
        </p:nvSpPr>
        <p:spPr>
          <a:xfrm>
            <a:off x="1005480" y="1800"/>
            <a:ext cx="11880" cy="75510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20" name="Rectangle 420"/>
          <p:cNvSpPr/>
          <p:nvPr/>
        </p:nvSpPr>
        <p:spPr>
          <a:xfrm>
            <a:off x="2013480" y="1800"/>
            <a:ext cx="11880" cy="75510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21" name="Rectangle 421"/>
          <p:cNvSpPr/>
          <p:nvPr/>
        </p:nvSpPr>
        <p:spPr>
          <a:xfrm>
            <a:off x="3021480" y="1800"/>
            <a:ext cx="11880" cy="75510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22" name="Rectangle 422"/>
          <p:cNvSpPr/>
          <p:nvPr/>
        </p:nvSpPr>
        <p:spPr>
          <a:xfrm>
            <a:off x="4029480" y="1800"/>
            <a:ext cx="11880" cy="75510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23" name="Rectangle 423"/>
          <p:cNvSpPr/>
          <p:nvPr/>
        </p:nvSpPr>
        <p:spPr>
          <a:xfrm>
            <a:off x="5037480" y="1800"/>
            <a:ext cx="11880" cy="75510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24" name="Rectangle 424"/>
          <p:cNvSpPr/>
          <p:nvPr/>
        </p:nvSpPr>
        <p:spPr>
          <a:xfrm>
            <a:off x="6045480" y="1800"/>
            <a:ext cx="11880" cy="75510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25" name="Rectangle 425"/>
          <p:cNvSpPr/>
          <p:nvPr/>
        </p:nvSpPr>
        <p:spPr>
          <a:xfrm>
            <a:off x="7053480" y="1800"/>
            <a:ext cx="11880" cy="75510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26" name="Rectangle 426"/>
          <p:cNvSpPr/>
          <p:nvPr/>
        </p:nvSpPr>
        <p:spPr>
          <a:xfrm>
            <a:off x="8061480" y="1800"/>
            <a:ext cx="11880" cy="75510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27" name="Rectangle 427"/>
          <p:cNvSpPr/>
          <p:nvPr/>
        </p:nvSpPr>
        <p:spPr>
          <a:xfrm>
            <a:off x="9069480" y="1800"/>
            <a:ext cx="11880" cy="75510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28" name="Rectangle 428"/>
          <p:cNvSpPr/>
          <p:nvPr/>
        </p:nvSpPr>
        <p:spPr>
          <a:xfrm>
            <a:off x="10077480" y="1800"/>
            <a:ext cx="11880" cy="75510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29" name="Rectangle 429"/>
          <p:cNvSpPr/>
          <p:nvPr/>
        </p:nvSpPr>
        <p:spPr>
          <a:xfrm>
            <a:off x="11085480" y="1800"/>
            <a:ext cx="11880" cy="75510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30" name="Rectangle 430"/>
          <p:cNvSpPr/>
          <p:nvPr/>
        </p:nvSpPr>
        <p:spPr>
          <a:xfrm>
            <a:off x="12093480" y="1800"/>
            <a:ext cx="11880" cy="75510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31" name="Rectangle 431"/>
          <p:cNvSpPr/>
          <p:nvPr/>
        </p:nvSpPr>
        <p:spPr>
          <a:xfrm>
            <a:off x="13101480" y="1800"/>
            <a:ext cx="11880" cy="75510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32" name="Rectangle 432"/>
          <p:cNvSpPr/>
          <p:nvPr/>
        </p:nvSpPr>
        <p:spPr>
          <a:xfrm>
            <a:off x="1440" y="1800"/>
            <a:ext cx="343800" cy="7551000"/>
          </a:xfrm>
          <a:prstGeom prst="rect">
            <a:avLst/>
          </a:prstGeom>
          <a:solidFill>
            <a:srgbClr val="ff8c0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33" name="Rounded Rectangle 189"/>
          <p:cNvSpPr/>
          <p:nvPr/>
        </p:nvSpPr>
        <p:spPr>
          <a:xfrm>
            <a:off x="10884960" y="401400"/>
            <a:ext cx="2208240" cy="544320"/>
          </a:xfrm>
          <a:prstGeom prst="roundRect">
            <a:avLst>
              <a:gd name="adj" fmla="val 16667"/>
            </a:avLst>
          </a:prstGeom>
          <a:solidFill>
            <a:srgbClr val="1e1e24"/>
          </a:solidFill>
          <a:ln>
            <a:solidFill>
              <a:srgbClr val="ff8c0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1" lang="en-US" sz="1400" spc="-1" strike="noStrike">
                <a:solidFill>
                  <a:srgbClr val="ffb45a"/>
                </a:solidFill>
                <a:latin typeface="Calibri"/>
                <a:ea typeface="DejaVu Sans"/>
              </a:rPr>
              <a:t>JAVA CORE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734" name="TextBox 82"/>
          <p:cNvSpPr/>
          <p:nvPr/>
        </p:nvSpPr>
        <p:spPr>
          <a:xfrm>
            <a:off x="2846520" y="1107360"/>
            <a:ext cx="6421680" cy="729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en-US" sz="4200" spc="-1" strike="noStrike">
                <a:solidFill>
                  <a:srgbClr val="f5f5f5"/>
                </a:solidFill>
                <a:latin typeface="Calibri"/>
                <a:ea typeface="DejaVu Sans"/>
              </a:rPr>
              <a:t>When to Choose Java vs C++</a:t>
            </a:r>
            <a:endParaRPr b="0" lang="en-US" sz="4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35" name="TextBox 83"/>
          <p:cNvSpPr/>
          <p:nvPr/>
        </p:nvSpPr>
        <p:spPr>
          <a:xfrm>
            <a:off x="1255680" y="2266200"/>
            <a:ext cx="1022724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aaaaaa"/>
                </a:solidFill>
                <a:latin typeface="Calibri"/>
                <a:ea typeface="DejaVu Sans"/>
              </a:rPr>
              <a:t>Making the right language choice depends on performance needs, portability, and long-term maintainability.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36" name="Rounded Rectangle 190"/>
          <p:cNvSpPr/>
          <p:nvPr/>
        </p:nvSpPr>
        <p:spPr>
          <a:xfrm>
            <a:off x="1086840" y="3506040"/>
            <a:ext cx="3619800" cy="301500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37" name="Rounded Rectangle 191"/>
          <p:cNvSpPr/>
          <p:nvPr/>
        </p:nvSpPr>
        <p:spPr>
          <a:xfrm>
            <a:off x="1020960" y="3506040"/>
            <a:ext cx="3620160" cy="289368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Programming languages are designed for different goals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Java prioritizes portability, safety, and maintainability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C++ prioritizes performance and low-level control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The correct choice depends on the problem domain, not popularity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There is no “best language” — only the right tool for the job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738" name="Rounded Rectangle 192"/>
          <p:cNvSpPr/>
          <p:nvPr/>
        </p:nvSpPr>
        <p:spPr>
          <a:xfrm>
            <a:off x="4968360" y="3506040"/>
            <a:ext cx="3619800" cy="301500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39" name="Rounded Rectangle 193"/>
          <p:cNvSpPr/>
          <p:nvPr/>
        </p:nvSpPr>
        <p:spPr>
          <a:xfrm>
            <a:off x="8849160" y="3506040"/>
            <a:ext cx="3619800" cy="301500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40" name="Rounded Rectangle 194"/>
          <p:cNvSpPr/>
          <p:nvPr/>
        </p:nvSpPr>
        <p:spPr>
          <a:xfrm>
            <a:off x="8767440" y="3425040"/>
            <a:ext cx="3620160" cy="301536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600" spc="-1" strike="noStrike">
                <a:solidFill>
                  <a:srgbClr val="78ffc8"/>
                </a:solidFill>
                <a:latin typeface="Consolas"/>
                <a:ea typeface="DejaVu Sans"/>
              </a:rPr>
              <a:t>// Java: Focus on safety and portability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6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class ChoiceExample {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6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6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static void main(String[] args) {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6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6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System.out.println("Choose Java for scalable and maintainable systems");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6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6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6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741" name="TextBox 84"/>
          <p:cNvSpPr/>
          <p:nvPr/>
        </p:nvSpPr>
        <p:spPr>
          <a:xfrm>
            <a:off x="5224320" y="7104600"/>
            <a:ext cx="305100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Java • Ultra Premium Template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42" name="Rounded Rectangle 195"/>
          <p:cNvSpPr/>
          <p:nvPr/>
        </p:nvSpPr>
        <p:spPr>
          <a:xfrm>
            <a:off x="4941000" y="3450960"/>
            <a:ext cx="3620160" cy="301536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400" spc="-1" strike="noStrike">
                <a:solidFill>
                  <a:srgbClr val="ffffff"/>
                </a:solidFill>
                <a:latin typeface="Arial"/>
                <a:ea typeface="DejaVu Sans"/>
              </a:rPr>
              <a:t>What is your main goal?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400" spc="-1" strike="noStrike">
                <a:solidFill>
                  <a:srgbClr val="ffffff"/>
                </a:solidFill>
                <a:latin typeface="Arial"/>
                <a:ea typeface="DejaVu Sans"/>
              </a:rPr>
              <a:t>        ↓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400" spc="-1" strike="noStrike">
                <a:solidFill>
                  <a:srgbClr val="ffffff"/>
                </a:solidFill>
                <a:latin typeface="Arial"/>
                <a:ea typeface="DejaVu Sans"/>
              </a:rPr>
              <a:t>Need portability &amp; long-term maintenance?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400" spc="-1" strike="noStrike">
                <a:solidFill>
                  <a:srgbClr val="ffffff"/>
                </a:solidFill>
                <a:latin typeface="Arial"/>
                <a:ea typeface="DejaVu Sans"/>
              </a:rPr>
              <a:t>        ↓ </a:t>
            </a:r>
            <a:r>
              <a:rPr b="1" lang="en-US" sz="1400" spc="-1" strike="noStrike">
                <a:solidFill>
                  <a:srgbClr val="ffffff"/>
                </a:solidFill>
                <a:latin typeface="Arial"/>
                <a:ea typeface="DejaVu Sans"/>
              </a:rPr>
              <a:t>YES → Java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400" spc="-1" strike="noStrike">
                <a:solidFill>
                  <a:srgbClr val="ffffff"/>
                </a:solidFill>
                <a:latin typeface="Arial"/>
                <a:ea typeface="DejaVu Sans"/>
              </a:rPr>
              <a:t>        ↓ </a:t>
            </a:r>
            <a:r>
              <a:rPr b="1" lang="en-US" sz="1400" spc="-1" strike="noStrike">
                <a:solidFill>
                  <a:srgbClr val="ffffff"/>
                </a:solidFill>
                <a:latin typeface="Arial"/>
                <a:ea typeface="DejaVu Sans"/>
              </a:rPr>
              <a:t>NO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400" spc="-1" strike="noStrike">
                <a:solidFill>
                  <a:srgbClr val="ffffff"/>
                </a:solidFill>
                <a:latin typeface="Arial"/>
                <a:ea typeface="DejaVu Sans"/>
              </a:rPr>
              <a:t>Need maximum performance &amp; hardware control?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400" spc="-1" strike="noStrike">
                <a:solidFill>
                  <a:srgbClr val="ffffff"/>
                </a:solidFill>
                <a:latin typeface="Arial"/>
                <a:ea typeface="DejaVu Sans"/>
              </a:rPr>
              <a:t>        ↓ </a:t>
            </a:r>
            <a:r>
              <a:rPr b="1" lang="en-US" sz="1400" spc="-1" strike="noStrike">
                <a:solidFill>
                  <a:srgbClr val="ffffff"/>
                </a:solidFill>
                <a:latin typeface="Arial"/>
                <a:ea typeface="DejaVu Sans"/>
              </a:rPr>
              <a:t>YES → C++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400" spc="-1" strike="noStrike">
                <a:solidFill>
                  <a:srgbClr val="ffffff"/>
                </a:solidFill>
                <a:latin typeface="Arial"/>
                <a:ea typeface="DejaVu Sans"/>
              </a:rPr>
              <a:t>        ↓ </a:t>
            </a:r>
            <a:r>
              <a:rPr b="1" lang="en-US" sz="1400" spc="-1" strike="noStrike">
                <a:solidFill>
                  <a:srgbClr val="ffffff"/>
                </a:solidFill>
                <a:latin typeface="Arial"/>
                <a:ea typeface="DejaVu Sans"/>
              </a:rPr>
              <a:t>NO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400" spc="-1" strike="noStrike">
                <a:solidFill>
                  <a:srgbClr val="ffffff"/>
                </a:solidFill>
                <a:latin typeface="Arial"/>
                <a:ea typeface="DejaVu Sans"/>
              </a:rPr>
              <a:t>Need safety, scalability, enterprise support?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400" spc="-1" strike="noStrike">
                <a:solidFill>
                  <a:srgbClr val="ffffff"/>
                </a:solidFill>
                <a:latin typeface="Arial"/>
                <a:ea typeface="DejaVu Sans"/>
              </a:rPr>
              <a:t>        ↓ </a:t>
            </a:r>
            <a:r>
              <a:rPr b="1" lang="en-US" sz="1400" spc="-1" strike="noStrike">
                <a:solidFill>
                  <a:srgbClr val="ffffff"/>
                </a:solidFill>
                <a:latin typeface="Arial"/>
                <a:ea typeface="DejaVu Sans"/>
              </a:rPr>
              <a:t>YES → Java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theme/theme1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DejaVu Sans"/>
        <a:cs typeface="DejaVu Sans"/>
      </a:majorFont>
      <a:minorFont>
        <a:latin typeface="Arial"/>
        <a:ea typeface="DejaVu Sans"/>
        <a:cs typeface="DejaVu Sans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  <a:miter/>
        </a:ln>
        <a:ln w="25400" cap="flat" cmpd="sng" algn="ctr">
          <a:solidFill>
            <a:schemeClr val="phClr"/>
          </a:solidFill>
          <a:prstDash val="solid"/>
          <a:miter/>
        </a:ln>
        <a:ln w="38100" cap="flat" cmpd="sng" algn="ctr">
          <a:solidFill>
            <a:schemeClr val="phClr"/>
          </a:solidFill>
          <a:prstDash val="solid"/>
          <a:miter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582</TotalTime>
  <Application>LibreOffice/7.4.2.3$Windows_X86_64 LibreOffice_project/382eef1f22670f7f4118c8c2dd222ec7ad009daf</Application>
  <AppVersion>15.0000</AppVersion>
  <Words>0</Words>
  <Paragraphs>0</Paragraphs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terms:created xsi:type="dcterms:W3CDTF">2013-01-27T09:14:16Z</dcterms:created>
  <dc:creator/>
  <dc:description>generated using python-pptx</dc:description>
  <dc:language>en-US</dc:language>
  <cp:lastModifiedBy/>
  <dcterms:modified xsi:type="dcterms:W3CDTF">2026-01-16T19:58:44Z</dcterms:modified>
  <cp:revision>73</cp:revision>
  <dc:subject/>
  <dc:title/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PresentationFormat">
    <vt:lpwstr>On-screen Show (4:3)</vt:lpwstr>
  </property>
</Properties>
</file>