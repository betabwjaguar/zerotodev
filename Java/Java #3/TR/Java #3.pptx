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_rels/slideLayout35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0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201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202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203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204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205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206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207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208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210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211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212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213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214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215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216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69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178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179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167.xml.rels" ContentType="application/vnd.openxmlformats-package.relationships+xml"/>
  <Override PartName="/ppt/slideLayouts/_rels/slideLayout170.xml.rels" ContentType="application/vnd.openxmlformats-package.relationships+xml"/>
  <Override PartName="/ppt/slideLayouts/_rels/slideLayout171.xml.rels" ContentType="application/vnd.openxmlformats-package.relationships+xml"/>
  <Override PartName="/ppt/slideLayouts/_rels/slideLayout172.xml.rels" ContentType="application/vnd.openxmlformats-package.relationships+xml"/>
  <Override PartName="/ppt/slideLayouts/_rels/slideLayout173.xml.rels" ContentType="application/vnd.openxmlformats-package.relationships+xml"/>
  <Override PartName="/ppt/slideLayouts/_rels/slideLayout174.xml.rels" ContentType="application/vnd.openxmlformats-package.relationships+xml"/>
  <Override PartName="/ppt/slideLayouts/_rels/slideLayout175.xml.rels" ContentType="application/vnd.openxmlformats-package.relationships+xml"/>
  <Override PartName="/ppt/slideLayouts/_rels/slideLayout176.xml.rels" ContentType="application/vnd.openxmlformats-package.relationships+xml"/>
  <Override PartName="/ppt/slideLayouts/_rels/slideLayout177.xml.rels" ContentType="application/vnd.openxmlformats-package.relationships+xml"/>
  <Override PartName="/ppt/slideLayouts/_rels/slideLayout180.xml.rels" ContentType="application/vnd.openxmlformats-package.relationships+xml"/>
  <Override PartName="/ppt/slideLayouts/_rels/slideLayout181.xml.rels" ContentType="application/vnd.openxmlformats-package.relationships+xml"/>
  <Override PartName="/ppt/slideLayouts/_rels/slideLayout182.xml.rels" ContentType="application/vnd.openxmlformats-package.relationships+xml"/>
  <Override PartName="/ppt/slideLayouts/_rels/slideLayout183.xml.rels" ContentType="application/vnd.openxmlformats-package.relationships+xml"/>
  <Override PartName="/ppt/slideLayouts/_rels/slideLayout184.xml.rels" ContentType="application/vnd.openxmlformats-package.relationships+xml"/>
  <Override PartName="/ppt/slideLayouts/_rels/slideLayout185.xml.rels" ContentType="application/vnd.openxmlformats-package.relationships+xml"/>
  <Override PartName="/ppt/slideLayouts/_rels/slideLayout186.xml.rels" ContentType="application/vnd.openxmlformats-package.relationships+xml"/>
  <Override PartName="/ppt/slideLayouts/_rels/slideLayout187.xml.rels" ContentType="application/vnd.openxmlformats-package.relationships+xml"/>
  <Override PartName="/ppt/slideLayouts/_rels/slideLayout188.xml.rels" ContentType="application/vnd.openxmlformats-package.relationships+xml"/>
  <Override PartName="/ppt/slideLayouts/_rels/slideLayout189.xml.rels" ContentType="application/vnd.openxmlformats-package.relationships+xml"/>
  <Override PartName="/ppt/slideLayouts/_rels/slideLayout190.xml.rels" ContentType="application/vnd.openxmlformats-package.relationships+xml"/>
  <Override PartName="/ppt/slideLayouts/_rels/slideLayout191.xml.rels" ContentType="application/vnd.openxmlformats-package.relationships+xml"/>
  <Override PartName="/ppt/slideLayouts/_rels/slideLayout192.xml.rels" ContentType="application/vnd.openxmlformats-package.relationships+xml"/>
  <Override PartName="/ppt/slideLayouts/_rels/slideLayout193.xml.rels" ContentType="application/vnd.openxmlformats-package.relationships+xml"/>
  <Override PartName="/ppt/slideLayouts/_rels/slideLayout194.xml.rels" ContentType="application/vnd.openxmlformats-package.relationships+xml"/>
  <Override PartName="/ppt/slideLayouts/_rels/slideLayout195.xml.rels" ContentType="application/vnd.openxmlformats-package.relationships+xml"/>
  <Override PartName="/ppt/slideLayouts/_rels/slideLayout196.xml.rels" ContentType="application/vnd.openxmlformats-package.relationships+xml"/>
  <Override PartName="/ppt/slideLayouts/_rels/slideLayout197.xml.rels" ContentType="application/vnd.openxmlformats-package.relationships+xml"/>
  <Override PartName="/ppt/slideLayouts/_rels/slideLayout198.xml.rels" ContentType="application/vnd.openxmlformats-package.relationships+xml"/>
  <Override PartName="/ppt/slideLayouts/_rels/slideLayout199.xml.rels" ContentType="application/vnd.openxmlformats-package.relationships+xml"/>
  <Override PartName="/ppt/slideLayouts/_rels/slideLayout209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  <p:sldMasterId id="2147483817" r:id="rId15"/>
    <p:sldMasterId id="2147483830" r:id="rId16"/>
    <p:sldMasterId id="2147483843" r:id="rId17"/>
    <p:sldMasterId id="2147483856" r:id="rId18"/>
    <p:sldMasterId id="2147483869" r:id="rId19"/>
  </p:sld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E09D7F-225F-43F9-B944-E48F256FC2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A60692-D211-4708-9C7F-4A9C1392A8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310DA4-9EED-4AEF-B279-A5FF6A8CA4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620434-02A3-458C-97E0-BB3B050F67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0CE43F-61F2-4D75-946D-399FD00015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56B012-BF03-4564-AE76-302E5797F9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34010E-D1BF-4F9E-B50C-67753F64B7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D6D984-55F4-41F1-A65F-FBDD770BD6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F1ABBB-3748-4223-9FDC-C4A5669E27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813ECF7-4E8B-472A-9597-4444A5D8C8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93A713-BEFC-4424-B2AB-7FD4E903DC2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98960B-CFFD-408A-8D1B-ABC2ECABAB3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EEE6D2C-E328-4973-B0F1-59D3C9EFEE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F7FD33E-6159-4B4F-9E31-02C112E48F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4429D44-A6D2-4298-A827-01602C9E03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1E1CB58-2698-4561-A65E-1F27D2E49C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0605DE2-1CA1-4EE7-ABDD-33F7D1DDB3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00D6753-73CD-4A86-A5EF-2FEF861B3D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972750-43ED-40F4-B488-5410ED1993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FF0A060-1217-4683-8A42-3A9D989891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C6231B6-73DB-4B8D-B604-97B751830F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C64327-50EE-4182-8D2F-0C1B89901F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389A0BC-1C58-4322-90EA-FD3AA1914C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FEBB98D-2A4E-4F86-9666-5873088E51A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59B14D3-A9A2-4CBA-AAC9-EB65DA731E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9737E56-E55F-4EEB-A426-36501827CC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FA3FC1D-6AE7-44DD-94C4-8E76CD5326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1C2CC3C-230D-4E40-9E2C-3713B5318B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8C809FB-0917-4AFD-99E7-88453CC582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9EC2942-549E-40F3-B05E-8BCB949681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88ED63A-EA9D-4E74-8E01-F05EFC58F8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86C5965-E290-444D-B91B-3FF01FADA5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0D75D1A-3C27-4CEA-914C-A5DBFAAAF2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20CB1C3-C733-4728-89F8-26DF1F7F32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CB654AC-256F-467F-8A0C-9A4989C78CD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877AB45-B791-49C3-836A-0979947140D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F07683F-4F39-48C2-9F83-F0F52EC4E5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EAF022F-2CEB-4C5D-82FC-7A535A06E0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2792FC9-4D28-4251-B304-10D520E75A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31140EC-4F92-466C-A05D-C64820F30E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FC2B326-460C-4E4F-BDEE-D6943F4DAB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DEC47C0-0EE4-48D1-81BA-0E40E20E92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6148B59-D576-49F1-8B42-ABD63037BF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91126D1-7917-4FAE-9977-9CA1C5DC12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FA719B9-FA4B-468F-92CE-6DF0794B04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15643AD-730E-4EB2-9260-B389360BBC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A4FEDF9-10E8-465E-9B51-C9AEE83E267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915B703-9562-4B5C-94EC-CDBF465FFB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1C3FE6B-4B82-450C-BB6D-DC8D6CC87E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6966BE1-465A-496C-B775-5C3DD68446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EF5652E-DA93-46DE-91F6-F9E42933B5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9A3126F-05DD-4F0C-917F-FA5BFE826E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A3C4958-8A96-4A7D-A4A0-00D11F9676B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247CC6A-E404-402B-AA79-C9609C5E55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9230CE1-A645-47DB-AF5B-93F1DEE535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866A42F-80DF-4473-8ABE-7D6BABF7DC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EC48395-C31E-4CEA-BC3D-5CBDA2E54F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CC6AE43-ADD2-439B-8F75-16BB0BF652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A410289-09B6-4DBB-815A-6E76CC5578D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6782B80-EF03-45C1-A103-A792EE828A9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632FA55-C9A7-442E-92B9-E1EC71E31C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14CDB86-7689-4205-88A5-6D2DE59352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CB57EBD-36E5-407F-B942-18BB125136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BBB137B-F23A-41C2-B87B-02EBDC8417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F57AB6C-E479-4543-B1E0-6F9661D796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6E4A223-E77B-43D8-8D3E-110EAAE65B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55806BD-AF97-4692-BFE2-C6950A7BDA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3525F82-6D03-463D-A820-E3D38445F7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E19CA29-325D-4016-A9E7-15BC643E10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C096102-FEDA-4429-9B20-535876E1DA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FEECC56-E04E-4752-86AE-AF6196CCF70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2CD3074-2CE8-43C9-8F24-4C610115E54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BEDB1D2-43BC-4589-B9A5-80D0FE1B04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464CFF1-2FBF-4A62-B5DB-C5BA7800D6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BD34C73-B9DA-4E37-B67B-F8A6AA45D5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3821CB5-931A-4732-A066-6E76D815A8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4D7D4D0-E3C5-4D7A-81A1-432A4B7DCF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EE22E4D-19E4-4B24-ADAB-093EC61129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0AC15C4-D085-424F-8356-54A870B3E1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436603D-F818-4E82-A03C-5C91C8213B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32C9A61-17FB-4C44-9735-299483EEB9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8E58051-D2CB-40C4-A3EC-2483D826C6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A412A8D-3FEA-495F-B375-271DB453931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3892256-7856-47EC-A5F0-DC1F4060FCF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6FC697B9-670E-47F2-A8B3-9AE943F687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A154091-35D1-4248-BADB-CCEDC0E402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1CBB95C-277E-4D41-9A26-1AD21DF6E0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7480EBF-F67F-47A3-AB71-83833D8A25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F8349DD-884F-4747-9F89-CB64190F61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9985B52-71EE-48A3-8AAC-B67D849EDE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647B497-D8B6-4E36-8F6E-BDC8245161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DFC0450-C418-4286-A55C-F3F1D4D81A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F292CCD-4F8A-45AA-811C-5A7BB6E414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9EEE8AA-C37C-4551-B26B-800B0EF65D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AE5AFBD-CECC-423A-8768-A753A703DF1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65638C7B-022B-45D4-8C4F-A30F1A96619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82FAC81-78C7-4D7D-ADC3-98C93B5ED5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48B9C12-3B6F-45DD-8040-2799EB9642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E9FFE6B-97B6-4B0A-8067-904E11E9BF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C622C05-E5BF-4A48-8965-66CED73740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D9433C2-416C-4507-90C9-7D413FF182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B4D9092-91AF-4297-ABC8-416F8ABCAF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EF8AC2A-4F7C-4734-9167-3075058F7F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7B5325C-1D2A-42C7-8B52-39AA74F4F2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2F88736-CE51-4F86-B605-6CDB7A9C84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EBA6DF8-1274-4E58-AF48-2B35E5E291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AF0620F-EEC2-4C51-85A6-B5B6DAF4D25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0EA2184-2A3D-4404-8067-9DFFF1D4B2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BAB2A94-C7FF-4B9C-A919-B6FFE4DEDD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CBA9F2E-DF30-4C60-96F5-EDB83291B1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BB82CC4-B161-4443-BF98-85E43887B4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2448BEA1-F9DB-4A76-AB7B-B072660089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1FEB429A-557D-4DFF-A9DD-ADB46563E9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B65D99A-7ACC-4FC5-8BDB-E9CDC13472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E5CCC1D9-857F-47A1-9BF7-F8571CC0DF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89C669B-5753-4DAE-9145-CBA305780F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C752280-6653-42EA-8848-2D0EC96098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D54C8AE-AA5C-460F-80D2-CDA6CAB90C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48C1A96-331D-4D1F-9F33-32CD9D72414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8F5E29E-0C31-419F-9DB2-587FE20DC78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1D5E86B-F214-451E-B776-AEAE8CDC0D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0F43F58-C87D-4DC3-8257-5789112135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4F0CCF5-4D7D-405C-9FF2-CC542A8346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716327A-080E-4F3D-9BDD-1372520385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9C8A6119-AD09-447E-82BE-D984FC06D0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6B3EEF4C-522D-4E03-AB0A-7B5EE3AECD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8F9710A-FBAB-4FCE-8245-030CA9FFAA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50C5EA8A-37B6-4CAF-8893-AAC47E17C8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A150B12-76C7-4462-AEB2-87CD184FB1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DE82FE8-CE39-4BD6-8459-C72962711F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EA34D27-02A1-42AD-8C39-BAF594F1ADD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D73A078-D79F-466A-9898-662F03247E2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29464378-3423-4D81-A3C6-4361585B26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85B8C9C8-E6C0-4D1C-935A-4109E93733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9E1FEB5E-5585-4DF5-B97B-1CDFCD9875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69E3C929-3B65-4138-9C27-A5EBC54A23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C88EF63B-AE16-427B-873F-C8C3FD4003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81923E5A-ED87-4951-8511-5F0260E54B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77019737-329A-47DB-A84C-E5064319E4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A8F70562-AC4F-4965-A594-3C10F4BDDD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E3119B2B-0D16-40CF-B707-06395F4357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30029B95-08FE-4A98-A3EA-32CA9BC745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0B7C9898-2B2E-4848-BC7D-14705BFB0AB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D018E268-9A24-496F-83A5-3EAF3A210B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DEE1B6D-B813-47C1-8495-A991887A0F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B56FAE11-9248-4902-9524-8BD4094080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7CB7D8A-46F5-42F4-8005-614CE91855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BD4D9308-6FA3-4195-AFFB-0CCDBEFC29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F2FD8F81-F4FF-41DB-A21D-0238FFD0B0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C776CD2F-D320-47C9-B52A-BF21294168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14D953B-0CFE-4F00-833C-97581FC808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B99C32D6-F1EF-471F-8D9A-2FDA6B0C87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5331EA1-6003-48D3-B4D7-AF80561286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8CCE9724-77DD-4BA1-836F-EE4875E54F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6D18FF1-4C1D-45F1-B92D-8071D7BDB47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487587D-D4E6-4AC7-A08F-92C27DEFE0B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2B2346EC-3552-4385-807F-CE26966408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5B692F0A-E5D2-45F3-8EB8-D404D7A2D8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6B10A676-1340-4BFB-8C81-F6A89F4533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619D015A-D280-42E7-A8DB-D12CA2FC1B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6D713E0F-FAD0-44BF-B65C-160D9276F4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42D143B6-5EAB-4612-A62D-F5F9236CA5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492588E8-CD1E-4291-81EE-BD082A55EE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7AB817B7-2E6A-4664-A28A-5F73E0F8E1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6ED4E6AC-A398-47EF-A296-234C5364E2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5BDE5C57-5303-412C-B6E9-BC4FD2A39C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7C8A1CF4-D73A-4437-BE42-A9BA944E964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032A1B04-9A64-43B9-9471-136B74F044A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93BEA646-1752-49BA-A6FE-79D696D730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7CF8E22C-F773-492E-B8EC-3B03C47CA7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628F18F3-B5EF-4B8D-9816-52BB58ED68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BE4B773F-57C3-4172-9B0D-02F42C1220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6C7124EC-5B8F-4972-8644-069469420B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45D4FA82-A314-42DD-B347-D81AA70AFD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F974D223-39DB-4A2D-B2D9-5D01B68A8B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A24464CA-4154-4F5C-97E7-6DFC210736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B83BC4F9-5FA7-47F8-89F1-7C39DEF4F3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F9831094-E957-4D8C-9E65-DF8F6FC458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2C0F7CDB-4026-4905-899D-697252637CB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6055DD58-6957-478E-BF39-EE130B01DCC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73E4DD84-1EC1-4FC3-8544-D780D52E66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628C4CF6-10BE-41D5-9DA7-52A850F2B1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18DE05A9-74CD-418B-9C3B-46AB47E937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9755B199-5D62-48E7-81E7-63D7675C6E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B5E4D8B0-19D4-4EE3-9467-5E57D70DE5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28954B28-4AC0-4B96-8C98-1953BB95104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34EC9D3C-6F91-4586-842A-C71AE9758E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05E69C8C-6CC3-4DD0-A1F3-6EFA79EA21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3B49BDC0-4EC0-4CC9-8CCC-97FB61F45A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6184B938-709E-429E-8B27-14D4DEDBF4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42836F17-1EE6-434D-A642-07B467998FB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D83BD94C-0651-42FB-BD9E-37BFD91600D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A896864C-598C-4FB9-BE66-1474DB9BF3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DD53A28-A9CE-4AFC-9CDB-749EDC565F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85FEE67E-DFBA-42DE-BCBA-B33F18EBC0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EED2F11-5D17-4697-B3DE-03CD86C962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D61D260-7CF3-4968-96AB-F16A9D7896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AE0ECC1E-5C1F-4676-90D1-834D61A141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2716B2B-3BEA-46E6-80A0-4FF7ECA11F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FF06223-44DB-4350-997A-86E9B917E9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A9A3FC00-81F0-4C1B-B999-852F1E29F8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9058A010-9976-4D9B-A7EB-9CF8185082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92496A7-A9D8-4271-8DCB-3F374BD6A31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D7BAEFB7-DD9D-4AD3-9748-11BE477BC04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4.xml"/><Relationship Id="rId12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5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6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79.xml"/><Relationship Id="rId13" Type="http://schemas.openxmlformats.org/officeDocument/2006/relationships/slideLayout" Target="../slideLayouts/slideLayout180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81.xml"/><Relationship Id="rId3" Type="http://schemas.openxmlformats.org/officeDocument/2006/relationships/slideLayout" Target="../slideLayouts/slideLayout182.xml"/><Relationship Id="rId4" Type="http://schemas.openxmlformats.org/officeDocument/2006/relationships/slideLayout" Target="../slideLayouts/slideLayout183.xml"/><Relationship Id="rId5" Type="http://schemas.openxmlformats.org/officeDocument/2006/relationships/slideLayout" Target="../slideLayouts/slideLayout184.xml"/><Relationship Id="rId6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6.xml"/><Relationship Id="rId8" Type="http://schemas.openxmlformats.org/officeDocument/2006/relationships/slideLayout" Target="../slideLayouts/slideLayout187.xml"/><Relationship Id="rId9" Type="http://schemas.openxmlformats.org/officeDocument/2006/relationships/slideLayout" Target="../slideLayouts/slideLayout188.xml"/><Relationship Id="rId10" Type="http://schemas.openxmlformats.org/officeDocument/2006/relationships/slideLayout" Target="../slideLayouts/slideLayout189.xml"/><Relationship Id="rId11" Type="http://schemas.openxmlformats.org/officeDocument/2006/relationships/slideLayout" Target="../slideLayouts/slideLayout190.xml"/><Relationship Id="rId12" Type="http://schemas.openxmlformats.org/officeDocument/2006/relationships/slideLayout" Target="../slideLayouts/slideLayout191.xml"/><Relationship Id="rId13" Type="http://schemas.openxmlformats.org/officeDocument/2006/relationships/slideLayout" Target="../slideLayouts/slideLayout19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93.xml"/><Relationship Id="rId3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95.xml"/><Relationship Id="rId5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197.xml"/><Relationship Id="rId7" Type="http://schemas.openxmlformats.org/officeDocument/2006/relationships/slideLayout" Target="../slideLayouts/slideLayout198.xml"/><Relationship Id="rId8" Type="http://schemas.openxmlformats.org/officeDocument/2006/relationships/slideLayout" Target="../slideLayouts/slideLayout199.xml"/><Relationship Id="rId9" Type="http://schemas.openxmlformats.org/officeDocument/2006/relationships/slideLayout" Target="../slideLayouts/slideLayout200.xml"/><Relationship Id="rId10" Type="http://schemas.openxmlformats.org/officeDocument/2006/relationships/slideLayout" Target="../slideLayouts/slideLayout201.xml"/><Relationship Id="rId11" Type="http://schemas.openxmlformats.org/officeDocument/2006/relationships/slideLayout" Target="../slideLayouts/slideLayout202.xml"/><Relationship Id="rId12" Type="http://schemas.openxmlformats.org/officeDocument/2006/relationships/slideLayout" Target="../slideLayouts/slideLayout203.xml"/><Relationship Id="rId13" Type="http://schemas.openxmlformats.org/officeDocument/2006/relationships/slideLayout" Target="../slideLayouts/slideLayout204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05.xml"/><Relationship Id="rId3" Type="http://schemas.openxmlformats.org/officeDocument/2006/relationships/slideLayout" Target="../slideLayouts/slideLayout206.xml"/><Relationship Id="rId4" Type="http://schemas.openxmlformats.org/officeDocument/2006/relationships/slideLayout" Target="../slideLayouts/slideLayout207.xml"/><Relationship Id="rId5" Type="http://schemas.openxmlformats.org/officeDocument/2006/relationships/slideLayout" Target="../slideLayouts/slideLayout208.xml"/><Relationship Id="rId6" Type="http://schemas.openxmlformats.org/officeDocument/2006/relationships/slideLayout" Target="../slideLayouts/slideLayout209.xml"/><Relationship Id="rId7" Type="http://schemas.openxmlformats.org/officeDocument/2006/relationships/slideLayout" Target="../slideLayouts/slideLayout210.xml"/><Relationship Id="rId8" Type="http://schemas.openxmlformats.org/officeDocument/2006/relationships/slideLayout" Target="../slideLayouts/slideLayout211.xml"/><Relationship Id="rId9" Type="http://schemas.openxmlformats.org/officeDocument/2006/relationships/slideLayout" Target="../slideLayouts/slideLayout212.xml"/><Relationship Id="rId10" Type="http://schemas.openxmlformats.org/officeDocument/2006/relationships/slideLayout" Target="../slideLayouts/slideLayout213.xml"/><Relationship Id="rId11" Type="http://schemas.openxmlformats.org/officeDocument/2006/relationships/slideLayout" Target="../slideLayouts/slideLayout214.xml"/><Relationship Id="rId12" Type="http://schemas.openxmlformats.org/officeDocument/2006/relationships/slideLayout" Target="../slideLayouts/slideLayout215.xml"/><Relationship Id="rId13" Type="http://schemas.openxmlformats.org/officeDocument/2006/relationships/slideLayout" Target="../slideLayouts/slideLayout2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5F8182-C5D2-46BA-9BD2-1A1C0E81D2A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61D944-3ACA-41C9-A25F-E0FBC765402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886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1AFD89-1FD8-480A-9861-EDC73F2D4B1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4E0E23-B503-4880-8ACF-B9E38720DCA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09DD95-F4C3-4063-B7BD-159D7C97185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037162-6EB7-4D3A-BA3A-6430C9909A7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0080" cy="3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28320" cy="3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1F263F-7C7C-493C-B3B1-9121700591B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28320" cy="3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7362A1-DC6A-410A-9D4C-32415E564EC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0800" cy="36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29040" cy="36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EF5F16-981C-4C84-B9D5-3712952B3B4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29040" cy="36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1160" cy="36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5EB1DB-6989-48C5-BC2E-AC4C8478DC9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1160" cy="36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F1869D-DA3E-4821-8834-369460083F9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43A170-C572-4BEE-99E9-539180EC2B9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ftr" idx="37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sldNum" idx="38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D845F9-12FB-49CC-8FA6-75D57D5EB13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dt" idx="39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ftr" idx="40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" name="PlaceHolder 2"/>
          <p:cNvSpPr>
            <a:spLocks noGrp="1"/>
          </p:cNvSpPr>
          <p:nvPr>
            <p:ph type="sldNum" idx="41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084C04-B083-4A72-B1CB-3410AD322C9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 type="dt" idx="42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ftr" idx="43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 type="sldNum" idx="44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4ED75F-B8FA-4504-B7E0-75229B0BA14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dt" idx="45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ftr" idx="4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" name="PlaceHolder 2"/>
          <p:cNvSpPr>
            <a:spLocks noGrp="1"/>
          </p:cNvSpPr>
          <p:nvPr>
            <p:ph type="sldNum" idx="4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A2BAE6-0245-4F39-B035-B3F06455D06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dt" idx="4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ftr" idx="4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" name="PlaceHolder 2"/>
          <p:cNvSpPr>
            <a:spLocks noGrp="1"/>
          </p:cNvSpPr>
          <p:nvPr>
            <p:ph type="sldNum" idx="5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024AC6-A075-4AF4-96A3-0AD9986EDE1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dt" idx="5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5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Rectangle 32"/>
          <p:cNvSpPr/>
          <p:nvPr/>
        </p:nvSpPr>
        <p:spPr>
          <a:xfrm>
            <a:off x="0" y="0"/>
            <a:ext cx="12179880" cy="68490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4" name="Rectangle 33"/>
          <p:cNvSpPr/>
          <p:nvPr/>
        </p:nvSpPr>
        <p:spPr>
          <a:xfrm>
            <a:off x="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5" name="Rectangle 34"/>
          <p:cNvSpPr/>
          <p:nvPr/>
        </p:nvSpPr>
        <p:spPr>
          <a:xfrm>
            <a:off x="9144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6" name="Rectangle 35"/>
          <p:cNvSpPr/>
          <p:nvPr/>
        </p:nvSpPr>
        <p:spPr>
          <a:xfrm>
            <a:off x="18288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7" name="Rectangle 36"/>
          <p:cNvSpPr/>
          <p:nvPr/>
        </p:nvSpPr>
        <p:spPr>
          <a:xfrm>
            <a:off x="27432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8" name="Rectangle 37"/>
          <p:cNvSpPr/>
          <p:nvPr/>
        </p:nvSpPr>
        <p:spPr>
          <a:xfrm>
            <a:off x="36576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9" name="Rectangle 38"/>
          <p:cNvSpPr/>
          <p:nvPr/>
        </p:nvSpPr>
        <p:spPr>
          <a:xfrm>
            <a:off x="45720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0" name="Rectangle 39"/>
          <p:cNvSpPr/>
          <p:nvPr/>
        </p:nvSpPr>
        <p:spPr>
          <a:xfrm>
            <a:off x="54864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1" name="Rectangle 40"/>
          <p:cNvSpPr/>
          <p:nvPr/>
        </p:nvSpPr>
        <p:spPr>
          <a:xfrm>
            <a:off x="64008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2" name="Rectangle 41"/>
          <p:cNvSpPr/>
          <p:nvPr/>
        </p:nvSpPr>
        <p:spPr>
          <a:xfrm>
            <a:off x="73152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3" name="Rectangle 42"/>
          <p:cNvSpPr/>
          <p:nvPr/>
        </p:nvSpPr>
        <p:spPr>
          <a:xfrm>
            <a:off x="82296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4" name="Rectangle 43"/>
          <p:cNvSpPr/>
          <p:nvPr/>
        </p:nvSpPr>
        <p:spPr>
          <a:xfrm>
            <a:off x="91440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5" name="Rectangle 44"/>
          <p:cNvSpPr/>
          <p:nvPr/>
        </p:nvSpPr>
        <p:spPr>
          <a:xfrm>
            <a:off x="100584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6" name="Rectangle 45"/>
          <p:cNvSpPr/>
          <p:nvPr/>
        </p:nvSpPr>
        <p:spPr>
          <a:xfrm>
            <a:off x="109728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7" name="Rectangle 46"/>
          <p:cNvSpPr/>
          <p:nvPr/>
        </p:nvSpPr>
        <p:spPr>
          <a:xfrm>
            <a:off x="118872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8" name="Rectangle 47"/>
          <p:cNvSpPr/>
          <p:nvPr/>
        </p:nvSpPr>
        <p:spPr>
          <a:xfrm>
            <a:off x="0" y="0"/>
            <a:ext cx="311040" cy="68490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9" name="Rounded Rectangle 8"/>
          <p:cNvSpPr/>
          <p:nvPr/>
        </p:nvSpPr>
        <p:spPr>
          <a:xfrm>
            <a:off x="9875520" y="365760"/>
            <a:ext cx="2002680" cy="4939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TextBox 4"/>
          <p:cNvSpPr/>
          <p:nvPr/>
        </p:nvSpPr>
        <p:spPr>
          <a:xfrm>
            <a:off x="2913480" y="1005840"/>
            <a:ext cx="51447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DEĞİŞKENLERİ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TextBox 5"/>
          <p:cNvSpPr/>
          <p:nvPr/>
        </p:nvSpPr>
        <p:spPr>
          <a:xfrm>
            <a:off x="1237680" y="2057400"/>
            <a:ext cx="996840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Değişkenler, bir programda verileri saklamak için kullanılan isimlendirilmiş bellek konumlarıdır.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Java'da her değişken, hangi tür veriyi saklayabileceğini belirleyen belirli bir veri tipine sahip olmalıdır.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Rounded Rectangle 9"/>
          <p:cNvSpPr/>
          <p:nvPr/>
        </p:nvSpPr>
        <p:spPr>
          <a:xfrm>
            <a:off x="987480" y="3182040"/>
            <a:ext cx="3282840" cy="27342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3" name="Rounded Rectangle 10"/>
          <p:cNvSpPr/>
          <p:nvPr/>
        </p:nvSpPr>
        <p:spPr>
          <a:xfrm>
            <a:off x="914400" y="3108960"/>
            <a:ext cx="3282840" cy="32839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Değişken Tanımı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Bir değişken, veriyi saklamak için kullanılan isimlendirilmiş bir bellek konumudur.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Veri Tipi Gerekliliği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Java'da her değişken belirli bir veri tipi ile tanımlanmalıdır.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Bellek Tahsisi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Veri tipi, değişkenin hangi tür değeri tutacağını ve bellekte ne kadar yer kaplayacağını belirler.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Veri Tipi Örnekleri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Örneğin, int tam sayıları saklar, double ondalık sayıları saklar ve String metin verilerini saklar.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Program Esnekliği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Değişkenler, programların çalışma sırasında veri saklamasına ve değiştirmesine olanak tanır.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Rounded Rectangle 11"/>
          <p:cNvSpPr/>
          <p:nvPr/>
        </p:nvSpPr>
        <p:spPr>
          <a:xfrm>
            <a:off x="4507920" y="3182040"/>
            <a:ext cx="3282840" cy="27342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5" name="Rounded Rectangle 12"/>
          <p:cNvSpPr/>
          <p:nvPr/>
        </p:nvSpPr>
        <p:spPr>
          <a:xfrm>
            <a:off x="4434840" y="3108960"/>
            <a:ext cx="3282840" cy="27342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Program Başlar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Değişken Tanımla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(veri tipi + isim)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Değer Ata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Değişkeni Kullan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(yazdır / hesapla)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Rounded Rectangle 13"/>
          <p:cNvSpPr/>
          <p:nvPr/>
        </p:nvSpPr>
        <p:spPr>
          <a:xfrm>
            <a:off x="8028360" y="3182040"/>
            <a:ext cx="3282840" cy="27342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7" name="Rounded Rectangle 14"/>
          <p:cNvSpPr/>
          <p:nvPr/>
        </p:nvSpPr>
        <p:spPr>
          <a:xfrm>
            <a:off x="7955280" y="3108960"/>
            <a:ext cx="3466800" cy="32839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DegiskenOrnegi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int yas = 21;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fiyat = 49.99;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isim = "Java";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System.out.println(yas);       System.out.println(fiyat);        System.out.println(isim);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TextBox 6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Rectangle 16"/>
          <p:cNvSpPr/>
          <p:nvPr/>
        </p:nvSpPr>
        <p:spPr>
          <a:xfrm>
            <a:off x="0" y="0"/>
            <a:ext cx="12179880" cy="68490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0" name="Rectangle 17"/>
          <p:cNvSpPr/>
          <p:nvPr/>
        </p:nvSpPr>
        <p:spPr>
          <a:xfrm>
            <a:off x="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1" name="Rectangle 18"/>
          <p:cNvSpPr/>
          <p:nvPr/>
        </p:nvSpPr>
        <p:spPr>
          <a:xfrm>
            <a:off x="9144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2" name="Rectangle 19"/>
          <p:cNvSpPr/>
          <p:nvPr/>
        </p:nvSpPr>
        <p:spPr>
          <a:xfrm>
            <a:off x="18288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3" name="Rectangle 20"/>
          <p:cNvSpPr/>
          <p:nvPr/>
        </p:nvSpPr>
        <p:spPr>
          <a:xfrm>
            <a:off x="27432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4" name="Rectangle 21"/>
          <p:cNvSpPr/>
          <p:nvPr/>
        </p:nvSpPr>
        <p:spPr>
          <a:xfrm>
            <a:off x="36576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5" name="Rectangle 22"/>
          <p:cNvSpPr/>
          <p:nvPr/>
        </p:nvSpPr>
        <p:spPr>
          <a:xfrm>
            <a:off x="45720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6" name="Rectangle 23"/>
          <p:cNvSpPr/>
          <p:nvPr/>
        </p:nvSpPr>
        <p:spPr>
          <a:xfrm>
            <a:off x="54864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7" name="Rectangle 24"/>
          <p:cNvSpPr/>
          <p:nvPr/>
        </p:nvSpPr>
        <p:spPr>
          <a:xfrm>
            <a:off x="64008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8" name="Rectangle 25"/>
          <p:cNvSpPr/>
          <p:nvPr/>
        </p:nvSpPr>
        <p:spPr>
          <a:xfrm>
            <a:off x="73152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9" name="Rectangle 26"/>
          <p:cNvSpPr/>
          <p:nvPr/>
        </p:nvSpPr>
        <p:spPr>
          <a:xfrm>
            <a:off x="82296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0" name="Rectangle 27"/>
          <p:cNvSpPr/>
          <p:nvPr/>
        </p:nvSpPr>
        <p:spPr>
          <a:xfrm>
            <a:off x="91440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1" name="Rectangle 28"/>
          <p:cNvSpPr/>
          <p:nvPr/>
        </p:nvSpPr>
        <p:spPr>
          <a:xfrm>
            <a:off x="100584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2" name="Rectangle 29"/>
          <p:cNvSpPr/>
          <p:nvPr/>
        </p:nvSpPr>
        <p:spPr>
          <a:xfrm>
            <a:off x="109728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3" name="Rectangle 30"/>
          <p:cNvSpPr/>
          <p:nvPr/>
        </p:nvSpPr>
        <p:spPr>
          <a:xfrm>
            <a:off x="118872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4" name="Rectangle 31"/>
          <p:cNvSpPr/>
          <p:nvPr/>
        </p:nvSpPr>
        <p:spPr>
          <a:xfrm>
            <a:off x="0" y="0"/>
            <a:ext cx="311040" cy="68490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5" name="Rounded Rectangle 15"/>
          <p:cNvSpPr/>
          <p:nvPr/>
        </p:nvSpPr>
        <p:spPr>
          <a:xfrm>
            <a:off x="9875520" y="365760"/>
            <a:ext cx="2002680" cy="4939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6" name="TextBox 7"/>
          <p:cNvSpPr/>
          <p:nvPr/>
        </p:nvSpPr>
        <p:spPr>
          <a:xfrm>
            <a:off x="2323800" y="1005840"/>
            <a:ext cx="63244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DEĞİŞKEN TÜRLERİ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TextBox 8"/>
          <p:cNvSpPr/>
          <p:nvPr/>
        </p:nvSpPr>
        <p:spPr>
          <a:xfrm>
            <a:off x="655560" y="2057400"/>
            <a:ext cx="111326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 değişkenleri, nerede tanımlandıklarına ve bir sınıf veya metot içinde nasıl kullanıldıklarına göre sınıflandırılır.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Rounded Rectangle 16"/>
          <p:cNvSpPr/>
          <p:nvPr/>
        </p:nvSpPr>
        <p:spPr>
          <a:xfrm>
            <a:off x="987480" y="3182040"/>
            <a:ext cx="3282840" cy="27342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9" name="Rounded Rectangle 17"/>
          <p:cNvSpPr/>
          <p:nvPr/>
        </p:nvSpPr>
        <p:spPr>
          <a:xfrm>
            <a:off x="931680" y="2925720"/>
            <a:ext cx="3175560" cy="3696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Yerel Değişkenler (Local Variables)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Yerel değişkenler bir metot, yapıcı metot (constructor) veya kod bloğu içinde tanımlanır.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Sadece oluşturuldukları metot veya blok içerisinde erişilebilirler.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Nesne Değişkenleri (Instance Variables)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Nesne değişkenleri bir sınıf içinde fakat metotların dışında tanımlanır.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Sınıfın oluşturulan her nesnesi bu değişkenlerin kendi kopyasına sahip olur.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Statik Değişkenler (Static Variables)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Statik değişkenler static anahtar kelimesi kullanılarak tanımlanır.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Bu değişkenler sınıfa aittir ve o sınıftan oluşturulan tüm nesneler tarafından ortak olarak kullanılır.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Rounded Rectangle 18"/>
          <p:cNvSpPr/>
          <p:nvPr/>
        </p:nvSpPr>
        <p:spPr>
          <a:xfrm>
            <a:off x="4507920" y="3182040"/>
            <a:ext cx="3282840" cy="27342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1" name="Rounded Rectangle 19"/>
          <p:cNvSpPr/>
          <p:nvPr/>
        </p:nvSpPr>
        <p:spPr>
          <a:xfrm>
            <a:off x="4434840" y="3108960"/>
            <a:ext cx="3282840" cy="30553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Sınıf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├──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Statik Değişken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├──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Nesne Değişkeni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└──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Metot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└──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Yerel Değişken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Rounded Rectangle 20"/>
          <p:cNvSpPr/>
          <p:nvPr/>
        </p:nvSpPr>
        <p:spPr>
          <a:xfrm>
            <a:off x="8028360" y="3182040"/>
            <a:ext cx="3282840" cy="27342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3" name="Rounded Rectangle 21"/>
          <p:cNvSpPr/>
          <p:nvPr/>
        </p:nvSpPr>
        <p:spPr>
          <a:xfrm>
            <a:off x="7955280" y="2971800"/>
            <a:ext cx="3695760" cy="3421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DegiskenTurleri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int nesneDegiskeni = 10;        // nesne değişkeni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static int statikDegisken = 20; // statik değişken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void degiskenleriGoster()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int yerelDegisken = 30;     // yerel değişken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System.out.println(yerelDegisken);        System.out.println(nesneDegiskeni);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System.out.println(statikDegisken);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TextBox 9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Rectangle 160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6" name="Rectangle 161"/>
          <p:cNvSpPr/>
          <p:nvPr/>
        </p:nvSpPr>
        <p:spPr>
          <a:xfrm>
            <a:off x="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7" name="Rectangle 162"/>
          <p:cNvSpPr/>
          <p:nvPr/>
        </p:nvSpPr>
        <p:spPr>
          <a:xfrm>
            <a:off x="9144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8" name="Rectangle 163"/>
          <p:cNvSpPr/>
          <p:nvPr/>
        </p:nvSpPr>
        <p:spPr>
          <a:xfrm>
            <a:off x="18288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9" name="Rectangle 164"/>
          <p:cNvSpPr/>
          <p:nvPr/>
        </p:nvSpPr>
        <p:spPr>
          <a:xfrm>
            <a:off x="27432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0" name="Rectangle 165"/>
          <p:cNvSpPr/>
          <p:nvPr/>
        </p:nvSpPr>
        <p:spPr>
          <a:xfrm>
            <a:off x="36576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1" name="Rectangle 166"/>
          <p:cNvSpPr/>
          <p:nvPr/>
        </p:nvSpPr>
        <p:spPr>
          <a:xfrm>
            <a:off x="45720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2" name="Rectangle 167"/>
          <p:cNvSpPr/>
          <p:nvPr/>
        </p:nvSpPr>
        <p:spPr>
          <a:xfrm>
            <a:off x="54864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3" name="Rectangle 168"/>
          <p:cNvSpPr/>
          <p:nvPr/>
        </p:nvSpPr>
        <p:spPr>
          <a:xfrm>
            <a:off x="64008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4" name="Rectangle 169"/>
          <p:cNvSpPr/>
          <p:nvPr/>
        </p:nvSpPr>
        <p:spPr>
          <a:xfrm>
            <a:off x="73152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5" name="Rectangle 170"/>
          <p:cNvSpPr/>
          <p:nvPr/>
        </p:nvSpPr>
        <p:spPr>
          <a:xfrm>
            <a:off x="82296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6" name="Rectangle 171"/>
          <p:cNvSpPr/>
          <p:nvPr/>
        </p:nvSpPr>
        <p:spPr>
          <a:xfrm>
            <a:off x="91440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7" name="Rectangle 172"/>
          <p:cNvSpPr/>
          <p:nvPr/>
        </p:nvSpPr>
        <p:spPr>
          <a:xfrm>
            <a:off x="100584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8" name="Rectangle 173"/>
          <p:cNvSpPr/>
          <p:nvPr/>
        </p:nvSpPr>
        <p:spPr>
          <a:xfrm>
            <a:off x="109728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9" name="Rectangle 174"/>
          <p:cNvSpPr/>
          <p:nvPr/>
        </p:nvSpPr>
        <p:spPr>
          <a:xfrm>
            <a:off x="118872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0" name="Rectangle 175"/>
          <p:cNvSpPr/>
          <p:nvPr/>
        </p:nvSpPr>
        <p:spPr>
          <a:xfrm>
            <a:off x="0" y="0"/>
            <a:ext cx="313920" cy="68518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1" name="Rounded Rectangle 71"/>
          <p:cNvSpPr/>
          <p:nvPr/>
        </p:nvSpPr>
        <p:spPr>
          <a:xfrm>
            <a:off x="9875520" y="365760"/>
            <a:ext cx="2005560" cy="4968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TextBox 31"/>
          <p:cNvSpPr/>
          <p:nvPr/>
        </p:nvSpPr>
        <p:spPr>
          <a:xfrm>
            <a:off x="1937160" y="685800"/>
            <a:ext cx="71154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DEĞİŞKENLER ÖRNEĞİ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TextBox 32"/>
          <p:cNvSpPr/>
          <p:nvPr/>
        </p:nvSpPr>
        <p:spPr>
          <a:xfrm>
            <a:off x="2130120" y="1600200"/>
            <a:ext cx="6738840" cy="13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Java programları farklı değişken türlerini birlikte kullanabilir.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Her değişken türünün farklı bir kapsamı (scope) ve yaşam süresi (lifetime) vardır.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Yerel değişkenler metodların içinde bulunur,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instance değişkenler nesnelere aittir ve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static değişkenler sınıfa aittir.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Rounded Rectangle 72"/>
          <p:cNvSpPr/>
          <p:nvPr/>
        </p:nvSpPr>
        <p:spPr>
          <a:xfrm>
            <a:off x="987480" y="318204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5" name="Rounded Rectangle 73"/>
          <p:cNvSpPr/>
          <p:nvPr/>
        </p:nvSpPr>
        <p:spPr>
          <a:xfrm>
            <a:off x="685800" y="3108960"/>
            <a:ext cx="3514320" cy="30582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Variable Scope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Local Variable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Exists only inside a method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Created when method starts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Destroyed when method ends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Instance Variable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Belongs to an object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Each object has its own copy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Static Variable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Shared by all objects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Belongs to the class itself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Rounded Rectangle 74"/>
          <p:cNvSpPr/>
          <p:nvPr/>
        </p:nvSpPr>
        <p:spPr>
          <a:xfrm>
            <a:off x="4507920" y="318204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7" name="Rounded Rectangle 75"/>
          <p:cNvSpPr/>
          <p:nvPr/>
        </p:nvSpPr>
        <p:spPr>
          <a:xfrm>
            <a:off x="4434840" y="3108960"/>
            <a:ext cx="3285720" cy="30582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Program Başlar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Sınıf Oluştur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├─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Static Değişken (paylaşılan)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Nesne Oluştur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├─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Instance Değişken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Metod Çağrılır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└─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Yerel Değişken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Rounded Rectangle 76"/>
          <p:cNvSpPr/>
          <p:nvPr/>
        </p:nvSpPr>
        <p:spPr>
          <a:xfrm>
            <a:off x="8028360" y="318204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9" name="Rounded Rectangle 77"/>
          <p:cNvSpPr/>
          <p:nvPr/>
        </p:nvSpPr>
        <p:spPr>
          <a:xfrm>
            <a:off x="7955280" y="2971800"/>
            <a:ext cx="3698280" cy="34239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DegiskenOrnegi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static String universite = "Tech University"; // static değişken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ogrenciAdi; // instance değişken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void bilgileriGoster()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int sinif = 2; // yerel değişken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System.out.println(ogrenciAdi);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System.out.println(universite);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System.out.println(sinif);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DegiskenOrnegi s1 = new DegiskenOrnegi();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s1.ogrenciAdi = "Tuna";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s1.bilgileriGoster();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TextBox 33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Rectangle 144"/>
          <p:cNvSpPr/>
          <p:nvPr/>
        </p:nvSpPr>
        <p:spPr>
          <a:xfrm>
            <a:off x="0" y="0"/>
            <a:ext cx="12182040" cy="68511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2" name="Rectangle 145"/>
          <p:cNvSpPr/>
          <p:nvPr/>
        </p:nvSpPr>
        <p:spPr>
          <a:xfrm>
            <a:off x="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3" name="Rectangle 146"/>
          <p:cNvSpPr/>
          <p:nvPr/>
        </p:nvSpPr>
        <p:spPr>
          <a:xfrm>
            <a:off x="9144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4" name="Rectangle 147"/>
          <p:cNvSpPr/>
          <p:nvPr/>
        </p:nvSpPr>
        <p:spPr>
          <a:xfrm>
            <a:off x="18288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5" name="Rectangle 148"/>
          <p:cNvSpPr/>
          <p:nvPr/>
        </p:nvSpPr>
        <p:spPr>
          <a:xfrm>
            <a:off x="27432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6" name="Rectangle 149"/>
          <p:cNvSpPr/>
          <p:nvPr/>
        </p:nvSpPr>
        <p:spPr>
          <a:xfrm>
            <a:off x="36576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7" name="Rectangle 150"/>
          <p:cNvSpPr/>
          <p:nvPr/>
        </p:nvSpPr>
        <p:spPr>
          <a:xfrm>
            <a:off x="45720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8" name="Rectangle 151"/>
          <p:cNvSpPr/>
          <p:nvPr/>
        </p:nvSpPr>
        <p:spPr>
          <a:xfrm>
            <a:off x="54864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9" name="Rectangle 152"/>
          <p:cNvSpPr/>
          <p:nvPr/>
        </p:nvSpPr>
        <p:spPr>
          <a:xfrm>
            <a:off x="64008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0" name="Rectangle 153"/>
          <p:cNvSpPr/>
          <p:nvPr/>
        </p:nvSpPr>
        <p:spPr>
          <a:xfrm>
            <a:off x="73152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1" name="Rectangle 154"/>
          <p:cNvSpPr/>
          <p:nvPr/>
        </p:nvSpPr>
        <p:spPr>
          <a:xfrm>
            <a:off x="82296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2" name="Rectangle 155"/>
          <p:cNvSpPr/>
          <p:nvPr/>
        </p:nvSpPr>
        <p:spPr>
          <a:xfrm>
            <a:off x="91440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3" name="Rectangle 156"/>
          <p:cNvSpPr/>
          <p:nvPr/>
        </p:nvSpPr>
        <p:spPr>
          <a:xfrm>
            <a:off x="100584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4" name="Rectangle 157"/>
          <p:cNvSpPr/>
          <p:nvPr/>
        </p:nvSpPr>
        <p:spPr>
          <a:xfrm>
            <a:off x="109728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5" name="Rectangle 158"/>
          <p:cNvSpPr/>
          <p:nvPr/>
        </p:nvSpPr>
        <p:spPr>
          <a:xfrm>
            <a:off x="118872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6" name="Rectangle 159"/>
          <p:cNvSpPr/>
          <p:nvPr/>
        </p:nvSpPr>
        <p:spPr>
          <a:xfrm>
            <a:off x="0" y="0"/>
            <a:ext cx="313200" cy="68511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7" name="Rounded Rectangle 64"/>
          <p:cNvSpPr/>
          <p:nvPr/>
        </p:nvSpPr>
        <p:spPr>
          <a:xfrm>
            <a:off x="9875520" y="365760"/>
            <a:ext cx="2004840" cy="49608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TextBox 28"/>
          <p:cNvSpPr/>
          <p:nvPr/>
        </p:nvSpPr>
        <p:spPr>
          <a:xfrm>
            <a:off x="3013200" y="1005840"/>
            <a:ext cx="49453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VERİ TÜRLERİ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TextBox 29"/>
          <p:cNvSpPr/>
          <p:nvPr/>
        </p:nvSpPr>
        <p:spPr>
          <a:xfrm>
            <a:off x="1657080" y="2194560"/>
            <a:ext cx="76579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Veri türleri, bir değişkenin Java’da hangi tür değeri saklayabileceğini tanımlar.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Her değişkenin belirli bir veri türü olmalıdır.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Rounded Rectangle 65"/>
          <p:cNvSpPr/>
          <p:nvPr/>
        </p:nvSpPr>
        <p:spPr>
          <a:xfrm>
            <a:off x="987480" y="3182040"/>
            <a:ext cx="3285000" cy="27363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1" name="Rounded Rectangle 66"/>
          <p:cNvSpPr/>
          <p:nvPr/>
        </p:nvSpPr>
        <p:spPr>
          <a:xfrm>
            <a:off x="685800" y="3108960"/>
            <a:ext cx="3513600" cy="328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Veri Türleri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, bir değişkende saklanan verinin türünü belirtir.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Java’da 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iki ana veri türü kategorisi vardır.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İlkel Veri Türleri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Basit değerleri doğrudan bellekte saklar.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Örnekler: 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int, double, char, boolean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Referans Veri Türleri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Nesnelere ait referansları saklar.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Örnekler: String, Diziler (Arrays), Sınıflar (Classes)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Rounded Rectangle 67"/>
          <p:cNvSpPr/>
          <p:nvPr/>
        </p:nvSpPr>
        <p:spPr>
          <a:xfrm>
            <a:off x="4507920" y="3182040"/>
            <a:ext cx="3285000" cy="27363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3" name="Rounded Rectangle 68"/>
          <p:cNvSpPr/>
          <p:nvPr/>
        </p:nvSpPr>
        <p:spPr>
          <a:xfrm>
            <a:off x="4434840" y="3108960"/>
            <a:ext cx="3285000" cy="3057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Java Veri Türleri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├─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İlkel Veri Türleri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│   ├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int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│   ├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double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│   ├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char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│   └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boolean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└─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Referans Veri Türleri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├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String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├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Array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└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Class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Rounded Rectangle 69"/>
          <p:cNvSpPr/>
          <p:nvPr/>
        </p:nvSpPr>
        <p:spPr>
          <a:xfrm>
            <a:off x="8028360" y="3182040"/>
            <a:ext cx="3285000" cy="27363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5" name="Rounded Rectangle 70"/>
          <p:cNvSpPr/>
          <p:nvPr/>
        </p:nvSpPr>
        <p:spPr>
          <a:xfrm>
            <a:off x="7955280" y="3108960"/>
            <a:ext cx="3697560" cy="3057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VeriTurleriOrnek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int yas = 25;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maas = 5500.5;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char not = 'A';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ogrenciMi = true;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isim = "Tuna";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System.out.println(isim);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System.out.println(yas);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6" name="TextBox 30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Rectangle 48"/>
          <p:cNvSpPr/>
          <p:nvPr/>
        </p:nvSpPr>
        <p:spPr>
          <a:xfrm>
            <a:off x="0" y="0"/>
            <a:ext cx="12179880" cy="68490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8" name="Rectangle 49"/>
          <p:cNvSpPr/>
          <p:nvPr/>
        </p:nvSpPr>
        <p:spPr>
          <a:xfrm>
            <a:off x="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9" name="Rectangle 50"/>
          <p:cNvSpPr/>
          <p:nvPr/>
        </p:nvSpPr>
        <p:spPr>
          <a:xfrm>
            <a:off x="9144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0" name="Rectangle 51"/>
          <p:cNvSpPr/>
          <p:nvPr/>
        </p:nvSpPr>
        <p:spPr>
          <a:xfrm>
            <a:off x="18288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1" name="Rectangle 52"/>
          <p:cNvSpPr/>
          <p:nvPr/>
        </p:nvSpPr>
        <p:spPr>
          <a:xfrm>
            <a:off x="27432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2" name="Rectangle 53"/>
          <p:cNvSpPr/>
          <p:nvPr/>
        </p:nvSpPr>
        <p:spPr>
          <a:xfrm>
            <a:off x="36576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3" name="Rectangle 54"/>
          <p:cNvSpPr/>
          <p:nvPr/>
        </p:nvSpPr>
        <p:spPr>
          <a:xfrm>
            <a:off x="45720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4" name="Rectangle 55"/>
          <p:cNvSpPr/>
          <p:nvPr/>
        </p:nvSpPr>
        <p:spPr>
          <a:xfrm>
            <a:off x="54864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5" name="Rectangle 56"/>
          <p:cNvSpPr/>
          <p:nvPr/>
        </p:nvSpPr>
        <p:spPr>
          <a:xfrm>
            <a:off x="64008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6" name="Rectangle 57"/>
          <p:cNvSpPr/>
          <p:nvPr/>
        </p:nvSpPr>
        <p:spPr>
          <a:xfrm>
            <a:off x="73152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7" name="Rectangle 58"/>
          <p:cNvSpPr/>
          <p:nvPr/>
        </p:nvSpPr>
        <p:spPr>
          <a:xfrm>
            <a:off x="82296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8" name="Rectangle 59"/>
          <p:cNvSpPr/>
          <p:nvPr/>
        </p:nvSpPr>
        <p:spPr>
          <a:xfrm>
            <a:off x="91440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9" name="Rectangle 60"/>
          <p:cNvSpPr/>
          <p:nvPr/>
        </p:nvSpPr>
        <p:spPr>
          <a:xfrm>
            <a:off x="100584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0" name="Rectangle 61"/>
          <p:cNvSpPr/>
          <p:nvPr/>
        </p:nvSpPr>
        <p:spPr>
          <a:xfrm>
            <a:off x="109728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1" name="Rectangle 62"/>
          <p:cNvSpPr/>
          <p:nvPr/>
        </p:nvSpPr>
        <p:spPr>
          <a:xfrm>
            <a:off x="11887200" y="0"/>
            <a:ext cx="9360" cy="68490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2" name="Rectangle 63"/>
          <p:cNvSpPr/>
          <p:nvPr/>
        </p:nvSpPr>
        <p:spPr>
          <a:xfrm>
            <a:off x="0" y="0"/>
            <a:ext cx="311040" cy="68490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3" name="Rounded Rectangle 22"/>
          <p:cNvSpPr/>
          <p:nvPr/>
        </p:nvSpPr>
        <p:spPr>
          <a:xfrm>
            <a:off x="9875520" y="365760"/>
            <a:ext cx="2002680" cy="4939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TextBox 10"/>
          <p:cNvSpPr/>
          <p:nvPr/>
        </p:nvSpPr>
        <p:spPr>
          <a:xfrm>
            <a:off x="1357920" y="1005840"/>
            <a:ext cx="82551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5f5f5"/>
                </a:solidFill>
                <a:latin typeface="Calibri"/>
                <a:ea typeface="DejaVu Sans"/>
              </a:rPr>
              <a:t>JAVA İLKESEL (PRIMITIVE) VERİ TİPLERİ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TextBox 11"/>
          <p:cNvSpPr/>
          <p:nvPr/>
        </p:nvSpPr>
        <p:spPr>
          <a:xfrm>
            <a:off x="1810800" y="1846080"/>
            <a:ext cx="740808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İlkel veri tipleri, Java’da sayılar, karakterler ve mantıksal değerler gibi basit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verileri saklamak için kullanılan temel veri tipleridir.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Rounded Rectangle 23"/>
          <p:cNvSpPr/>
          <p:nvPr/>
        </p:nvSpPr>
        <p:spPr>
          <a:xfrm>
            <a:off x="987480" y="3182040"/>
            <a:ext cx="3282840" cy="27342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7" name="Rounded Rectangle 24"/>
          <p:cNvSpPr/>
          <p:nvPr/>
        </p:nvSpPr>
        <p:spPr>
          <a:xfrm>
            <a:off x="685800" y="2743200"/>
            <a:ext cx="3511440" cy="3650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Sayısal Veri Tipleri (Numeric Types)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Java, farklı türde sayıları saklamak için byte, short, int, long, float ve double gibi sayısal veri tipleri sağlar.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Karakter Veri Tipi (Character Type)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char veri tipi, Unicode sistemine göre tek bir karakter saklamak için kullanılır.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Mantıksal Veri Tipi (Boolean Type)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boolean veri tipi mantıksal değerleri temsil eder ve yalnızca true veya false değerlerini alabilir.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Bellek Verimliliği (Memory Efficiency)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İlkel veri tipleri doğrudan bellekte saklanır ve referans veri tiplerine göre daha hızlı ve daha verimli çalışırlar.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Rounded Rectangle 25"/>
          <p:cNvSpPr/>
          <p:nvPr/>
        </p:nvSpPr>
        <p:spPr>
          <a:xfrm>
            <a:off x="4507920" y="3182040"/>
            <a:ext cx="3282840" cy="27342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9" name="Rounded Rectangle 26"/>
          <p:cNvSpPr/>
          <p:nvPr/>
        </p:nvSpPr>
        <p:spPr>
          <a:xfrm>
            <a:off x="4343400" y="2743200"/>
            <a:ext cx="3374280" cy="3649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İlkel Veri Tipleri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├──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Sayısal Tipler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│       ├─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byte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│       ├─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short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│       ├─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int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│       ├─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long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│       ├─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float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│       └─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double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├──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Karakter Tipi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│       └─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char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└──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Mantıksal Tip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└─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boolean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0" name="Rounded Rectangle 27"/>
          <p:cNvSpPr/>
          <p:nvPr/>
        </p:nvSpPr>
        <p:spPr>
          <a:xfrm>
            <a:off x="8028360" y="3182040"/>
            <a:ext cx="3282840" cy="27342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1" name="Rounded Rectangle 28"/>
          <p:cNvSpPr/>
          <p:nvPr/>
        </p:nvSpPr>
        <p:spPr>
          <a:xfrm>
            <a:off x="7955280" y="2971800"/>
            <a:ext cx="3695400" cy="3192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IlkelVeriOrnegi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yas = 25;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fiyat = 19.99;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char not = 'A';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ogrenciMi = true;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System.out.println(yas);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System.out.println(fiyat);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System.out.println(not);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System.out.println(ogrenciMi);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2" name="TextBox 12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Rectangle 80"/>
          <p:cNvSpPr/>
          <p:nvPr/>
        </p:nvSpPr>
        <p:spPr>
          <a:xfrm>
            <a:off x="0" y="0"/>
            <a:ext cx="12180600" cy="6849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4" name="Rectangle 64"/>
          <p:cNvSpPr/>
          <p:nvPr/>
        </p:nvSpPr>
        <p:spPr>
          <a:xfrm>
            <a:off x="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5" name="Rectangle 65"/>
          <p:cNvSpPr/>
          <p:nvPr/>
        </p:nvSpPr>
        <p:spPr>
          <a:xfrm>
            <a:off x="9144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6" name="Rectangle 66"/>
          <p:cNvSpPr/>
          <p:nvPr/>
        </p:nvSpPr>
        <p:spPr>
          <a:xfrm>
            <a:off x="18288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7" name="Rectangle 67"/>
          <p:cNvSpPr/>
          <p:nvPr/>
        </p:nvSpPr>
        <p:spPr>
          <a:xfrm>
            <a:off x="27432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8" name="Rectangle 68"/>
          <p:cNvSpPr/>
          <p:nvPr/>
        </p:nvSpPr>
        <p:spPr>
          <a:xfrm>
            <a:off x="36576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9" name="Rectangle 69"/>
          <p:cNvSpPr/>
          <p:nvPr/>
        </p:nvSpPr>
        <p:spPr>
          <a:xfrm>
            <a:off x="45720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0" name="Rectangle 70"/>
          <p:cNvSpPr/>
          <p:nvPr/>
        </p:nvSpPr>
        <p:spPr>
          <a:xfrm>
            <a:off x="54864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1" name="Rectangle 71"/>
          <p:cNvSpPr/>
          <p:nvPr/>
        </p:nvSpPr>
        <p:spPr>
          <a:xfrm>
            <a:off x="64008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2" name="Rectangle 72"/>
          <p:cNvSpPr/>
          <p:nvPr/>
        </p:nvSpPr>
        <p:spPr>
          <a:xfrm>
            <a:off x="73152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3" name="Rectangle 73"/>
          <p:cNvSpPr/>
          <p:nvPr/>
        </p:nvSpPr>
        <p:spPr>
          <a:xfrm>
            <a:off x="82296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4" name="Rectangle 74"/>
          <p:cNvSpPr/>
          <p:nvPr/>
        </p:nvSpPr>
        <p:spPr>
          <a:xfrm>
            <a:off x="91440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5" name="Rectangle 75"/>
          <p:cNvSpPr/>
          <p:nvPr/>
        </p:nvSpPr>
        <p:spPr>
          <a:xfrm>
            <a:off x="100584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6" name="Rectangle 76"/>
          <p:cNvSpPr/>
          <p:nvPr/>
        </p:nvSpPr>
        <p:spPr>
          <a:xfrm>
            <a:off x="109728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7" name="Rectangle 77"/>
          <p:cNvSpPr/>
          <p:nvPr/>
        </p:nvSpPr>
        <p:spPr>
          <a:xfrm>
            <a:off x="118872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8" name="Rectangle 78"/>
          <p:cNvSpPr/>
          <p:nvPr/>
        </p:nvSpPr>
        <p:spPr>
          <a:xfrm>
            <a:off x="0" y="0"/>
            <a:ext cx="311760" cy="6849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9" name="Rounded Rectangle 29"/>
          <p:cNvSpPr/>
          <p:nvPr/>
        </p:nvSpPr>
        <p:spPr>
          <a:xfrm>
            <a:off x="9875520" y="365760"/>
            <a:ext cx="2003400" cy="4946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TextBox 13"/>
          <p:cNvSpPr/>
          <p:nvPr/>
        </p:nvSpPr>
        <p:spPr>
          <a:xfrm>
            <a:off x="2441520" y="1005840"/>
            <a:ext cx="60865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REFERANS VERİ TİPLERİ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TextBox 14"/>
          <p:cNvSpPr/>
          <p:nvPr/>
        </p:nvSpPr>
        <p:spPr>
          <a:xfrm>
            <a:off x="2802600" y="2074680"/>
            <a:ext cx="536580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Referans veri tipleri, gerçek değerleri değil nesnelere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ait referansları (bellek adreslerini) saklar.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Rounded Rectangle 30"/>
          <p:cNvSpPr/>
          <p:nvPr/>
        </p:nvSpPr>
        <p:spPr>
          <a:xfrm>
            <a:off x="987480" y="3182040"/>
            <a:ext cx="3283560" cy="27349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83" name="Rounded Rectangle 31"/>
          <p:cNvSpPr/>
          <p:nvPr/>
        </p:nvSpPr>
        <p:spPr>
          <a:xfrm>
            <a:off x="685800" y="2971800"/>
            <a:ext cx="3512160" cy="36504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Nesne Tabanlı Tipler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Referans tipleri, sınıflardan oluşturulan nesneleri temsil eder.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Bellek Referansı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Gerçek verinin kendisi yerine nesnenin bellekteki adresi saklanır.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Yaygın Örnekler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Örnekler arasında String, diziler (arrays), sınıflar (classes) ve nesneler (objects) bulunur.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Esnek Yapı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Referans tipleri, karmaşık veri yapılarının ve birden fazla değerin saklanmasına olanak tanır.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4" name="Rounded Rectangle 32"/>
          <p:cNvSpPr/>
          <p:nvPr/>
        </p:nvSpPr>
        <p:spPr>
          <a:xfrm>
            <a:off x="4507920" y="3182040"/>
            <a:ext cx="3283560" cy="27349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85" name="Rounded Rectangle 33"/>
          <p:cNvSpPr/>
          <p:nvPr/>
        </p:nvSpPr>
        <p:spPr>
          <a:xfrm>
            <a:off x="4434840" y="3108960"/>
            <a:ext cx="3283560" cy="27349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chemeClr val="lt1"/>
                </a:solidFill>
                <a:latin typeface="Calibri"/>
                <a:ea typeface="DejaVu Sans"/>
              </a:rPr>
              <a:t>Referans Tipleri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chemeClr val="lt1"/>
                </a:solidFill>
                <a:latin typeface="Calibri"/>
                <a:ea typeface="DejaVu Sans"/>
              </a:rPr>
              <a:t>      │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chemeClr val="lt1"/>
                </a:solidFill>
                <a:latin typeface="Calibri"/>
                <a:ea typeface="DejaVu Sans"/>
              </a:rPr>
              <a:t>      ├── </a:t>
            </a:r>
            <a:r>
              <a:rPr b="0" lang="en-US" sz="2200" spc="-1" strike="noStrike">
                <a:solidFill>
                  <a:schemeClr val="lt1"/>
                </a:solidFill>
                <a:latin typeface="Calibri"/>
                <a:ea typeface="DejaVu Sans"/>
              </a:rPr>
              <a:t>String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chemeClr val="lt1"/>
                </a:solidFill>
                <a:latin typeface="Calibri"/>
                <a:ea typeface="DejaVu Sans"/>
              </a:rPr>
              <a:t>      ├── </a:t>
            </a:r>
            <a:r>
              <a:rPr b="0" lang="en-US" sz="2200" spc="-1" strike="noStrike">
                <a:solidFill>
                  <a:schemeClr val="lt1"/>
                </a:solidFill>
                <a:latin typeface="Calibri"/>
                <a:ea typeface="DejaVu Sans"/>
              </a:rPr>
              <a:t>Diziler (Arrays)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chemeClr val="lt1"/>
                </a:solidFill>
                <a:latin typeface="Calibri"/>
                <a:ea typeface="DejaVu Sans"/>
              </a:rPr>
              <a:t>      ├── </a:t>
            </a:r>
            <a:r>
              <a:rPr b="0" lang="en-US" sz="2200" spc="-1" strike="noStrike">
                <a:solidFill>
                  <a:schemeClr val="lt1"/>
                </a:solidFill>
                <a:latin typeface="Calibri"/>
                <a:ea typeface="DejaVu Sans"/>
              </a:rPr>
              <a:t>Sınıflar (Classes)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chemeClr val="lt1"/>
                </a:solidFill>
                <a:latin typeface="Calibri"/>
                <a:ea typeface="DejaVu Sans"/>
              </a:rPr>
              <a:t>      └── </a:t>
            </a:r>
            <a:r>
              <a:rPr b="0" lang="en-US" sz="2200" spc="-1" strike="noStrike">
                <a:solidFill>
                  <a:schemeClr val="lt1"/>
                </a:solidFill>
                <a:latin typeface="Calibri"/>
                <a:ea typeface="DejaVu Sans"/>
              </a:rPr>
              <a:t>Nesneler (Objects)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6" name="Rounded Rectangle 34"/>
          <p:cNvSpPr/>
          <p:nvPr/>
        </p:nvSpPr>
        <p:spPr>
          <a:xfrm>
            <a:off x="8028360" y="3182040"/>
            <a:ext cx="3283560" cy="27349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87" name="Rounded Rectangle 35"/>
          <p:cNvSpPr/>
          <p:nvPr/>
        </p:nvSpPr>
        <p:spPr>
          <a:xfrm>
            <a:off x="7955280" y="3108960"/>
            <a:ext cx="3696120" cy="3056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ReferansOrnegi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isim = "Java";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int[] sayilar = {10, 20, 30};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System.out.println(isim);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System.out.println(sayilar[0]);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8" name="TextBox 15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Rectangle 79"/>
          <p:cNvSpPr/>
          <p:nvPr/>
        </p:nvSpPr>
        <p:spPr>
          <a:xfrm>
            <a:off x="0" y="0"/>
            <a:ext cx="12180600" cy="6849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0" name="Rectangle 81"/>
          <p:cNvSpPr/>
          <p:nvPr/>
        </p:nvSpPr>
        <p:spPr>
          <a:xfrm>
            <a:off x="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1" name="Rectangle 82"/>
          <p:cNvSpPr/>
          <p:nvPr/>
        </p:nvSpPr>
        <p:spPr>
          <a:xfrm>
            <a:off x="9144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2" name="Rectangle 83"/>
          <p:cNvSpPr/>
          <p:nvPr/>
        </p:nvSpPr>
        <p:spPr>
          <a:xfrm>
            <a:off x="18288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3" name="Rectangle 84"/>
          <p:cNvSpPr/>
          <p:nvPr/>
        </p:nvSpPr>
        <p:spPr>
          <a:xfrm>
            <a:off x="27432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4" name="Rectangle 85"/>
          <p:cNvSpPr/>
          <p:nvPr/>
        </p:nvSpPr>
        <p:spPr>
          <a:xfrm>
            <a:off x="36576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5" name="Rectangle 86"/>
          <p:cNvSpPr/>
          <p:nvPr/>
        </p:nvSpPr>
        <p:spPr>
          <a:xfrm>
            <a:off x="45720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6" name="Rectangle 87"/>
          <p:cNvSpPr/>
          <p:nvPr/>
        </p:nvSpPr>
        <p:spPr>
          <a:xfrm>
            <a:off x="54864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7" name="Rectangle 88"/>
          <p:cNvSpPr/>
          <p:nvPr/>
        </p:nvSpPr>
        <p:spPr>
          <a:xfrm>
            <a:off x="64008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8" name="Rectangle 89"/>
          <p:cNvSpPr/>
          <p:nvPr/>
        </p:nvSpPr>
        <p:spPr>
          <a:xfrm>
            <a:off x="73152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9" name="Rectangle 90"/>
          <p:cNvSpPr/>
          <p:nvPr/>
        </p:nvSpPr>
        <p:spPr>
          <a:xfrm>
            <a:off x="82296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0" name="Rectangle 91"/>
          <p:cNvSpPr/>
          <p:nvPr/>
        </p:nvSpPr>
        <p:spPr>
          <a:xfrm>
            <a:off x="91440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1" name="Rectangle 92"/>
          <p:cNvSpPr/>
          <p:nvPr/>
        </p:nvSpPr>
        <p:spPr>
          <a:xfrm>
            <a:off x="100584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2" name="Rectangle 93"/>
          <p:cNvSpPr/>
          <p:nvPr/>
        </p:nvSpPr>
        <p:spPr>
          <a:xfrm>
            <a:off x="109728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3" name="Rectangle 94"/>
          <p:cNvSpPr/>
          <p:nvPr/>
        </p:nvSpPr>
        <p:spPr>
          <a:xfrm>
            <a:off x="118872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4" name="Rectangle 95"/>
          <p:cNvSpPr/>
          <p:nvPr/>
        </p:nvSpPr>
        <p:spPr>
          <a:xfrm>
            <a:off x="0" y="0"/>
            <a:ext cx="311760" cy="6849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5" name="Rounded Rectangle 36"/>
          <p:cNvSpPr/>
          <p:nvPr/>
        </p:nvSpPr>
        <p:spPr>
          <a:xfrm>
            <a:off x="9875520" y="365760"/>
            <a:ext cx="2003400" cy="4946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6" name="TextBox 16"/>
          <p:cNvSpPr/>
          <p:nvPr/>
        </p:nvSpPr>
        <p:spPr>
          <a:xfrm>
            <a:off x="1422000" y="1005840"/>
            <a:ext cx="8125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İLKESEL (PRIMITIVE) VE REFERANS TİPLERİ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TextBox 17"/>
          <p:cNvSpPr/>
          <p:nvPr/>
        </p:nvSpPr>
        <p:spPr>
          <a:xfrm>
            <a:off x="1388160" y="2057400"/>
            <a:ext cx="87811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 veri tipleri iki ana kategoriye ayrılır: ilkel (primitive) tipler ve referans tipleri.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İlkel tipler gerçek değerleri saklarken, referans tipleri nesnelerin bellek adreslerini saklar.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Rounded Rectangle 37"/>
          <p:cNvSpPr/>
          <p:nvPr/>
        </p:nvSpPr>
        <p:spPr>
          <a:xfrm>
            <a:off x="987480" y="3182040"/>
            <a:ext cx="3283560" cy="27349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9" name="Rounded Rectangle 38"/>
          <p:cNvSpPr/>
          <p:nvPr/>
        </p:nvSpPr>
        <p:spPr>
          <a:xfrm>
            <a:off x="457200" y="2971800"/>
            <a:ext cx="3740760" cy="3421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İlkel Tipler (Primitive Types)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İlkel veri tipleri gerçek değeri doğrudan bellekte saklar.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Örnekler: int, double, char, boolean.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Referans Tipleri (Reference Types)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Referans tipleri nesnenin kendisini değil, bellekteki adresini saklar.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Örnekler: String, diziler (arrays) ve sınıf nesneleri.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Bellek Saklama (Memory Storage)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İlkel değerler doğrudan bellekte tutulur, referans tipleri ise bellekteki nesnelere işaret eder.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Kullanım Farkı (Usage Difference)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İlkel tipler basit değerler için kullanılırken, referans tipleri daha karmaşık veri yapıları ve nesneler için kullanılır.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" name="Rounded Rectangle 39"/>
          <p:cNvSpPr/>
          <p:nvPr/>
        </p:nvSpPr>
        <p:spPr>
          <a:xfrm>
            <a:off x="4507920" y="3182040"/>
            <a:ext cx="3283560" cy="27349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11" name="Rounded Rectangle 40"/>
          <p:cNvSpPr/>
          <p:nvPr/>
        </p:nvSpPr>
        <p:spPr>
          <a:xfrm>
            <a:off x="4343400" y="2971800"/>
            <a:ext cx="3421800" cy="32846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Veri Tipleri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├──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İlkel Tipler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│       ├─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│       ├─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double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│       ├─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char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│       └─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boolean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└──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Referans Tipleri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├─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String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├─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Diziler (Arrays)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└─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Nesneler (Objects)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2" name="Rounded Rectangle 41"/>
          <p:cNvSpPr/>
          <p:nvPr/>
        </p:nvSpPr>
        <p:spPr>
          <a:xfrm>
            <a:off x="8028360" y="3182040"/>
            <a:ext cx="3283560" cy="27349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13" name="Rounded Rectangle 42"/>
          <p:cNvSpPr/>
          <p:nvPr/>
        </p:nvSpPr>
        <p:spPr>
          <a:xfrm>
            <a:off x="7955280" y="3108960"/>
            <a:ext cx="3696120" cy="3056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PrimitiveVsReference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int sayi = 10;           // ilkel tip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fiyat = 19.99;    // ilkel tip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metin = "Java";   // referans tip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int[] sayilar = {1, 2, 3}; // referans tip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System.out.println(sayi);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System.out.println(fiyat);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System.out.println(metin);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System.out.println(sayilar[0]);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4" name="TextBox 18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Rectangle 96"/>
          <p:cNvSpPr/>
          <p:nvPr/>
        </p:nvSpPr>
        <p:spPr>
          <a:xfrm>
            <a:off x="0" y="0"/>
            <a:ext cx="12180600" cy="6849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16" name="Rectangle 97"/>
          <p:cNvSpPr/>
          <p:nvPr/>
        </p:nvSpPr>
        <p:spPr>
          <a:xfrm>
            <a:off x="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17" name="Rectangle 98"/>
          <p:cNvSpPr/>
          <p:nvPr/>
        </p:nvSpPr>
        <p:spPr>
          <a:xfrm>
            <a:off x="9144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18" name="Rectangle 99"/>
          <p:cNvSpPr/>
          <p:nvPr/>
        </p:nvSpPr>
        <p:spPr>
          <a:xfrm>
            <a:off x="18288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19" name="Rectangle 100"/>
          <p:cNvSpPr/>
          <p:nvPr/>
        </p:nvSpPr>
        <p:spPr>
          <a:xfrm>
            <a:off x="27432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20" name="Rectangle 101"/>
          <p:cNvSpPr/>
          <p:nvPr/>
        </p:nvSpPr>
        <p:spPr>
          <a:xfrm>
            <a:off x="36576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21" name="Rectangle 102"/>
          <p:cNvSpPr/>
          <p:nvPr/>
        </p:nvSpPr>
        <p:spPr>
          <a:xfrm>
            <a:off x="45720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22" name="Rectangle 103"/>
          <p:cNvSpPr/>
          <p:nvPr/>
        </p:nvSpPr>
        <p:spPr>
          <a:xfrm>
            <a:off x="54864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23" name="Rectangle 104"/>
          <p:cNvSpPr/>
          <p:nvPr/>
        </p:nvSpPr>
        <p:spPr>
          <a:xfrm>
            <a:off x="64008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24" name="Rectangle 105"/>
          <p:cNvSpPr/>
          <p:nvPr/>
        </p:nvSpPr>
        <p:spPr>
          <a:xfrm>
            <a:off x="73152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25" name="Rectangle 106"/>
          <p:cNvSpPr/>
          <p:nvPr/>
        </p:nvSpPr>
        <p:spPr>
          <a:xfrm>
            <a:off x="82296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26" name="Rectangle 107"/>
          <p:cNvSpPr/>
          <p:nvPr/>
        </p:nvSpPr>
        <p:spPr>
          <a:xfrm>
            <a:off x="91440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27" name="Rectangle 108"/>
          <p:cNvSpPr/>
          <p:nvPr/>
        </p:nvSpPr>
        <p:spPr>
          <a:xfrm>
            <a:off x="100584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28" name="Rectangle 109"/>
          <p:cNvSpPr/>
          <p:nvPr/>
        </p:nvSpPr>
        <p:spPr>
          <a:xfrm>
            <a:off x="109728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29" name="Rectangle 110"/>
          <p:cNvSpPr/>
          <p:nvPr/>
        </p:nvSpPr>
        <p:spPr>
          <a:xfrm>
            <a:off x="118872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30" name="Rectangle 111"/>
          <p:cNvSpPr/>
          <p:nvPr/>
        </p:nvSpPr>
        <p:spPr>
          <a:xfrm>
            <a:off x="0" y="0"/>
            <a:ext cx="311760" cy="6849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31" name="Rounded Rectangle 43"/>
          <p:cNvSpPr/>
          <p:nvPr/>
        </p:nvSpPr>
        <p:spPr>
          <a:xfrm>
            <a:off x="9875520" y="365760"/>
            <a:ext cx="2003400" cy="4946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2" name="TextBox 19"/>
          <p:cNvSpPr/>
          <p:nvPr/>
        </p:nvSpPr>
        <p:spPr>
          <a:xfrm>
            <a:off x="1252800" y="1005840"/>
            <a:ext cx="84639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DEĞİŞKEN İSİMLENDİRME KURALLARI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TextBox 20"/>
          <p:cNvSpPr/>
          <p:nvPr/>
        </p:nvSpPr>
        <p:spPr>
          <a:xfrm>
            <a:off x="1866960" y="1828800"/>
            <a:ext cx="723564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Değişken isimlendirme kuralları, Java’da değişkenlerin doğru, anlaşılır ve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okunabilir şekilde yazılmasını sağlayan kurallardır.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Rounded Rectangle 44"/>
          <p:cNvSpPr/>
          <p:nvPr/>
        </p:nvSpPr>
        <p:spPr>
          <a:xfrm>
            <a:off x="987480" y="3182040"/>
            <a:ext cx="3283560" cy="27349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35" name="Rounded Rectangle 45"/>
          <p:cNvSpPr/>
          <p:nvPr/>
        </p:nvSpPr>
        <p:spPr>
          <a:xfrm>
            <a:off x="475560" y="2514600"/>
            <a:ext cx="3722400" cy="38790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Harf, _ veya $ ile Başlamalı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Bir değişken adı bir harf, alt çizgi (_) veya dolar işareti ($) ile başlamalıdır.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Boşluk Kullanılamaz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Değişken isimleri boşluk içeremez.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Büyük/Küçük Harf Duyarlılığı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Java'da değişken isimleri büyük-küçük harfe duyarlıdır.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Örneğin age ve Age farklı değişkenlerdir.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Anahtar Kelimeler Kullanılamaz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Java'nın rezerv anahtar kelimeleri (örneğin int, class, public) değişken adı olarak kullanılamaz.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Anlamlı İsimler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Değişken isimleri anlamlı ve açıklayıcı olmalıdır.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Bu, kodun okunabilirliğini artırır.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Rounded Rectangle 46"/>
          <p:cNvSpPr/>
          <p:nvPr/>
        </p:nvSpPr>
        <p:spPr>
          <a:xfrm>
            <a:off x="4507920" y="3182040"/>
            <a:ext cx="3283560" cy="27349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37" name="Rounded Rectangle 47"/>
          <p:cNvSpPr/>
          <p:nvPr/>
        </p:nvSpPr>
        <p:spPr>
          <a:xfrm>
            <a:off x="4434840" y="3108960"/>
            <a:ext cx="3283560" cy="27349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Değişken İsim Kuralları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├──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Harf / _ / $ ile başlar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├──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Boşluk içermez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├──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Büyük-küçük harf duyarlıdır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├──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Anahtar kelime olamaz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└──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Anlamlı isimler kullanılmalıdır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8" name="Rounded Rectangle 48"/>
          <p:cNvSpPr/>
          <p:nvPr/>
        </p:nvSpPr>
        <p:spPr>
          <a:xfrm>
            <a:off x="8028360" y="3182040"/>
            <a:ext cx="3283560" cy="27349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39" name="Rounded Rectangle 49"/>
          <p:cNvSpPr/>
          <p:nvPr/>
        </p:nvSpPr>
        <p:spPr>
          <a:xfrm>
            <a:off x="7955280" y="2304000"/>
            <a:ext cx="3925080" cy="36129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DegiskenIsimlendirme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int yas = 25;                 // geçerli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int ogrenciSayisi = 30;       // geçerli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// int 2yas = 20;             // geçersiz (sayı ile başlayamaz)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// int ogrenci sayisi = 5;    // geçersiz (boşluk kullanılamaz)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// int class = 10;            // geçersiz (anahtar kelime)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System.out.println(yas);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System.out.println(ogrenciSayisi);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0" name="TextBox 21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Rectangle 112"/>
          <p:cNvSpPr/>
          <p:nvPr/>
        </p:nvSpPr>
        <p:spPr>
          <a:xfrm>
            <a:off x="0" y="0"/>
            <a:ext cx="12180600" cy="6849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42" name="Rectangle 113"/>
          <p:cNvSpPr/>
          <p:nvPr/>
        </p:nvSpPr>
        <p:spPr>
          <a:xfrm>
            <a:off x="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43" name="Rectangle 114"/>
          <p:cNvSpPr/>
          <p:nvPr/>
        </p:nvSpPr>
        <p:spPr>
          <a:xfrm>
            <a:off x="9144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44" name="Rectangle 115"/>
          <p:cNvSpPr/>
          <p:nvPr/>
        </p:nvSpPr>
        <p:spPr>
          <a:xfrm>
            <a:off x="18288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45" name="Rectangle 116"/>
          <p:cNvSpPr/>
          <p:nvPr/>
        </p:nvSpPr>
        <p:spPr>
          <a:xfrm>
            <a:off x="27432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46" name="Rectangle 117"/>
          <p:cNvSpPr/>
          <p:nvPr/>
        </p:nvSpPr>
        <p:spPr>
          <a:xfrm>
            <a:off x="36576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47" name="Rectangle 118"/>
          <p:cNvSpPr/>
          <p:nvPr/>
        </p:nvSpPr>
        <p:spPr>
          <a:xfrm>
            <a:off x="45720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48" name="Rectangle 119"/>
          <p:cNvSpPr/>
          <p:nvPr/>
        </p:nvSpPr>
        <p:spPr>
          <a:xfrm>
            <a:off x="54864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49" name="Rectangle 120"/>
          <p:cNvSpPr/>
          <p:nvPr/>
        </p:nvSpPr>
        <p:spPr>
          <a:xfrm>
            <a:off x="64008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0" name="Rectangle 121"/>
          <p:cNvSpPr/>
          <p:nvPr/>
        </p:nvSpPr>
        <p:spPr>
          <a:xfrm>
            <a:off x="73152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1" name="Rectangle 122"/>
          <p:cNvSpPr/>
          <p:nvPr/>
        </p:nvSpPr>
        <p:spPr>
          <a:xfrm>
            <a:off x="82296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2" name="Rectangle 123"/>
          <p:cNvSpPr/>
          <p:nvPr/>
        </p:nvSpPr>
        <p:spPr>
          <a:xfrm>
            <a:off x="91440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3" name="Rectangle 124"/>
          <p:cNvSpPr/>
          <p:nvPr/>
        </p:nvSpPr>
        <p:spPr>
          <a:xfrm>
            <a:off x="100584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4" name="Rectangle 125"/>
          <p:cNvSpPr/>
          <p:nvPr/>
        </p:nvSpPr>
        <p:spPr>
          <a:xfrm>
            <a:off x="109728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5" name="Rectangle 126"/>
          <p:cNvSpPr/>
          <p:nvPr/>
        </p:nvSpPr>
        <p:spPr>
          <a:xfrm>
            <a:off x="11887200" y="0"/>
            <a:ext cx="10080" cy="6849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6" name="Rectangle 127"/>
          <p:cNvSpPr/>
          <p:nvPr/>
        </p:nvSpPr>
        <p:spPr>
          <a:xfrm>
            <a:off x="0" y="0"/>
            <a:ext cx="311760" cy="6849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7" name="Rounded Rectangle 50"/>
          <p:cNvSpPr/>
          <p:nvPr/>
        </p:nvSpPr>
        <p:spPr>
          <a:xfrm>
            <a:off x="9875520" y="365760"/>
            <a:ext cx="2003400" cy="4946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TextBox 22"/>
          <p:cNvSpPr/>
          <p:nvPr/>
        </p:nvSpPr>
        <p:spPr>
          <a:xfrm>
            <a:off x="2667240" y="1005840"/>
            <a:ext cx="56354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DEĞİŞKEN BAŞLATMA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TextBox 23"/>
          <p:cNvSpPr/>
          <p:nvPr/>
        </p:nvSpPr>
        <p:spPr>
          <a:xfrm>
            <a:off x="2033640" y="2074680"/>
            <a:ext cx="691884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Değişken başlatma, bir değişken tanımlandığında veya kullanılmadan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önce ona bir değer atanması işlemidir.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Rounded Rectangle 51"/>
          <p:cNvSpPr/>
          <p:nvPr/>
        </p:nvSpPr>
        <p:spPr>
          <a:xfrm>
            <a:off x="987480" y="3182040"/>
            <a:ext cx="3283560" cy="27349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61" name="Rounded Rectangle 52"/>
          <p:cNvSpPr/>
          <p:nvPr/>
        </p:nvSpPr>
        <p:spPr>
          <a:xfrm>
            <a:off x="685800" y="2971800"/>
            <a:ext cx="3512160" cy="3422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Tanımlama (Declaration)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Bir değişken önce veri tipi ve adı ile tanımlanmalıdır.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Başlatma (Initialization)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Başlatma, değişkene ilk değerin atanması anlamına gelir.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Varsayılan Değerler (Default Values)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Bazı değişkenler, veri tiplerine bağlı olarak otomatik olarak varsayılan değerler alabilir.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Kullanımdan Önce (Before Usage)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Yerel değişkenler, program içinde kullanılmadan önce başlatılmış olmalıdır.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Rounded Rectangle 53"/>
          <p:cNvSpPr/>
          <p:nvPr/>
        </p:nvSpPr>
        <p:spPr>
          <a:xfrm>
            <a:off x="4507920" y="3182040"/>
            <a:ext cx="3283560" cy="27349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63" name="Rounded Rectangle 54"/>
          <p:cNvSpPr/>
          <p:nvPr/>
        </p:nvSpPr>
        <p:spPr>
          <a:xfrm>
            <a:off x="4434840" y="3108960"/>
            <a:ext cx="3283560" cy="27349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Değişken Başlatma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├──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Değişken Tanımla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│      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int yas;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├──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Değer Ata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│      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yas = 20;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└──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Değişkeni Kullan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System.out.println(yas);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Rounded Rectangle 55"/>
          <p:cNvSpPr/>
          <p:nvPr/>
        </p:nvSpPr>
        <p:spPr>
          <a:xfrm>
            <a:off x="8028360" y="3182040"/>
            <a:ext cx="3283560" cy="27349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65" name="Rounded Rectangle 56"/>
          <p:cNvSpPr/>
          <p:nvPr/>
        </p:nvSpPr>
        <p:spPr>
          <a:xfrm>
            <a:off x="7955280" y="2971800"/>
            <a:ext cx="3467520" cy="29646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DegiskenBaslatma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yas;        // tanımlama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yas = 20;       // başlatma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fiyat = 19.99;   // tanımlama + başlatma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System.out.println(yas);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System.out.println(fiyat);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TextBox 24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Rectangle 128"/>
          <p:cNvSpPr/>
          <p:nvPr/>
        </p:nvSpPr>
        <p:spPr>
          <a:xfrm>
            <a:off x="0" y="0"/>
            <a:ext cx="12181680" cy="68508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68" name="Rectangle 129"/>
          <p:cNvSpPr/>
          <p:nvPr/>
        </p:nvSpPr>
        <p:spPr>
          <a:xfrm>
            <a:off x="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69" name="Rectangle 130"/>
          <p:cNvSpPr/>
          <p:nvPr/>
        </p:nvSpPr>
        <p:spPr>
          <a:xfrm>
            <a:off x="914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0" name="Rectangle 131"/>
          <p:cNvSpPr/>
          <p:nvPr/>
        </p:nvSpPr>
        <p:spPr>
          <a:xfrm>
            <a:off x="1828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1" name="Rectangle 132"/>
          <p:cNvSpPr/>
          <p:nvPr/>
        </p:nvSpPr>
        <p:spPr>
          <a:xfrm>
            <a:off x="2743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2" name="Rectangle 133"/>
          <p:cNvSpPr/>
          <p:nvPr/>
        </p:nvSpPr>
        <p:spPr>
          <a:xfrm>
            <a:off x="36576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3" name="Rectangle 134"/>
          <p:cNvSpPr/>
          <p:nvPr/>
        </p:nvSpPr>
        <p:spPr>
          <a:xfrm>
            <a:off x="45720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4" name="Rectangle 135"/>
          <p:cNvSpPr/>
          <p:nvPr/>
        </p:nvSpPr>
        <p:spPr>
          <a:xfrm>
            <a:off x="5486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5" name="Rectangle 136"/>
          <p:cNvSpPr/>
          <p:nvPr/>
        </p:nvSpPr>
        <p:spPr>
          <a:xfrm>
            <a:off x="6400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6" name="Rectangle 137"/>
          <p:cNvSpPr/>
          <p:nvPr/>
        </p:nvSpPr>
        <p:spPr>
          <a:xfrm>
            <a:off x="7315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7" name="Rectangle 138"/>
          <p:cNvSpPr/>
          <p:nvPr/>
        </p:nvSpPr>
        <p:spPr>
          <a:xfrm>
            <a:off x="82296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8" name="Rectangle 139"/>
          <p:cNvSpPr/>
          <p:nvPr/>
        </p:nvSpPr>
        <p:spPr>
          <a:xfrm>
            <a:off x="91440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9" name="Rectangle 140"/>
          <p:cNvSpPr/>
          <p:nvPr/>
        </p:nvSpPr>
        <p:spPr>
          <a:xfrm>
            <a:off x="10058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80" name="Rectangle 141"/>
          <p:cNvSpPr/>
          <p:nvPr/>
        </p:nvSpPr>
        <p:spPr>
          <a:xfrm>
            <a:off x="10972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81" name="Rectangle 142"/>
          <p:cNvSpPr/>
          <p:nvPr/>
        </p:nvSpPr>
        <p:spPr>
          <a:xfrm>
            <a:off x="11887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82" name="Rectangle 143"/>
          <p:cNvSpPr/>
          <p:nvPr/>
        </p:nvSpPr>
        <p:spPr>
          <a:xfrm>
            <a:off x="0" y="0"/>
            <a:ext cx="312840" cy="68508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83" name="Rounded Rectangle 57"/>
          <p:cNvSpPr/>
          <p:nvPr/>
        </p:nvSpPr>
        <p:spPr>
          <a:xfrm>
            <a:off x="9875520" y="365760"/>
            <a:ext cx="2004480" cy="4957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TextBox 25"/>
          <p:cNvSpPr/>
          <p:nvPr/>
        </p:nvSpPr>
        <p:spPr>
          <a:xfrm>
            <a:off x="2837520" y="1005840"/>
            <a:ext cx="52988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WRAPPER SINIFLARI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TextBox 26"/>
          <p:cNvSpPr/>
          <p:nvPr/>
        </p:nvSpPr>
        <p:spPr>
          <a:xfrm>
            <a:off x="3007440" y="2194560"/>
            <a:ext cx="49557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Wrapper sınıfları, Java’da primitive veri tiplerinin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nesne (object) olarak kullanılmasını sağlar.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Rounded Rectangle 58"/>
          <p:cNvSpPr/>
          <p:nvPr/>
        </p:nvSpPr>
        <p:spPr>
          <a:xfrm>
            <a:off x="98748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87" name="Rounded Rectangle 59"/>
          <p:cNvSpPr/>
          <p:nvPr/>
        </p:nvSpPr>
        <p:spPr>
          <a:xfrm>
            <a:off x="685800" y="3108960"/>
            <a:ext cx="3513240" cy="32857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Wrapper sınıfları primitive değerleri nesnelere dönüştürür.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Genellikle koleksiyonlarda ve nesne tabanlı işlemlerde kullanılır.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Primitive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→ Wrapper örnekleri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int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→ Integer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double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→ Double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char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→ Character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boolean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→ Boolean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Wrapper sınıfları dönüşüm ve veri işleme için kullanışlı metodlar sağlar.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8" name="Rounded Rectangle 60"/>
          <p:cNvSpPr/>
          <p:nvPr/>
        </p:nvSpPr>
        <p:spPr>
          <a:xfrm>
            <a:off x="450792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89" name="Rounded Rectangle 61"/>
          <p:cNvSpPr/>
          <p:nvPr/>
        </p:nvSpPr>
        <p:spPr>
          <a:xfrm>
            <a:off x="4434840" y="310896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Primitive Değer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Wrapper Sınıfına Dönüştürme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Nesne Temsili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Koleksiyonlarda / Metotlarda Kullanım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Örnekler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int → Integer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double → Double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boolean → Boolean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0" name="Rounded Rectangle 62"/>
          <p:cNvSpPr/>
          <p:nvPr/>
        </p:nvSpPr>
        <p:spPr>
          <a:xfrm>
            <a:off x="802836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91" name="Rounded Rectangle 63"/>
          <p:cNvSpPr/>
          <p:nvPr/>
        </p:nvSpPr>
        <p:spPr>
          <a:xfrm>
            <a:off x="7955280" y="2743200"/>
            <a:ext cx="3468600" cy="3651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WrapperOrnek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number = 10;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Integer wrapperNumber = number;   // otomatik kutulama (autoboxing)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price = 19.99;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wrapperPrice = price;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System.out.println(wrapperNumber);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System.out.println(wrapperPrice);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2" name="TextBox 27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Rectangle 176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94" name="Rectangle 177"/>
          <p:cNvSpPr/>
          <p:nvPr/>
        </p:nvSpPr>
        <p:spPr>
          <a:xfrm>
            <a:off x="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95" name="Rectangle 178"/>
          <p:cNvSpPr/>
          <p:nvPr/>
        </p:nvSpPr>
        <p:spPr>
          <a:xfrm>
            <a:off x="9144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96" name="Rectangle 179"/>
          <p:cNvSpPr/>
          <p:nvPr/>
        </p:nvSpPr>
        <p:spPr>
          <a:xfrm>
            <a:off x="18288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97" name="Rectangle 180"/>
          <p:cNvSpPr/>
          <p:nvPr/>
        </p:nvSpPr>
        <p:spPr>
          <a:xfrm>
            <a:off x="27432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98" name="Rectangle 181"/>
          <p:cNvSpPr/>
          <p:nvPr/>
        </p:nvSpPr>
        <p:spPr>
          <a:xfrm>
            <a:off x="36576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99" name="Rectangle 182"/>
          <p:cNvSpPr/>
          <p:nvPr/>
        </p:nvSpPr>
        <p:spPr>
          <a:xfrm>
            <a:off x="45720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00" name="Rectangle 183"/>
          <p:cNvSpPr/>
          <p:nvPr/>
        </p:nvSpPr>
        <p:spPr>
          <a:xfrm>
            <a:off x="54864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01" name="Rectangle 184"/>
          <p:cNvSpPr/>
          <p:nvPr/>
        </p:nvSpPr>
        <p:spPr>
          <a:xfrm>
            <a:off x="64008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02" name="Rectangle 185"/>
          <p:cNvSpPr/>
          <p:nvPr/>
        </p:nvSpPr>
        <p:spPr>
          <a:xfrm>
            <a:off x="73152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03" name="Rectangle 186"/>
          <p:cNvSpPr/>
          <p:nvPr/>
        </p:nvSpPr>
        <p:spPr>
          <a:xfrm>
            <a:off x="82296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04" name="Rectangle 187"/>
          <p:cNvSpPr/>
          <p:nvPr/>
        </p:nvSpPr>
        <p:spPr>
          <a:xfrm>
            <a:off x="91440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05" name="Rectangle 188"/>
          <p:cNvSpPr/>
          <p:nvPr/>
        </p:nvSpPr>
        <p:spPr>
          <a:xfrm>
            <a:off x="100584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06" name="Rectangle 189"/>
          <p:cNvSpPr/>
          <p:nvPr/>
        </p:nvSpPr>
        <p:spPr>
          <a:xfrm>
            <a:off x="109728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07" name="Rectangle 190"/>
          <p:cNvSpPr/>
          <p:nvPr/>
        </p:nvSpPr>
        <p:spPr>
          <a:xfrm>
            <a:off x="118872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08" name="Rectangle 191"/>
          <p:cNvSpPr/>
          <p:nvPr/>
        </p:nvSpPr>
        <p:spPr>
          <a:xfrm>
            <a:off x="0" y="0"/>
            <a:ext cx="313920" cy="68518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09" name="Rounded Rectangle 78"/>
          <p:cNvSpPr/>
          <p:nvPr/>
        </p:nvSpPr>
        <p:spPr>
          <a:xfrm>
            <a:off x="9875520" y="365760"/>
            <a:ext cx="2005560" cy="4968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0" name="TextBox 34"/>
          <p:cNvSpPr/>
          <p:nvPr/>
        </p:nvSpPr>
        <p:spPr>
          <a:xfrm>
            <a:off x="1285920" y="1005840"/>
            <a:ext cx="83984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5f5f5"/>
                </a:solidFill>
                <a:latin typeface="Calibri"/>
                <a:ea typeface="DejaVu Sans"/>
              </a:rPr>
              <a:t>JAVA TÜR DÖNÜŞÜMÜ (TYPE CASTING)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TextBox 35"/>
          <p:cNvSpPr/>
          <p:nvPr/>
        </p:nvSpPr>
        <p:spPr>
          <a:xfrm>
            <a:off x="1716840" y="2057400"/>
            <a:ext cx="76093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Java’da type casting, bir veri tipini başka bir veri tipine dönüştürme işlemidir.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İki türü vardır: örtük (otomatik) ve açık (manuel) dönüşüm.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Rounded Rectangle 79"/>
          <p:cNvSpPr/>
          <p:nvPr/>
        </p:nvSpPr>
        <p:spPr>
          <a:xfrm>
            <a:off x="987480" y="318204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13" name="Rounded Rectangle 80"/>
          <p:cNvSpPr/>
          <p:nvPr/>
        </p:nvSpPr>
        <p:spPr>
          <a:xfrm>
            <a:off x="685800" y="2971800"/>
            <a:ext cx="3514320" cy="36525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Örtük Dönüşüm (Implicit Casting – Widening)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 tarafından otomatik olarak yapılır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Daha küçük veri tiplerini daha büyük veri tiplerine dönüştürür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Örnek: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int → long → float → double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Açık Dönüşüm (Explicit Casting – Narrowing)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Programcı tarafından manuel olarak yapılır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Daha büyük veri tiplerini daha küçük veri tiplerine dönüştürür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Örnek: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double → float → int → byte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4" name="Rounded Rectangle 81"/>
          <p:cNvSpPr/>
          <p:nvPr/>
        </p:nvSpPr>
        <p:spPr>
          <a:xfrm>
            <a:off x="4507920" y="318204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15" name="Rounded Rectangle 82"/>
          <p:cNvSpPr/>
          <p:nvPr/>
        </p:nvSpPr>
        <p:spPr>
          <a:xfrm>
            <a:off x="4434840" y="310896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Tür Dönüşümü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├─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Örtük Dönüşüm (Otomatik)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│  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byte → short → int → long → float → double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└─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Açık Dönüşüm (Manuel)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double → float → long → int → short → byte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6" name="Rounded Rectangle 83"/>
          <p:cNvSpPr/>
          <p:nvPr/>
        </p:nvSpPr>
        <p:spPr>
          <a:xfrm>
            <a:off x="8028360" y="318204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17" name="Rounded Rectangle 84"/>
          <p:cNvSpPr/>
          <p:nvPr/>
        </p:nvSpPr>
        <p:spPr>
          <a:xfrm>
            <a:off x="7955280" y="2971800"/>
            <a:ext cx="3698280" cy="31953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TurDonusumuOrnek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// Örtük Tür Dönüşümü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sayi = 25;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sonuc = sayi;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System.out.println(sonuc);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// Açık Tür Dönüşümü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fiyat = 49.99;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yeniFiyat = (int) fiyat;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System.out.println(yeniFiyat);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8" name="TextBox 36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Rectangle 192"/>
          <p:cNvSpPr/>
          <p:nvPr/>
        </p:nvSpPr>
        <p:spPr>
          <a:xfrm>
            <a:off x="0" y="0"/>
            <a:ext cx="12183480" cy="68526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20" name="Rectangle 193"/>
          <p:cNvSpPr/>
          <p:nvPr/>
        </p:nvSpPr>
        <p:spPr>
          <a:xfrm>
            <a:off x="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21" name="Rectangle 194"/>
          <p:cNvSpPr/>
          <p:nvPr/>
        </p:nvSpPr>
        <p:spPr>
          <a:xfrm>
            <a:off x="914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22" name="Rectangle 195"/>
          <p:cNvSpPr/>
          <p:nvPr/>
        </p:nvSpPr>
        <p:spPr>
          <a:xfrm>
            <a:off x="1828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23" name="Rectangle 196"/>
          <p:cNvSpPr/>
          <p:nvPr/>
        </p:nvSpPr>
        <p:spPr>
          <a:xfrm>
            <a:off x="2743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24" name="Rectangle 197"/>
          <p:cNvSpPr/>
          <p:nvPr/>
        </p:nvSpPr>
        <p:spPr>
          <a:xfrm>
            <a:off x="3657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25" name="Rectangle 198"/>
          <p:cNvSpPr/>
          <p:nvPr/>
        </p:nvSpPr>
        <p:spPr>
          <a:xfrm>
            <a:off x="4572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26" name="Rectangle 199"/>
          <p:cNvSpPr/>
          <p:nvPr/>
        </p:nvSpPr>
        <p:spPr>
          <a:xfrm>
            <a:off x="5486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27" name="Rectangle 200"/>
          <p:cNvSpPr/>
          <p:nvPr/>
        </p:nvSpPr>
        <p:spPr>
          <a:xfrm>
            <a:off x="6400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28" name="Rectangle 201"/>
          <p:cNvSpPr/>
          <p:nvPr/>
        </p:nvSpPr>
        <p:spPr>
          <a:xfrm>
            <a:off x="7315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29" name="Rectangle 202"/>
          <p:cNvSpPr/>
          <p:nvPr/>
        </p:nvSpPr>
        <p:spPr>
          <a:xfrm>
            <a:off x="8229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30" name="Rectangle 203"/>
          <p:cNvSpPr/>
          <p:nvPr/>
        </p:nvSpPr>
        <p:spPr>
          <a:xfrm>
            <a:off x="9144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31" name="Rectangle 204"/>
          <p:cNvSpPr/>
          <p:nvPr/>
        </p:nvSpPr>
        <p:spPr>
          <a:xfrm>
            <a:off x="10058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32" name="Rectangle 205"/>
          <p:cNvSpPr/>
          <p:nvPr/>
        </p:nvSpPr>
        <p:spPr>
          <a:xfrm>
            <a:off x="10972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33" name="Rectangle 206"/>
          <p:cNvSpPr/>
          <p:nvPr/>
        </p:nvSpPr>
        <p:spPr>
          <a:xfrm>
            <a:off x="11887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34" name="Rectangle 207"/>
          <p:cNvSpPr/>
          <p:nvPr/>
        </p:nvSpPr>
        <p:spPr>
          <a:xfrm>
            <a:off x="0" y="0"/>
            <a:ext cx="314640" cy="68526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35" name="Rounded Rectangle 85"/>
          <p:cNvSpPr/>
          <p:nvPr/>
        </p:nvSpPr>
        <p:spPr>
          <a:xfrm>
            <a:off x="9875520" y="365760"/>
            <a:ext cx="2006280" cy="4975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6" name="TextBox 37"/>
          <p:cNvSpPr/>
          <p:nvPr/>
        </p:nvSpPr>
        <p:spPr>
          <a:xfrm>
            <a:off x="1504080" y="900360"/>
            <a:ext cx="79610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5f5f5"/>
                </a:solidFill>
                <a:latin typeface="Calibri"/>
                <a:ea typeface="DejaVu Sans"/>
              </a:rPr>
              <a:t>Implicit Casting (Otomatik Dönüşüm)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TextBox 38"/>
          <p:cNvSpPr/>
          <p:nvPr/>
        </p:nvSpPr>
        <p:spPr>
          <a:xfrm>
            <a:off x="2681280" y="1600200"/>
            <a:ext cx="5653800" cy="10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Implicit casting, Java’nın daha küçük bir veri tipini otomatik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olarak daha büyük bir veri tipine dönüştürmesi durumunda gerçekleşir.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Bu dönüşüm güvenlidir çünkü daha büyük veri tipi, daha küçük veri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tipinin tüm değerlerini veri kaybı olmadan saklayabilir.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Rounded Rectangle 86"/>
          <p:cNvSpPr/>
          <p:nvPr/>
        </p:nvSpPr>
        <p:spPr>
          <a:xfrm>
            <a:off x="98748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39" name="Rounded Rectangle 87"/>
          <p:cNvSpPr/>
          <p:nvPr/>
        </p:nvSpPr>
        <p:spPr>
          <a:xfrm>
            <a:off x="595440" y="2743200"/>
            <a:ext cx="3515040" cy="3653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Implicit Casting, Java’da daha küçük bir veri tipinin daha büyük bir veri tipine otomatik olarak dönüştürülmesidir.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 bu dönüşümü veri kaybı riski olmadığında otomatik olarak gerçekleştirir.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Ayrıca Genişletme Dönüşümü (Widening Casting) olarak da adlandırılır.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Temel noktalar: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Derleyici tarafından otomatik yapılır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Küçük veri tiplerini daha büyük veri tiplerine dönüştürür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Manuel dönüşüm gerekmez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Örnek: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int → long → float → double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0" name="Rounded Rectangle 88"/>
          <p:cNvSpPr/>
          <p:nvPr/>
        </p:nvSpPr>
        <p:spPr>
          <a:xfrm>
            <a:off x="450792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41" name="Rounded Rectangle 89"/>
          <p:cNvSpPr/>
          <p:nvPr/>
        </p:nvSpPr>
        <p:spPr>
          <a:xfrm>
            <a:off x="4343400" y="2880360"/>
            <a:ext cx="3653280" cy="3424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Implicit Casting Akışı (Genişletme Dönüşümü)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byte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short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int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long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float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double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Her adım, önceki veri tipini güvenli şekilde saklayabilen bir veri tipini temsil eder.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2" name="Rounded Rectangle 90"/>
          <p:cNvSpPr/>
          <p:nvPr/>
        </p:nvSpPr>
        <p:spPr>
          <a:xfrm>
            <a:off x="802836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43" name="Rounded Rectangle 91"/>
          <p:cNvSpPr/>
          <p:nvPr/>
        </p:nvSpPr>
        <p:spPr>
          <a:xfrm>
            <a:off x="8229600" y="2972880"/>
            <a:ext cx="3653280" cy="31950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ImplicitCastingExample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sayi = 25;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// int'ten double'a otomatik dönüşüm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sonuc = sayi;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System.out.println("Sayı: " + sayi);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System.out.println("Dönüştürülen değer: " + sonuc);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4" name="TextBox 39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ctangle 208"/>
          <p:cNvSpPr/>
          <p:nvPr/>
        </p:nvSpPr>
        <p:spPr>
          <a:xfrm>
            <a:off x="0" y="0"/>
            <a:ext cx="12183840" cy="68529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46" name="Rectangle 209"/>
          <p:cNvSpPr/>
          <p:nvPr/>
        </p:nvSpPr>
        <p:spPr>
          <a:xfrm>
            <a:off x="0" y="0"/>
            <a:ext cx="13320" cy="6852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47" name="Rectangle 210"/>
          <p:cNvSpPr/>
          <p:nvPr/>
        </p:nvSpPr>
        <p:spPr>
          <a:xfrm>
            <a:off x="914400" y="0"/>
            <a:ext cx="13320" cy="6852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48" name="Rectangle 211"/>
          <p:cNvSpPr/>
          <p:nvPr/>
        </p:nvSpPr>
        <p:spPr>
          <a:xfrm>
            <a:off x="1828800" y="0"/>
            <a:ext cx="13320" cy="6852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49" name="Rectangle 212"/>
          <p:cNvSpPr/>
          <p:nvPr/>
        </p:nvSpPr>
        <p:spPr>
          <a:xfrm>
            <a:off x="2743200" y="0"/>
            <a:ext cx="13320" cy="6852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50" name="Rectangle 213"/>
          <p:cNvSpPr/>
          <p:nvPr/>
        </p:nvSpPr>
        <p:spPr>
          <a:xfrm>
            <a:off x="3657600" y="0"/>
            <a:ext cx="13320" cy="6852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51" name="Rectangle 214"/>
          <p:cNvSpPr/>
          <p:nvPr/>
        </p:nvSpPr>
        <p:spPr>
          <a:xfrm>
            <a:off x="4572000" y="0"/>
            <a:ext cx="13320" cy="6852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52" name="Rectangle 215"/>
          <p:cNvSpPr/>
          <p:nvPr/>
        </p:nvSpPr>
        <p:spPr>
          <a:xfrm>
            <a:off x="5486400" y="0"/>
            <a:ext cx="13320" cy="6852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53" name="Rectangle 216"/>
          <p:cNvSpPr/>
          <p:nvPr/>
        </p:nvSpPr>
        <p:spPr>
          <a:xfrm>
            <a:off x="6400800" y="0"/>
            <a:ext cx="13320" cy="6852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54" name="Rectangle 217"/>
          <p:cNvSpPr/>
          <p:nvPr/>
        </p:nvSpPr>
        <p:spPr>
          <a:xfrm>
            <a:off x="7315200" y="0"/>
            <a:ext cx="13320" cy="6852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55" name="Rectangle 218"/>
          <p:cNvSpPr/>
          <p:nvPr/>
        </p:nvSpPr>
        <p:spPr>
          <a:xfrm>
            <a:off x="8229600" y="0"/>
            <a:ext cx="13320" cy="6852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56" name="Rectangle 219"/>
          <p:cNvSpPr/>
          <p:nvPr/>
        </p:nvSpPr>
        <p:spPr>
          <a:xfrm>
            <a:off x="9144000" y="0"/>
            <a:ext cx="13320" cy="6852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57" name="Rectangle 220"/>
          <p:cNvSpPr/>
          <p:nvPr/>
        </p:nvSpPr>
        <p:spPr>
          <a:xfrm>
            <a:off x="10058400" y="0"/>
            <a:ext cx="13320" cy="6852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58" name="Rectangle 221"/>
          <p:cNvSpPr/>
          <p:nvPr/>
        </p:nvSpPr>
        <p:spPr>
          <a:xfrm>
            <a:off x="10972800" y="0"/>
            <a:ext cx="13320" cy="6852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59" name="Rectangle 222"/>
          <p:cNvSpPr/>
          <p:nvPr/>
        </p:nvSpPr>
        <p:spPr>
          <a:xfrm>
            <a:off x="11887200" y="0"/>
            <a:ext cx="13320" cy="6852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60" name="Rectangle 223"/>
          <p:cNvSpPr/>
          <p:nvPr/>
        </p:nvSpPr>
        <p:spPr>
          <a:xfrm>
            <a:off x="0" y="0"/>
            <a:ext cx="315000" cy="68529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61" name="Rounded Rectangle 92"/>
          <p:cNvSpPr/>
          <p:nvPr/>
        </p:nvSpPr>
        <p:spPr>
          <a:xfrm>
            <a:off x="9875520" y="365760"/>
            <a:ext cx="2006640" cy="49788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2" name="TextBox 40"/>
          <p:cNvSpPr/>
          <p:nvPr/>
        </p:nvSpPr>
        <p:spPr>
          <a:xfrm>
            <a:off x="1417320" y="685800"/>
            <a:ext cx="82645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5f5f5"/>
                </a:solidFill>
                <a:latin typeface="Calibri"/>
                <a:ea typeface="DejaVu Sans"/>
              </a:rPr>
              <a:t>JAVA AÇIK TÜR DÖNÜŞÜMÜ (EXPLICIT CASTING)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TextBox 41"/>
          <p:cNvSpPr/>
          <p:nvPr/>
        </p:nvSpPr>
        <p:spPr>
          <a:xfrm>
            <a:off x="2008800" y="1371600"/>
            <a:ext cx="7133760" cy="9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Explicit casting, Java’da daha büyük bir veri tipinin daha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küçük bir veri tipine manuel olarak dönüştürülmesidir.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Bu dönüşüm, veri kaybı veya hassasiyet kaybı riski olduğunda gereklidir.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Rounded Rectangle 93"/>
          <p:cNvSpPr/>
          <p:nvPr/>
        </p:nvSpPr>
        <p:spPr>
          <a:xfrm>
            <a:off x="987480" y="3182040"/>
            <a:ext cx="3286800" cy="27381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65" name="Rounded Rectangle 94"/>
          <p:cNvSpPr/>
          <p:nvPr/>
        </p:nvSpPr>
        <p:spPr>
          <a:xfrm>
            <a:off x="457200" y="2743200"/>
            <a:ext cx="3744000" cy="3882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Explicit Casting, daha büyük bir veri tipinin daha küçük bir veri tipine manuel dönüştürülmesidir.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 bu dönüşümü otomatik olarak yapmaz, çünkü küçük veri tipi tüm değerleri saklayamayabilir.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Buna ayrıca Narrowing Casting (Daraltma Dönüşümü) denir.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Temel noktalar: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Programcı tarafından manuel yapılır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Büyük sayısal veri tiplerini daha küçük olanlara dönüştürür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Requires casting syntax (type)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May cause data or precision loss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Örnek: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double → float → long → int → short → byte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6" name="Rounded Rectangle 95"/>
          <p:cNvSpPr/>
          <p:nvPr/>
        </p:nvSpPr>
        <p:spPr>
          <a:xfrm>
            <a:off x="4507920" y="3182040"/>
            <a:ext cx="3286800" cy="27381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67" name="Rounded Rectangle 96"/>
          <p:cNvSpPr/>
          <p:nvPr/>
        </p:nvSpPr>
        <p:spPr>
          <a:xfrm>
            <a:off x="4434840" y="2971800"/>
            <a:ext cx="3286800" cy="3425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Explicit Casting Akışı (Daraltma)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double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float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long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int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short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byte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Her adımda değer daha küçük bir veri tipine dönüştürülür, bu da ondalık kısmın kaybolmasına veya taşmaya neden olabilir.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8" name="Rounded Rectangle 97"/>
          <p:cNvSpPr/>
          <p:nvPr/>
        </p:nvSpPr>
        <p:spPr>
          <a:xfrm>
            <a:off x="8028360" y="3182040"/>
            <a:ext cx="3286800" cy="27381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69" name="Rounded Rectangle 98"/>
          <p:cNvSpPr/>
          <p:nvPr/>
        </p:nvSpPr>
        <p:spPr>
          <a:xfrm>
            <a:off x="7955280" y="2514600"/>
            <a:ext cx="3927960" cy="41108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ExplicitCastingExample {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price = 49.99;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// double'dan int'e açık dönüşüm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int newPrice = (int) price;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System.out.println("Orijinal değer: " + price);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System.out.println("Dönüştürülmüş değer: " + newPrice);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0" name="TextBox 42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Rectangle 224"/>
          <p:cNvSpPr/>
          <p:nvPr/>
        </p:nvSpPr>
        <p:spPr>
          <a:xfrm>
            <a:off x="0" y="0"/>
            <a:ext cx="12184200" cy="68533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72" name="Rectangle 225"/>
          <p:cNvSpPr/>
          <p:nvPr/>
        </p:nvSpPr>
        <p:spPr>
          <a:xfrm>
            <a:off x="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73" name="Rectangle 226"/>
          <p:cNvSpPr/>
          <p:nvPr/>
        </p:nvSpPr>
        <p:spPr>
          <a:xfrm>
            <a:off x="914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74" name="Rectangle 227"/>
          <p:cNvSpPr/>
          <p:nvPr/>
        </p:nvSpPr>
        <p:spPr>
          <a:xfrm>
            <a:off x="1828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75" name="Rectangle 228"/>
          <p:cNvSpPr/>
          <p:nvPr/>
        </p:nvSpPr>
        <p:spPr>
          <a:xfrm>
            <a:off x="2743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76" name="Rectangle 229"/>
          <p:cNvSpPr/>
          <p:nvPr/>
        </p:nvSpPr>
        <p:spPr>
          <a:xfrm>
            <a:off x="36576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77" name="Rectangle 230"/>
          <p:cNvSpPr/>
          <p:nvPr/>
        </p:nvSpPr>
        <p:spPr>
          <a:xfrm>
            <a:off x="45720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78" name="Rectangle 231"/>
          <p:cNvSpPr/>
          <p:nvPr/>
        </p:nvSpPr>
        <p:spPr>
          <a:xfrm>
            <a:off x="5486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79" name="Rectangle 232"/>
          <p:cNvSpPr/>
          <p:nvPr/>
        </p:nvSpPr>
        <p:spPr>
          <a:xfrm>
            <a:off x="6400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80" name="Rectangle 233"/>
          <p:cNvSpPr/>
          <p:nvPr/>
        </p:nvSpPr>
        <p:spPr>
          <a:xfrm>
            <a:off x="7315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81" name="Rectangle 234"/>
          <p:cNvSpPr/>
          <p:nvPr/>
        </p:nvSpPr>
        <p:spPr>
          <a:xfrm>
            <a:off x="82296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82" name="Rectangle 235"/>
          <p:cNvSpPr/>
          <p:nvPr/>
        </p:nvSpPr>
        <p:spPr>
          <a:xfrm>
            <a:off x="91440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83" name="Rectangle 236"/>
          <p:cNvSpPr/>
          <p:nvPr/>
        </p:nvSpPr>
        <p:spPr>
          <a:xfrm>
            <a:off x="10058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84" name="Rectangle 237"/>
          <p:cNvSpPr/>
          <p:nvPr/>
        </p:nvSpPr>
        <p:spPr>
          <a:xfrm>
            <a:off x="10972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85" name="Rectangle 238"/>
          <p:cNvSpPr/>
          <p:nvPr/>
        </p:nvSpPr>
        <p:spPr>
          <a:xfrm>
            <a:off x="11887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86" name="Rectangle 239"/>
          <p:cNvSpPr/>
          <p:nvPr/>
        </p:nvSpPr>
        <p:spPr>
          <a:xfrm>
            <a:off x="0" y="0"/>
            <a:ext cx="315360" cy="68533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87" name="Rounded Rectangle 99"/>
          <p:cNvSpPr/>
          <p:nvPr/>
        </p:nvSpPr>
        <p:spPr>
          <a:xfrm>
            <a:off x="9875520" y="365760"/>
            <a:ext cx="2007000" cy="4982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8" name="TextBox 43"/>
          <p:cNvSpPr/>
          <p:nvPr/>
        </p:nvSpPr>
        <p:spPr>
          <a:xfrm>
            <a:off x="915480" y="1005840"/>
            <a:ext cx="9139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Örtük (Implicit) vs Açık (Explicit) Tür Dönüşümü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TextBox 44"/>
          <p:cNvSpPr/>
          <p:nvPr/>
        </p:nvSpPr>
        <p:spPr>
          <a:xfrm>
            <a:off x="2181960" y="2057400"/>
            <a:ext cx="66063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Örtük ve açık tür dönüşümü arasındaki farkı anlamak, veri kaybını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önlemeye ve Java’da doğru tür dönüşümü yapmaya yardımcı olur.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Rounded Rectangle 100"/>
          <p:cNvSpPr/>
          <p:nvPr/>
        </p:nvSpPr>
        <p:spPr>
          <a:xfrm>
            <a:off x="98748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91" name="Rounded Rectangle 101"/>
          <p:cNvSpPr/>
          <p:nvPr/>
        </p:nvSpPr>
        <p:spPr>
          <a:xfrm>
            <a:off x="914400" y="3108960"/>
            <a:ext cx="3287160" cy="30596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Örtük Dönüşüm (Implicit Casting / Widening)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Küçük → Büyük veri tipi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Otomatik olarak yapılır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Veri kaybı yoktur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Ekstra yazım (syntax) gerekmez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Açık Dönüşüm (Explicit Casting / Narrowing)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Büyük → Küçük veri tipi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Manuel olarak yapılır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Veri kaybı olabilir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(type) kullanımı gerekir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2" name="Rounded Rectangle 102"/>
          <p:cNvSpPr/>
          <p:nvPr/>
        </p:nvSpPr>
        <p:spPr>
          <a:xfrm>
            <a:off x="450792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93" name="Rounded Rectangle 103"/>
          <p:cNvSpPr/>
          <p:nvPr/>
        </p:nvSpPr>
        <p:spPr>
          <a:xfrm>
            <a:off x="443484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Örtük Dönüşüm Akışı: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byte → short → int → long → float → double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Açık Dönüşüm Akışı: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double → float → long → int → short → byte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4" name="Rounded Rectangle 104"/>
          <p:cNvSpPr/>
          <p:nvPr/>
        </p:nvSpPr>
        <p:spPr>
          <a:xfrm>
            <a:off x="802836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95" name="Rounded Rectangle 105"/>
          <p:cNvSpPr/>
          <p:nvPr/>
        </p:nvSpPr>
        <p:spPr>
          <a:xfrm>
            <a:off x="7955280" y="3108960"/>
            <a:ext cx="3699720" cy="30596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CastingComparison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// Örtük Dönüşüm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num = 25;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result = num;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// Açık Dönüşüm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price = 49.99;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newPrice = (int) price;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System.out.println(result);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System.out.println(newPrice);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6" name="TextBox 45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Rectangle 240"/>
          <p:cNvSpPr/>
          <p:nvPr/>
        </p:nvSpPr>
        <p:spPr>
          <a:xfrm>
            <a:off x="0" y="0"/>
            <a:ext cx="12184560" cy="68536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98" name="Rectangle 241"/>
          <p:cNvSpPr/>
          <p:nvPr/>
        </p:nvSpPr>
        <p:spPr>
          <a:xfrm>
            <a:off x="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99" name="Rectangle 242"/>
          <p:cNvSpPr/>
          <p:nvPr/>
        </p:nvSpPr>
        <p:spPr>
          <a:xfrm>
            <a:off x="9144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00" name="Rectangle 243"/>
          <p:cNvSpPr/>
          <p:nvPr/>
        </p:nvSpPr>
        <p:spPr>
          <a:xfrm>
            <a:off x="18288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01" name="Rectangle 244"/>
          <p:cNvSpPr/>
          <p:nvPr/>
        </p:nvSpPr>
        <p:spPr>
          <a:xfrm>
            <a:off x="27432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02" name="Rectangle 245"/>
          <p:cNvSpPr/>
          <p:nvPr/>
        </p:nvSpPr>
        <p:spPr>
          <a:xfrm>
            <a:off x="36576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03" name="Rectangle 246"/>
          <p:cNvSpPr/>
          <p:nvPr/>
        </p:nvSpPr>
        <p:spPr>
          <a:xfrm>
            <a:off x="45720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04" name="Rectangle 247"/>
          <p:cNvSpPr/>
          <p:nvPr/>
        </p:nvSpPr>
        <p:spPr>
          <a:xfrm>
            <a:off x="54864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05" name="Rectangle 248"/>
          <p:cNvSpPr/>
          <p:nvPr/>
        </p:nvSpPr>
        <p:spPr>
          <a:xfrm>
            <a:off x="64008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06" name="Rectangle 249"/>
          <p:cNvSpPr/>
          <p:nvPr/>
        </p:nvSpPr>
        <p:spPr>
          <a:xfrm>
            <a:off x="73152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07" name="Rectangle 250"/>
          <p:cNvSpPr/>
          <p:nvPr/>
        </p:nvSpPr>
        <p:spPr>
          <a:xfrm>
            <a:off x="82296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08" name="Rectangle 251"/>
          <p:cNvSpPr/>
          <p:nvPr/>
        </p:nvSpPr>
        <p:spPr>
          <a:xfrm>
            <a:off x="91440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09" name="Rectangle 252"/>
          <p:cNvSpPr/>
          <p:nvPr/>
        </p:nvSpPr>
        <p:spPr>
          <a:xfrm>
            <a:off x="100584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10" name="Rectangle 253"/>
          <p:cNvSpPr/>
          <p:nvPr/>
        </p:nvSpPr>
        <p:spPr>
          <a:xfrm>
            <a:off x="109728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11" name="Rectangle 254"/>
          <p:cNvSpPr/>
          <p:nvPr/>
        </p:nvSpPr>
        <p:spPr>
          <a:xfrm>
            <a:off x="118872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12" name="Rectangle 255"/>
          <p:cNvSpPr/>
          <p:nvPr/>
        </p:nvSpPr>
        <p:spPr>
          <a:xfrm>
            <a:off x="0" y="0"/>
            <a:ext cx="315720" cy="68536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13" name="Rounded Rectangle 106"/>
          <p:cNvSpPr/>
          <p:nvPr/>
        </p:nvSpPr>
        <p:spPr>
          <a:xfrm>
            <a:off x="9875520" y="365760"/>
            <a:ext cx="2007360" cy="4986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4" name="TextBox 46"/>
          <p:cNvSpPr/>
          <p:nvPr/>
        </p:nvSpPr>
        <p:spPr>
          <a:xfrm>
            <a:off x="1320840" y="1005840"/>
            <a:ext cx="83300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VERİ KAYBI &amp; HASSASİYET KAYBI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TextBox 47"/>
          <p:cNvSpPr/>
          <p:nvPr/>
        </p:nvSpPr>
        <p:spPr>
          <a:xfrm>
            <a:off x="957240" y="1826640"/>
            <a:ext cx="90903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Tür dönüşümü sırasında, büyük veri tipinden küçük veri tipine geçerken veri kaybı oluşabilir.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Ondalık kısımlar silinebilir ve büyük değerlerde taşma meydana gelebilir.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Rounded Rectangle 107"/>
          <p:cNvSpPr/>
          <p:nvPr/>
        </p:nvSpPr>
        <p:spPr>
          <a:xfrm>
            <a:off x="987480" y="3182040"/>
            <a:ext cx="3287520" cy="27388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17" name="Rounded Rectangle 108"/>
          <p:cNvSpPr/>
          <p:nvPr/>
        </p:nvSpPr>
        <p:spPr>
          <a:xfrm>
            <a:off x="914400" y="3108960"/>
            <a:ext cx="3287520" cy="2738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Explicit (daraltma) casting sırasında oluşur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Ondalık kısım kesilir (yuvarlanmaz)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Küçük veri tipleri tüm değeri saklayamaz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Yanlış sonuçlara yol açabilir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Özellikle float → int dönüşümünde hassasiyet kaybı olur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8" name="Rounded Rectangle 109"/>
          <p:cNvSpPr/>
          <p:nvPr/>
        </p:nvSpPr>
        <p:spPr>
          <a:xfrm>
            <a:off x="4507920" y="3182040"/>
            <a:ext cx="3287520" cy="27388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19" name="Rounded Rectangle 110"/>
          <p:cNvSpPr/>
          <p:nvPr/>
        </p:nvSpPr>
        <p:spPr>
          <a:xfrm>
            <a:off x="4343400" y="3108960"/>
            <a:ext cx="3378960" cy="32886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double (9.78)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↓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(casting)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Int (9)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float (123456.789)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Int (123456)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Ondalık kısım tamamen silinir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Yuvarlama yapılmaz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0" name="Rounded Rectangle 111"/>
          <p:cNvSpPr/>
          <p:nvPr/>
        </p:nvSpPr>
        <p:spPr>
          <a:xfrm>
            <a:off x="8028360" y="3182040"/>
            <a:ext cx="3287520" cy="27388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21" name="Rounded Rectangle 112"/>
          <p:cNvSpPr/>
          <p:nvPr/>
        </p:nvSpPr>
        <p:spPr>
          <a:xfrm>
            <a:off x="7955280" y="2971800"/>
            <a:ext cx="3928680" cy="34257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VeriKaybiOrnegi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deger = 9.78;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// Açık (explicit) dönüşüm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int sonuc = (int) deger;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System.out.println("Orijinal değer: " + deger);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System.out.println("Dönüşüm sonrası: " + sonuc);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float buyukDeger = 123456.789f;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int donusturulen = (int) buyukDeger;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System.out.println("Float değer: " + buyukDeger);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System.out.println("Int değer: " + donusturulen);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2" name="TextBox 48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Rectangle 256"/>
          <p:cNvSpPr/>
          <p:nvPr/>
        </p:nvSpPr>
        <p:spPr>
          <a:xfrm>
            <a:off x="0" y="0"/>
            <a:ext cx="12184560" cy="68536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24" name="Rectangle 257"/>
          <p:cNvSpPr/>
          <p:nvPr/>
        </p:nvSpPr>
        <p:spPr>
          <a:xfrm>
            <a:off x="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25" name="Rectangle 258"/>
          <p:cNvSpPr/>
          <p:nvPr/>
        </p:nvSpPr>
        <p:spPr>
          <a:xfrm>
            <a:off x="9144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26" name="Rectangle 259"/>
          <p:cNvSpPr/>
          <p:nvPr/>
        </p:nvSpPr>
        <p:spPr>
          <a:xfrm>
            <a:off x="18288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27" name="Rectangle 260"/>
          <p:cNvSpPr/>
          <p:nvPr/>
        </p:nvSpPr>
        <p:spPr>
          <a:xfrm>
            <a:off x="27432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28" name="Rectangle 261"/>
          <p:cNvSpPr/>
          <p:nvPr/>
        </p:nvSpPr>
        <p:spPr>
          <a:xfrm>
            <a:off x="36576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29" name="Rectangle 262"/>
          <p:cNvSpPr/>
          <p:nvPr/>
        </p:nvSpPr>
        <p:spPr>
          <a:xfrm>
            <a:off x="45720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0" name="Rectangle 263"/>
          <p:cNvSpPr/>
          <p:nvPr/>
        </p:nvSpPr>
        <p:spPr>
          <a:xfrm>
            <a:off x="54864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1" name="Rectangle 264"/>
          <p:cNvSpPr/>
          <p:nvPr/>
        </p:nvSpPr>
        <p:spPr>
          <a:xfrm>
            <a:off x="64008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2" name="Rectangle 265"/>
          <p:cNvSpPr/>
          <p:nvPr/>
        </p:nvSpPr>
        <p:spPr>
          <a:xfrm>
            <a:off x="73152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3" name="Rectangle 266"/>
          <p:cNvSpPr/>
          <p:nvPr/>
        </p:nvSpPr>
        <p:spPr>
          <a:xfrm>
            <a:off x="82296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4" name="Rectangle 267"/>
          <p:cNvSpPr/>
          <p:nvPr/>
        </p:nvSpPr>
        <p:spPr>
          <a:xfrm>
            <a:off x="91440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5" name="Rectangle 268"/>
          <p:cNvSpPr/>
          <p:nvPr/>
        </p:nvSpPr>
        <p:spPr>
          <a:xfrm>
            <a:off x="100584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6" name="Rectangle 269"/>
          <p:cNvSpPr/>
          <p:nvPr/>
        </p:nvSpPr>
        <p:spPr>
          <a:xfrm>
            <a:off x="109728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7" name="Rectangle 270"/>
          <p:cNvSpPr/>
          <p:nvPr/>
        </p:nvSpPr>
        <p:spPr>
          <a:xfrm>
            <a:off x="11887200" y="0"/>
            <a:ext cx="14040" cy="68536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8" name="Rectangle 271"/>
          <p:cNvSpPr/>
          <p:nvPr/>
        </p:nvSpPr>
        <p:spPr>
          <a:xfrm>
            <a:off x="0" y="0"/>
            <a:ext cx="315720" cy="68536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9" name="Rounded Rectangle 113"/>
          <p:cNvSpPr/>
          <p:nvPr/>
        </p:nvSpPr>
        <p:spPr>
          <a:xfrm>
            <a:off x="9875520" y="365760"/>
            <a:ext cx="2007360" cy="4986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0" name="TextBox 49"/>
          <p:cNvSpPr/>
          <p:nvPr/>
        </p:nvSpPr>
        <p:spPr>
          <a:xfrm>
            <a:off x="1611720" y="1005840"/>
            <a:ext cx="77464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İFADELERDE TÜR DÖNÜŞÜMÜ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TextBox 50"/>
          <p:cNvSpPr/>
          <p:nvPr/>
        </p:nvSpPr>
        <p:spPr>
          <a:xfrm>
            <a:off x="2283480" y="2194560"/>
            <a:ext cx="6405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Automatic type conversion during arithmetic operations in Java.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Rounded Rectangle 114"/>
          <p:cNvSpPr/>
          <p:nvPr/>
        </p:nvSpPr>
        <p:spPr>
          <a:xfrm>
            <a:off x="987480" y="3182040"/>
            <a:ext cx="3287520" cy="27388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43" name="Rounded Rectangle 115"/>
          <p:cNvSpPr/>
          <p:nvPr/>
        </p:nvSpPr>
        <p:spPr>
          <a:xfrm>
            <a:off x="914400" y="3108960"/>
            <a:ext cx="3287520" cy="2738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Java, ifadelerde küçük veri tiplerini yükseltir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İşlemler en büyük veri tipine göre yapılır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Çoğu durumda manuel dönüşüm gerekmez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byte, short → otomatik olarak int’e çevrilir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4" name="Rounded Rectangle 116"/>
          <p:cNvSpPr/>
          <p:nvPr/>
        </p:nvSpPr>
        <p:spPr>
          <a:xfrm>
            <a:off x="4507920" y="3182040"/>
            <a:ext cx="3287520" cy="27388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45" name="Rounded Rectangle 117"/>
          <p:cNvSpPr/>
          <p:nvPr/>
        </p:nvSpPr>
        <p:spPr>
          <a:xfrm>
            <a:off x="4434840" y="3108960"/>
            <a:ext cx="3287520" cy="2738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byte → short → int → long → float → double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int + double → double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float + long → float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short + short → int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Sonuç = en büyük veri tipi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6" name="Rounded Rectangle 118"/>
          <p:cNvSpPr/>
          <p:nvPr/>
        </p:nvSpPr>
        <p:spPr>
          <a:xfrm>
            <a:off x="8028360" y="3182040"/>
            <a:ext cx="3287520" cy="27388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47" name="Rounded Rectangle 119"/>
          <p:cNvSpPr/>
          <p:nvPr/>
        </p:nvSpPr>
        <p:spPr>
          <a:xfrm>
            <a:off x="7955280" y="2971800"/>
            <a:ext cx="3929040" cy="3197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a = 10;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b = 5.5;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result = a + b; // int → double (a otomatik olarak double’a çevrilir)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System.out.println(result);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byte x = 5;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byte y = 10;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sum = x + y; // byte → int (byte'lar otomatik int'e yükseltilir)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System.out.println(sum);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8" name="TextBox 51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Rectangle 272"/>
          <p:cNvSpPr/>
          <p:nvPr/>
        </p:nvSpPr>
        <p:spPr>
          <a:xfrm>
            <a:off x="0" y="0"/>
            <a:ext cx="12185280" cy="6854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50" name="Rectangle 273"/>
          <p:cNvSpPr/>
          <p:nvPr/>
        </p:nvSpPr>
        <p:spPr>
          <a:xfrm>
            <a:off x="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51" name="Rectangle 274"/>
          <p:cNvSpPr/>
          <p:nvPr/>
        </p:nvSpPr>
        <p:spPr>
          <a:xfrm>
            <a:off x="914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52" name="Rectangle 275"/>
          <p:cNvSpPr/>
          <p:nvPr/>
        </p:nvSpPr>
        <p:spPr>
          <a:xfrm>
            <a:off x="1828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53" name="Rectangle 276"/>
          <p:cNvSpPr/>
          <p:nvPr/>
        </p:nvSpPr>
        <p:spPr>
          <a:xfrm>
            <a:off x="2743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54" name="Rectangle 277"/>
          <p:cNvSpPr/>
          <p:nvPr/>
        </p:nvSpPr>
        <p:spPr>
          <a:xfrm>
            <a:off x="36576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55" name="Rectangle 278"/>
          <p:cNvSpPr/>
          <p:nvPr/>
        </p:nvSpPr>
        <p:spPr>
          <a:xfrm>
            <a:off x="45720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56" name="Rectangle 279"/>
          <p:cNvSpPr/>
          <p:nvPr/>
        </p:nvSpPr>
        <p:spPr>
          <a:xfrm>
            <a:off x="5486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57" name="Rectangle 280"/>
          <p:cNvSpPr/>
          <p:nvPr/>
        </p:nvSpPr>
        <p:spPr>
          <a:xfrm>
            <a:off x="6400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58" name="Rectangle 281"/>
          <p:cNvSpPr/>
          <p:nvPr/>
        </p:nvSpPr>
        <p:spPr>
          <a:xfrm>
            <a:off x="7315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59" name="Rectangle 282"/>
          <p:cNvSpPr/>
          <p:nvPr/>
        </p:nvSpPr>
        <p:spPr>
          <a:xfrm>
            <a:off x="82296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60" name="Rectangle 283"/>
          <p:cNvSpPr/>
          <p:nvPr/>
        </p:nvSpPr>
        <p:spPr>
          <a:xfrm>
            <a:off x="91440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61" name="Rectangle 284"/>
          <p:cNvSpPr/>
          <p:nvPr/>
        </p:nvSpPr>
        <p:spPr>
          <a:xfrm>
            <a:off x="10058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62" name="Rectangle 285"/>
          <p:cNvSpPr/>
          <p:nvPr/>
        </p:nvSpPr>
        <p:spPr>
          <a:xfrm>
            <a:off x="10972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63" name="Rectangle 286"/>
          <p:cNvSpPr/>
          <p:nvPr/>
        </p:nvSpPr>
        <p:spPr>
          <a:xfrm>
            <a:off x="11887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64" name="Rectangle 287"/>
          <p:cNvSpPr/>
          <p:nvPr/>
        </p:nvSpPr>
        <p:spPr>
          <a:xfrm>
            <a:off x="0" y="0"/>
            <a:ext cx="316440" cy="6854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65" name="Rounded Rectangle 120"/>
          <p:cNvSpPr/>
          <p:nvPr/>
        </p:nvSpPr>
        <p:spPr>
          <a:xfrm>
            <a:off x="9875520" y="365760"/>
            <a:ext cx="2008080" cy="499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6" name="TextBox 52"/>
          <p:cNvSpPr/>
          <p:nvPr/>
        </p:nvSpPr>
        <p:spPr>
          <a:xfrm>
            <a:off x="2517120" y="1005840"/>
            <a:ext cx="59356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Unicode System – Giriş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TextBox 53"/>
          <p:cNvSpPr/>
          <p:nvPr/>
        </p:nvSpPr>
        <p:spPr>
          <a:xfrm>
            <a:off x="848160" y="2074680"/>
            <a:ext cx="946224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Unicode, Java’nın farklı dillerdeki metinleri tüm platformlarda tutarlı bir şekilde temsil etmesini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sağlayan evrensel bir karakter kodlama standardıdır.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Rounded Rectangle 121"/>
          <p:cNvSpPr/>
          <p:nvPr/>
        </p:nvSpPr>
        <p:spPr>
          <a:xfrm>
            <a:off x="98748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69" name="Rounded Rectangle 122"/>
          <p:cNvSpPr/>
          <p:nvPr/>
        </p:nvSpPr>
        <p:spPr>
          <a:xfrm>
            <a:off x="914400" y="3108960"/>
            <a:ext cx="3288240" cy="32893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Unicode, küresel bir karakter kümesidir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Her karakterin benzersiz bir kod noktası vardır (örn. \u0041)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ASCII ve ISO gibi eski kodlamaların yerini almıştır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Neredeyse tüm dünya dillerini destekler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Java, Unicode’u dahili olarak kullanır (UTF-16)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0" name="Rounded Rectangle 123"/>
          <p:cNvSpPr/>
          <p:nvPr/>
        </p:nvSpPr>
        <p:spPr>
          <a:xfrm>
            <a:off x="450792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71" name="Rounded Rectangle 124"/>
          <p:cNvSpPr/>
          <p:nvPr/>
        </p:nvSpPr>
        <p:spPr>
          <a:xfrm>
            <a:off x="4343400" y="3108960"/>
            <a:ext cx="3426480" cy="2832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Karakter → Unicode Kod Noktası → Kodlama (UTF-16) → Java’da Saklanır → Ekrana Yazdırılır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2" name="Rounded Rectangle 125"/>
          <p:cNvSpPr/>
          <p:nvPr/>
        </p:nvSpPr>
        <p:spPr>
          <a:xfrm>
            <a:off x="802836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73" name="Rounded Rectangle 126"/>
          <p:cNvSpPr/>
          <p:nvPr/>
        </p:nvSpPr>
        <p:spPr>
          <a:xfrm>
            <a:off x="7955280" y="3108960"/>
            <a:ext cx="3700800" cy="32893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UnicodeExample {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char ch = '\u0041'; // 'A' için Unicode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System.out.println(ch);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char symbol = '\u00AB'; // «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System.out.println(symbol);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4" name="TextBox 54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5" name="" descr=""/>
          <p:cNvPicPr/>
          <p:nvPr/>
        </p:nvPicPr>
        <p:blipFill>
          <a:blip r:embed="rId1"/>
          <a:stretch/>
        </p:blipFill>
        <p:spPr>
          <a:xfrm>
            <a:off x="4434840" y="5029200"/>
            <a:ext cx="3263040" cy="68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Rectangle 288"/>
          <p:cNvSpPr/>
          <p:nvPr/>
        </p:nvSpPr>
        <p:spPr>
          <a:xfrm>
            <a:off x="0" y="0"/>
            <a:ext cx="12185640" cy="68547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77" name="Rectangle 289"/>
          <p:cNvSpPr/>
          <p:nvPr/>
        </p:nvSpPr>
        <p:spPr>
          <a:xfrm>
            <a:off x="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78" name="Rectangle 290"/>
          <p:cNvSpPr/>
          <p:nvPr/>
        </p:nvSpPr>
        <p:spPr>
          <a:xfrm>
            <a:off x="914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79" name="Rectangle 291"/>
          <p:cNvSpPr/>
          <p:nvPr/>
        </p:nvSpPr>
        <p:spPr>
          <a:xfrm>
            <a:off x="1828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80" name="Rectangle 292"/>
          <p:cNvSpPr/>
          <p:nvPr/>
        </p:nvSpPr>
        <p:spPr>
          <a:xfrm>
            <a:off x="2743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81" name="Rectangle 293"/>
          <p:cNvSpPr/>
          <p:nvPr/>
        </p:nvSpPr>
        <p:spPr>
          <a:xfrm>
            <a:off x="36576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82" name="Rectangle 294"/>
          <p:cNvSpPr/>
          <p:nvPr/>
        </p:nvSpPr>
        <p:spPr>
          <a:xfrm>
            <a:off x="45720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83" name="Rectangle 295"/>
          <p:cNvSpPr/>
          <p:nvPr/>
        </p:nvSpPr>
        <p:spPr>
          <a:xfrm>
            <a:off x="5486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84" name="Rectangle 296"/>
          <p:cNvSpPr/>
          <p:nvPr/>
        </p:nvSpPr>
        <p:spPr>
          <a:xfrm>
            <a:off x="6400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85" name="Rectangle 297"/>
          <p:cNvSpPr/>
          <p:nvPr/>
        </p:nvSpPr>
        <p:spPr>
          <a:xfrm>
            <a:off x="7315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86" name="Rectangle 298"/>
          <p:cNvSpPr/>
          <p:nvPr/>
        </p:nvSpPr>
        <p:spPr>
          <a:xfrm>
            <a:off x="82296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87" name="Rectangle 299"/>
          <p:cNvSpPr/>
          <p:nvPr/>
        </p:nvSpPr>
        <p:spPr>
          <a:xfrm>
            <a:off x="91440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88" name="Rectangle 300"/>
          <p:cNvSpPr/>
          <p:nvPr/>
        </p:nvSpPr>
        <p:spPr>
          <a:xfrm>
            <a:off x="10058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89" name="Rectangle 301"/>
          <p:cNvSpPr/>
          <p:nvPr/>
        </p:nvSpPr>
        <p:spPr>
          <a:xfrm>
            <a:off x="10972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90" name="Rectangle 302"/>
          <p:cNvSpPr/>
          <p:nvPr/>
        </p:nvSpPr>
        <p:spPr>
          <a:xfrm>
            <a:off x="11887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91" name="Rectangle 303"/>
          <p:cNvSpPr/>
          <p:nvPr/>
        </p:nvSpPr>
        <p:spPr>
          <a:xfrm>
            <a:off x="0" y="0"/>
            <a:ext cx="316800" cy="68547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92" name="Rounded Rectangle 127"/>
          <p:cNvSpPr/>
          <p:nvPr/>
        </p:nvSpPr>
        <p:spPr>
          <a:xfrm>
            <a:off x="9875520" y="365760"/>
            <a:ext cx="2008440" cy="49968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3" name="TextBox 55"/>
          <p:cNvSpPr/>
          <p:nvPr/>
        </p:nvSpPr>
        <p:spPr>
          <a:xfrm>
            <a:off x="2827440" y="1005840"/>
            <a:ext cx="53172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Unicode Nasıl Çalışır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TextBox 56"/>
          <p:cNvSpPr/>
          <p:nvPr/>
        </p:nvSpPr>
        <p:spPr>
          <a:xfrm>
            <a:off x="2654280" y="1846080"/>
            <a:ext cx="56613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Unicode, platform, dil veya programdan bağımsız olarak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her karaktere benzersiz bir sayı (kod noktası) atar.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5" name="Rounded Rectangle 128"/>
          <p:cNvSpPr/>
          <p:nvPr/>
        </p:nvSpPr>
        <p:spPr>
          <a:xfrm>
            <a:off x="98748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96" name="Rounded Rectangle 129"/>
          <p:cNvSpPr/>
          <p:nvPr/>
        </p:nvSpPr>
        <p:spPr>
          <a:xfrm>
            <a:off x="685800" y="3108960"/>
            <a:ext cx="3517200" cy="3061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Her karakter → Kod Noktası (U+XXXX formatı)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Örnek: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 → U+0041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ç → U+00E7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😀 →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U+1F600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Unicode evrenseldir → her yerde aynı anlam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Kodlama sistemleri (UTF-8, UTF-16, UTF-32) verinin nasıl saklanacağını belirler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7" name="Rounded Rectangle 130"/>
          <p:cNvSpPr/>
          <p:nvPr/>
        </p:nvSpPr>
        <p:spPr>
          <a:xfrm>
            <a:off x="450792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98" name="Rounded Rectangle 131"/>
          <p:cNvSpPr/>
          <p:nvPr/>
        </p:nvSpPr>
        <p:spPr>
          <a:xfrm>
            <a:off x="4434840" y="310896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Karakter → Unicode Kod Noktası → Kodlama → Binary → Ekran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'A' → U+0041 → UTF-8 → 01000001 → Ekran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9" name="Rounded Rectangle 132"/>
          <p:cNvSpPr/>
          <p:nvPr/>
        </p:nvSpPr>
        <p:spPr>
          <a:xfrm>
            <a:off x="802836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00" name="Rounded Rectangle 133"/>
          <p:cNvSpPr/>
          <p:nvPr/>
        </p:nvSpPr>
        <p:spPr>
          <a:xfrm>
            <a:off x="7955280" y="2514600"/>
            <a:ext cx="3929760" cy="36554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UnicodeExample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char letter = 'A';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codePoint = letter;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System.out.println("Karakter: " + letter);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System.out.println("Unicode Kod Noktası: U+" + Integer.toHexString(codePoint).toUpperCase());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// Unicode escape kullanımı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char unicodeChar = '\u0041';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System.out.println("Unicode Escape: " + unicodeChar);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1" name="TextBox 57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Rectangle 304"/>
          <p:cNvSpPr/>
          <p:nvPr/>
        </p:nvSpPr>
        <p:spPr>
          <a:xfrm>
            <a:off x="0" y="0"/>
            <a:ext cx="12185640" cy="68547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03" name="Rectangle 305"/>
          <p:cNvSpPr/>
          <p:nvPr/>
        </p:nvSpPr>
        <p:spPr>
          <a:xfrm>
            <a:off x="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04" name="Rectangle 306"/>
          <p:cNvSpPr/>
          <p:nvPr/>
        </p:nvSpPr>
        <p:spPr>
          <a:xfrm>
            <a:off x="914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05" name="Rectangle 307"/>
          <p:cNvSpPr/>
          <p:nvPr/>
        </p:nvSpPr>
        <p:spPr>
          <a:xfrm>
            <a:off x="1828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06" name="Rectangle 308"/>
          <p:cNvSpPr/>
          <p:nvPr/>
        </p:nvSpPr>
        <p:spPr>
          <a:xfrm>
            <a:off x="2743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07" name="Rectangle 309"/>
          <p:cNvSpPr/>
          <p:nvPr/>
        </p:nvSpPr>
        <p:spPr>
          <a:xfrm>
            <a:off x="36576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08" name="Rectangle 310"/>
          <p:cNvSpPr/>
          <p:nvPr/>
        </p:nvSpPr>
        <p:spPr>
          <a:xfrm>
            <a:off x="45720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09" name="Rectangle 311"/>
          <p:cNvSpPr/>
          <p:nvPr/>
        </p:nvSpPr>
        <p:spPr>
          <a:xfrm>
            <a:off x="5486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10" name="Rectangle 312"/>
          <p:cNvSpPr/>
          <p:nvPr/>
        </p:nvSpPr>
        <p:spPr>
          <a:xfrm>
            <a:off x="6400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11" name="Rectangle 313"/>
          <p:cNvSpPr/>
          <p:nvPr/>
        </p:nvSpPr>
        <p:spPr>
          <a:xfrm>
            <a:off x="7315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12" name="Rectangle 314"/>
          <p:cNvSpPr/>
          <p:nvPr/>
        </p:nvSpPr>
        <p:spPr>
          <a:xfrm>
            <a:off x="82296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13" name="Rectangle 315"/>
          <p:cNvSpPr/>
          <p:nvPr/>
        </p:nvSpPr>
        <p:spPr>
          <a:xfrm>
            <a:off x="91440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14" name="Rectangle 316"/>
          <p:cNvSpPr/>
          <p:nvPr/>
        </p:nvSpPr>
        <p:spPr>
          <a:xfrm>
            <a:off x="10058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15" name="Rectangle 317"/>
          <p:cNvSpPr/>
          <p:nvPr/>
        </p:nvSpPr>
        <p:spPr>
          <a:xfrm>
            <a:off x="10972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16" name="Rectangle 318"/>
          <p:cNvSpPr/>
          <p:nvPr/>
        </p:nvSpPr>
        <p:spPr>
          <a:xfrm>
            <a:off x="11887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17" name="Rectangle 319"/>
          <p:cNvSpPr/>
          <p:nvPr/>
        </p:nvSpPr>
        <p:spPr>
          <a:xfrm>
            <a:off x="0" y="0"/>
            <a:ext cx="316800" cy="68547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18" name="Rounded Rectangle 134"/>
          <p:cNvSpPr/>
          <p:nvPr/>
        </p:nvSpPr>
        <p:spPr>
          <a:xfrm>
            <a:off x="9875520" y="365760"/>
            <a:ext cx="2008440" cy="49968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9" name="TextBox 58"/>
          <p:cNvSpPr/>
          <p:nvPr/>
        </p:nvSpPr>
        <p:spPr>
          <a:xfrm>
            <a:off x="1562760" y="1005840"/>
            <a:ext cx="78469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Unicode Kodlama (UTF-8 / UTF-16)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TextBox 59"/>
          <p:cNvSpPr/>
          <p:nvPr/>
        </p:nvSpPr>
        <p:spPr>
          <a:xfrm>
            <a:off x="1442520" y="1846080"/>
            <a:ext cx="80863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Unicode karakterleri saklamak için farklı encoding (kodlama) yöntemleri kullanılır.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Rounded Rectangle 135"/>
          <p:cNvSpPr/>
          <p:nvPr/>
        </p:nvSpPr>
        <p:spPr>
          <a:xfrm>
            <a:off x="98748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22" name="Rounded Rectangle 136"/>
          <p:cNvSpPr/>
          <p:nvPr/>
        </p:nvSpPr>
        <p:spPr>
          <a:xfrm>
            <a:off x="685800" y="3108960"/>
            <a:ext cx="3517200" cy="3061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23" name="Rounded Rectangle 137"/>
          <p:cNvSpPr/>
          <p:nvPr/>
        </p:nvSpPr>
        <p:spPr>
          <a:xfrm>
            <a:off x="450792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24" name="Rounded Rectangle 138"/>
          <p:cNvSpPr/>
          <p:nvPr/>
        </p:nvSpPr>
        <p:spPr>
          <a:xfrm>
            <a:off x="4343400" y="2836080"/>
            <a:ext cx="3380040" cy="31057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Karakter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→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Unicode Kod Noktası (U+XXXX)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→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Encoding seçilir (UTF-8 / UTF-16)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→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Binary veriye çevrilir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→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Bellekte saklanır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→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Ekrana yazdırılır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Örnek: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'A' → U+0041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→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UTF-8 → 01000001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→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UTF-16 → 00000000 01000001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5" name="Rounded Rectangle 139"/>
          <p:cNvSpPr/>
          <p:nvPr/>
        </p:nvSpPr>
        <p:spPr>
          <a:xfrm>
            <a:off x="802836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26" name="Rounded Rectangle 140"/>
          <p:cNvSpPr/>
          <p:nvPr/>
        </p:nvSpPr>
        <p:spPr>
          <a:xfrm>
            <a:off x="7955280" y="2514600"/>
            <a:ext cx="3929760" cy="38844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EncodingExample 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text = "A";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// UTF-8 byte dizisi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byte[] utf8Bytes = text.getBytes(java.nio.charset.StandardCharsets.UTF_8);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// UTF-16 byte dizisi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byte[] utf16Bytes = text.getBytes(java.nio.charset.StandardCharsets.UTF_16);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System.out.println("UTF-8:");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for (byte b : utf8Bytes) 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System.out.print(Integer.toBinaryString(b &amp; 0xFF) + " ");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System.out.println("\nUTF-16:");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for (byte b : utf16Bytes) 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System.out.print(Integer.toBinaryString(b &amp; 0xFF) + " ");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7" name="TextBox 60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8" name="" descr=""/>
          <p:cNvPicPr/>
          <p:nvPr/>
        </p:nvPicPr>
        <p:blipFill>
          <a:blip r:embed="rId1"/>
          <a:stretch/>
        </p:blipFill>
        <p:spPr>
          <a:xfrm>
            <a:off x="757440" y="3356280"/>
            <a:ext cx="3355560" cy="235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Rectangle 1"/>
          <p:cNvSpPr/>
          <p:nvPr/>
        </p:nvSpPr>
        <p:spPr>
          <a:xfrm>
            <a:off x="0" y="0"/>
            <a:ext cx="12186360" cy="68554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0" name="Rectangle 2"/>
          <p:cNvSpPr/>
          <p:nvPr/>
        </p:nvSpPr>
        <p:spPr>
          <a:xfrm>
            <a:off x="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1" name="Rectangle 3"/>
          <p:cNvSpPr/>
          <p:nvPr/>
        </p:nvSpPr>
        <p:spPr>
          <a:xfrm>
            <a:off x="914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2" name="Rectangle 4"/>
          <p:cNvSpPr/>
          <p:nvPr/>
        </p:nvSpPr>
        <p:spPr>
          <a:xfrm>
            <a:off x="1828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3" name="Rectangle 5"/>
          <p:cNvSpPr/>
          <p:nvPr/>
        </p:nvSpPr>
        <p:spPr>
          <a:xfrm>
            <a:off x="2743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4" name="Rectangle 6"/>
          <p:cNvSpPr/>
          <p:nvPr/>
        </p:nvSpPr>
        <p:spPr>
          <a:xfrm>
            <a:off x="36576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5" name="Rectangle 7"/>
          <p:cNvSpPr/>
          <p:nvPr/>
        </p:nvSpPr>
        <p:spPr>
          <a:xfrm>
            <a:off x="45720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6" name="Rectangle 8"/>
          <p:cNvSpPr/>
          <p:nvPr/>
        </p:nvSpPr>
        <p:spPr>
          <a:xfrm>
            <a:off x="5486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7" name="Rectangle 9"/>
          <p:cNvSpPr/>
          <p:nvPr/>
        </p:nvSpPr>
        <p:spPr>
          <a:xfrm>
            <a:off x="6400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8" name="Rectangle 10"/>
          <p:cNvSpPr/>
          <p:nvPr/>
        </p:nvSpPr>
        <p:spPr>
          <a:xfrm>
            <a:off x="7315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9" name="Rectangle 11"/>
          <p:cNvSpPr/>
          <p:nvPr/>
        </p:nvSpPr>
        <p:spPr>
          <a:xfrm>
            <a:off x="82296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40" name="Rectangle 12"/>
          <p:cNvSpPr/>
          <p:nvPr/>
        </p:nvSpPr>
        <p:spPr>
          <a:xfrm>
            <a:off x="91440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41" name="Rectangle 13"/>
          <p:cNvSpPr/>
          <p:nvPr/>
        </p:nvSpPr>
        <p:spPr>
          <a:xfrm>
            <a:off x="10058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42" name="Rectangle 14"/>
          <p:cNvSpPr/>
          <p:nvPr/>
        </p:nvSpPr>
        <p:spPr>
          <a:xfrm>
            <a:off x="10972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43" name="Rectangle 15"/>
          <p:cNvSpPr/>
          <p:nvPr/>
        </p:nvSpPr>
        <p:spPr>
          <a:xfrm>
            <a:off x="11887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44" name="Rectangle 320"/>
          <p:cNvSpPr/>
          <p:nvPr/>
        </p:nvSpPr>
        <p:spPr>
          <a:xfrm>
            <a:off x="0" y="0"/>
            <a:ext cx="317520" cy="68554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45" name="Rounded Rectangle 141"/>
          <p:cNvSpPr/>
          <p:nvPr/>
        </p:nvSpPr>
        <p:spPr>
          <a:xfrm>
            <a:off x="9875520" y="365760"/>
            <a:ext cx="2009160" cy="5004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6" name="TextBox 61"/>
          <p:cNvSpPr/>
          <p:nvPr/>
        </p:nvSpPr>
        <p:spPr>
          <a:xfrm>
            <a:off x="1040400" y="1005840"/>
            <a:ext cx="88894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5f5f5"/>
                </a:solidFill>
                <a:latin typeface="Calibri"/>
                <a:ea typeface="DejaVu Sans"/>
              </a:rPr>
              <a:t>Unicode Kaçış Dizileri (Escape Sequences)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TextBox 62"/>
          <p:cNvSpPr/>
          <p:nvPr/>
        </p:nvSpPr>
        <p:spPr>
          <a:xfrm>
            <a:off x="874440" y="2057400"/>
            <a:ext cx="922140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Java’da Unicode karakterler, doğrudan klavyede olmasa bile kaçış dizileri (escape sequences)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ile yazılabilir. Bu sayede tüm karakterler kod içinde güvenli şekilde temsil edilir.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8" name="Rounded Rectangle 142"/>
          <p:cNvSpPr/>
          <p:nvPr/>
        </p:nvSpPr>
        <p:spPr>
          <a:xfrm>
            <a:off x="98748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49" name="Rounded Rectangle 143"/>
          <p:cNvSpPr/>
          <p:nvPr/>
        </p:nvSpPr>
        <p:spPr>
          <a:xfrm>
            <a:off x="685800" y="2971800"/>
            <a:ext cx="3517920" cy="34275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Java’da Unicode karakterler \uXXXX formatında yazılır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XXXX → hexadecimal (0–9, A–F) değerlerdir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Her Unicode karakterin benzersiz bir kod noktası vardır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Örnekler: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\u0041 → 'A'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\u00E7 → 'ç'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\u0131 → 'ı'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\u2665 → ♥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char tipi Unicode (UTF-16) kullanır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Bu sayede Türkçe ve tüm dünya karakterleri desteklenir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0" name="Rounded Rectangle 144"/>
          <p:cNvSpPr/>
          <p:nvPr/>
        </p:nvSpPr>
        <p:spPr>
          <a:xfrm>
            <a:off x="450792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51" name="Rounded Rectangle 145"/>
          <p:cNvSpPr/>
          <p:nvPr/>
        </p:nvSpPr>
        <p:spPr>
          <a:xfrm>
            <a:off x="4434840" y="310896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Karakter → Unicode Kod Noktası (U+XXXX)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→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Escape Sequence (\uXXXX)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→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içinde char olarak saklanır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→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Ekrana yazdırılır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Örnek akış: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'ç' → U+00E7 → \u00E7 → char → çıktı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2" name="Rounded Rectangle 146"/>
          <p:cNvSpPr/>
          <p:nvPr/>
        </p:nvSpPr>
        <p:spPr>
          <a:xfrm>
            <a:off x="802836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53" name="Rounded Rectangle 147"/>
          <p:cNvSpPr/>
          <p:nvPr/>
        </p:nvSpPr>
        <p:spPr>
          <a:xfrm>
            <a:off x="7955280" y="3108960"/>
            <a:ext cx="3473280" cy="28332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UnicodeEscapeExample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char a = '\u0041';   // 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char c = '\u00E7';   // ç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char dotlessI = '\u0131'; // ı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char heart = '\u2665'; // ♥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System.out.println(a);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System.out.println(c);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System.out.println(dotlessI);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System.out.println(heart);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4" name="TextBox 63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Rectangle 321"/>
          <p:cNvSpPr/>
          <p:nvPr/>
        </p:nvSpPr>
        <p:spPr>
          <a:xfrm>
            <a:off x="0" y="0"/>
            <a:ext cx="12186720" cy="68558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56" name="Rectangle 322"/>
          <p:cNvSpPr/>
          <p:nvPr/>
        </p:nvSpPr>
        <p:spPr>
          <a:xfrm>
            <a:off x="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57" name="Rectangle 323"/>
          <p:cNvSpPr/>
          <p:nvPr/>
        </p:nvSpPr>
        <p:spPr>
          <a:xfrm>
            <a:off x="9144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58" name="Rectangle 324"/>
          <p:cNvSpPr/>
          <p:nvPr/>
        </p:nvSpPr>
        <p:spPr>
          <a:xfrm>
            <a:off x="18288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59" name="Rectangle 325"/>
          <p:cNvSpPr/>
          <p:nvPr/>
        </p:nvSpPr>
        <p:spPr>
          <a:xfrm>
            <a:off x="27432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60" name="Rectangle 326"/>
          <p:cNvSpPr/>
          <p:nvPr/>
        </p:nvSpPr>
        <p:spPr>
          <a:xfrm>
            <a:off x="36576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61" name="Rectangle 327"/>
          <p:cNvSpPr/>
          <p:nvPr/>
        </p:nvSpPr>
        <p:spPr>
          <a:xfrm>
            <a:off x="45720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62" name="Rectangle 328"/>
          <p:cNvSpPr/>
          <p:nvPr/>
        </p:nvSpPr>
        <p:spPr>
          <a:xfrm>
            <a:off x="54864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63" name="Rectangle 329"/>
          <p:cNvSpPr/>
          <p:nvPr/>
        </p:nvSpPr>
        <p:spPr>
          <a:xfrm>
            <a:off x="64008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64" name="Rectangle 330"/>
          <p:cNvSpPr/>
          <p:nvPr/>
        </p:nvSpPr>
        <p:spPr>
          <a:xfrm>
            <a:off x="73152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65" name="Rectangle 331"/>
          <p:cNvSpPr/>
          <p:nvPr/>
        </p:nvSpPr>
        <p:spPr>
          <a:xfrm>
            <a:off x="82296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66" name="Rectangle 332"/>
          <p:cNvSpPr/>
          <p:nvPr/>
        </p:nvSpPr>
        <p:spPr>
          <a:xfrm>
            <a:off x="91440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67" name="Rectangle 333"/>
          <p:cNvSpPr/>
          <p:nvPr/>
        </p:nvSpPr>
        <p:spPr>
          <a:xfrm>
            <a:off x="100584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68" name="Rectangle 334"/>
          <p:cNvSpPr/>
          <p:nvPr/>
        </p:nvSpPr>
        <p:spPr>
          <a:xfrm>
            <a:off x="109728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69" name="Rectangle 335"/>
          <p:cNvSpPr/>
          <p:nvPr/>
        </p:nvSpPr>
        <p:spPr>
          <a:xfrm>
            <a:off x="118872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70" name="Rectangle 336"/>
          <p:cNvSpPr/>
          <p:nvPr/>
        </p:nvSpPr>
        <p:spPr>
          <a:xfrm>
            <a:off x="0" y="0"/>
            <a:ext cx="317880" cy="68558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71" name="Rounded Rectangle 148"/>
          <p:cNvSpPr/>
          <p:nvPr/>
        </p:nvSpPr>
        <p:spPr>
          <a:xfrm>
            <a:off x="9875520" y="365760"/>
            <a:ext cx="2009520" cy="5007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2" name="TextBox 64"/>
          <p:cNvSpPr/>
          <p:nvPr/>
        </p:nvSpPr>
        <p:spPr>
          <a:xfrm>
            <a:off x="1591920" y="1005840"/>
            <a:ext cx="77875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Unicode ve String Yapısı (Java)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3" name="TextBox 65"/>
          <p:cNvSpPr/>
          <p:nvPr/>
        </p:nvSpPr>
        <p:spPr>
          <a:xfrm>
            <a:off x="2683440" y="2194560"/>
            <a:ext cx="56037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Java’da metinler (String) aslında Unicode karakter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dizileridir ve her karakter UTF-16 tabanlı olarak saklanır.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Rounded Rectangle 149"/>
          <p:cNvSpPr/>
          <p:nvPr/>
        </p:nvSpPr>
        <p:spPr>
          <a:xfrm>
            <a:off x="987480" y="3182040"/>
            <a:ext cx="3289680" cy="27410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75" name="Rounded Rectangle 150"/>
          <p:cNvSpPr/>
          <p:nvPr/>
        </p:nvSpPr>
        <p:spPr>
          <a:xfrm>
            <a:off x="914400" y="3108960"/>
            <a:ext cx="3289680" cy="2741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Temel Bilgiler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String → birden fazla char’ın birleşimidir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Java’da String iç yapısı Unicode (UTF-16) kullanır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Her karakter = Unicode kod noktası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length() → karakter sayısı değil, char sayısını verir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Emoji gibi karakterler 2 char olabilir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6" name="Rounded Rectangle 151"/>
          <p:cNvSpPr/>
          <p:nvPr/>
        </p:nvSpPr>
        <p:spPr>
          <a:xfrm>
            <a:off x="4507920" y="3182040"/>
            <a:ext cx="3289680" cy="27410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77" name="Rounded Rectangle 152"/>
          <p:cNvSpPr/>
          <p:nvPr/>
        </p:nvSpPr>
        <p:spPr>
          <a:xfrm>
            <a:off x="4434840" y="2971800"/>
            <a:ext cx="3289680" cy="3656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Akış (Flow)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Metin (String)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→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Unicode karakterler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→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UTF-16 kodlama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→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char dizisi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→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Bellekte saklanır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→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Ekrana yazdırılır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Örnek: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"Hi 😊" → H + i + (2 char emoji) → length = 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8" name="Rounded Rectangle 153"/>
          <p:cNvSpPr/>
          <p:nvPr/>
        </p:nvSpPr>
        <p:spPr>
          <a:xfrm>
            <a:off x="8028360" y="3182040"/>
            <a:ext cx="3289680" cy="27410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79" name="Rounded Rectangle 154"/>
          <p:cNvSpPr/>
          <p:nvPr/>
        </p:nvSpPr>
        <p:spPr>
          <a:xfrm>
            <a:off x="7955280" y="2743200"/>
            <a:ext cx="3702240" cy="3656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StringUnicodeExample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text = "Hi 😊";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System.out.println("Metin: " + text);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System.out.println("Length: " + text.length());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for (int i = 0; i &lt; text.length(); i++)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System.out.println(text.charAt(i));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0" name="TextBox 66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Rectangle 337"/>
          <p:cNvSpPr/>
          <p:nvPr/>
        </p:nvSpPr>
        <p:spPr>
          <a:xfrm>
            <a:off x="0" y="0"/>
            <a:ext cx="12187440" cy="68565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2" name="Rectangle 338"/>
          <p:cNvSpPr/>
          <p:nvPr/>
        </p:nvSpPr>
        <p:spPr>
          <a:xfrm>
            <a:off x="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3" name="Rectangle 339"/>
          <p:cNvSpPr/>
          <p:nvPr/>
        </p:nvSpPr>
        <p:spPr>
          <a:xfrm>
            <a:off x="9144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4" name="Rectangle 340"/>
          <p:cNvSpPr/>
          <p:nvPr/>
        </p:nvSpPr>
        <p:spPr>
          <a:xfrm>
            <a:off x="18288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5" name="Rectangle 341"/>
          <p:cNvSpPr/>
          <p:nvPr/>
        </p:nvSpPr>
        <p:spPr>
          <a:xfrm>
            <a:off x="27432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6" name="Rectangle 342"/>
          <p:cNvSpPr/>
          <p:nvPr/>
        </p:nvSpPr>
        <p:spPr>
          <a:xfrm>
            <a:off x="36576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7" name="Rectangle 343"/>
          <p:cNvSpPr/>
          <p:nvPr/>
        </p:nvSpPr>
        <p:spPr>
          <a:xfrm>
            <a:off x="45720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8" name="Rectangle 344"/>
          <p:cNvSpPr/>
          <p:nvPr/>
        </p:nvSpPr>
        <p:spPr>
          <a:xfrm>
            <a:off x="54864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9" name="Rectangle 345"/>
          <p:cNvSpPr/>
          <p:nvPr/>
        </p:nvSpPr>
        <p:spPr>
          <a:xfrm>
            <a:off x="64008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90" name="Rectangle 346"/>
          <p:cNvSpPr/>
          <p:nvPr/>
        </p:nvSpPr>
        <p:spPr>
          <a:xfrm>
            <a:off x="73152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91" name="Rectangle 347"/>
          <p:cNvSpPr/>
          <p:nvPr/>
        </p:nvSpPr>
        <p:spPr>
          <a:xfrm>
            <a:off x="82296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92" name="Rectangle 348"/>
          <p:cNvSpPr/>
          <p:nvPr/>
        </p:nvSpPr>
        <p:spPr>
          <a:xfrm>
            <a:off x="91440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93" name="Rectangle 349"/>
          <p:cNvSpPr/>
          <p:nvPr/>
        </p:nvSpPr>
        <p:spPr>
          <a:xfrm>
            <a:off x="100584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94" name="Rectangle 350"/>
          <p:cNvSpPr/>
          <p:nvPr/>
        </p:nvSpPr>
        <p:spPr>
          <a:xfrm>
            <a:off x="109728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95" name="Rectangle 351"/>
          <p:cNvSpPr/>
          <p:nvPr/>
        </p:nvSpPr>
        <p:spPr>
          <a:xfrm>
            <a:off x="118872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96" name="Rectangle 352"/>
          <p:cNvSpPr/>
          <p:nvPr/>
        </p:nvSpPr>
        <p:spPr>
          <a:xfrm>
            <a:off x="0" y="0"/>
            <a:ext cx="318600" cy="68565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97" name="Rounded Rectangle 155"/>
          <p:cNvSpPr/>
          <p:nvPr/>
        </p:nvSpPr>
        <p:spPr>
          <a:xfrm>
            <a:off x="9875520" y="365760"/>
            <a:ext cx="2010240" cy="50148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8" name="TextBox 67"/>
          <p:cNvSpPr/>
          <p:nvPr/>
        </p:nvSpPr>
        <p:spPr>
          <a:xfrm>
            <a:off x="1061640" y="1005840"/>
            <a:ext cx="88480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Java'da Unicode – Son Genel Bakış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TextBox 68"/>
          <p:cNvSpPr/>
          <p:nvPr/>
        </p:nvSpPr>
        <p:spPr>
          <a:xfrm>
            <a:off x="1433160" y="2057400"/>
            <a:ext cx="810540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Unicode, Java’da metinleri evrensel ve standart bir biçimde temsil etmeyi sağlar.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Böylece farklı dillerdeki karakterler tek bir sistem içinde güvenli şekilde işlenebilir.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Rounded Rectangle 156"/>
          <p:cNvSpPr/>
          <p:nvPr/>
        </p:nvSpPr>
        <p:spPr>
          <a:xfrm>
            <a:off x="987480" y="318204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01" name="Rounded Rectangle 157"/>
          <p:cNvSpPr/>
          <p:nvPr/>
        </p:nvSpPr>
        <p:spPr>
          <a:xfrm>
            <a:off x="914400" y="310896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Java, karakterleri işlerken Unicode standardını temel alır. char veri tipi 16 bitlik yapısıyla UTF-16 mantığında çalışır ve birçok karakteri doğrudan temsil eder. Bu yapı sayesinde Java, yalnızca İngilizce karakterlerle değil; Türkçe, Arapça, Çince ve daha birçok dildeki sembollerle de uyumlu çalışabilir. Unicode desteği, çok dilli yazılım geliştirmede büyük önem taşır.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2" name="Rounded Rectangle 158"/>
          <p:cNvSpPr/>
          <p:nvPr/>
        </p:nvSpPr>
        <p:spPr>
          <a:xfrm>
            <a:off x="4507920" y="318204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03" name="Rounded Rectangle 159"/>
          <p:cNvSpPr/>
          <p:nvPr/>
        </p:nvSpPr>
        <p:spPr>
          <a:xfrm>
            <a:off x="4434840" y="310896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Karakter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Unicode Kod Noktası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UTF Kodlaması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Java'da Saklanır ve İşlenir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4" name="Rounded Rectangle 160"/>
          <p:cNvSpPr/>
          <p:nvPr/>
        </p:nvSpPr>
        <p:spPr>
          <a:xfrm>
            <a:off x="8028360" y="318204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05" name="Rounded Rectangle 161"/>
          <p:cNvSpPr/>
          <p:nvPr/>
        </p:nvSpPr>
        <p:spPr>
          <a:xfrm>
            <a:off x="7955280" y="3108960"/>
            <a:ext cx="3702960" cy="3062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UnicodeSummary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char letter = 'Ç';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System.out.println("Karakter: " + letter);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System.out.println("Unicode Degeri: " + (int) letter);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6" name="TextBox 69"/>
          <p:cNvSpPr/>
          <p:nvPr/>
        </p:nvSpPr>
        <p:spPr>
          <a:xfrm>
            <a:off x="4600080" y="6446520"/>
            <a:ext cx="3051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Rectangle 353"/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08" name="Rectangle 354"/>
          <p:cNvSpPr/>
          <p:nvPr/>
        </p:nvSpPr>
        <p:spPr>
          <a:xfrm>
            <a:off x="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09" name="Rectangle 355"/>
          <p:cNvSpPr/>
          <p:nvPr/>
        </p:nvSpPr>
        <p:spPr>
          <a:xfrm>
            <a:off x="9144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0" name="Rectangle 356"/>
          <p:cNvSpPr/>
          <p:nvPr/>
        </p:nvSpPr>
        <p:spPr>
          <a:xfrm>
            <a:off x="18288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1" name="Rectangle 357"/>
          <p:cNvSpPr/>
          <p:nvPr/>
        </p:nvSpPr>
        <p:spPr>
          <a:xfrm>
            <a:off x="27432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2" name="Rectangle 358"/>
          <p:cNvSpPr/>
          <p:nvPr/>
        </p:nvSpPr>
        <p:spPr>
          <a:xfrm>
            <a:off x="36576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3" name="Rectangle 359"/>
          <p:cNvSpPr/>
          <p:nvPr/>
        </p:nvSpPr>
        <p:spPr>
          <a:xfrm>
            <a:off x="45720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4" name="Rectangle 360"/>
          <p:cNvSpPr/>
          <p:nvPr/>
        </p:nvSpPr>
        <p:spPr>
          <a:xfrm>
            <a:off x="54864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5" name="Rectangle 361"/>
          <p:cNvSpPr/>
          <p:nvPr/>
        </p:nvSpPr>
        <p:spPr>
          <a:xfrm>
            <a:off x="64008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6" name="Rectangle 362"/>
          <p:cNvSpPr/>
          <p:nvPr/>
        </p:nvSpPr>
        <p:spPr>
          <a:xfrm>
            <a:off x="73152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7" name="Rectangle 363"/>
          <p:cNvSpPr/>
          <p:nvPr/>
        </p:nvSpPr>
        <p:spPr>
          <a:xfrm>
            <a:off x="82296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8" name="Rectangle 364"/>
          <p:cNvSpPr/>
          <p:nvPr/>
        </p:nvSpPr>
        <p:spPr>
          <a:xfrm>
            <a:off x="91440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9" name="Rectangle 365"/>
          <p:cNvSpPr/>
          <p:nvPr/>
        </p:nvSpPr>
        <p:spPr>
          <a:xfrm>
            <a:off x="100584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0" name="Rectangle 366"/>
          <p:cNvSpPr/>
          <p:nvPr/>
        </p:nvSpPr>
        <p:spPr>
          <a:xfrm>
            <a:off x="109728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1" name="Rectangle 367"/>
          <p:cNvSpPr/>
          <p:nvPr/>
        </p:nvSpPr>
        <p:spPr>
          <a:xfrm>
            <a:off x="118872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2" name="Rectangle 368"/>
          <p:cNvSpPr/>
          <p:nvPr/>
        </p:nvSpPr>
        <p:spPr>
          <a:xfrm>
            <a:off x="0" y="0"/>
            <a:ext cx="318960" cy="68569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3" name="Rounded Rectangle 162"/>
          <p:cNvSpPr/>
          <p:nvPr/>
        </p:nvSpPr>
        <p:spPr>
          <a:xfrm>
            <a:off x="9875520" y="365760"/>
            <a:ext cx="2010600" cy="5018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4" name="TextBox 70"/>
          <p:cNvSpPr/>
          <p:nvPr/>
        </p:nvSpPr>
        <p:spPr>
          <a:xfrm>
            <a:off x="968040" y="1005840"/>
            <a:ext cx="90356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User Input (Kullanıcıdan Veri Alma)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TextBox 71"/>
          <p:cNvSpPr/>
          <p:nvPr/>
        </p:nvSpPr>
        <p:spPr>
          <a:xfrm>
            <a:off x="1554840" y="2057400"/>
            <a:ext cx="786204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Java’da kullanıcıdan veri almak için genellikle Scanner sınıfı kullanılır.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Bu sınıf, klavyeden girilen verileri okuyarak program içinde kullanmamızı sağlar.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Rounded Rectangle 163"/>
          <p:cNvSpPr/>
          <p:nvPr/>
        </p:nvSpPr>
        <p:spPr>
          <a:xfrm>
            <a:off x="987480" y="3182040"/>
            <a:ext cx="3290760" cy="27421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7" name="Rounded Rectangle 164"/>
          <p:cNvSpPr/>
          <p:nvPr/>
        </p:nvSpPr>
        <p:spPr>
          <a:xfrm>
            <a:off x="685800" y="3108960"/>
            <a:ext cx="3519360" cy="32918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Scanner kullanmak için import gerekir: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import java.util.Scanner;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Scanner nesnesi oluşturma: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Scanner input = new Scanner(System.in);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Java’da kullanıcıdan veri almak için: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System.in → klavye girişini temsil eder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Scanner → bu girişi okur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Farklı veri tipleri için farklı metodlar vardır: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8" name="Rounded Rectangle 165"/>
          <p:cNvSpPr/>
          <p:nvPr/>
        </p:nvSpPr>
        <p:spPr>
          <a:xfrm>
            <a:off x="4507920" y="3182040"/>
            <a:ext cx="3290760" cy="27421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9" name="Rounded Rectangle 166"/>
          <p:cNvSpPr/>
          <p:nvPr/>
        </p:nvSpPr>
        <p:spPr>
          <a:xfrm>
            <a:off x="4434840" y="2971800"/>
            <a:ext cx="3337560" cy="34290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Program başlar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Scanner oluşturulur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Kullanıcıdan veri istenir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Kullanıcı veri girer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Scanner veriyi okur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Veri değişkene atanır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Program devam eder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0" name="Rounded Rectangle 167"/>
          <p:cNvSpPr/>
          <p:nvPr/>
        </p:nvSpPr>
        <p:spPr>
          <a:xfrm>
            <a:off x="8028360" y="3182040"/>
            <a:ext cx="3290760" cy="27421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31" name="Rounded Rectangle 168"/>
          <p:cNvSpPr/>
          <p:nvPr/>
        </p:nvSpPr>
        <p:spPr>
          <a:xfrm>
            <a:off x="7955280" y="3108960"/>
            <a:ext cx="3703320" cy="32918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import java.util.Scanner;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UserInputExample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Scanner input = new Scanner(System.in);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System.out.print("Adınızı girin: ");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name = input.nextLine();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System.out.print("Yaşınızı girin: ");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int age = input.nextInt();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System.out.println("Merhaba " + name + ", yaşınız: " + age);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input.close();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2" name="TextBox 72"/>
          <p:cNvSpPr/>
          <p:nvPr/>
        </p:nvSpPr>
        <p:spPr>
          <a:xfrm>
            <a:off x="4600080" y="6446520"/>
            <a:ext cx="3051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</TotalTime>
  <Application>LibreOffice/7.4.2.3$Windows_X86_64 LibreOffice_project/382eef1f22670f7f4118c8c2dd222ec7ad009daf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2026-04-11T23:55:16Z</dcterms:modified>
  <cp:revision>38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