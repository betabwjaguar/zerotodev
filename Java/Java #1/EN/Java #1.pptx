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0080625" cy="7559675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A732545-0BE1-4492-BFBE-A875B83CDE2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64F04FA-8785-4852-BA6D-36C852E0C52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6A4A7DC-2E29-498A-AC03-38B42F29D32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6563774-B740-4ED5-865A-30D0E7A5644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4827833-3C93-41F1-ADD3-3BABB06B9AF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6403572-FB30-4814-B76B-0DC0F907D60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2AEABCF-B0F6-4825-BD67-B5AE2AFD7E6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E99E17D-0682-436F-89B5-B485F71D575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970878A-26F7-40EC-8BB3-F63BE4A2F79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4356609-5758-417B-9704-3C66BBD2B65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5999323-D63C-4F26-8CE7-7FC0B41ED02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3AF57EE-24EE-4576-A705-9AA56D4A85A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442320" y="7005240"/>
            <a:ext cx="3183480" cy="393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7223040" y="7005240"/>
            <a:ext cx="2343960" cy="393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2743FDE-5A1A-4717-A141-93B62959C72F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02920" y="7005240"/>
            <a:ext cx="2343960" cy="393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1440" y="1800"/>
            <a:ext cx="13428360" cy="755172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2" name="Rectangle 2"/>
          <p:cNvSpPr/>
          <p:nvPr/>
        </p:nvSpPr>
        <p:spPr>
          <a:xfrm>
            <a:off x="144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" name="Rectangle 3"/>
          <p:cNvSpPr/>
          <p:nvPr/>
        </p:nvSpPr>
        <p:spPr>
          <a:xfrm>
            <a:off x="100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4" name="Rectangle 4"/>
          <p:cNvSpPr/>
          <p:nvPr/>
        </p:nvSpPr>
        <p:spPr>
          <a:xfrm>
            <a:off x="201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" name="Rectangle 5"/>
          <p:cNvSpPr/>
          <p:nvPr/>
        </p:nvSpPr>
        <p:spPr>
          <a:xfrm>
            <a:off x="302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" name="Rectangle 6"/>
          <p:cNvSpPr/>
          <p:nvPr/>
        </p:nvSpPr>
        <p:spPr>
          <a:xfrm>
            <a:off x="402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7" name="Rectangle 7"/>
          <p:cNvSpPr/>
          <p:nvPr/>
        </p:nvSpPr>
        <p:spPr>
          <a:xfrm>
            <a:off x="503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" name="Rectangle 8"/>
          <p:cNvSpPr/>
          <p:nvPr/>
        </p:nvSpPr>
        <p:spPr>
          <a:xfrm>
            <a:off x="604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" name="Rectangle 9"/>
          <p:cNvSpPr/>
          <p:nvPr/>
        </p:nvSpPr>
        <p:spPr>
          <a:xfrm>
            <a:off x="705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0" name="Rectangle 10"/>
          <p:cNvSpPr/>
          <p:nvPr/>
        </p:nvSpPr>
        <p:spPr>
          <a:xfrm>
            <a:off x="806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" name="Rectangle 11"/>
          <p:cNvSpPr/>
          <p:nvPr/>
        </p:nvSpPr>
        <p:spPr>
          <a:xfrm>
            <a:off x="906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2" name="Rectangle 12"/>
          <p:cNvSpPr/>
          <p:nvPr/>
        </p:nvSpPr>
        <p:spPr>
          <a:xfrm>
            <a:off x="1007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3" name="Rectangle 13"/>
          <p:cNvSpPr/>
          <p:nvPr/>
        </p:nvSpPr>
        <p:spPr>
          <a:xfrm>
            <a:off x="1108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4" name="Rectangle 14"/>
          <p:cNvSpPr/>
          <p:nvPr/>
        </p:nvSpPr>
        <p:spPr>
          <a:xfrm>
            <a:off x="1209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5" name="Rectangle 15"/>
          <p:cNvSpPr/>
          <p:nvPr/>
        </p:nvSpPr>
        <p:spPr>
          <a:xfrm>
            <a:off x="1310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6" name="Rectangle 16"/>
          <p:cNvSpPr/>
          <p:nvPr/>
        </p:nvSpPr>
        <p:spPr>
          <a:xfrm>
            <a:off x="1440" y="1800"/>
            <a:ext cx="344520" cy="755172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7" name="Rounded Rectangle 17"/>
          <p:cNvSpPr/>
          <p:nvPr/>
        </p:nvSpPr>
        <p:spPr>
          <a:xfrm>
            <a:off x="10884960" y="401400"/>
            <a:ext cx="2208960" cy="54504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Box 18"/>
          <p:cNvSpPr/>
          <p:nvPr/>
        </p:nvSpPr>
        <p:spPr>
          <a:xfrm>
            <a:off x="4376880" y="1107000"/>
            <a:ext cx="333432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Introduction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Box 19"/>
          <p:cNvSpPr/>
          <p:nvPr/>
        </p:nvSpPr>
        <p:spPr>
          <a:xfrm>
            <a:off x="1824120" y="2266200"/>
            <a:ext cx="909504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An overview of the Java programming language and the topics covered in this presentation.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Rounded Rectangle 20"/>
          <p:cNvSpPr/>
          <p:nvPr/>
        </p:nvSpPr>
        <p:spPr>
          <a:xfrm>
            <a:off x="108684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1" name="Rounded Rectangle 21"/>
          <p:cNvSpPr/>
          <p:nvPr/>
        </p:nvSpPr>
        <p:spPr>
          <a:xfrm>
            <a:off x="1006560" y="342576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Introduce the Java programming language 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Explain core concepts and fundamentals 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Build a strong foundation for Java development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Rounded Rectangle 22"/>
          <p:cNvSpPr/>
          <p:nvPr/>
        </p:nvSpPr>
        <p:spPr>
          <a:xfrm>
            <a:off x="49683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3" name="Rounded Rectangle 23"/>
          <p:cNvSpPr/>
          <p:nvPr/>
        </p:nvSpPr>
        <p:spPr>
          <a:xfrm>
            <a:off x="4886640" y="342576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Introduction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        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What is Java?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        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What Will You Learn?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        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  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Java History</a:t>
            </a:r>
            <a:br>
              <a:rPr sz="1800"/>
            </a:b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	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...more!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Rounded Rectangle 24"/>
          <p:cNvSpPr/>
          <p:nvPr/>
        </p:nvSpPr>
        <p:spPr>
          <a:xfrm>
            <a:off x="88491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5" name="Rounded Rectangle 25"/>
          <p:cNvSpPr/>
          <p:nvPr/>
        </p:nvSpPr>
        <p:spPr>
          <a:xfrm>
            <a:off x="8767440" y="342576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78ffc8"/>
                </a:solidFill>
                <a:latin typeface="Consolas"/>
                <a:ea typeface="DejaVu Sans"/>
              </a:rPr>
              <a:t>Introduction for Java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Box 26"/>
          <p:cNvSpPr/>
          <p:nvPr/>
        </p:nvSpPr>
        <p:spPr>
          <a:xfrm>
            <a:off x="5224320" y="710460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32"/>
          <p:cNvSpPr/>
          <p:nvPr/>
        </p:nvSpPr>
        <p:spPr>
          <a:xfrm>
            <a:off x="1440" y="1800"/>
            <a:ext cx="13428360" cy="755172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8" name="Rectangle 33"/>
          <p:cNvSpPr/>
          <p:nvPr/>
        </p:nvSpPr>
        <p:spPr>
          <a:xfrm>
            <a:off x="144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9" name="Rectangle 34"/>
          <p:cNvSpPr/>
          <p:nvPr/>
        </p:nvSpPr>
        <p:spPr>
          <a:xfrm>
            <a:off x="100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0" name="Rectangle 35"/>
          <p:cNvSpPr/>
          <p:nvPr/>
        </p:nvSpPr>
        <p:spPr>
          <a:xfrm>
            <a:off x="201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1" name="Rectangle 36"/>
          <p:cNvSpPr/>
          <p:nvPr/>
        </p:nvSpPr>
        <p:spPr>
          <a:xfrm>
            <a:off x="302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2" name="Rectangle 37"/>
          <p:cNvSpPr/>
          <p:nvPr/>
        </p:nvSpPr>
        <p:spPr>
          <a:xfrm>
            <a:off x="402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3" name="Rectangle 38"/>
          <p:cNvSpPr/>
          <p:nvPr/>
        </p:nvSpPr>
        <p:spPr>
          <a:xfrm>
            <a:off x="503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4" name="Rectangle 39"/>
          <p:cNvSpPr/>
          <p:nvPr/>
        </p:nvSpPr>
        <p:spPr>
          <a:xfrm>
            <a:off x="604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5" name="Rectangle 40"/>
          <p:cNvSpPr/>
          <p:nvPr/>
        </p:nvSpPr>
        <p:spPr>
          <a:xfrm>
            <a:off x="705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6" name="Rectangle 41"/>
          <p:cNvSpPr/>
          <p:nvPr/>
        </p:nvSpPr>
        <p:spPr>
          <a:xfrm>
            <a:off x="806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7" name="Rectangle 42"/>
          <p:cNvSpPr/>
          <p:nvPr/>
        </p:nvSpPr>
        <p:spPr>
          <a:xfrm>
            <a:off x="906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8" name="Rectangle 43"/>
          <p:cNvSpPr/>
          <p:nvPr/>
        </p:nvSpPr>
        <p:spPr>
          <a:xfrm>
            <a:off x="1007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9" name="Rectangle 44"/>
          <p:cNvSpPr/>
          <p:nvPr/>
        </p:nvSpPr>
        <p:spPr>
          <a:xfrm>
            <a:off x="1108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0" name="Rectangle 45"/>
          <p:cNvSpPr/>
          <p:nvPr/>
        </p:nvSpPr>
        <p:spPr>
          <a:xfrm>
            <a:off x="1209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1" name="Rectangle 46"/>
          <p:cNvSpPr/>
          <p:nvPr/>
        </p:nvSpPr>
        <p:spPr>
          <a:xfrm>
            <a:off x="1310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2" name="Rectangle 47"/>
          <p:cNvSpPr/>
          <p:nvPr/>
        </p:nvSpPr>
        <p:spPr>
          <a:xfrm>
            <a:off x="1440" y="1800"/>
            <a:ext cx="344520" cy="755172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3" name="Rounded Rectangle 8"/>
          <p:cNvSpPr/>
          <p:nvPr/>
        </p:nvSpPr>
        <p:spPr>
          <a:xfrm>
            <a:off x="10884960" y="401400"/>
            <a:ext cx="2208960" cy="54504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4249800" y="1107000"/>
            <a:ext cx="359028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What is Java?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5"/>
          <p:cNvSpPr/>
          <p:nvPr/>
        </p:nvSpPr>
        <p:spPr>
          <a:xfrm>
            <a:off x="3414600" y="2266200"/>
            <a:ext cx="5909760" cy="95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Java is a high-level, object-oriented programming language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designed to be platform-independent and reliable.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Rounded Rectangle 9"/>
          <p:cNvSpPr/>
          <p:nvPr/>
        </p:nvSpPr>
        <p:spPr>
          <a:xfrm>
            <a:off x="108684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7" name="Rounded Rectangle 10"/>
          <p:cNvSpPr/>
          <p:nvPr/>
        </p:nvSpPr>
        <p:spPr>
          <a:xfrm>
            <a:off x="1006560" y="342504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High-level programming language 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Object-oriented (OOP) approach 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Platform-independent using JVM 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Secure and robust by design 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Widely used in enterprise and web applications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Rounded Rectangle 11"/>
          <p:cNvSpPr/>
          <p:nvPr/>
        </p:nvSpPr>
        <p:spPr>
          <a:xfrm>
            <a:off x="49683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9" name="Rounded Rectangle 12"/>
          <p:cNvSpPr/>
          <p:nvPr/>
        </p:nvSpPr>
        <p:spPr>
          <a:xfrm>
            <a:off x="4886640" y="342504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     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Java Source Code (.java)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↓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       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Java Compiler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↓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       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Bytecode (.class)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↓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   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Java Virtual Machine (JVM)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↓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     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Operating System</a:t>
            </a:r>
            <a:br>
              <a:rPr sz="1500"/>
            </a:br>
            <a:br>
              <a:rPr sz="1500"/>
            </a:b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Write Once, Run Anywhere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Rounded Rectangle 13"/>
          <p:cNvSpPr/>
          <p:nvPr/>
        </p:nvSpPr>
        <p:spPr>
          <a:xfrm>
            <a:off x="88491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1" name="Rounded Rectangle 14"/>
          <p:cNvSpPr/>
          <p:nvPr/>
        </p:nvSpPr>
        <p:spPr>
          <a:xfrm>
            <a:off x="8767440" y="342576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Main {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System.out.println("Hello, Java!");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Box 6"/>
          <p:cNvSpPr/>
          <p:nvPr/>
        </p:nvSpPr>
        <p:spPr>
          <a:xfrm>
            <a:off x="5224320" y="710460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17"/>
          <p:cNvSpPr/>
          <p:nvPr/>
        </p:nvSpPr>
        <p:spPr>
          <a:xfrm>
            <a:off x="1440" y="1800"/>
            <a:ext cx="13428360" cy="755172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4" name="Rectangle 18"/>
          <p:cNvSpPr/>
          <p:nvPr/>
        </p:nvSpPr>
        <p:spPr>
          <a:xfrm>
            <a:off x="144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5" name="Rectangle 19"/>
          <p:cNvSpPr/>
          <p:nvPr/>
        </p:nvSpPr>
        <p:spPr>
          <a:xfrm>
            <a:off x="100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6" name="Rectangle 20"/>
          <p:cNvSpPr/>
          <p:nvPr/>
        </p:nvSpPr>
        <p:spPr>
          <a:xfrm>
            <a:off x="201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7" name="Rectangle 21"/>
          <p:cNvSpPr/>
          <p:nvPr/>
        </p:nvSpPr>
        <p:spPr>
          <a:xfrm>
            <a:off x="302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8" name="Rectangle 22"/>
          <p:cNvSpPr/>
          <p:nvPr/>
        </p:nvSpPr>
        <p:spPr>
          <a:xfrm>
            <a:off x="402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9" name="Rectangle 23"/>
          <p:cNvSpPr/>
          <p:nvPr/>
        </p:nvSpPr>
        <p:spPr>
          <a:xfrm>
            <a:off x="503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0" name="Rectangle 24"/>
          <p:cNvSpPr/>
          <p:nvPr/>
        </p:nvSpPr>
        <p:spPr>
          <a:xfrm>
            <a:off x="604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1" name="Rectangle 25"/>
          <p:cNvSpPr/>
          <p:nvPr/>
        </p:nvSpPr>
        <p:spPr>
          <a:xfrm>
            <a:off x="705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2" name="Rectangle 26"/>
          <p:cNvSpPr/>
          <p:nvPr/>
        </p:nvSpPr>
        <p:spPr>
          <a:xfrm>
            <a:off x="806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3" name="Rectangle 27"/>
          <p:cNvSpPr/>
          <p:nvPr/>
        </p:nvSpPr>
        <p:spPr>
          <a:xfrm>
            <a:off x="906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4" name="Rectangle 28"/>
          <p:cNvSpPr/>
          <p:nvPr/>
        </p:nvSpPr>
        <p:spPr>
          <a:xfrm>
            <a:off x="1007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5" name="Rectangle 29"/>
          <p:cNvSpPr/>
          <p:nvPr/>
        </p:nvSpPr>
        <p:spPr>
          <a:xfrm>
            <a:off x="1108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6" name="Rectangle 30"/>
          <p:cNvSpPr/>
          <p:nvPr/>
        </p:nvSpPr>
        <p:spPr>
          <a:xfrm>
            <a:off x="1209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7" name="Rectangle 31"/>
          <p:cNvSpPr/>
          <p:nvPr/>
        </p:nvSpPr>
        <p:spPr>
          <a:xfrm>
            <a:off x="1310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8" name="Rectangle 48"/>
          <p:cNvSpPr/>
          <p:nvPr/>
        </p:nvSpPr>
        <p:spPr>
          <a:xfrm>
            <a:off x="1440" y="1800"/>
            <a:ext cx="344520" cy="755172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9" name="Rounded Rectangle 15"/>
          <p:cNvSpPr/>
          <p:nvPr/>
        </p:nvSpPr>
        <p:spPr>
          <a:xfrm>
            <a:off x="10884960" y="401400"/>
            <a:ext cx="2208960" cy="54504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Box 7"/>
          <p:cNvSpPr/>
          <p:nvPr/>
        </p:nvSpPr>
        <p:spPr>
          <a:xfrm>
            <a:off x="3248280" y="1107000"/>
            <a:ext cx="559440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What Will You Learn?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8"/>
          <p:cNvSpPr/>
          <p:nvPr/>
        </p:nvSpPr>
        <p:spPr>
          <a:xfrm>
            <a:off x="3017520" y="2266200"/>
            <a:ext cx="670392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An overview of the key topics and skills covered in this Java course.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Rounded Rectangle 16"/>
          <p:cNvSpPr/>
          <p:nvPr/>
        </p:nvSpPr>
        <p:spPr>
          <a:xfrm>
            <a:off x="108684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3" name="Rounded Rectangle 18"/>
          <p:cNvSpPr/>
          <p:nvPr/>
        </p:nvSpPr>
        <p:spPr>
          <a:xfrm>
            <a:off x="1006560" y="342576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Understand Java fundamentals 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Learn object-oriented programming concepts 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Write and run Java programs  • Build a strong programming foundation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Rounded Rectangle 19"/>
          <p:cNvSpPr/>
          <p:nvPr/>
        </p:nvSpPr>
        <p:spPr>
          <a:xfrm>
            <a:off x="49683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5" name="Rounded Rectangle 26"/>
          <p:cNvSpPr/>
          <p:nvPr/>
        </p:nvSpPr>
        <p:spPr>
          <a:xfrm>
            <a:off x="4886640" y="342432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Java Syntax &amp; Basics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Variables &amp; Data Types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Control Flow (if / loops)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Methods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Object-Oriented Programming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Rounded Rectangle 27"/>
          <p:cNvSpPr/>
          <p:nvPr/>
        </p:nvSpPr>
        <p:spPr>
          <a:xfrm>
            <a:off x="88491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7" name="Rounded Rectangle 28"/>
          <p:cNvSpPr/>
          <p:nvPr/>
        </p:nvSpPr>
        <p:spPr>
          <a:xfrm>
            <a:off x="8767440" y="342504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int number = 10;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if (number &gt; 0) {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System.out.println("Positive");}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for (int i = 0; i &lt; 3; i++) {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System.out.println(i);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Box 9"/>
          <p:cNvSpPr/>
          <p:nvPr/>
        </p:nvSpPr>
        <p:spPr>
          <a:xfrm>
            <a:off x="5224320" y="710460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49"/>
          <p:cNvSpPr/>
          <p:nvPr/>
        </p:nvSpPr>
        <p:spPr>
          <a:xfrm>
            <a:off x="1440" y="1800"/>
            <a:ext cx="13428360" cy="755172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0" name="Rectangle 50"/>
          <p:cNvSpPr/>
          <p:nvPr/>
        </p:nvSpPr>
        <p:spPr>
          <a:xfrm>
            <a:off x="144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1" name="Rectangle 51"/>
          <p:cNvSpPr/>
          <p:nvPr/>
        </p:nvSpPr>
        <p:spPr>
          <a:xfrm>
            <a:off x="100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2" name="Rectangle 52"/>
          <p:cNvSpPr/>
          <p:nvPr/>
        </p:nvSpPr>
        <p:spPr>
          <a:xfrm>
            <a:off x="201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3" name="Rectangle 53"/>
          <p:cNvSpPr/>
          <p:nvPr/>
        </p:nvSpPr>
        <p:spPr>
          <a:xfrm>
            <a:off x="302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4" name="Rectangle 54"/>
          <p:cNvSpPr/>
          <p:nvPr/>
        </p:nvSpPr>
        <p:spPr>
          <a:xfrm>
            <a:off x="402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5" name="Rectangle 55"/>
          <p:cNvSpPr/>
          <p:nvPr/>
        </p:nvSpPr>
        <p:spPr>
          <a:xfrm>
            <a:off x="503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6" name="Rectangle 56"/>
          <p:cNvSpPr/>
          <p:nvPr/>
        </p:nvSpPr>
        <p:spPr>
          <a:xfrm>
            <a:off x="604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7" name="Rectangle 57"/>
          <p:cNvSpPr/>
          <p:nvPr/>
        </p:nvSpPr>
        <p:spPr>
          <a:xfrm>
            <a:off x="705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8" name="Rectangle 58"/>
          <p:cNvSpPr/>
          <p:nvPr/>
        </p:nvSpPr>
        <p:spPr>
          <a:xfrm>
            <a:off x="806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9" name="Rectangle 59"/>
          <p:cNvSpPr/>
          <p:nvPr/>
        </p:nvSpPr>
        <p:spPr>
          <a:xfrm>
            <a:off x="906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0" name="Rectangle 60"/>
          <p:cNvSpPr/>
          <p:nvPr/>
        </p:nvSpPr>
        <p:spPr>
          <a:xfrm>
            <a:off x="1007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1" name="Rectangle 61"/>
          <p:cNvSpPr/>
          <p:nvPr/>
        </p:nvSpPr>
        <p:spPr>
          <a:xfrm>
            <a:off x="1108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2" name="Rectangle 62"/>
          <p:cNvSpPr/>
          <p:nvPr/>
        </p:nvSpPr>
        <p:spPr>
          <a:xfrm>
            <a:off x="1209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3" name="Rectangle 63"/>
          <p:cNvSpPr/>
          <p:nvPr/>
        </p:nvSpPr>
        <p:spPr>
          <a:xfrm>
            <a:off x="1310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4" name="Rectangle 64"/>
          <p:cNvSpPr/>
          <p:nvPr/>
        </p:nvSpPr>
        <p:spPr>
          <a:xfrm>
            <a:off x="1440" y="1800"/>
            <a:ext cx="344520" cy="755172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5" name="Rounded Rectangle 29"/>
          <p:cNvSpPr/>
          <p:nvPr/>
        </p:nvSpPr>
        <p:spPr>
          <a:xfrm>
            <a:off x="10884960" y="401400"/>
            <a:ext cx="2208960" cy="54504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Box 10"/>
          <p:cNvSpPr/>
          <p:nvPr/>
        </p:nvSpPr>
        <p:spPr>
          <a:xfrm>
            <a:off x="4443480" y="1107000"/>
            <a:ext cx="320004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Java History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Box 11"/>
          <p:cNvSpPr/>
          <p:nvPr/>
        </p:nvSpPr>
        <p:spPr>
          <a:xfrm>
            <a:off x="1890720" y="2266200"/>
            <a:ext cx="896256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How Java was born and why it became one of the most powerful programming languages.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Rounded Rectangle 30"/>
          <p:cNvSpPr/>
          <p:nvPr/>
        </p:nvSpPr>
        <p:spPr>
          <a:xfrm>
            <a:off x="108684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9" name="Rounded Rectangle 31"/>
          <p:cNvSpPr/>
          <p:nvPr/>
        </p:nvSpPr>
        <p:spPr>
          <a:xfrm>
            <a:off x="1006560" y="342504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The Beginning (1990)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Java was created at Sun Microsystems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Developed by James Gosling and his team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Originally called Oak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Initial goal: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Software for consumer electronics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TVs, set-top boxes, embedded systems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Key problem: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Different hardware, different software ❌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“</a:t>
            </a: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We needed one language that could run everywhere.”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Rounded Rectangle 32"/>
          <p:cNvSpPr/>
          <p:nvPr/>
        </p:nvSpPr>
        <p:spPr>
          <a:xfrm>
            <a:off x="49683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41" name="Rounded Rectangle 33"/>
          <p:cNvSpPr/>
          <p:nvPr/>
        </p:nvSpPr>
        <p:spPr>
          <a:xfrm>
            <a:off x="4886640" y="342504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Write Once, Run Anywhere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Java source code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Compiled to Bytecode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Runs on JVM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Works on every OS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Released in 1995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Built for the Internet era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Rounded Rectangle 34"/>
          <p:cNvSpPr/>
          <p:nvPr/>
        </p:nvSpPr>
        <p:spPr>
          <a:xfrm>
            <a:off x="88491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43" name="Rounded Rectangle 35"/>
          <p:cNvSpPr/>
          <p:nvPr/>
        </p:nvSpPr>
        <p:spPr>
          <a:xfrm>
            <a:off x="8767440" y="342504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Main 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System.out.println("Java History Begins!");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int year = 1995;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if (year &gt;= 1995) 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System.out.println("Java is born");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Box 12"/>
          <p:cNvSpPr/>
          <p:nvPr/>
        </p:nvSpPr>
        <p:spPr>
          <a:xfrm>
            <a:off x="5224320" y="710460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ectangle 65"/>
          <p:cNvSpPr/>
          <p:nvPr/>
        </p:nvSpPr>
        <p:spPr>
          <a:xfrm>
            <a:off x="1440" y="1800"/>
            <a:ext cx="13428360" cy="755172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46" name="Rectangle 66"/>
          <p:cNvSpPr/>
          <p:nvPr/>
        </p:nvSpPr>
        <p:spPr>
          <a:xfrm>
            <a:off x="144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47" name="Rectangle 67"/>
          <p:cNvSpPr/>
          <p:nvPr/>
        </p:nvSpPr>
        <p:spPr>
          <a:xfrm>
            <a:off x="100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48" name="Rectangle 68"/>
          <p:cNvSpPr/>
          <p:nvPr/>
        </p:nvSpPr>
        <p:spPr>
          <a:xfrm>
            <a:off x="201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49" name="Rectangle 69"/>
          <p:cNvSpPr/>
          <p:nvPr/>
        </p:nvSpPr>
        <p:spPr>
          <a:xfrm>
            <a:off x="302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0" name="Rectangle 70"/>
          <p:cNvSpPr/>
          <p:nvPr/>
        </p:nvSpPr>
        <p:spPr>
          <a:xfrm>
            <a:off x="402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1" name="Rectangle 71"/>
          <p:cNvSpPr/>
          <p:nvPr/>
        </p:nvSpPr>
        <p:spPr>
          <a:xfrm>
            <a:off x="503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2" name="Rectangle 72"/>
          <p:cNvSpPr/>
          <p:nvPr/>
        </p:nvSpPr>
        <p:spPr>
          <a:xfrm>
            <a:off x="604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3" name="Rectangle 73"/>
          <p:cNvSpPr/>
          <p:nvPr/>
        </p:nvSpPr>
        <p:spPr>
          <a:xfrm>
            <a:off x="705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4" name="Rectangle 74"/>
          <p:cNvSpPr/>
          <p:nvPr/>
        </p:nvSpPr>
        <p:spPr>
          <a:xfrm>
            <a:off x="806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5" name="Rectangle 75"/>
          <p:cNvSpPr/>
          <p:nvPr/>
        </p:nvSpPr>
        <p:spPr>
          <a:xfrm>
            <a:off x="906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6" name="Rectangle 76"/>
          <p:cNvSpPr/>
          <p:nvPr/>
        </p:nvSpPr>
        <p:spPr>
          <a:xfrm>
            <a:off x="1007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7" name="Rectangle 77"/>
          <p:cNvSpPr/>
          <p:nvPr/>
        </p:nvSpPr>
        <p:spPr>
          <a:xfrm>
            <a:off x="1108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8" name="Rectangle 78"/>
          <p:cNvSpPr/>
          <p:nvPr/>
        </p:nvSpPr>
        <p:spPr>
          <a:xfrm>
            <a:off x="1209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9" name="Rectangle 79"/>
          <p:cNvSpPr/>
          <p:nvPr/>
        </p:nvSpPr>
        <p:spPr>
          <a:xfrm>
            <a:off x="1310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0" name="Rectangle 80"/>
          <p:cNvSpPr/>
          <p:nvPr/>
        </p:nvSpPr>
        <p:spPr>
          <a:xfrm>
            <a:off x="1440" y="1800"/>
            <a:ext cx="344520" cy="755172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1" name="Rounded Rectangle 36"/>
          <p:cNvSpPr/>
          <p:nvPr/>
        </p:nvSpPr>
        <p:spPr>
          <a:xfrm>
            <a:off x="10884960" y="401400"/>
            <a:ext cx="2208960" cy="54504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Box 13"/>
          <p:cNvSpPr/>
          <p:nvPr/>
        </p:nvSpPr>
        <p:spPr>
          <a:xfrm>
            <a:off x="2634120" y="1107000"/>
            <a:ext cx="682272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   </a:t>
            </a: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The Problem Before Java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Box 14"/>
          <p:cNvSpPr/>
          <p:nvPr/>
        </p:nvSpPr>
        <p:spPr>
          <a:xfrm>
            <a:off x="3651840" y="2266200"/>
            <a:ext cx="54374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Why the world needed a new programming language.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Rounded Rectangle 37"/>
          <p:cNvSpPr/>
          <p:nvPr/>
        </p:nvSpPr>
        <p:spPr>
          <a:xfrm>
            <a:off x="108684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5" name="Rounded Rectangle 38"/>
          <p:cNvSpPr/>
          <p:nvPr/>
        </p:nvSpPr>
        <p:spPr>
          <a:xfrm>
            <a:off x="679680" y="3273840"/>
            <a:ext cx="4028040" cy="31662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Software Chaos (Early 1990s)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The situation: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Different computers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Different processors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Different operating systems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Result: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Programs worked on one machine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Failed on another ❌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Big issue: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Developers had to rewrite the same software again and again.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“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Write once” did NOT exist yet.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Rounded Rectangle 39"/>
          <p:cNvSpPr/>
          <p:nvPr/>
        </p:nvSpPr>
        <p:spPr>
          <a:xfrm>
            <a:off x="49683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7" name="Rounded Rectangle 40"/>
          <p:cNvSpPr/>
          <p:nvPr/>
        </p:nvSpPr>
        <p:spPr>
          <a:xfrm>
            <a:off x="4886640" y="342576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Why Existing Languages Failed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C / C++ → Hardware dependent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Platform-specific binaries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Memory management issues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Security problems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Main pain: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One system = one build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i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No universal solution.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Rounded Rectangle 41"/>
          <p:cNvSpPr/>
          <p:nvPr/>
        </p:nvSpPr>
        <p:spPr>
          <a:xfrm>
            <a:off x="88491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9" name="Rounded Rectangle 42"/>
          <p:cNvSpPr/>
          <p:nvPr/>
        </p:nvSpPr>
        <p:spPr>
          <a:xfrm>
            <a:off x="8767440" y="342504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// Before Java philosophy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// Code depended on hardware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int device = 1991;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if (device != 1995) {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System.out.println("Rewrite the software!");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Box 15"/>
          <p:cNvSpPr/>
          <p:nvPr/>
        </p:nvSpPr>
        <p:spPr>
          <a:xfrm>
            <a:off x="5224320" y="710460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81"/>
          <p:cNvSpPr/>
          <p:nvPr/>
        </p:nvSpPr>
        <p:spPr>
          <a:xfrm>
            <a:off x="1440" y="1800"/>
            <a:ext cx="13428360" cy="755172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72" name="Rectangle 82"/>
          <p:cNvSpPr/>
          <p:nvPr/>
        </p:nvSpPr>
        <p:spPr>
          <a:xfrm>
            <a:off x="144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73" name="Rectangle 83"/>
          <p:cNvSpPr/>
          <p:nvPr/>
        </p:nvSpPr>
        <p:spPr>
          <a:xfrm>
            <a:off x="100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74" name="Rectangle 84"/>
          <p:cNvSpPr/>
          <p:nvPr/>
        </p:nvSpPr>
        <p:spPr>
          <a:xfrm>
            <a:off x="201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75" name="Rectangle 85"/>
          <p:cNvSpPr/>
          <p:nvPr/>
        </p:nvSpPr>
        <p:spPr>
          <a:xfrm>
            <a:off x="302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76" name="Rectangle 86"/>
          <p:cNvSpPr/>
          <p:nvPr/>
        </p:nvSpPr>
        <p:spPr>
          <a:xfrm>
            <a:off x="402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77" name="Rectangle 87"/>
          <p:cNvSpPr/>
          <p:nvPr/>
        </p:nvSpPr>
        <p:spPr>
          <a:xfrm>
            <a:off x="503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78" name="Rectangle 88"/>
          <p:cNvSpPr/>
          <p:nvPr/>
        </p:nvSpPr>
        <p:spPr>
          <a:xfrm>
            <a:off x="604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79" name="Rectangle 89"/>
          <p:cNvSpPr/>
          <p:nvPr/>
        </p:nvSpPr>
        <p:spPr>
          <a:xfrm>
            <a:off x="705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0" name="Rectangle 90"/>
          <p:cNvSpPr/>
          <p:nvPr/>
        </p:nvSpPr>
        <p:spPr>
          <a:xfrm>
            <a:off x="806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1" name="Rectangle 91"/>
          <p:cNvSpPr/>
          <p:nvPr/>
        </p:nvSpPr>
        <p:spPr>
          <a:xfrm>
            <a:off x="906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2" name="Rectangle 92"/>
          <p:cNvSpPr/>
          <p:nvPr/>
        </p:nvSpPr>
        <p:spPr>
          <a:xfrm>
            <a:off x="1007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3" name="Rectangle 93"/>
          <p:cNvSpPr/>
          <p:nvPr/>
        </p:nvSpPr>
        <p:spPr>
          <a:xfrm>
            <a:off x="1108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4" name="Rectangle 94"/>
          <p:cNvSpPr/>
          <p:nvPr/>
        </p:nvSpPr>
        <p:spPr>
          <a:xfrm>
            <a:off x="1209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5" name="Rectangle 95"/>
          <p:cNvSpPr/>
          <p:nvPr/>
        </p:nvSpPr>
        <p:spPr>
          <a:xfrm>
            <a:off x="1310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6" name="Rectangle 96"/>
          <p:cNvSpPr/>
          <p:nvPr/>
        </p:nvSpPr>
        <p:spPr>
          <a:xfrm>
            <a:off x="1440" y="1800"/>
            <a:ext cx="344520" cy="755172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7" name="Rounded Rectangle 43"/>
          <p:cNvSpPr/>
          <p:nvPr/>
        </p:nvSpPr>
        <p:spPr>
          <a:xfrm>
            <a:off x="10884960" y="401400"/>
            <a:ext cx="2208960" cy="54504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Box 16"/>
          <p:cNvSpPr/>
          <p:nvPr/>
        </p:nvSpPr>
        <p:spPr>
          <a:xfrm>
            <a:off x="1678320" y="1107000"/>
            <a:ext cx="874296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       </a:t>
            </a: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Java History – The Oak Project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Box 17"/>
          <p:cNvSpPr/>
          <p:nvPr/>
        </p:nvSpPr>
        <p:spPr>
          <a:xfrm>
            <a:off x="4784760" y="2266200"/>
            <a:ext cx="3169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aaaaaa"/>
                </a:solidFill>
                <a:latin typeface="Calibri"/>
                <a:ea typeface="DejaVu Sans"/>
              </a:rPr>
              <a:t>The idea that later became Java.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Rounded Rectangle 44"/>
          <p:cNvSpPr/>
          <p:nvPr/>
        </p:nvSpPr>
        <p:spPr>
          <a:xfrm>
            <a:off x="108684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1" name="Rounded Rectangle 45"/>
          <p:cNvSpPr/>
          <p:nvPr/>
        </p:nvSpPr>
        <p:spPr>
          <a:xfrm>
            <a:off x="1006560" y="342432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Project Oak (1991)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Sun Microsystems internal project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Led by James Gosling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Small, focused team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Original name: Oak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Purpose: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Software for smart devices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(TVs, set-top boxes, embedded systems)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Rounded Rectangle 46"/>
          <p:cNvSpPr/>
          <p:nvPr/>
        </p:nvSpPr>
        <p:spPr>
          <a:xfrm>
            <a:off x="49683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3" name="Rounded Rectangle 48"/>
          <p:cNvSpPr/>
          <p:nvPr/>
        </p:nvSpPr>
        <p:spPr>
          <a:xfrm>
            <a:off x="88491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4" name="Rounded Rectangle 49"/>
          <p:cNvSpPr/>
          <p:nvPr/>
        </p:nvSpPr>
        <p:spPr>
          <a:xfrm>
            <a:off x="8767440" y="342576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OakIdea 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boolean runEverywhere = true;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if (runEverywhere) 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System.out.println("This idea will change software");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Box 20"/>
          <p:cNvSpPr/>
          <p:nvPr/>
        </p:nvSpPr>
        <p:spPr>
          <a:xfrm>
            <a:off x="5224320" y="710460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Rounded Rectangle 1"/>
          <p:cNvSpPr/>
          <p:nvPr/>
        </p:nvSpPr>
        <p:spPr>
          <a:xfrm>
            <a:off x="4941000" y="344988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The Core Idea Behind Oak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Simple syntax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Strong security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No direct hardware dependency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Automatic memory management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Revolutionary thought: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One language for many devices.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“</a:t>
            </a: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The same code should run everywhere.”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Rectangle 97"/>
          <p:cNvSpPr/>
          <p:nvPr/>
        </p:nvSpPr>
        <p:spPr>
          <a:xfrm>
            <a:off x="1440" y="1800"/>
            <a:ext cx="13428360" cy="755172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8" name="Rectangle 98"/>
          <p:cNvSpPr/>
          <p:nvPr/>
        </p:nvSpPr>
        <p:spPr>
          <a:xfrm>
            <a:off x="144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9" name="Rectangle 99"/>
          <p:cNvSpPr/>
          <p:nvPr/>
        </p:nvSpPr>
        <p:spPr>
          <a:xfrm>
            <a:off x="100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0" name="Rectangle 100"/>
          <p:cNvSpPr/>
          <p:nvPr/>
        </p:nvSpPr>
        <p:spPr>
          <a:xfrm>
            <a:off x="201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1" name="Rectangle 101"/>
          <p:cNvSpPr/>
          <p:nvPr/>
        </p:nvSpPr>
        <p:spPr>
          <a:xfrm>
            <a:off x="302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2" name="Rectangle 102"/>
          <p:cNvSpPr/>
          <p:nvPr/>
        </p:nvSpPr>
        <p:spPr>
          <a:xfrm>
            <a:off x="402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3" name="Rectangle 103"/>
          <p:cNvSpPr/>
          <p:nvPr/>
        </p:nvSpPr>
        <p:spPr>
          <a:xfrm>
            <a:off x="503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4" name="Rectangle 104"/>
          <p:cNvSpPr/>
          <p:nvPr/>
        </p:nvSpPr>
        <p:spPr>
          <a:xfrm>
            <a:off x="604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5" name="Rectangle 105"/>
          <p:cNvSpPr/>
          <p:nvPr/>
        </p:nvSpPr>
        <p:spPr>
          <a:xfrm>
            <a:off x="705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6" name="Rectangle 106"/>
          <p:cNvSpPr/>
          <p:nvPr/>
        </p:nvSpPr>
        <p:spPr>
          <a:xfrm>
            <a:off x="806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7" name="Rectangle 107"/>
          <p:cNvSpPr/>
          <p:nvPr/>
        </p:nvSpPr>
        <p:spPr>
          <a:xfrm>
            <a:off x="906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8" name="Rectangle 108"/>
          <p:cNvSpPr/>
          <p:nvPr/>
        </p:nvSpPr>
        <p:spPr>
          <a:xfrm>
            <a:off x="1007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9" name="Rectangle 109"/>
          <p:cNvSpPr/>
          <p:nvPr/>
        </p:nvSpPr>
        <p:spPr>
          <a:xfrm>
            <a:off x="1108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0" name="Rectangle 110"/>
          <p:cNvSpPr/>
          <p:nvPr/>
        </p:nvSpPr>
        <p:spPr>
          <a:xfrm>
            <a:off x="1209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1" name="Rectangle 111"/>
          <p:cNvSpPr/>
          <p:nvPr/>
        </p:nvSpPr>
        <p:spPr>
          <a:xfrm>
            <a:off x="1310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2" name="Rectangle 112"/>
          <p:cNvSpPr/>
          <p:nvPr/>
        </p:nvSpPr>
        <p:spPr>
          <a:xfrm>
            <a:off x="1440" y="1800"/>
            <a:ext cx="344520" cy="755172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3" name="Rounded Rectangle 47"/>
          <p:cNvSpPr/>
          <p:nvPr/>
        </p:nvSpPr>
        <p:spPr>
          <a:xfrm>
            <a:off x="10884960" y="401400"/>
            <a:ext cx="2208960" cy="54504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Box 21"/>
          <p:cNvSpPr/>
          <p:nvPr/>
        </p:nvSpPr>
        <p:spPr>
          <a:xfrm>
            <a:off x="1764720" y="1107360"/>
            <a:ext cx="857520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200" spc="-1" strike="noStrike">
                <a:solidFill>
                  <a:srgbClr val="f5f5f5"/>
                </a:solidFill>
                <a:latin typeface="Calibri"/>
                <a:ea typeface="DejaVu Sans"/>
              </a:rPr>
              <a:t>            </a:t>
            </a:r>
            <a:r>
              <a:rPr b="1" lang="en-US" sz="4200" spc="-1" strike="noStrike">
                <a:solidFill>
                  <a:srgbClr val="f5f5f5"/>
                </a:solidFill>
                <a:latin typeface="Calibri"/>
                <a:ea typeface="DejaVu Sans"/>
              </a:rPr>
              <a:t>Java History – From Oak to Java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Box 22"/>
          <p:cNvSpPr/>
          <p:nvPr/>
        </p:nvSpPr>
        <p:spPr>
          <a:xfrm>
            <a:off x="3970080" y="2266200"/>
            <a:ext cx="4798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aaaaaa"/>
                </a:solidFill>
                <a:latin typeface="Calibri"/>
                <a:ea typeface="DejaVu Sans"/>
              </a:rPr>
              <a:t>How Oak became Java and found its real purpose.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Rounded Rectangle 50"/>
          <p:cNvSpPr/>
          <p:nvPr/>
        </p:nvSpPr>
        <p:spPr>
          <a:xfrm>
            <a:off x="108684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7" name="Rounded Rectangle 51"/>
          <p:cNvSpPr/>
          <p:nvPr/>
        </p:nvSpPr>
        <p:spPr>
          <a:xfrm>
            <a:off x="1006560" y="342504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The Turning Point (1994)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What went wrong?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Smart TV market failed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Oak had no commercial future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Project almost canceled ❌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But something changed…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Internet started to grow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Web browsers became popular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Need for portable, secure code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Key realization: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“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The future is not TVs — it’s the Web.”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Rounded Rectangle 52"/>
          <p:cNvSpPr/>
          <p:nvPr/>
        </p:nvSpPr>
        <p:spPr>
          <a:xfrm>
            <a:off x="49683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9" name="Rounded Rectangle 53"/>
          <p:cNvSpPr/>
          <p:nvPr/>
        </p:nvSpPr>
        <p:spPr>
          <a:xfrm>
            <a:off x="88491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0" name="Rounded Rectangle 54"/>
          <p:cNvSpPr/>
          <p:nvPr/>
        </p:nvSpPr>
        <p:spPr>
          <a:xfrm>
            <a:off x="8767440" y="342504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WebFuture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boolean internetEra = true;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if (internetEra)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"Java is ready for the Web!"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);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Box 23"/>
          <p:cNvSpPr/>
          <p:nvPr/>
        </p:nvSpPr>
        <p:spPr>
          <a:xfrm>
            <a:off x="5224320" y="710460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Rounded Rectangle 55"/>
          <p:cNvSpPr/>
          <p:nvPr/>
        </p:nvSpPr>
        <p:spPr>
          <a:xfrm>
            <a:off x="4941000" y="344952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The Web Opportunity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Why Oak was perfect for the Internet?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Platform-independent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Secure by design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Small &amp; efficient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No direct hardware dependency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New direction: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From devices → browsers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From Oak → Java ☕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1995: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Java officially introduced to the world.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Rectangle 113"/>
          <p:cNvSpPr/>
          <p:nvPr/>
        </p:nvSpPr>
        <p:spPr>
          <a:xfrm>
            <a:off x="1440" y="1800"/>
            <a:ext cx="13428360" cy="755172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4" name="Rectangle 114"/>
          <p:cNvSpPr/>
          <p:nvPr/>
        </p:nvSpPr>
        <p:spPr>
          <a:xfrm>
            <a:off x="144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5" name="Rectangle 115"/>
          <p:cNvSpPr/>
          <p:nvPr/>
        </p:nvSpPr>
        <p:spPr>
          <a:xfrm>
            <a:off x="100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6" name="Rectangle 116"/>
          <p:cNvSpPr/>
          <p:nvPr/>
        </p:nvSpPr>
        <p:spPr>
          <a:xfrm>
            <a:off x="201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7" name="Rectangle 117"/>
          <p:cNvSpPr/>
          <p:nvPr/>
        </p:nvSpPr>
        <p:spPr>
          <a:xfrm>
            <a:off x="302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8" name="Rectangle 118"/>
          <p:cNvSpPr/>
          <p:nvPr/>
        </p:nvSpPr>
        <p:spPr>
          <a:xfrm>
            <a:off x="402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9" name="Rectangle 119"/>
          <p:cNvSpPr/>
          <p:nvPr/>
        </p:nvSpPr>
        <p:spPr>
          <a:xfrm>
            <a:off x="503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0" name="Rectangle 120"/>
          <p:cNvSpPr/>
          <p:nvPr/>
        </p:nvSpPr>
        <p:spPr>
          <a:xfrm>
            <a:off x="604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1" name="Rectangle 121"/>
          <p:cNvSpPr/>
          <p:nvPr/>
        </p:nvSpPr>
        <p:spPr>
          <a:xfrm>
            <a:off x="705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2" name="Rectangle 122"/>
          <p:cNvSpPr/>
          <p:nvPr/>
        </p:nvSpPr>
        <p:spPr>
          <a:xfrm>
            <a:off x="806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3" name="Rectangle 123"/>
          <p:cNvSpPr/>
          <p:nvPr/>
        </p:nvSpPr>
        <p:spPr>
          <a:xfrm>
            <a:off x="906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4" name="Rectangle 124"/>
          <p:cNvSpPr/>
          <p:nvPr/>
        </p:nvSpPr>
        <p:spPr>
          <a:xfrm>
            <a:off x="1007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5" name="Rectangle 125"/>
          <p:cNvSpPr/>
          <p:nvPr/>
        </p:nvSpPr>
        <p:spPr>
          <a:xfrm>
            <a:off x="1108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6" name="Rectangle 126"/>
          <p:cNvSpPr/>
          <p:nvPr/>
        </p:nvSpPr>
        <p:spPr>
          <a:xfrm>
            <a:off x="1209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7" name="Rectangle 127"/>
          <p:cNvSpPr/>
          <p:nvPr/>
        </p:nvSpPr>
        <p:spPr>
          <a:xfrm>
            <a:off x="1310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8" name="Rectangle 128"/>
          <p:cNvSpPr/>
          <p:nvPr/>
        </p:nvSpPr>
        <p:spPr>
          <a:xfrm>
            <a:off x="1440" y="1800"/>
            <a:ext cx="344520" cy="755172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9" name="Rounded Rectangle 56"/>
          <p:cNvSpPr/>
          <p:nvPr/>
        </p:nvSpPr>
        <p:spPr>
          <a:xfrm>
            <a:off x="10884960" y="401400"/>
            <a:ext cx="2208960" cy="54504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Box 24"/>
          <p:cNvSpPr/>
          <p:nvPr/>
        </p:nvSpPr>
        <p:spPr>
          <a:xfrm>
            <a:off x="179640" y="1107360"/>
            <a:ext cx="117500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200" spc="-1" strike="noStrike">
                <a:solidFill>
                  <a:srgbClr val="f5f5f5"/>
                </a:solidFill>
                <a:latin typeface="Calibri"/>
                <a:ea typeface="DejaVu Sans"/>
              </a:rPr>
              <a:t>             </a:t>
            </a:r>
            <a:r>
              <a:rPr b="1" lang="en-US" sz="4200" spc="-1" strike="noStrike">
                <a:solidFill>
                  <a:srgbClr val="f5f5f5"/>
                </a:solidFill>
                <a:latin typeface="Calibri"/>
                <a:ea typeface="DejaVu Sans"/>
              </a:rPr>
              <a:t>Java Philosophy – Write Once, Run Anywhere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Box 25"/>
          <p:cNvSpPr/>
          <p:nvPr/>
        </p:nvSpPr>
        <p:spPr>
          <a:xfrm>
            <a:off x="3797640" y="2266200"/>
            <a:ext cx="5146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aaaaaa"/>
                </a:solidFill>
                <a:latin typeface="Calibri"/>
                <a:ea typeface="DejaVu Sans"/>
              </a:rPr>
              <a:t>The idea that changed software development forever.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Rounded Rectangle 57"/>
          <p:cNvSpPr/>
          <p:nvPr/>
        </p:nvSpPr>
        <p:spPr>
          <a:xfrm>
            <a:off x="108684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43" name="Rounded Rectangle 58"/>
          <p:cNvSpPr/>
          <p:nvPr/>
        </p:nvSpPr>
        <p:spPr>
          <a:xfrm>
            <a:off x="1006560" y="342504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The Big Promise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Before Java: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One OS = one build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Recompile for every system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High maintenance cost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With Java: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One source code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One compiled bytecode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Runs everywhere 🌍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Famous slogan: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Write Once, Run Anywhere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Rounded Rectangle 59"/>
          <p:cNvSpPr/>
          <p:nvPr/>
        </p:nvSpPr>
        <p:spPr>
          <a:xfrm>
            <a:off x="49683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45" name="Rounded Rectangle 60"/>
          <p:cNvSpPr/>
          <p:nvPr/>
        </p:nvSpPr>
        <p:spPr>
          <a:xfrm>
            <a:off x="88491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46" name="Rounded Rectangle 61"/>
          <p:cNvSpPr/>
          <p:nvPr/>
        </p:nvSpPr>
        <p:spPr>
          <a:xfrm>
            <a:off x="8767440" y="342504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Anywhere 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String os = System.getProperty("os.name");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"Running on: " + os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"Same code. Same result."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Box 27"/>
          <p:cNvSpPr/>
          <p:nvPr/>
        </p:nvSpPr>
        <p:spPr>
          <a:xfrm>
            <a:off x="5224320" y="710460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Rounded Rectangle 62"/>
          <p:cNvSpPr/>
          <p:nvPr/>
        </p:nvSpPr>
        <p:spPr>
          <a:xfrm>
            <a:off x="4941000" y="345096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How It Works (Simple View)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Java execution model: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Java Source Code (.java)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Java Compiler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Bytecode (.class)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JVM (per OS)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Runs on any platform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Rectangle 129"/>
          <p:cNvSpPr/>
          <p:nvPr/>
        </p:nvSpPr>
        <p:spPr>
          <a:xfrm>
            <a:off x="16920" y="1800"/>
            <a:ext cx="13428360" cy="755172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50" name="Rectangle 130"/>
          <p:cNvSpPr/>
          <p:nvPr/>
        </p:nvSpPr>
        <p:spPr>
          <a:xfrm>
            <a:off x="144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51" name="Rectangle 131"/>
          <p:cNvSpPr/>
          <p:nvPr/>
        </p:nvSpPr>
        <p:spPr>
          <a:xfrm>
            <a:off x="100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52" name="Rectangle 132"/>
          <p:cNvSpPr/>
          <p:nvPr/>
        </p:nvSpPr>
        <p:spPr>
          <a:xfrm>
            <a:off x="201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53" name="Rectangle 133"/>
          <p:cNvSpPr/>
          <p:nvPr/>
        </p:nvSpPr>
        <p:spPr>
          <a:xfrm>
            <a:off x="302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54" name="Rectangle 134"/>
          <p:cNvSpPr/>
          <p:nvPr/>
        </p:nvSpPr>
        <p:spPr>
          <a:xfrm>
            <a:off x="402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55" name="Rectangle 135"/>
          <p:cNvSpPr/>
          <p:nvPr/>
        </p:nvSpPr>
        <p:spPr>
          <a:xfrm>
            <a:off x="503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56" name="Rectangle 136"/>
          <p:cNvSpPr/>
          <p:nvPr/>
        </p:nvSpPr>
        <p:spPr>
          <a:xfrm>
            <a:off x="604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57" name="Rectangle 137"/>
          <p:cNvSpPr/>
          <p:nvPr/>
        </p:nvSpPr>
        <p:spPr>
          <a:xfrm>
            <a:off x="705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58" name="Rectangle 138"/>
          <p:cNvSpPr/>
          <p:nvPr/>
        </p:nvSpPr>
        <p:spPr>
          <a:xfrm>
            <a:off x="806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59" name="Rectangle 139"/>
          <p:cNvSpPr/>
          <p:nvPr/>
        </p:nvSpPr>
        <p:spPr>
          <a:xfrm>
            <a:off x="906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0" name="Rectangle 140"/>
          <p:cNvSpPr/>
          <p:nvPr/>
        </p:nvSpPr>
        <p:spPr>
          <a:xfrm>
            <a:off x="1007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1" name="Rectangle 141"/>
          <p:cNvSpPr/>
          <p:nvPr/>
        </p:nvSpPr>
        <p:spPr>
          <a:xfrm>
            <a:off x="1108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2" name="Rectangle 142"/>
          <p:cNvSpPr/>
          <p:nvPr/>
        </p:nvSpPr>
        <p:spPr>
          <a:xfrm>
            <a:off x="1209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3" name="Rectangle 143"/>
          <p:cNvSpPr/>
          <p:nvPr/>
        </p:nvSpPr>
        <p:spPr>
          <a:xfrm>
            <a:off x="1310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4" name="Rectangle 144"/>
          <p:cNvSpPr/>
          <p:nvPr/>
        </p:nvSpPr>
        <p:spPr>
          <a:xfrm>
            <a:off x="1440" y="1800"/>
            <a:ext cx="344520" cy="755172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5" name="Rounded Rectangle 63"/>
          <p:cNvSpPr/>
          <p:nvPr/>
        </p:nvSpPr>
        <p:spPr>
          <a:xfrm>
            <a:off x="10884960" y="401400"/>
            <a:ext cx="2208960" cy="54504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Box 28"/>
          <p:cNvSpPr/>
          <p:nvPr/>
        </p:nvSpPr>
        <p:spPr>
          <a:xfrm>
            <a:off x="3444480" y="1107360"/>
            <a:ext cx="521640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200" spc="-1" strike="noStrike">
                <a:solidFill>
                  <a:srgbClr val="f5f5f5"/>
                </a:solidFill>
                <a:latin typeface="Calibri"/>
                <a:ea typeface="DejaVu Sans"/>
              </a:rPr>
              <a:t>    </a:t>
            </a:r>
            <a:r>
              <a:rPr b="1" lang="en-US" sz="4200" spc="-1" strike="noStrike">
                <a:solidFill>
                  <a:srgbClr val="f5f5f5"/>
                </a:solidFill>
                <a:latin typeface="Calibri"/>
                <a:ea typeface="DejaVu Sans"/>
              </a:rPr>
              <a:t>Java Goes Enterprise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Box 29"/>
          <p:cNvSpPr/>
          <p:nvPr/>
        </p:nvSpPr>
        <p:spPr>
          <a:xfrm>
            <a:off x="4513680" y="2266200"/>
            <a:ext cx="3713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aaaaaa"/>
                </a:solidFill>
                <a:latin typeface="Calibri"/>
                <a:ea typeface="DejaVu Sans"/>
              </a:rPr>
              <a:t>How Java entered large-scale systems.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Rounded Rectangle 64"/>
          <p:cNvSpPr/>
          <p:nvPr/>
        </p:nvSpPr>
        <p:spPr>
          <a:xfrm>
            <a:off x="108684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9" name="Rounded Rectangle 65"/>
          <p:cNvSpPr/>
          <p:nvPr/>
        </p:nvSpPr>
        <p:spPr>
          <a:xfrm>
            <a:off x="1006560" y="342504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In the late 1990s, the Internet rapidly expanded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Companies needed software that could scale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Security became a critical requirement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Systems had to run on different operating systems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Java solved these problems with: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Platform independence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Strong object-oriented design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Built-in security features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Result: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Java became the preferred language for enterprise systems.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Rounded Rectangle 66"/>
          <p:cNvSpPr/>
          <p:nvPr/>
        </p:nvSpPr>
        <p:spPr>
          <a:xfrm>
            <a:off x="49683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71" name="Rounded Rectangle 67"/>
          <p:cNvSpPr/>
          <p:nvPr/>
        </p:nvSpPr>
        <p:spPr>
          <a:xfrm>
            <a:off x="88491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72" name="Rounded Rectangle 68"/>
          <p:cNvSpPr/>
          <p:nvPr/>
        </p:nvSpPr>
        <p:spPr>
          <a:xfrm>
            <a:off x="8767440" y="342504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Enterprise {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System.out.println("Java enters the enterprise world!");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Box 30"/>
          <p:cNvSpPr/>
          <p:nvPr/>
        </p:nvSpPr>
        <p:spPr>
          <a:xfrm>
            <a:off x="5224320" y="710460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Rounded Rectangle 69"/>
          <p:cNvSpPr/>
          <p:nvPr/>
        </p:nvSpPr>
        <p:spPr>
          <a:xfrm>
            <a:off x="4941000" y="345096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Java adoption path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Web applications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Databases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Enterprise systems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Rectangle 145"/>
          <p:cNvSpPr/>
          <p:nvPr/>
        </p:nvSpPr>
        <p:spPr>
          <a:xfrm>
            <a:off x="16920" y="1800"/>
            <a:ext cx="13428360" cy="755172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76" name="Rectangle 146"/>
          <p:cNvSpPr/>
          <p:nvPr/>
        </p:nvSpPr>
        <p:spPr>
          <a:xfrm>
            <a:off x="144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77" name="Rectangle 147"/>
          <p:cNvSpPr/>
          <p:nvPr/>
        </p:nvSpPr>
        <p:spPr>
          <a:xfrm>
            <a:off x="100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78" name="Rectangle 148"/>
          <p:cNvSpPr/>
          <p:nvPr/>
        </p:nvSpPr>
        <p:spPr>
          <a:xfrm>
            <a:off x="201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79" name="Rectangle 149"/>
          <p:cNvSpPr/>
          <p:nvPr/>
        </p:nvSpPr>
        <p:spPr>
          <a:xfrm>
            <a:off x="302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0" name="Rectangle 150"/>
          <p:cNvSpPr/>
          <p:nvPr/>
        </p:nvSpPr>
        <p:spPr>
          <a:xfrm>
            <a:off x="402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1" name="Rectangle 151"/>
          <p:cNvSpPr/>
          <p:nvPr/>
        </p:nvSpPr>
        <p:spPr>
          <a:xfrm>
            <a:off x="503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2" name="Rectangle 152"/>
          <p:cNvSpPr/>
          <p:nvPr/>
        </p:nvSpPr>
        <p:spPr>
          <a:xfrm>
            <a:off x="604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3" name="Rectangle 153"/>
          <p:cNvSpPr/>
          <p:nvPr/>
        </p:nvSpPr>
        <p:spPr>
          <a:xfrm>
            <a:off x="705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4" name="Rectangle 154"/>
          <p:cNvSpPr/>
          <p:nvPr/>
        </p:nvSpPr>
        <p:spPr>
          <a:xfrm>
            <a:off x="806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5" name="Rectangle 155"/>
          <p:cNvSpPr/>
          <p:nvPr/>
        </p:nvSpPr>
        <p:spPr>
          <a:xfrm>
            <a:off x="906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6" name="Rectangle 156"/>
          <p:cNvSpPr/>
          <p:nvPr/>
        </p:nvSpPr>
        <p:spPr>
          <a:xfrm>
            <a:off x="1007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7" name="Rectangle 157"/>
          <p:cNvSpPr/>
          <p:nvPr/>
        </p:nvSpPr>
        <p:spPr>
          <a:xfrm>
            <a:off x="1108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8" name="Rectangle 158"/>
          <p:cNvSpPr/>
          <p:nvPr/>
        </p:nvSpPr>
        <p:spPr>
          <a:xfrm>
            <a:off x="1209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9" name="Rectangle 159"/>
          <p:cNvSpPr/>
          <p:nvPr/>
        </p:nvSpPr>
        <p:spPr>
          <a:xfrm>
            <a:off x="1310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90" name="Rectangle 160"/>
          <p:cNvSpPr/>
          <p:nvPr/>
        </p:nvSpPr>
        <p:spPr>
          <a:xfrm>
            <a:off x="1440" y="1800"/>
            <a:ext cx="344520" cy="755172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91" name="Rounded Rectangle 70"/>
          <p:cNvSpPr/>
          <p:nvPr/>
        </p:nvSpPr>
        <p:spPr>
          <a:xfrm>
            <a:off x="10884960" y="401400"/>
            <a:ext cx="2208960" cy="54504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TextBox 31"/>
          <p:cNvSpPr/>
          <p:nvPr/>
        </p:nvSpPr>
        <p:spPr>
          <a:xfrm>
            <a:off x="2260440" y="1107360"/>
            <a:ext cx="758772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200" spc="-1" strike="noStrike">
                <a:solidFill>
                  <a:srgbClr val="f5f5f5"/>
                </a:solidFill>
                <a:latin typeface="Calibri"/>
                <a:ea typeface="DejaVu Sans"/>
              </a:rPr>
              <a:t>           </a:t>
            </a:r>
            <a:r>
              <a:rPr b="1" lang="en-US" sz="4200" spc="-1" strike="noStrike">
                <a:solidFill>
                  <a:srgbClr val="f5f5f5"/>
                </a:solidFill>
                <a:latin typeface="Calibri"/>
                <a:ea typeface="DejaVu Sans"/>
              </a:rPr>
              <a:t>Java History – Java Versions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Box 32"/>
          <p:cNvSpPr/>
          <p:nvPr/>
        </p:nvSpPr>
        <p:spPr>
          <a:xfrm>
            <a:off x="4847040" y="2266200"/>
            <a:ext cx="3046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aaaaaa"/>
                </a:solidFill>
                <a:latin typeface="Calibri"/>
                <a:ea typeface="DejaVu Sans"/>
              </a:rPr>
              <a:t>How Java evolved step by step.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Rounded Rectangle 71"/>
          <p:cNvSpPr/>
          <p:nvPr/>
        </p:nvSpPr>
        <p:spPr>
          <a:xfrm>
            <a:off x="108684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95" name="Rounded Rectangle 72"/>
          <p:cNvSpPr/>
          <p:nvPr/>
        </p:nvSpPr>
        <p:spPr>
          <a:xfrm>
            <a:off x="1006560" y="342432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After 1994, Java changed direction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The language was renamed from Oak to Java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Java started to be developed for the Web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Sun Microsystems decided to release Java publicly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From this point on, Java versions began to appear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500" spc="-1" strike="noStrike" u="sng">
                <a:solidFill>
                  <a:schemeClr val="lt1"/>
                </a:solidFill>
                <a:uFillTx/>
                <a:latin typeface="Calibri"/>
                <a:ea typeface="DejaVu Sans"/>
              </a:rPr>
              <a:t>Key idea: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Each version improved Java without breaking the old ones.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Rounded Rectangle 73"/>
          <p:cNvSpPr/>
          <p:nvPr/>
        </p:nvSpPr>
        <p:spPr>
          <a:xfrm>
            <a:off x="49683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97" name="Rounded Rectangle 74"/>
          <p:cNvSpPr/>
          <p:nvPr/>
        </p:nvSpPr>
        <p:spPr>
          <a:xfrm>
            <a:off x="88491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98" name="Rounded Rectangle 75"/>
          <p:cNvSpPr/>
          <p:nvPr/>
        </p:nvSpPr>
        <p:spPr>
          <a:xfrm>
            <a:off x="8767440" y="342504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97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JavaVersionIntro {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System.out.println("Java keeps evolving version by version.");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9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TextBox 33"/>
          <p:cNvSpPr/>
          <p:nvPr/>
        </p:nvSpPr>
        <p:spPr>
          <a:xfrm>
            <a:off x="5224320" y="710460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Rounded Rectangle 76"/>
          <p:cNvSpPr/>
          <p:nvPr/>
        </p:nvSpPr>
        <p:spPr>
          <a:xfrm>
            <a:off x="4941000" y="345096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Java versions are not rewrites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They are gradual improvements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New features + same core idea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Philosophy: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Write once, improve forever.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Rectangle 161"/>
          <p:cNvSpPr/>
          <p:nvPr/>
        </p:nvSpPr>
        <p:spPr>
          <a:xfrm>
            <a:off x="16920" y="1800"/>
            <a:ext cx="13428360" cy="755172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2" name="Rectangle 162"/>
          <p:cNvSpPr/>
          <p:nvPr/>
        </p:nvSpPr>
        <p:spPr>
          <a:xfrm>
            <a:off x="144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3" name="Rectangle 163"/>
          <p:cNvSpPr/>
          <p:nvPr/>
        </p:nvSpPr>
        <p:spPr>
          <a:xfrm>
            <a:off x="100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4" name="Rectangle 164"/>
          <p:cNvSpPr/>
          <p:nvPr/>
        </p:nvSpPr>
        <p:spPr>
          <a:xfrm>
            <a:off x="201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5" name="Rectangle 165"/>
          <p:cNvSpPr/>
          <p:nvPr/>
        </p:nvSpPr>
        <p:spPr>
          <a:xfrm>
            <a:off x="302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6" name="Rectangle 166"/>
          <p:cNvSpPr/>
          <p:nvPr/>
        </p:nvSpPr>
        <p:spPr>
          <a:xfrm>
            <a:off x="402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7" name="Rectangle 167"/>
          <p:cNvSpPr/>
          <p:nvPr/>
        </p:nvSpPr>
        <p:spPr>
          <a:xfrm>
            <a:off x="503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8" name="Rectangle 168"/>
          <p:cNvSpPr/>
          <p:nvPr/>
        </p:nvSpPr>
        <p:spPr>
          <a:xfrm>
            <a:off x="604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9" name="Rectangle 169"/>
          <p:cNvSpPr/>
          <p:nvPr/>
        </p:nvSpPr>
        <p:spPr>
          <a:xfrm>
            <a:off x="705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10" name="Rectangle 170"/>
          <p:cNvSpPr/>
          <p:nvPr/>
        </p:nvSpPr>
        <p:spPr>
          <a:xfrm>
            <a:off x="806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11" name="Rectangle 171"/>
          <p:cNvSpPr/>
          <p:nvPr/>
        </p:nvSpPr>
        <p:spPr>
          <a:xfrm>
            <a:off x="906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12" name="Rectangle 172"/>
          <p:cNvSpPr/>
          <p:nvPr/>
        </p:nvSpPr>
        <p:spPr>
          <a:xfrm>
            <a:off x="1007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13" name="Rectangle 173"/>
          <p:cNvSpPr/>
          <p:nvPr/>
        </p:nvSpPr>
        <p:spPr>
          <a:xfrm>
            <a:off x="1108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14" name="Rectangle 174"/>
          <p:cNvSpPr/>
          <p:nvPr/>
        </p:nvSpPr>
        <p:spPr>
          <a:xfrm>
            <a:off x="1209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15" name="Rectangle 175"/>
          <p:cNvSpPr/>
          <p:nvPr/>
        </p:nvSpPr>
        <p:spPr>
          <a:xfrm>
            <a:off x="1310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16" name="Rectangle 176"/>
          <p:cNvSpPr/>
          <p:nvPr/>
        </p:nvSpPr>
        <p:spPr>
          <a:xfrm>
            <a:off x="1440" y="1800"/>
            <a:ext cx="344520" cy="755172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17" name="Rounded Rectangle 77"/>
          <p:cNvSpPr/>
          <p:nvPr/>
        </p:nvSpPr>
        <p:spPr>
          <a:xfrm>
            <a:off x="10884960" y="401400"/>
            <a:ext cx="2208960" cy="54504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TextBox 34"/>
          <p:cNvSpPr/>
          <p:nvPr/>
        </p:nvSpPr>
        <p:spPr>
          <a:xfrm>
            <a:off x="1610280" y="1107360"/>
            <a:ext cx="889056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200" spc="-1" strike="noStrike">
                <a:solidFill>
                  <a:srgbClr val="f5f5f5"/>
                </a:solidFill>
                <a:latin typeface="Calibri"/>
                <a:ea typeface="DejaVu Sans"/>
              </a:rPr>
              <a:t>          </a:t>
            </a:r>
            <a:r>
              <a:rPr b="1" lang="en-US" sz="4200" spc="-1" strike="noStrike">
                <a:solidFill>
                  <a:srgbClr val="f5f5f5"/>
                </a:solidFill>
                <a:latin typeface="Calibri"/>
                <a:ea typeface="DejaVu Sans"/>
              </a:rPr>
              <a:t>The Enterprise Boom (2000–2005)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Box 35"/>
          <p:cNvSpPr/>
          <p:nvPr/>
        </p:nvSpPr>
        <p:spPr>
          <a:xfrm>
            <a:off x="3708360" y="2266200"/>
            <a:ext cx="5324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aaaaaa"/>
                </a:solidFill>
                <a:latin typeface="Calibri"/>
                <a:ea typeface="DejaVu Sans"/>
              </a:rPr>
              <a:t>How Java became the backbone of enterprise software.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Rounded Rectangle 78"/>
          <p:cNvSpPr/>
          <p:nvPr/>
        </p:nvSpPr>
        <p:spPr>
          <a:xfrm>
            <a:off x="108684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1" name="Rounded Rectangle 79"/>
          <p:cNvSpPr/>
          <p:nvPr/>
        </p:nvSpPr>
        <p:spPr>
          <a:xfrm>
            <a:off x="1006560" y="342432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The early 2000s: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Internet usage exploded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E-commerce started to grow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Companies needed large-scale systems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Systems had to be: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- Reliable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- Secure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- Scalable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Rounded Rectangle 80"/>
          <p:cNvSpPr/>
          <p:nvPr/>
        </p:nvSpPr>
        <p:spPr>
          <a:xfrm>
            <a:off x="49683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3" name="Rounded Rectangle 81"/>
          <p:cNvSpPr/>
          <p:nvPr/>
        </p:nvSpPr>
        <p:spPr>
          <a:xfrm>
            <a:off x="88491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4" name="Rounded Rectangle 82"/>
          <p:cNvSpPr/>
          <p:nvPr/>
        </p:nvSpPr>
        <p:spPr>
          <a:xfrm>
            <a:off x="8767440" y="342504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EnterpriseEra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boolean systemOnline = true;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if (systemOnline)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"Enterprise systems are running 24/7."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);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TextBox 36"/>
          <p:cNvSpPr/>
          <p:nvPr/>
        </p:nvSpPr>
        <p:spPr>
          <a:xfrm>
            <a:off x="5224320" y="710460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Rounded Rectangle 83"/>
          <p:cNvSpPr/>
          <p:nvPr/>
        </p:nvSpPr>
        <p:spPr>
          <a:xfrm>
            <a:off x="4941000" y="345096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Why Java dominated this era: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Java 2 Platform (J2SE, J2EE, J2ME)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Strong server-side programming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Multi-tier architecture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Built-in security model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Database-driven applications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Rectangle 177"/>
          <p:cNvSpPr/>
          <p:nvPr/>
        </p:nvSpPr>
        <p:spPr>
          <a:xfrm>
            <a:off x="16920" y="1800"/>
            <a:ext cx="13428360" cy="755172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8" name="Rectangle 178"/>
          <p:cNvSpPr/>
          <p:nvPr/>
        </p:nvSpPr>
        <p:spPr>
          <a:xfrm>
            <a:off x="144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9" name="Rectangle 179"/>
          <p:cNvSpPr/>
          <p:nvPr/>
        </p:nvSpPr>
        <p:spPr>
          <a:xfrm>
            <a:off x="100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0" name="Rectangle 180"/>
          <p:cNvSpPr/>
          <p:nvPr/>
        </p:nvSpPr>
        <p:spPr>
          <a:xfrm>
            <a:off x="201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1" name="Rectangle 181"/>
          <p:cNvSpPr/>
          <p:nvPr/>
        </p:nvSpPr>
        <p:spPr>
          <a:xfrm>
            <a:off x="302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2" name="Rectangle 182"/>
          <p:cNvSpPr/>
          <p:nvPr/>
        </p:nvSpPr>
        <p:spPr>
          <a:xfrm>
            <a:off x="402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3" name="Rectangle 183"/>
          <p:cNvSpPr/>
          <p:nvPr/>
        </p:nvSpPr>
        <p:spPr>
          <a:xfrm>
            <a:off x="503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4" name="Rectangle 184"/>
          <p:cNvSpPr/>
          <p:nvPr/>
        </p:nvSpPr>
        <p:spPr>
          <a:xfrm>
            <a:off x="604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5" name="Rectangle 185"/>
          <p:cNvSpPr/>
          <p:nvPr/>
        </p:nvSpPr>
        <p:spPr>
          <a:xfrm>
            <a:off x="705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6" name="Rectangle 186"/>
          <p:cNvSpPr/>
          <p:nvPr/>
        </p:nvSpPr>
        <p:spPr>
          <a:xfrm>
            <a:off x="806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7" name="Rectangle 187"/>
          <p:cNvSpPr/>
          <p:nvPr/>
        </p:nvSpPr>
        <p:spPr>
          <a:xfrm>
            <a:off x="906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8" name="Rectangle 188"/>
          <p:cNvSpPr/>
          <p:nvPr/>
        </p:nvSpPr>
        <p:spPr>
          <a:xfrm>
            <a:off x="1007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9" name="Rectangle 189"/>
          <p:cNvSpPr/>
          <p:nvPr/>
        </p:nvSpPr>
        <p:spPr>
          <a:xfrm>
            <a:off x="1108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0" name="Rectangle 190"/>
          <p:cNvSpPr/>
          <p:nvPr/>
        </p:nvSpPr>
        <p:spPr>
          <a:xfrm>
            <a:off x="1209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1" name="Rectangle 191"/>
          <p:cNvSpPr/>
          <p:nvPr/>
        </p:nvSpPr>
        <p:spPr>
          <a:xfrm>
            <a:off x="1310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2" name="Rectangle 192"/>
          <p:cNvSpPr/>
          <p:nvPr/>
        </p:nvSpPr>
        <p:spPr>
          <a:xfrm>
            <a:off x="1440" y="1800"/>
            <a:ext cx="344520" cy="755172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3" name="Rounded Rectangle 84"/>
          <p:cNvSpPr/>
          <p:nvPr/>
        </p:nvSpPr>
        <p:spPr>
          <a:xfrm>
            <a:off x="10884960" y="401400"/>
            <a:ext cx="2208960" cy="54504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TextBox 37"/>
          <p:cNvSpPr/>
          <p:nvPr/>
        </p:nvSpPr>
        <p:spPr>
          <a:xfrm>
            <a:off x="1154160" y="1107360"/>
            <a:ext cx="980388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200" spc="-1" strike="noStrike">
                <a:solidFill>
                  <a:srgbClr val="f5f5f5"/>
                </a:solidFill>
                <a:latin typeface="Calibri"/>
                <a:ea typeface="DejaVu Sans"/>
              </a:rPr>
              <a:t>         </a:t>
            </a:r>
            <a:r>
              <a:rPr b="1" lang="en-US" sz="4200" spc="-1" strike="noStrike">
                <a:solidFill>
                  <a:srgbClr val="f5f5f5"/>
                </a:solidFill>
                <a:latin typeface="Calibri"/>
                <a:ea typeface="DejaVu Sans"/>
              </a:rPr>
              <a:t>Java Technologies Between 2000–2005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Box 38"/>
          <p:cNvSpPr/>
          <p:nvPr/>
        </p:nvSpPr>
        <p:spPr>
          <a:xfrm>
            <a:off x="4301280" y="2266200"/>
            <a:ext cx="4137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aaaaaa"/>
                </a:solidFill>
                <a:latin typeface="Calibri"/>
                <a:ea typeface="DejaVu Sans"/>
              </a:rPr>
              <a:t>The foundation of modern enterprise Java.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Rounded Rectangle 85"/>
          <p:cNvSpPr/>
          <p:nvPr/>
        </p:nvSpPr>
        <p:spPr>
          <a:xfrm>
            <a:off x="108684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7" name="Rounded Rectangle 86"/>
          <p:cNvSpPr/>
          <p:nvPr/>
        </p:nvSpPr>
        <p:spPr>
          <a:xfrm>
            <a:off x="1006560" y="342432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Key technologies: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Servlets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JSP (JavaServer Pages)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JDBC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JNDI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EJB (Enterprise JavaBeans)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Rounded Rectangle 87"/>
          <p:cNvSpPr/>
          <p:nvPr/>
        </p:nvSpPr>
        <p:spPr>
          <a:xfrm>
            <a:off x="49683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9" name="Rounded Rectangle 88"/>
          <p:cNvSpPr/>
          <p:nvPr/>
        </p:nvSpPr>
        <p:spPr>
          <a:xfrm>
            <a:off x="88491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0" name="Rounded Rectangle 89"/>
          <p:cNvSpPr/>
          <p:nvPr/>
        </p:nvSpPr>
        <p:spPr>
          <a:xfrm>
            <a:off x="8767440" y="342504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78ffc8"/>
                </a:solidFill>
                <a:latin typeface="Consolas"/>
                <a:ea typeface="DejaVu Sans"/>
              </a:rPr>
              <a:t> 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78ffc8"/>
                </a:solidFill>
                <a:latin typeface="Consolas"/>
                <a:ea typeface="DejaVu Sans"/>
              </a:rPr>
              <a:t>String user = "Client";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2000" spc="-1" strike="noStrike">
                <a:solidFill>
                  <a:srgbClr val="78ffc8"/>
                </a:solidFill>
                <a:latin typeface="Consolas"/>
                <a:ea typeface="DejaVu Sans"/>
              </a:rPr>
              <a:t>"Welcome to the enterprise system, " + user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78ffc8"/>
                </a:solidFill>
                <a:latin typeface="Consolas"/>
                <a:ea typeface="DejaVu Sans"/>
              </a:rPr>
              <a:t>);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TextBox 39"/>
          <p:cNvSpPr/>
          <p:nvPr/>
        </p:nvSpPr>
        <p:spPr>
          <a:xfrm>
            <a:off x="5224320" y="710460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Rounded Rectangle 90"/>
          <p:cNvSpPr/>
          <p:nvPr/>
        </p:nvSpPr>
        <p:spPr>
          <a:xfrm>
            <a:off x="4941000" y="345096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2100" spc="-1" strike="noStrike">
                <a:solidFill>
                  <a:schemeClr val="lt1"/>
                </a:solidFill>
                <a:latin typeface="Calibri"/>
                <a:ea typeface="DejaVu Sans"/>
              </a:rPr>
              <a:t>With these technologies: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1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0" lang="en-US" sz="2100" spc="-1" strike="noStrike">
                <a:solidFill>
                  <a:schemeClr val="lt1"/>
                </a:solidFill>
                <a:latin typeface="Calibri"/>
                <a:ea typeface="DejaVu Sans"/>
              </a:rPr>
              <a:t>Dynamic web applications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1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0" lang="en-US" sz="2100" spc="-1" strike="noStrike">
                <a:solidFill>
                  <a:schemeClr val="lt1"/>
                </a:solidFill>
                <a:latin typeface="Calibri"/>
                <a:ea typeface="DejaVu Sans"/>
              </a:rPr>
              <a:t>Database-driven systems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1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0" lang="en-US" sz="2100" spc="-1" strike="noStrike">
                <a:solidFill>
                  <a:schemeClr val="lt1"/>
                </a:solidFill>
                <a:latin typeface="Calibri"/>
                <a:ea typeface="DejaVu Sans"/>
              </a:rPr>
              <a:t>Transaction management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1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0" lang="en-US" sz="2100" spc="-1" strike="noStrike">
                <a:solidFill>
                  <a:schemeClr val="lt1"/>
                </a:solidFill>
                <a:latin typeface="Calibri"/>
                <a:ea typeface="DejaVu Sans"/>
              </a:rPr>
              <a:t>Distributed applications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1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0" lang="en-US" sz="2100" spc="-1" strike="noStrike">
                <a:solidFill>
                  <a:schemeClr val="lt1"/>
                </a:solidFill>
                <a:latin typeface="Calibri"/>
                <a:ea typeface="DejaVu Sans"/>
              </a:rPr>
              <a:t>Enterprise scalability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Rectangle 193"/>
          <p:cNvSpPr/>
          <p:nvPr/>
        </p:nvSpPr>
        <p:spPr>
          <a:xfrm>
            <a:off x="16920" y="1800"/>
            <a:ext cx="13428360" cy="755172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4" name="Rectangle 194"/>
          <p:cNvSpPr/>
          <p:nvPr/>
        </p:nvSpPr>
        <p:spPr>
          <a:xfrm>
            <a:off x="144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5" name="Rectangle 195"/>
          <p:cNvSpPr/>
          <p:nvPr/>
        </p:nvSpPr>
        <p:spPr>
          <a:xfrm>
            <a:off x="100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6" name="Rectangle 196"/>
          <p:cNvSpPr/>
          <p:nvPr/>
        </p:nvSpPr>
        <p:spPr>
          <a:xfrm>
            <a:off x="201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7" name="Rectangle 197"/>
          <p:cNvSpPr/>
          <p:nvPr/>
        </p:nvSpPr>
        <p:spPr>
          <a:xfrm>
            <a:off x="302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8" name="Rectangle 198"/>
          <p:cNvSpPr/>
          <p:nvPr/>
        </p:nvSpPr>
        <p:spPr>
          <a:xfrm>
            <a:off x="402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9" name="Rectangle 199"/>
          <p:cNvSpPr/>
          <p:nvPr/>
        </p:nvSpPr>
        <p:spPr>
          <a:xfrm>
            <a:off x="503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0" name="Rectangle 200"/>
          <p:cNvSpPr/>
          <p:nvPr/>
        </p:nvSpPr>
        <p:spPr>
          <a:xfrm>
            <a:off x="604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1" name="Rectangle 201"/>
          <p:cNvSpPr/>
          <p:nvPr/>
        </p:nvSpPr>
        <p:spPr>
          <a:xfrm>
            <a:off x="705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2" name="Rectangle 202"/>
          <p:cNvSpPr/>
          <p:nvPr/>
        </p:nvSpPr>
        <p:spPr>
          <a:xfrm>
            <a:off x="806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3" name="Rectangle 203"/>
          <p:cNvSpPr/>
          <p:nvPr/>
        </p:nvSpPr>
        <p:spPr>
          <a:xfrm>
            <a:off x="906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4" name="Rectangle 204"/>
          <p:cNvSpPr/>
          <p:nvPr/>
        </p:nvSpPr>
        <p:spPr>
          <a:xfrm>
            <a:off x="1007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5" name="Rectangle 205"/>
          <p:cNvSpPr/>
          <p:nvPr/>
        </p:nvSpPr>
        <p:spPr>
          <a:xfrm>
            <a:off x="1108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6" name="Rectangle 206"/>
          <p:cNvSpPr/>
          <p:nvPr/>
        </p:nvSpPr>
        <p:spPr>
          <a:xfrm>
            <a:off x="1209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7" name="Rectangle 207"/>
          <p:cNvSpPr/>
          <p:nvPr/>
        </p:nvSpPr>
        <p:spPr>
          <a:xfrm>
            <a:off x="1310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8" name="Rectangle 208"/>
          <p:cNvSpPr/>
          <p:nvPr/>
        </p:nvSpPr>
        <p:spPr>
          <a:xfrm>
            <a:off x="1440" y="1800"/>
            <a:ext cx="344520" cy="755172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9" name="Rounded Rectangle 91"/>
          <p:cNvSpPr/>
          <p:nvPr/>
        </p:nvSpPr>
        <p:spPr>
          <a:xfrm>
            <a:off x="10884960" y="401400"/>
            <a:ext cx="2208960" cy="54504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TextBox 40"/>
          <p:cNvSpPr/>
          <p:nvPr/>
        </p:nvSpPr>
        <p:spPr>
          <a:xfrm>
            <a:off x="2151360" y="1107360"/>
            <a:ext cx="781020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200" spc="-1" strike="noStrike">
                <a:solidFill>
                  <a:srgbClr val="f5f5f5"/>
                </a:solidFill>
                <a:latin typeface="Calibri"/>
                <a:ea typeface="DejaVu Sans"/>
              </a:rPr>
              <a:t>       </a:t>
            </a:r>
            <a:r>
              <a:rPr b="1" lang="en-US" sz="4200" spc="-1" strike="noStrike">
                <a:solidFill>
                  <a:srgbClr val="f5f5f5"/>
                </a:solidFill>
                <a:latin typeface="Calibri"/>
                <a:ea typeface="DejaVu Sans"/>
              </a:rPr>
              <a:t>Java Technologies (2005–2010)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Box 41"/>
          <p:cNvSpPr/>
          <p:nvPr/>
        </p:nvSpPr>
        <p:spPr>
          <a:xfrm>
            <a:off x="5032440" y="2266200"/>
            <a:ext cx="2674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aaaaaa"/>
                </a:solidFill>
                <a:latin typeface="Calibri"/>
                <a:ea typeface="DejaVu Sans"/>
              </a:rPr>
              <a:t>The Framework Revolution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Rounded Rectangle 92"/>
          <p:cNvSpPr/>
          <p:nvPr/>
        </p:nvSpPr>
        <p:spPr>
          <a:xfrm>
            <a:off x="108684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3" name="Rounded Rectangle 93"/>
          <p:cNvSpPr/>
          <p:nvPr/>
        </p:nvSpPr>
        <p:spPr>
          <a:xfrm>
            <a:off x="1006560" y="342432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Key Technologies (What emerged):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Spring Framework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(Inversion of Control, Dependency Injection)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Hibernate / JPA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(Object–Relational Mapping)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Java EE 5 &amp; 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(Annotations replace XML-heavy configs)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JSF (JavaServer Faces)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(Component-based UI)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Maven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(Standard build &amp; dependency management)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Rounded Rectangle 94"/>
          <p:cNvSpPr/>
          <p:nvPr/>
        </p:nvSpPr>
        <p:spPr>
          <a:xfrm>
            <a:off x="49683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5" name="Rounded Rectangle 95"/>
          <p:cNvSpPr/>
          <p:nvPr/>
        </p:nvSpPr>
        <p:spPr>
          <a:xfrm>
            <a:off x="88491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6" name="Rounded Rectangle 96"/>
          <p:cNvSpPr/>
          <p:nvPr/>
        </p:nvSpPr>
        <p:spPr>
          <a:xfrm>
            <a:off x="8767440" y="342504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@Service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OrderService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@Autowired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private OrderRepository repository;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Order findOrder(Long id)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return repository.findById(id);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TextBox 42"/>
          <p:cNvSpPr/>
          <p:nvPr/>
        </p:nvSpPr>
        <p:spPr>
          <a:xfrm>
            <a:off x="5224320" y="710460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Rounded Rectangle 97"/>
          <p:cNvSpPr/>
          <p:nvPr/>
        </p:nvSpPr>
        <p:spPr>
          <a:xfrm>
            <a:off x="4941000" y="345096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Why this era mattered: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XML-heavy enterprise Java was simplified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Boilerplate code dramatically reduced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Loose coupling became standard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MVC and layered architecture spread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Developers gained productivity and flexibility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Before 2005: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Enterprise Java = complex, verbose, hard to maintain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After 2005: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Enterprise Java = cleaner, modular, framework-driven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Rectangle 209"/>
          <p:cNvSpPr/>
          <p:nvPr/>
        </p:nvSpPr>
        <p:spPr>
          <a:xfrm>
            <a:off x="16920" y="1800"/>
            <a:ext cx="13428360" cy="755172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0" name="Rectangle 210"/>
          <p:cNvSpPr/>
          <p:nvPr/>
        </p:nvSpPr>
        <p:spPr>
          <a:xfrm>
            <a:off x="144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1" name="Rectangle 211"/>
          <p:cNvSpPr/>
          <p:nvPr/>
        </p:nvSpPr>
        <p:spPr>
          <a:xfrm>
            <a:off x="100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2" name="Rectangle 212"/>
          <p:cNvSpPr/>
          <p:nvPr/>
        </p:nvSpPr>
        <p:spPr>
          <a:xfrm>
            <a:off x="201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3" name="Rectangle 213"/>
          <p:cNvSpPr/>
          <p:nvPr/>
        </p:nvSpPr>
        <p:spPr>
          <a:xfrm>
            <a:off x="302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4" name="Rectangle 214"/>
          <p:cNvSpPr/>
          <p:nvPr/>
        </p:nvSpPr>
        <p:spPr>
          <a:xfrm>
            <a:off x="402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5" name="Rectangle 215"/>
          <p:cNvSpPr/>
          <p:nvPr/>
        </p:nvSpPr>
        <p:spPr>
          <a:xfrm>
            <a:off x="503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6" name="Rectangle 216"/>
          <p:cNvSpPr/>
          <p:nvPr/>
        </p:nvSpPr>
        <p:spPr>
          <a:xfrm>
            <a:off x="604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7" name="Rectangle 217"/>
          <p:cNvSpPr/>
          <p:nvPr/>
        </p:nvSpPr>
        <p:spPr>
          <a:xfrm>
            <a:off x="705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8" name="Rectangle 218"/>
          <p:cNvSpPr/>
          <p:nvPr/>
        </p:nvSpPr>
        <p:spPr>
          <a:xfrm>
            <a:off x="806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9" name="Rectangle 219"/>
          <p:cNvSpPr/>
          <p:nvPr/>
        </p:nvSpPr>
        <p:spPr>
          <a:xfrm>
            <a:off x="906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90" name="Rectangle 220"/>
          <p:cNvSpPr/>
          <p:nvPr/>
        </p:nvSpPr>
        <p:spPr>
          <a:xfrm>
            <a:off x="1007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91" name="Rectangle 221"/>
          <p:cNvSpPr/>
          <p:nvPr/>
        </p:nvSpPr>
        <p:spPr>
          <a:xfrm>
            <a:off x="1108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92" name="Rectangle 222"/>
          <p:cNvSpPr/>
          <p:nvPr/>
        </p:nvSpPr>
        <p:spPr>
          <a:xfrm>
            <a:off x="1209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93" name="Rectangle 223"/>
          <p:cNvSpPr/>
          <p:nvPr/>
        </p:nvSpPr>
        <p:spPr>
          <a:xfrm>
            <a:off x="1310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94" name="Rectangle 224"/>
          <p:cNvSpPr/>
          <p:nvPr/>
        </p:nvSpPr>
        <p:spPr>
          <a:xfrm>
            <a:off x="1440" y="1800"/>
            <a:ext cx="344520" cy="755172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95" name="Rounded Rectangle 98"/>
          <p:cNvSpPr/>
          <p:nvPr/>
        </p:nvSpPr>
        <p:spPr>
          <a:xfrm>
            <a:off x="10884960" y="401400"/>
            <a:ext cx="2208960" cy="54504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TextBox 43"/>
          <p:cNvSpPr/>
          <p:nvPr/>
        </p:nvSpPr>
        <p:spPr>
          <a:xfrm>
            <a:off x="2586960" y="1107360"/>
            <a:ext cx="694008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200" spc="-1" strike="noStrike">
                <a:solidFill>
                  <a:srgbClr val="f5f5f5"/>
                </a:solidFill>
                <a:latin typeface="Calibri"/>
                <a:ea typeface="DejaVu Sans"/>
              </a:rPr>
              <a:t>          </a:t>
            </a:r>
            <a:r>
              <a:rPr b="1" lang="en-US" sz="4200" spc="-1" strike="noStrike">
                <a:solidFill>
                  <a:srgbClr val="f5f5f5"/>
                </a:solidFill>
                <a:latin typeface="Calibri"/>
                <a:ea typeface="DejaVu Sans"/>
              </a:rPr>
              <a:t>Modern Java &amp; Cloud Era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TextBox 44"/>
          <p:cNvSpPr/>
          <p:nvPr/>
        </p:nvSpPr>
        <p:spPr>
          <a:xfrm>
            <a:off x="5032440" y="2266200"/>
            <a:ext cx="2674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aaaaaa"/>
                </a:solidFill>
                <a:latin typeface="Calibri"/>
                <a:ea typeface="DejaVu Sans"/>
              </a:rPr>
              <a:t>The Framework Revolution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Rounded Rectangle 99"/>
          <p:cNvSpPr/>
          <p:nvPr/>
        </p:nvSpPr>
        <p:spPr>
          <a:xfrm>
            <a:off x="108684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99" name="Rounded Rectangle 100"/>
          <p:cNvSpPr/>
          <p:nvPr/>
        </p:nvSpPr>
        <p:spPr>
          <a:xfrm>
            <a:off x="1020960" y="342432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2100" spc="-1" strike="noStrike">
                <a:solidFill>
                  <a:schemeClr val="lt1"/>
                </a:solidFill>
                <a:latin typeface="Calibri"/>
                <a:ea typeface="DejaVu Sans"/>
              </a:rPr>
              <a:t>(Key technologies):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2100" spc="-1" strike="noStrike">
                <a:solidFill>
                  <a:schemeClr val="lt1"/>
                </a:solidFill>
                <a:latin typeface="Calibri"/>
                <a:ea typeface="DejaVu Sans"/>
              </a:rPr>
              <a:t>Spring Boot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2100" spc="-1" strike="noStrike">
                <a:solidFill>
                  <a:schemeClr val="lt1"/>
                </a:solidFill>
                <a:latin typeface="Calibri"/>
                <a:ea typeface="DejaVu Sans"/>
              </a:rPr>
              <a:t>REST APIs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2100" spc="-1" strike="noStrike">
                <a:solidFill>
                  <a:schemeClr val="lt1"/>
                </a:solidFill>
                <a:latin typeface="Calibri"/>
                <a:ea typeface="DejaVu Sans"/>
              </a:rPr>
              <a:t>Microservices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2100" spc="-1" strike="noStrike">
                <a:solidFill>
                  <a:schemeClr val="lt1"/>
                </a:solidFill>
                <a:latin typeface="Calibri"/>
                <a:ea typeface="DejaVu Sans"/>
              </a:rPr>
              <a:t>Docker &amp; Kubernetes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2100" spc="-1" strike="noStrike">
                <a:solidFill>
                  <a:schemeClr val="lt1"/>
                </a:solidFill>
                <a:latin typeface="Calibri"/>
                <a:ea typeface="DejaVu Sans"/>
              </a:rPr>
              <a:t>Java 8+ (Lambdas, Streams)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Rounded Rectangle 101"/>
          <p:cNvSpPr/>
          <p:nvPr/>
        </p:nvSpPr>
        <p:spPr>
          <a:xfrm>
            <a:off x="49683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1" name="Rounded Rectangle 102"/>
          <p:cNvSpPr/>
          <p:nvPr/>
        </p:nvSpPr>
        <p:spPr>
          <a:xfrm>
            <a:off x="88491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2" name="Rounded Rectangle 103"/>
          <p:cNvSpPr/>
          <p:nvPr/>
        </p:nvSpPr>
        <p:spPr>
          <a:xfrm>
            <a:off x="8767440" y="342504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78ffc8"/>
                </a:solidFill>
                <a:latin typeface="Consolas"/>
                <a:ea typeface="DejaVu Sans"/>
              </a:rPr>
              <a:t>@GetMapping("/users/{id}")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User getUser(@PathVariable Long id) {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800" spc="-1" strike="noStrike">
                <a:solidFill>
                  <a:srgbClr val="78ffc8"/>
                </a:solidFill>
                <a:latin typeface="Consolas"/>
                <a:ea typeface="DejaVu Sans"/>
              </a:rPr>
              <a:t>return userService.getUser(id);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TextBox 45"/>
          <p:cNvSpPr/>
          <p:nvPr/>
        </p:nvSpPr>
        <p:spPr>
          <a:xfrm>
            <a:off x="5224320" y="710460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Rounded Rectangle 104"/>
          <p:cNvSpPr/>
          <p:nvPr/>
        </p:nvSpPr>
        <p:spPr>
          <a:xfrm>
            <a:off x="4941000" y="345096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21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1" lang="en-US" sz="2100" spc="-1" strike="noStrike">
                <a:solidFill>
                  <a:schemeClr val="lt1"/>
                </a:solidFill>
                <a:latin typeface="Calibri"/>
                <a:ea typeface="DejaVu Sans"/>
              </a:rPr>
              <a:t>Cloud-native apps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1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1" lang="en-US" sz="2100" spc="-1" strike="noStrike">
                <a:solidFill>
                  <a:schemeClr val="lt1"/>
                </a:solidFill>
                <a:latin typeface="Calibri"/>
                <a:ea typeface="DejaVu Sans"/>
              </a:rPr>
              <a:t>Microservice scalability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1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1" lang="en-US" sz="2100" spc="-1" strike="noStrike">
                <a:solidFill>
                  <a:schemeClr val="lt1"/>
                </a:solidFill>
                <a:latin typeface="Calibri"/>
                <a:ea typeface="DejaVu Sans"/>
              </a:rPr>
              <a:t>Fast deployment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1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1" lang="en-US" sz="2100" spc="-1" strike="noStrike">
                <a:solidFill>
                  <a:schemeClr val="lt1"/>
                </a:solidFill>
                <a:latin typeface="Calibri"/>
                <a:ea typeface="DejaVu Sans"/>
              </a:rPr>
              <a:t>Functional programming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1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1" lang="en-US" sz="2100" spc="-1" strike="noStrike">
                <a:solidFill>
                  <a:schemeClr val="lt1"/>
                </a:solidFill>
                <a:latin typeface="Calibri"/>
                <a:ea typeface="DejaVu Sans"/>
              </a:rPr>
              <a:t>Long-term support (LTS)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Rectangle 225"/>
          <p:cNvSpPr/>
          <p:nvPr/>
        </p:nvSpPr>
        <p:spPr>
          <a:xfrm>
            <a:off x="16920" y="1800"/>
            <a:ext cx="13428360" cy="755172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6" name="Rectangle 226"/>
          <p:cNvSpPr/>
          <p:nvPr/>
        </p:nvSpPr>
        <p:spPr>
          <a:xfrm>
            <a:off x="144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7" name="Rectangle 227"/>
          <p:cNvSpPr/>
          <p:nvPr/>
        </p:nvSpPr>
        <p:spPr>
          <a:xfrm>
            <a:off x="100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8" name="Rectangle 228"/>
          <p:cNvSpPr/>
          <p:nvPr/>
        </p:nvSpPr>
        <p:spPr>
          <a:xfrm>
            <a:off x="201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9" name="Rectangle 229"/>
          <p:cNvSpPr/>
          <p:nvPr/>
        </p:nvSpPr>
        <p:spPr>
          <a:xfrm>
            <a:off x="302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0" name="Rectangle 230"/>
          <p:cNvSpPr/>
          <p:nvPr/>
        </p:nvSpPr>
        <p:spPr>
          <a:xfrm>
            <a:off x="402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1" name="Rectangle 231"/>
          <p:cNvSpPr/>
          <p:nvPr/>
        </p:nvSpPr>
        <p:spPr>
          <a:xfrm>
            <a:off x="503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2" name="Rectangle 232"/>
          <p:cNvSpPr/>
          <p:nvPr/>
        </p:nvSpPr>
        <p:spPr>
          <a:xfrm>
            <a:off x="604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3" name="Rectangle 233"/>
          <p:cNvSpPr/>
          <p:nvPr/>
        </p:nvSpPr>
        <p:spPr>
          <a:xfrm>
            <a:off x="705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4" name="Rectangle 234"/>
          <p:cNvSpPr/>
          <p:nvPr/>
        </p:nvSpPr>
        <p:spPr>
          <a:xfrm>
            <a:off x="806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5" name="Rectangle 235"/>
          <p:cNvSpPr/>
          <p:nvPr/>
        </p:nvSpPr>
        <p:spPr>
          <a:xfrm>
            <a:off x="906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6" name="Rectangle 236"/>
          <p:cNvSpPr/>
          <p:nvPr/>
        </p:nvSpPr>
        <p:spPr>
          <a:xfrm>
            <a:off x="1007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7" name="Rectangle 237"/>
          <p:cNvSpPr/>
          <p:nvPr/>
        </p:nvSpPr>
        <p:spPr>
          <a:xfrm>
            <a:off x="1108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8" name="Rectangle 238"/>
          <p:cNvSpPr/>
          <p:nvPr/>
        </p:nvSpPr>
        <p:spPr>
          <a:xfrm>
            <a:off x="1209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9" name="Rectangle 239"/>
          <p:cNvSpPr/>
          <p:nvPr/>
        </p:nvSpPr>
        <p:spPr>
          <a:xfrm>
            <a:off x="1310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20" name="Rectangle 240"/>
          <p:cNvSpPr/>
          <p:nvPr/>
        </p:nvSpPr>
        <p:spPr>
          <a:xfrm>
            <a:off x="1440" y="1800"/>
            <a:ext cx="344520" cy="755172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21" name="Rounded Rectangle 105"/>
          <p:cNvSpPr/>
          <p:nvPr/>
        </p:nvSpPr>
        <p:spPr>
          <a:xfrm>
            <a:off x="10884960" y="401400"/>
            <a:ext cx="2208960" cy="54504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TextBox 46"/>
          <p:cNvSpPr/>
          <p:nvPr/>
        </p:nvSpPr>
        <p:spPr>
          <a:xfrm>
            <a:off x="3785400" y="1107360"/>
            <a:ext cx="45428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200" spc="-1" strike="noStrike">
                <a:solidFill>
                  <a:srgbClr val="f5f5f5"/>
                </a:solidFill>
                <a:latin typeface="Calibri"/>
                <a:ea typeface="DejaVu Sans"/>
              </a:rPr>
              <a:t>      </a:t>
            </a:r>
            <a:r>
              <a:rPr b="1" lang="en-US" sz="4200" spc="-1" strike="noStrike">
                <a:solidFill>
                  <a:srgbClr val="f5f5f5"/>
                </a:solidFill>
                <a:latin typeface="Calibri"/>
                <a:ea typeface="DejaVu Sans"/>
              </a:rPr>
              <a:t>Java After 2015: 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TextBox 47"/>
          <p:cNvSpPr/>
          <p:nvPr/>
        </p:nvSpPr>
        <p:spPr>
          <a:xfrm>
            <a:off x="4500360" y="2266200"/>
            <a:ext cx="373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aaaaaa"/>
                </a:solidFill>
                <a:latin typeface="Calibri"/>
                <a:ea typeface="DejaVu Sans"/>
              </a:rPr>
              <a:t>Java grows up: faster, cleaner, smarter.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Rounded Rectangle 106"/>
          <p:cNvSpPr/>
          <p:nvPr/>
        </p:nvSpPr>
        <p:spPr>
          <a:xfrm>
            <a:off x="108684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25" name="Rounded Rectangle 107"/>
          <p:cNvSpPr/>
          <p:nvPr/>
        </p:nvSpPr>
        <p:spPr>
          <a:xfrm>
            <a:off x="1020960" y="342432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Java 8+ Lambda Expressions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Streams API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Optional &amp; Functional Interfaces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CompletableFuture (Async programming)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Records (immutable data carriers)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Pattern Matching (instanceof, switch)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Rounded Rectangle 108"/>
          <p:cNvSpPr/>
          <p:nvPr/>
        </p:nvSpPr>
        <p:spPr>
          <a:xfrm>
            <a:off x="49683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27" name="Rounded Rectangle 109"/>
          <p:cNvSpPr/>
          <p:nvPr/>
        </p:nvSpPr>
        <p:spPr>
          <a:xfrm>
            <a:off x="88491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28" name="Rounded Rectangle 110"/>
          <p:cNvSpPr/>
          <p:nvPr/>
        </p:nvSpPr>
        <p:spPr>
          <a:xfrm>
            <a:off x="8767440" y="342504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78ffc8"/>
                </a:solidFill>
                <a:latin typeface="Consolas"/>
                <a:ea typeface="DejaVu Sans"/>
              </a:rPr>
              <a:t>List&lt;String&gt; activeUsers =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2000" spc="-1" strike="noStrike">
                <a:solidFill>
                  <a:srgbClr val="78ffc8"/>
                </a:solidFill>
                <a:latin typeface="Consolas"/>
                <a:ea typeface="DejaVu Sans"/>
              </a:rPr>
              <a:t>users.stream()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</a:t>
            </a:r>
            <a:r>
              <a:rPr b="0" lang="en-US" sz="2000" spc="-1" strike="noStrike">
                <a:solidFill>
                  <a:srgbClr val="78ffc8"/>
                </a:solidFill>
                <a:latin typeface="Consolas"/>
                <a:ea typeface="DejaVu Sans"/>
              </a:rPr>
              <a:t>.filter(User::isActive)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</a:t>
            </a:r>
            <a:r>
              <a:rPr b="0" lang="en-US" sz="2000" spc="-1" strike="noStrike">
                <a:solidFill>
                  <a:srgbClr val="78ffc8"/>
                </a:solidFill>
                <a:latin typeface="Consolas"/>
                <a:ea typeface="DejaVu Sans"/>
              </a:rPr>
              <a:t>.map(User::getName)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</a:t>
            </a:r>
            <a:r>
              <a:rPr b="0" lang="en-US" sz="2000" spc="-1" strike="noStrike">
                <a:solidFill>
                  <a:srgbClr val="78ffc8"/>
                </a:solidFill>
                <a:latin typeface="Consolas"/>
                <a:ea typeface="DejaVu Sans"/>
              </a:rPr>
              <a:t>.toList();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TextBox 48"/>
          <p:cNvSpPr/>
          <p:nvPr/>
        </p:nvSpPr>
        <p:spPr>
          <a:xfrm>
            <a:off x="5224320" y="710460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Rounded Rectangle 111"/>
          <p:cNvSpPr/>
          <p:nvPr/>
        </p:nvSpPr>
        <p:spPr>
          <a:xfrm>
            <a:off x="4941000" y="345096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More expressive code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Less boilerplate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Better performance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Parallel &amp; async processing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Modern programming paradigms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Readability + maintainability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Before Java 8: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Imperative, verbose, loop-heavy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After Java 8+: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Declarative, functional, fluent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Rectangle 241"/>
          <p:cNvSpPr/>
          <p:nvPr/>
        </p:nvSpPr>
        <p:spPr>
          <a:xfrm>
            <a:off x="16920" y="1800"/>
            <a:ext cx="13428360" cy="755172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2" name="Rectangle 242"/>
          <p:cNvSpPr/>
          <p:nvPr/>
        </p:nvSpPr>
        <p:spPr>
          <a:xfrm>
            <a:off x="144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3" name="Rectangle 243"/>
          <p:cNvSpPr/>
          <p:nvPr/>
        </p:nvSpPr>
        <p:spPr>
          <a:xfrm>
            <a:off x="100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4" name="Rectangle 244"/>
          <p:cNvSpPr/>
          <p:nvPr/>
        </p:nvSpPr>
        <p:spPr>
          <a:xfrm>
            <a:off x="201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5" name="Rectangle 245"/>
          <p:cNvSpPr/>
          <p:nvPr/>
        </p:nvSpPr>
        <p:spPr>
          <a:xfrm>
            <a:off x="302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6" name="Rectangle 246"/>
          <p:cNvSpPr/>
          <p:nvPr/>
        </p:nvSpPr>
        <p:spPr>
          <a:xfrm>
            <a:off x="402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7" name="Rectangle 247"/>
          <p:cNvSpPr/>
          <p:nvPr/>
        </p:nvSpPr>
        <p:spPr>
          <a:xfrm>
            <a:off x="503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8" name="Rectangle 248"/>
          <p:cNvSpPr/>
          <p:nvPr/>
        </p:nvSpPr>
        <p:spPr>
          <a:xfrm>
            <a:off x="604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9" name="Rectangle 249"/>
          <p:cNvSpPr/>
          <p:nvPr/>
        </p:nvSpPr>
        <p:spPr>
          <a:xfrm>
            <a:off x="705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40" name="Rectangle 250"/>
          <p:cNvSpPr/>
          <p:nvPr/>
        </p:nvSpPr>
        <p:spPr>
          <a:xfrm>
            <a:off x="806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41" name="Rectangle 251"/>
          <p:cNvSpPr/>
          <p:nvPr/>
        </p:nvSpPr>
        <p:spPr>
          <a:xfrm>
            <a:off x="906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42" name="Rectangle 252"/>
          <p:cNvSpPr/>
          <p:nvPr/>
        </p:nvSpPr>
        <p:spPr>
          <a:xfrm>
            <a:off x="1007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43" name="Rectangle 253"/>
          <p:cNvSpPr/>
          <p:nvPr/>
        </p:nvSpPr>
        <p:spPr>
          <a:xfrm>
            <a:off x="1108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44" name="Rectangle 254"/>
          <p:cNvSpPr/>
          <p:nvPr/>
        </p:nvSpPr>
        <p:spPr>
          <a:xfrm>
            <a:off x="1209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45" name="Rectangle 255"/>
          <p:cNvSpPr/>
          <p:nvPr/>
        </p:nvSpPr>
        <p:spPr>
          <a:xfrm>
            <a:off x="1310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46" name="Rectangle 256"/>
          <p:cNvSpPr/>
          <p:nvPr/>
        </p:nvSpPr>
        <p:spPr>
          <a:xfrm>
            <a:off x="1440" y="1800"/>
            <a:ext cx="344520" cy="755172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47" name="Rounded Rectangle 112"/>
          <p:cNvSpPr/>
          <p:nvPr/>
        </p:nvSpPr>
        <p:spPr>
          <a:xfrm>
            <a:off x="10884960" y="401400"/>
            <a:ext cx="2208960" cy="54504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TextBox 49"/>
          <p:cNvSpPr/>
          <p:nvPr/>
        </p:nvSpPr>
        <p:spPr>
          <a:xfrm>
            <a:off x="1012680" y="1107360"/>
            <a:ext cx="1009152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200" spc="-1" strike="noStrike">
                <a:solidFill>
                  <a:srgbClr val="f5f5f5"/>
                </a:solidFill>
                <a:latin typeface="Calibri"/>
                <a:ea typeface="DejaVu Sans"/>
              </a:rPr>
              <a:t>          </a:t>
            </a:r>
            <a:r>
              <a:rPr b="1" lang="en-US" sz="4200" spc="-1" strike="noStrike">
                <a:solidFill>
                  <a:srgbClr val="f5f5f5"/>
                </a:solidFill>
                <a:latin typeface="Calibri"/>
                <a:ea typeface="DejaVu Sans"/>
              </a:rPr>
              <a:t>Java Today: Enterprise, Cloud &amp; Beyond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TextBox 50"/>
          <p:cNvSpPr/>
          <p:nvPr/>
        </p:nvSpPr>
        <p:spPr>
          <a:xfrm>
            <a:off x="3928320" y="2266200"/>
            <a:ext cx="4884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aaaaaa"/>
                </a:solidFill>
                <a:latin typeface="Calibri"/>
                <a:ea typeface="DejaVu Sans"/>
              </a:rPr>
              <a:t>Java is no longer just enterprise — it’s everywhere.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Rounded Rectangle 113"/>
          <p:cNvSpPr/>
          <p:nvPr/>
        </p:nvSpPr>
        <p:spPr>
          <a:xfrm>
            <a:off x="108684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1" name="Rounded Rectangle 114"/>
          <p:cNvSpPr/>
          <p:nvPr/>
        </p:nvSpPr>
        <p:spPr>
          <a:xfrm>
            <a:off x="1020960" y="342432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Cloud-native backends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High-performance APIs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Financial systems &amp; banking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Big data &amp; streaming platforms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Android (core language roots)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Game servers &amp; real-time systems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Rounded Rectangle 115"/>
          <p:cNvSpPr/>
          <p:nvPr/>
        </p:nvSpPr>
        <p:spPr>
          <a:xfrm>
            <a:off x="49683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3" name="Rounded Rectangle 116"/>
          <p:cNvSpPr/>
          <p:nvPr/>
        </p:nvSpPr>
        <p:spPr>
          <a:xfrm>
            <a:off x="88491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4" name="Rounded Rectangle 117"/>
          <p:cNvSpPr/>
          <p:nvPr/>
        </p:nvSpPr>
        <p:spPr>
          <a:xfrm>
            <a:off x="8767440" y="342504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78ffc8"/>
                </a:solidFill>
                <a:latin typeface="Consolas"/>
                <a:ea typeface="DejaVu Sans"/>
              </a:rPr>
              <a:t>@GetMapping("/health")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ResponseEntity&lt;String&gt; status() {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2000" spc="-1" strike="noStrike">
                <a:solidFill>
                  <a:srgbClr val="78ffc8"/>
                </a:solidFill>
                <a:latin typeface="Consolas"/>
                <a:ea typeface="DejaVu Sans"/>
              </a:rPr>
              <a:t>return ResponseEntity.ok("Service is running");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" name="TextBox 51"/>
          <p:cNvSpPr/>
          <p:nvPr/>
        </p:nvSpPr>
        <p:spPr>
          <a:xfrm>
            <a:off x="5224320" y="710460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Rounded Rectangle 118"/>
          <p:cNvSpPr/>
          <p:nvPr/>
        </p:nvSpPr>
        <p:spPr>
          <a:xfrm>
            <a:off x="4941000" y="345096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Spring Boot &amp; Spring Cloud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Reactive programming (WebFlux)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Kubernetes-native deployments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GraalVM &amp; Native Images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Observability (metrics, tracing)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Long-term support stability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Rectangle 257"/>
          <p:cNvSpPr/>
          <p:nvPr/>
        </p:nvSpPr>
        <p:spPr>
          <a:xfrm>
            <a:off x="16920" y="1800"/>
            <a:ext cx="13428360" cy="755172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8" name="Rectangle 258"/>
          <p:cNvSpPr/>
          <p:nvPr/>
        </p:nvSpPr>
        <p:spPr>
          <a:xfrm>
            <a:off x="144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9" name="Rectangle 259"/>
          <p:cNvSpPr/>
          <p:nvPr/>
        </p:nvSpPr>
        <p:spPr>
          <a:xfrm>
            <a:off x="100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0" name="Rectangle 260"/>
          <p:cNvSpPr/>
          <p:nvPr/>
        </p:nvSpPr>
        <p:spPr>
          <a:xfrm>
            <a:off x="201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1" name="Rectangle 261"/>
          <p:cNvSpPr/>
          <p:nvPr/>
        </p:nvSpPr>
        <p:spPr>
          <a:xfrm>
            <a:off x="302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2" name="Rectangle 262"/>
          <p:cNvSpPr/>
          <p:nvPr/>
        </p:nvSpPr>
        <p:spPr>
          <a:xfrm>
            <a:off x="402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3" name="Rectangle 263"/>
          <p:cNvSpPr/>
          <p:nvPr/>
        </p:nvSpPr>
        <p:spPr>
          <a:xfrm>
            <a:off x="503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4" name="Rectangle 264"/>
          <p:cNvSpPr/>
          <p:nvPr/>
        </p:nvSpPr>
        <p:spPr>
          <a:xfrm>
            <a:off x="604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5" name="Rectangle 265"/>
          <p:cNvSpPr/>
          <p:nvPr/>
        </p:nvSpPr>
        <p:spPr>
          <a:xfrm>
            <a:off x="705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6" name="Rectangle 266"/>
          <p:cNvSpPr/>
          <p:nvPr/>
        </p:nvSpPr>
        <p:spPr>
          <a:xfrm>
            <a:off x="806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7" name="Rectangle 267"/>
          <p:cNvSpPr/>
          <p:nvPr/>
        </p:nvSpPr>
        <p:spPr>
          <a:xfrm>
            <a:off x="906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8" name="Rectangle 268"/>
          <p:cNvSpPr/>
          <p:nvPr/>
        </p:nvSpPr>
        <p:spPr>
          <a:xfrm>
            <a:off x="1007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9" name="Rectangle 269"/>
          <p:cNvSpPr/>
          <p:nvPr/>
        </p:nvSpPr>
        <p:spPr>
          <a:xfrm>
            <a:off x="1108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70" name="Rectangle 270"/>
          <p:cNvSpPr/>
          <p:nvPr/>
        </p:nvSpPr>
        <p:spPr>
          <a:xfrm>
            <a:off x="1209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71" name="Rectangle 271"/>
          <p:cNvSpPr/>
          <p:nvPr/>
        </p:nvSpPr>
        <p:spPr>
          <a:xfrm>
            <a:off x="1310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72" name="Rectangle 272"/>
          <p:cNvSpPr/>
          <p:nvPr/>
        </p:nvSpPr>
        <p:spPr>
          <a:xfrm>
            <a:off x="1440" y="1800"/>
            <a:ext cx="344520" cy="755172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73" name="Rounded Rectangle 119"/>
          <p:cNvSpPr/>
          <p:nvPr/>
        </p:nvSpPr>
        <p:spPr>
          <a:xfrm>
            <a:off x="10884960" y="401400"/>
            <a:ext cx="2208960" cy="54504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TextBox 52"/>
          <p:cNvSpPr/>
          <p:nvPr/>
        </p:nvSpPr>
        <p:spPr>
          <a:xfrm>
            <a:off x="2129400" y="1107360"/>
            <a:ext cx="785772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200" spc="-1" strike="noStrike">
                <a:solidFill>
                  <a:srgbClr val="f5f5f5"/>
                </a:solidFill>
                <a:latin typeface="Calibri"/>
                <a:ea typeface="DejaVu Sans"/>
              </a:rPr>
              <a:t>Java in Practice: From Idea to Code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TextBox 53"/>
          <p:cNvSpPr/>
          <p:nvPr/>
        </p:nvSpPr>
        <p:spPr>
          <a:xfrm>
            <a:off x="2773080" y="2266200"/>
            <a:ext cx="7193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aaaaaa"/>
                </a:solidFill>
                <a:latin typeface="Calibri"/>
                <a:ea typeface="DejaVu Sans"/>
              </a:rPr>
              <a:t>Java focuses on turning ideas into clean, structured, and maintainable code.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Rounded Rectangle 120"/>
          <p:cNvSpPr/>
          <p:nvPr/>
        </p:nvSpPr>
        <p:spPr>
          <a:xfrm>
            <a:off x="108684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77" name="Rounded Rectangle 121"/>
          <p:cNvSpPr/>
          <p:nvPr/>
        </p:nvSpPr>
        <p:spPr>
          <a:xfrm>
            <a:off x="1020960" y="342432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Java is designed for clarity and structure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Strong typing prevents many runtime errors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Code readability improves long-term maintenance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Suitable for large and long-lived systems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Rounded Rectangle 122"/>
          <p:cNvSpPr/>
          <p:nvPr/>
        </p:nvSpPr>
        <p:spPr>
          <a:xfrm>
            <a:off x="49683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79" name="Rounded Rectangle 123"/>
          <p:cNvSpPr/>
          <p:nvPr/>
        </p:nvSpPr>
        <p:spPr>
          <a:xfrm>
            <a:off x="88491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0" name="Rounded Rectangle 124"/>
          <p:cNvSpPr/>
          <p:nvPr/>
        </p:nvSpPr>
        <p:spPr>
          <a:xfrm>
            <a:off x="8767440" y="342504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Calculator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int add(int a, int b)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return a + b;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int result = add(10, 20);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System.out.println(result);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TextBox 54"/>
          <p:cNvSpPr/>
          <p:nvPr/>
        </p:nvSpPr>
        <p:spPr>
          <a:xfrm>
            <a:off x="5224320" y="710460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Rounded Rectangle 125"/>
          <p:cNvSpPr/>
          <p:nvPr/>
        </p:nvSpPr>
        <p:spPr>
          <a:xfrm>
            <a:off x="4941000" y="345096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Problem Definition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Solution Planning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Class &amp; Method Design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Implementation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Compilation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Program Execution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Rectangle 273"/>
          <p:cNvSpPr/>
          <p:nvPr/>
        </p:nvSpPr>
        <p:spPr>
          <a:xfrm>
            <a:off x="16920" y="1800"/>
            <a:ext cx="13428360" cy="755172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4" name="Rectangle 274"/>
          <p:cNvSpPr/>
          <p:nvPr/>
        </p:nvSpPr>
        <p:spPr>
          <a:xfrm>
            <a:off x="144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5" name="Rectangle 275"/>
          <p:cNvSpPr/>
          <p:nvPr/>
        </p:nvSpPr>
        <p:spPr>
          <a:xfrm>
            <a:off x="100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6" name="Rectangle 276"/>
          <p:cNvSpPr/>
          <p:nvPr/>
        </p:nvSpPr>
        <p:spPr>
          <a:xfrm>
            <a:off x="201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7" name="Rectangle 277"/>
          <p:cNvSpPr/>
          <p:nvPr/>
        </p:nvSpPr>
        <p:spPr>
          <a:xfrm>
            <a:off x="302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8" name="Rectangle 278"/>
          <p:cNvSpPr/>
          <p:nvPr/>
        </p:nvSpPr>
        <p:spPr>
          <a:xfrm>
            <a:off x="402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9" name="Rectangle 279"/>
          <p:cNvSpPr/>
          <p:nvPr/>
        </p:nvSpPr>
        <p:spPr>
          <a:xfrm>
            <a:off x="503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0" name="Rectangle 280"/>
          <p:cNvSpPr/>
          <p:nvPr/>
        </p:nvSpPr>
        <p:spPr>
          <a:xfrm>
            <a:off x="604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1" name="Rectangle 281"/>
          <p:cNvSpPr/>
          <p:nvPr/>
        </p:nvSpPr>
        <p:spPr>
          <a:xfrm>
            <a:off x="705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2" name="Rectangle 282"/>
          <p:cNvSpPr/>
          <p:nvPr/>
        </p:nvSpPr>
        <p:spPr>
          <a:xfrm>
            <a:off x="806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3" name="Rectangle 283"/>
          <p:cNvSpPr/>
          <p:nvPr/>
        </p:nvSpPr>
        <p:spPr>
          <a:xfrm>
            <a:off x="906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4" name="Rectangle 284"/>
          <p:cNvSpPr/>
          <p:nvPr/>
        </p:nvSpPr>
        <p:spPr>
          <a:xfrm>
            <a:off x="1007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5" name="Rectangle 285"/>
          <p:cNvSpPr/>
          <p:nvPr/>
        </p:nvSpPr>
        <p:spPr>
          <a:xfrm>
            <a:off x="1108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6" name="Rectangle 286"/>
          <p:cNvSpPr/>
          <p:nvPr/>
        </p:nvSpPr>
        <p:spPr>
          <a:xfrm>
            <a:off x="1209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7" name="Rectangle 287"/>
          <p:cNvSpPr/>
          <p:nvPr/>
        </p:nvSpPr>
        <p:spPr>
          <a:xfrm>
            <a:off x="1310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8" name="Rectangle 288"/>
          <p:cNvSpPr/>
          <p:nvPr/>
        </p:nvSpPr>
        <p:spPr>
          <a:xfrm>
            <a:off x="1440" y="1800"/>
            <a:ext cx="344520" cy="755172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9" name="Rounded Rectangle 126"/>
          <p:cNvSpPr/>
          <p:nvPr/>
        </p:nvSpPr>
        <p:spPr>
          <a:xfrm>
            <a:off x="10884960" y="401400"/>
            <a:ext cx="2208960" cy="54504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" name="TextBox 55"/>
          <p:cNvSpPr/>
          <p:nvPr/>
        </p:nvSpPr>
        <p:spPr>
          <a:xfrm>
            <a:off x="2240640" y="1107360"/>
            <a:ext cx="76334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200" spc="-1" strike="noStrike">
                <a:solidFill>
                  <a:srgbClr val="f5f5f5"/>
                </a:solidFill>
                <a:latin typeface="Calibri"/>
                <a:ea typeface="DejaVu Sans"/>
              </a:rPr>
              <a:t>Java Core Features – An Overview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TextBox 56"/>
          <p:cNvSpPr/>
          <p:nvPr/>
        </p:nvSpPr>
        <p:spPr>
          <a:xfrm>
            <a:off x="3222000" y="2266200"/>
            <a:ext cx="6295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aaaaaa"/>
                </a:solidFill>
                <a:latin typeface="Calibri"/>
                <a:ea typeface="DejaVu Sans"/>
              </a:rPr>
              <a:t>A first look at the fundamental features that shape Java programs.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Rounded Rectangle 127"/>
          <p:cNvSpPr/>
          <p:nvPr/>
        </p:nvSpPr>
        <p:spPr>
          <a:xfrm>
            <a:off x="108684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03" name="Rounded Rectangle 128"/>
          <p:cNvSpPr/>
          <p:nvPr/>
        </p:nvSpPr>
        <p:spPr>
          <a:xfrm>
            <a:off x="1020960" y="342432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Java is designed with a set of core features that help developers write programs in a clear, structured, and predictable way.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These features reduce common programming errors, improve code readability, and make applications easier to maintain over time.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Rather than focusing on low-level system details, Java allows developers to concentrate on program logic and problem-solving.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" name="Rounded Rectangle 129"/>
          <p:cNvSpPr/>
          <p:nvPr/>
        </p:nvSpPr>
        <p:spPr>
          <a:xfrm>
            <a:off x="49683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05" name="Rounded Rectangle 130"/>
          <p:cNvSpPr/>
          <p:nvPr/>
        </p:nvSpPr>
        <p:spPr>
          <a:xfrm>
            <a:off x="88491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06" name="Rounded Rectangle 131"/>
          <p:cNvSpPr/>
          <p:nvPr/>
        </p:nvSpPr>
        <p:spPr>
          <a:xfrm>
            <a:off x="8767440" y="342504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100" spc="-1" strike="noStrike">
                <a:solidFill>
                  <a:srgbClr val="78ffc8"/>
                </a:solidFill>
                <a:latin typeface="Consolas"/>
                <a:ea typeface="DejaVu Sans"/>
              </a:rPr>
              <a:t>int number = 5;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100" spc="-1" strike="noStrike">
                <a:solidFill>
                  <a:srgbClr val="78ffc8"/>
                </a:solidFill>
                <a:latin typeface="Consolas"/>
                <a:ea typeface="DejaVu Sans"/>
              </a:rPr>
              <a:t>if (number &gt; 0) {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21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System.out.println("Positive number");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1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7" name="TextBox 57"/>
          <p:cNvSpPr/>
          <p:nvPr/>
        </p:nvSpPr>
        <p:spPr>
          <a:xfrm>
            <a:off x="5224320" y="710460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Rounded Rectangle 132"/>
          <p:cNvSpPr/>
          <p:nvPr/>
        </p:nvSpPr>
        <p:spPr>
          <a:xfrm>
            <a:off x="4941000" y="345096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Calibri"/>
                <a:ea typeface="DejaVu Sans"/>
              </a:rPr>
              <a:t>What I Want to Do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Calibri"/>
                <a:ea typeface="DejaVu Sans"/>
              </a:rPr>
              <a:t>What Java Allows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Calibri"/>
                <a:ea typeface="DejaVu Sans"/>
              </a:rPr>
              <a:t>How I Must Write It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Calibri"/>
                <a:ea typeface="DejaVu Sans"/>
              </a:rPr>
              <a:t>How It Executes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Calibri"/>
                <a:ea typeface="DejaVu Sans"/>
              </a:rPr>
              <a:t>What I Get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Rectangle 289"/>
          <p:cNvSpPr/>
          <p:nvPr/>
        </p:nvSpPr>
        <p:spPr>
          <a:xfrm>
            <a:off x="16920" y="1800"/>
            <a:ext cx="13428360" cy="755172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0" name="Rectangle 290"/>
          <p:cNvSpPr/>
          <p:nvPr/>
        </p:nvSpPr>
        <p:spPr>
          <a:xfrm>
            <a:off x="144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1" name="Rectangle 291"/>
          <p:cNvSpPr/>
          <p:nvPr/>
        </p:nvSpPr>
        <p:spPr>
          <a:xfrm>
            <a:off x="100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2" name="Rectangle 292"/>
          <p:cNvSpPr/>
          <p:nvPr/>
        </p:nvSpPr>
        <p:spPr>
          <a:xfrm>
            <a:off x="201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3" name="Rectangle 293"/>
          <p:cNvSpPr/>
          <p:nvPr/>
        </p:nvSpPr>
        <p:spPr>
          <a:xfrm>
            <a:off x="302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4" name="Rectangle 294"/>
          <p:cNvSpPr/>
          <p:nvPr/>
        </p:nvSpPr>
        <p:spPr>
          <a:xfrm>
            <a:off x="402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5" name="Rectangle 295"/>
          <p:cNvSpPr/>
          <p:nvPr/>
        </p:nvSpPr>
        <p:spPr>
          <a:xfrm>
            <a:off x="503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6" name="Rectangle 296"/>
          <p:cNvSpPr/>
          <p:nvPr/>
        </p:nvSpPr>
        <p:spPr>
          <a:xfrm>
            <a:off x="604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7" name="Rectangle 297"/>
          <p:cNvSpPr/>
          <p:nvPr/>
        </p:nvSpPr>
        <p:spPr>
          <a:xfrm>
            <a:off x="705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8" name="Rectangle 298"/>
          <p:cNvSpPr/>
          <p:nvPr/>
        </p:nvSpPr>
        <p:spPr>
          <a:xfrm>
            <a:off x="806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9" name="Rectangle 299"/>
          <p:cNvSpPr/>
          <p:nvPr/>
        </p:nvSpPr>
        <p:spPr>
          <a:xfrm>
            <a:off x="906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20" name="Rectangle 300"/>
          <p:cNvSpPr/>
          <p:nvPr/>
        </p:nvSpPr>
        <p:spPr>
          <a:xfrm>
            <a:off x="1007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21" name="Rectangle 301"/>
          <p:cNvSpPr/>
          <p:nvPr/>
        </p:nvSpPr>
        <p:spPr>
          <a:xfrm>
            <a:off x="1108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22" name="Rectangle 302"/>
          <p:cNvSpPr/>
          <p:nvPr/>
        </p:nvSpPr>
        <p:spPr>
          <a:xfrm>
            <a:off x="1209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23" name="Rectangle 303"/>
          <p:cNvSpPr/>
          <p:nvPr/>
        </p:nvSpPr>
        <p:spPr>
          <a:xfrm>
            <a:off x="1310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24" name="Rectangle 304"/>
          <p:cNvSpPr/>
          <p:nvPr/>
        </p:nvSpPr>
        <p:spPr>
          <a:xfrm>
            <a:off x="1440" y="1800"/>
            <a:ext cx="344520" cy="755172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25" name="Rounded Rectangle 133"/>
          <p:cNvSpPr/>
          <p:nvPr/>
        </p:nvSpPr>
        <p:spPr>
          <a:xfrm>
            <a:off x="10884960" y="401400"/>
            <a:ext cx="2208960" cy="54504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" name="TextBox 58"/>
          <p:cNvSpPr/>
          <p:nvPr/>
        </p:nvSpPr>
        <p:spPr>
          <a:xfrm>
            <a:off x="4180320" y="1107360"/>
            <a:ext cx="375336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200" spc="-1" strike="noStrike">
                <a:solidFill>
                  <a:srgbClr val="f5f5f5"/>
                </a:solidFill>
                <a:latin typeface="Calibri"/>
                <a:ea typeface="DejaVu Sans"/>
              </a:rPr>
              <a:t>Object-Oriented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TextBox 59"/>
          <p:cNvSpPr/>
          <p:nvPr/>
        </p:nvSpPr>
        <p:spPr>
          <a:xfrm>
            <a:off x="2378880" y="2266200"/>
            <a:ext cx="7982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aaaaaa"/>
                </a:solidFill>
                <a:latin typeface="Calibri"/>
                <a:ea typeface="DejaVu Sans"/>
              </a:rPr>
              <a:t>Java is an object-oriented programming language.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aaaaaa"/>
                </a:solidFill>
                <a:latin typeface="Calibri"/>
                <a:ea typeface="DejaVu Sans"/>
              </a:rPr>
              <a:t>This means Java programs are built using objects, which represent real-world things.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Rounded Rectangle 134"/>
          <p:cNvSpPr/>
          <p:nvPr/>
        </p:nvSpPr>
        <p:spPr>
          <a:xfrm>
            <a:off x="108684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29" name="Rounded Rectangle 135"/>
          <p:cNvSpPr/>
          <p:nvPr/>
        </p:nvSpPr>
        <p:spPr>
          <a:xfrm>
            <a:off x="1020960" y="342432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Object-Oriented Programming (OOP):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Everything in Java is based on classes and objects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A class is a blueprint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An object is a real instance of a class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OOP makes programs easier to understand and manage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Examples of real-world objects: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Car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Student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Account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0" name="Rounded Rectangle 136"/>
          <p:cNvSpPr/>
          <p:nvPr/>
        </p:nvSpPr>
        <p:spPr>
          <a:xfrm>
            <a:off x="49683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31" name="Rounded Rectangle 137"/>
          <p:cNvSpPr/>
          <p:nvPr/>
        </p:nvSpPr>
        <p:spPr>
          <a:xfrm>
            <a:off x="88491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32" name="Rounded Rectangle 138"/>
          <p:cNvSpPr/>
          <p:nvPr/>
        </p:nvSpPr>
        <p:spPr>
          <a:xfrm>
            <a:off x="8767440" y="342504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100" spc="-1" strike="noStrike">
                <a:solidFill>
                  <a:srgbClr val="78ffc8"/>
                </a:solidFill>
                <a:latin typeface="Consolas"/>
                <a:ea typeface="DejaVu Sans"/>
              </a:rPr>
              <a:t>class Car {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2100" spc="-1" strike="noStrike">
                <a:solidFill>
                  <a:srgbClr val="78ffc8"/>
                </a:solidFill>
                <a:latin typeface="Consolas"/>
                <a:ea typeface="DejaVu Sans"/>
              </a:rPr>
              <a:t>String model;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2100" spc="-1" strike="noStrike">
                <a:solidFill>
                  <a:srgbClr val="78ffc8"/>
                </a:solidFill>
                <a:latin typeface="Consolas"/>
                <a:ea typeface="DejaVu Sans"/>
              </a:rPr>
              <a:t>String color;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2100" spc="-1" strike="noStrike">
                <a:solidFill>
                  <a:srgbClr val="78ffc8"/>
                </a:solidFill>
                <a:latin typeface="Consolas"/>
                <a:ea typeface="DejaVu Sans"/>
              </a:rPr>
              <a:t>int year;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2100" spc="-1" strike="noStrike">
                <a:solidFill>
                  <a:srgbClr val="78ffc8"/>
                </a:solidFill>
                <a:latin typeface="Consolas"/>
                <a:ea typeface="DejaVu Sans"/>
              </a:rPr>
              <a:t>double price;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1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" name="TextBox 60"/>
          <p:cNvSpPr/>
          <p:nvPr/>
        </p:nvSpPr>
        <p:spPr>
          <a:xfrm>
            <a:off x="5224320" y="710460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Rounded Rectangle 139"/>
          <p:cNvSpPr/>
          <p:nvPr/>
        </p:nvSpPr>
        <p:spPr>
          <a:xfrm>
            <a:off x="4941000" y="345096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Real World Object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       ↓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    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Class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       ↓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   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Object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       ↓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 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Program Logic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Explanation: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First, we define a class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Then, we create objects from that class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Objects are used inside the program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Rectangle 305"/>
          <p:cNvSpPr/>
          <p:nvPr/>
        </p:nvSpPr>
        <p:spPr>
          <a:xfrm>
            <a:off x="16920" y="1800"/>
            <a:ext cx="13428360" cy="755172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36" name="Rectangle 306"/>
          <p:cNvSpPr/>
          <p:nvPr/>
        </p:nvSpPr>
        <p:spPr>
          <a:xfrm>
            <a:off x="144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37" name="Rectangle 307"/>
          <p:cNvSpPr/>
          <p:nvPr/>
        </p:nvSpPr>
        <p:spPr>
          <a:xfrm>
            <a:off x="100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38" name="Rectangle 308"/>
          <p:cNvSpPr/>
          <p:nvPr/>
        </p:nvSpPr>
        <p:spPr>
          <a:xfrm>
            <a:off x="201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39" name="Rectangle 309"/>
          <p:cNvSpPr/>
          <p:nvPr/>
        </p:nvSpPr>
        <p:spPr>
          <a:xfrm>
            <a:off x="302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40" name="Rectangle 310"/>
          <p:cNvSpPr/>
          <p:nvPr/>
        </p:nvSpPr>
        <p:spPr>
          <a:xfrm>
            <a:off x="402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41" name="Rectangle 311"/>
          <p:cNvSpPr/>
          <p:nvPr/>
        </p:nvSpPr>
        <p:spPr>
          <a:xfrm>
            <a:off x="503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42" name="Rectangle 312"/>
          <p:cNvSpPr/>
          <p:nvPr/>
        </p:nvSpPr>
        <p:spPr>
          <a:xfrm>
            <a:off x="604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43" name="Rectangle 313"/>
          <p:cNvSpPr/>
          <p:nvPr/>
        </p:nvSpPr>
        <p:spPr>
          <a:xfrm>
            <a:off x="705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44" name="Rectangle 314"/>
          <p:cNvSpPr/>
          <p:nvPr/>
        </p:nvSpPr>
        <p:spPr>
          <a:xfrm>
            <a:off x="806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45" name="Rectangle 315"/>
          <p:cNvSpPr/>
          <p:nvPr/>
        </p:nvSpPr>
        <p:spPr>
          <a:xfrm>
            <a:off x="906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46" name="Rectangle 316"/>
          <p:cNvSpPr/>
          <p:nvPr/>
        </p:nvSpPr>
        <p:spPr>
          <a:xfrm>
            <a:off x="1007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47" name="Rectangle 317"/>
          <p:cNvSpPr/>
          <p:nvPr/>
        </p:nvSpPr>
        <p:spPr>
          <a:xfrm>
            <a:off x="1108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48" name="Rectangle 318"/>
          <p:cNvSpPr/>
          <p:nvPr/>
        </p:nvSpPr>
        <p:spPr>
          <a:xfrm>
            <a:off x="1209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49" name="Rectangle 319"/>
          <p:cNvSpPr/>
          <p:nvPr/>
        </p:nvSpPr>
        <p:spPr>
          <a:xfrm>
            <a:off x="1310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50" name="Rectangle 320"/>
          <p:cNvSpPr/>
          <p:nvPr/>
        </p:nvSpPr>
        <p:spPr>
          <a:xfrm>
            <a:off x="1440" y="1800"/>
            <a:ext cx="344520" cy="755172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51" name="Rounded Rectangle 140"/>
          <p:cNvSpPr/>
          <p:nvPr/>
        </p:nvSpPr>
        <p:spPr>
          <a:xfrm>
            <a:off x="10884960" y="401400"/>
            <a:ext cx="2208960" cy="54504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" name="TextBox 61"/>
          <p:cNvSpPr/>
          <p:nvPr/>
        </p:nvSpPr>
        <p:spPr>
          <a:xfrm>
            <a:off x="5227200" y="1107360"/>
            <a:ext cx="165960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200" spc="-1" strike="noStrike">
                <a:solidFill>
                  <a:srgbClr val="f5f5f5"/>
                </a:solidFill>
                <a:latin typeface="Calibri"/>
                <a:ea typeface="DejaVu Sans"/>
              </a:rPr>
              <a:t>Secure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TextBox 62"/>
          <p:cNvSpPr/>
          <p:nvPr/>
        </p:nvSpPr>
        <p:spPr>
          <a:xfrm>
            <a:off x="651600" y="2266200"/>
            <a:ext cx="114375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aaaaaa"/>
                </a:solidFill>
                <a:latin typeface="Calibri"/>
                <a:ea typeface="DejaVu Sans"/>
              </a:rPr>
              <a:t>Java is designed to be a secure programming language.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aaaaaa"/>
                </a:solidFill>
                <a:latin typeface="Calibri"/>
                <a:ea typeface="DejaVu Sans"/>
              </a:rPr>
              <a:t>It allows developers to build virus-free and tamper-free applications.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aaaaaa"/>
                </a:solidFill>
                <a:latin typeface="Calibri"/>
                <a:ea typeface="DejaVu Sans"/>
              </a:rPr>
              <a:t>Java security is based on strong concepts like public-key encryption, bytecode verification, and controlled memory access.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Rounded Rectangle 141"/>
          <p:cNvSpPr/>
          <p:nvPr/>
        </p:nvSpPr>
        <p:spPr>
          <a:xfrm>
            <a:off x="108684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55" name="Rounded Rectangle 142"/>
          <p:cNvSpPr/>
          <p:nvPr/>
        </p:nvSpPr>
        <p:spPr>
          <a:xfrm>
            <a:off x="1020960" y="342432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Java does not allow direct memory access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No pointers like in C/C++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Programs run inside the Java Virtual Machine (JVM)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Bytecode is verified before execution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Common problems like: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     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- Memory leaks</a:t>
            </a:r>
            <a:br>
              <a:rPr sz="1400"/>
            </a:b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      - Buffer overflow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Additional security advantages: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Built-in exception handling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Automatic garbage collection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Secure class loading mechanism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6" name="Rounded Rectangle 143"/>
          <p:cNvSpPr/>
          <p:nvPr/>
        </p:nvSpPr>
        <p:spPr>
          <a:xfrm>
            <a:off x="49683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57" name="Rounded Rectangle 144"/>
          <p:cNvSpPr/>
          <p:nvPr/>
        </p:nvSpPr>
        <p:spPr>
          <a:xfrm>
            <a:off x="88491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58" name="Rounded Rectangle 145"/>
          <p:cNvSpPr/>
          <p:nvPr/>
        </p:nvSpPr>
        <p:spPr>
          <a:xfrm>
            <a:off x="8767440" y="342504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SecureExample {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try {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</a:t>
            </a: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int number = 10 / 0;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} catch (Exception e) {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</a:t>
            </a: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System.out.println("Error handled safely");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" name="TextBox 63"/>
          <p:cNvSpPr/>
          <p:nvPr/>
        </p:nvSpPr>
        <p:spPr>
          <a:xfrm>
            <a:off x="5224320" y="710460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Rounded Rectangle 146"/>
          <p:cNvSpPr/>
          <p:nvPr/>
        </p:nvSpPr>
        <p:spPr>
          <a:xfrm>
            <a:off x="4941000" y="345096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        </a:t>
            </a:r>
            <a:r>
              <a:rPr b="1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Java Source Code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        ↓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   </a:t>
            </a:r>
            <a:r>
              <a:rPr b="1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Compiler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        ↓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   </a:t>
            </a:r>
            <a:r>
              <a:rPr b="1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Bytecode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        ↓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</a:t>
            </a:r>
            <a:r>
              <a:rPr b="1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JVM Security Check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        ↓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</a:t>
            </a:r>
            <a:r>
              <a:rPr b="1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Safe Execution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Rectangle 321"/>
          <p:cNvSpPr/>
          <p:nvPr/>
        </p:nvSpPr>
        <p:spPr>
          <a:xfrm>
            <a:off x="16920" y="1800"/>
            <a:ext cx="13428360" cy="755172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62" name="Rectangle 322"/>
          <p:cNvSpPr/>
          <p:nvPr/>
        </p:nvSpPr>
        <p:spPr>
          <a:xfrm>
            <a:off x="144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63" name="Rectangle 323"/>
          <p:cNvSpPr/>
          <p:nvPr/>
        </p:nvSpPr>
        <p:spPr>
          <a:xfrm>
            <a:off x="100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64" name="Rectangle 324"/>
          <p:cNvSpPr/>
          <p:nvPr/>
        </p:nvSpPr>
        <p:spPr>
          <a:xfrm>
            <a:off x="201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65" name="Rectangle 325"/>
          <p:cNvSpPr/>
          <p:nvPr/>
        </p:nvSpPr>
        <p:spPr>
          <a:xfrm>
            <a:off x="302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66" name="Rectangle 326"/>
          <p:cNvSpPr/>
          <p:nvPr/>
        </p:nvSpPr>
        <p:spPr>
          <a:xfrm>
            <a:off x="402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67" name="Rectangle 327"/>
          <p:cNvSpPr/>
          <p:nvPr/>
        </p:nvSpPr>
        <p:spPr>
          <a:xfrm>
            <a:off x="503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68" name="Rectangle 328"/>
          <p:cNvSpPr/>
          <p:nvPr/>
        </p:nvSpPr>
        <p:spPr>
          <a:xfrm>
            <a:off x="604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69" name="Rectangle 329"/>
          <p:cNvSpPr/>
          <p:nvPr/>
        </p:nvSpPr>
        <p:spPr>
          <a:xfrm>
            <a:off x="705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70" name="Rectangle 330"/>
          <p:cNvSpPr/>
          <p:nvPr/>
        </p:nvSpPr>
        <p:spPr>
          <a:xfrm>
            <a:off x="806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71" name="Rectangle 331"/>
          <p:cNvSpPr/>
          <p:nvPr/>
        </p:nvSpPr>
        <p:spPr>
          <a:xfrm>
            <a:off x="906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72" name="Rectangle 332"/>
          <p:cNvSpPr/>
          <p:nvPr/>
        </p:nvSpPr>
        <p:spPr>
          <a:xfrm>
            <a:off x="1007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73" name="Rectangle 333"/>
          <p:cNvSpPr/>
          <p:nvPr/>
        </p:nvSpPr>
        <p:spPr>
          <a:xfrm>
            <a:off x="1108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74" name="Rectangle 334"/>
          <p:cNvSpPr/>
          <p:nvPr/>
        </p:nvSpPr>
        <p:spPr>
          <a:xfrm>
            <a:off x="1209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75" name="Rectangle 335"/>
          <p:cNvSpPr/>
          <p:nvPr/>
        </p:nvSpPr>
        <p:spPr>
          <a:xfrm>
            <a:off x="1310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76" name="Rectangle 336"/>
          <p:cNvSpPr/>
          <p:nvPr/>
        </p:nvSpPr>
        <p:spPr>
          <a:xfrm>
            <a:off x="1440" y="1800"/>
            <a:ext cx="344520" cy="755172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77" name="Rounded Rectangle 147"/>
          <p:cNvSpPr/>
          <p:nvPr/>
        </p:nvSpPr>
        <p:spPr>
          <a:xfrm>
            <a:off x="10884960" y="401400"/>
            <a:ext cx="2208960" cy="54504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8" name="TextBox 64"/>
          <p:cNvSpPr/>
          <p:nvPr/>
        </p:nvSpPr>
        <p:spPr>
          <a:xfrm>
            <a:off x="4704480" y="1107360"/>
            <a:ext cx="270648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200" spc="-1" strike="noStrike">
                <a:solidFill>
                  <a:srgbClr val="f5f5f5"/>
                </a:solidFill>
                <a:latin typeface="Calibri"/>
                <a:ea typeface="DejaVu Sans"/>
              </a:rPr>
              <a:t>Interpreted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TextBox 65"/>
          <p:cNvSpPr/>
          <p:nvPr/>
        </p:nvSpPr>
        <p:spPr>
          <a:xfrm>
            <a:off x="2012400" y="2266200"/>
            <a:ext cx="8714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aaaaaa"/>
                </a:solidFill>
                <a:latin typeface="Calibri"/>
                <a:ea typeface="DejaVu Sans"/>
              </a:rPr>
              <a:t>Java code is executed through an intermediate step instead of running directly on hardware.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Rounded Rectangle 148"/>
          <p:cNvSpPr/>
          <p:nvPr/>
        </p:nvSpPr>
        <p:spPr>
          <a:xfrm>
            <a:off x="108684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81" name="Rounded Rectangle 149"/>
          <p:cNvSpPr/>
          <p:nvPr/>
        </p:nvSpPr>
        <p:spPr>
          <a:xfrm>
            <a:off x="1020960" y="342432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Java source code is first compiled into Bytecode, not machine code.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This Bytecode is translated on the fly into native machine instructions while the program runs.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The translated instructions are not stored permanently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Because of this model: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Development is faster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Compilation and linking are lightweight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Code analysis and debugging become easier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2" name="Rounded Rectangle 150"/>
          <p:cNvSpPr/>
          <p:nvPr/>
        </p:nvSpPr>
        <p:spPr>
          <a:xfrm>
            <a:off x="49683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83" name="Rounded Rectangle 151"/>
          <p:cNvSpPr/>
          <p:nvPr/>
        </p:nvSpPr>
        <p:spPr>
          <a:xfrm>
            <a:off x="88491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84" name="Rounded Rectangle 152"/>
          <p:cNvSpPr/>
          <p:nvPr/>
        </p:nvSpPr>
        <p:spPr>
          <a:xfrm>
            <a:off x="8767440" y="342504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InterpretedExample {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System.out.println("Java runs through the JVM");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5" name="TextBox 66"/>
          <p:cNvSpPr/>
          <p:nvPr/>
        </p:nvSpPr>
        <p:spPr>
          <a:xfrm>
            <a:off x="5224320" y="710460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Rounded Rectangle 153"/>
          <p:cNvSpPr/>
          <p:nvPr/>
        </p:nvSpPr>
        <p:spPr>
          <a:xfrm>
            <a:off x="4941000" y="345096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How Java Executes: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    </a:t>
            </a: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Java Source Code (.java)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        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      </a:t>
            </a: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Java Compiler (javac)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        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</a:t>
            </a: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Bytecode (.class)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        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Java Virtual Machine (JVM)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        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Native Machine Instructions (runtime)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Rectangle 337"/>
          <p:cNvSpPr/>
          <p:nvPr/>
        </p:nvSpPr>
        <p:spPr>
          <a:xfrm>
            <a:off x="16920" y="1800"/>
            <a:ext cx="13428360" cy="755172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88" name="Rectangle 338"/>
          <p:cNvSpPr/>
          <p:nvPr/>
        </p:nvSpPr>
        <p:spPr>
          <a:xfrm>
            <a:off x="144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89" name="Rectangle 339"/>
          <p:cNvSpPr/>
          <p:nvPr/>
        </p:nvSpPr>
        <p:spPr>
          <a:xfrm>
            <a:off x="100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90" name="Rectangle 340"/>
          <p:cNvSpPr/>
          <p:nvPr/>
        </p:nvSpPr>
        <p:spPr>
          <a:xfrm>
            <a:off x="201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91" name="Rectangle 341"/>
          <p:cNvSpPr/>
          <p:nvPr/>
        </p:nvSpPr>
        <p:spPr>
          <a:xfrm>
            <a:off x="302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92" name="Rectangle 342"/>
          <p:cNvSpPr/>
          <p:nvPr/>
        </p:nvSpPr>
        <p:spPr>
          <a:xfrm>
            <a:off x="402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93" name="Rectangle 343"/>
          <p:cNvSpPr/>
          <p:nvPr/>
        </p:nvSpPr>
        <p:spPr>
          <a:xfrm>
            <a:off x="503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94" name="Rectangle 344"/>
          <p:cNvSpPr/>
          <p:nvPr/>
        </p:nvSpPr>
        <p:spPr>
          <a:xfrm>
            <a:off x="604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95" name="Rectangle 345"/>
          <p:cNvSpPr/>
          <p:nvPr/>
        </p:nvSpPr>
        <p:spPr>
          <a:xfrm>
            <a:off x="705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96" name="Rectangle 346"/>
          <p:cNvSpPr/>
          <p:nvPr/>
        </p:nvSpPr>
        <p:spPr>
          <a:xfrm>
            <a:off x="806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97" name="Rectangle 347"/>
          <p:cNvSpPr/>
          <p:nvPr/>
        </p:nvSpPr>
        <p:spPr>
          <a:xfrm>
            <a:off x="906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98" name="Rectangle 348"/>
          <p:cNvSpPr/>
          <p:nvPr/>
        </p:nvSpPr>
        <p:spPr>
          <a:xfrm>
            <a:off x="1007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99" name="Rectangle 349"/>
          <p:cNvSpPr/>
          <p:nvPr/>
        </p:nvSpPr>
        <p:spPr>
          <a:xfrm>
            <a:off x="1108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00" name="Rectangle 350"/>
          <p:cNvSpPr/>
          <p:nvPr/>
        </p:nvSpPr>
        <p:spPr>
          <a:xfrm>
            <a:off x="1209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01" name="Rectangle 351"/>
          <p:cNvSpPr/>
          <p:nvPr/>
        </p:nvSpPr>
        <p:spPr>
          <a:xfrm>
            <a:off x="1310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02" name="Rectangle 352"/>
          <p:cNvSpPr/>
          <p:nvPr/>
        </p:nvSpPr>
        <p:spPr>
          <a:xfrm>
            <a:off x="1440" y="1800"/>
            <a:ext cx="344520" cy="755172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03" name="Rounded Rectangle 154"/>
          <p:cNvSpPr/>
          <p:nvPr/>
        </p:nvSpPr>
        <p:spPr>
          <a:xfrm>
            <a:off x="10884960" y="401400"/>
            <a:ext cx="2208960" cy="54504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4" name="TextBox 67"/>
          <p:cNvSpPr/>
          <p:nvPr/>
        </p:nvSpPr>
        <p:spPr>
          <a:xfrm>
            <a:off x="2430720" y="1107360"/>
            <a:ext cx="725400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200" spc="-1" strike="noStrike">
                <a:solidFill>
                  <a:srgbClr val="f5f5f5"/>
                </a:solidFill>
                <a:latin typeface="Calibri"/>
                <a:ea typeface="DejaVu Sans"/>
              </a:rPr>
              <a:t>High Performance &amp; Distributed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TextBox 68"/>
          <p:cNvSpPr/>
          <p:nvPr/>
        </p:nvSpPr>
        <p:spPr>
          <a:xfrm>
            <a:off x="3008160" y="2266200"/>
            <a:ext cx="6722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aaaaaa"/>
                </a:solidFill>
                <a:latin typeface="Calibri"/>
                <a:ea typeface="DejaVu Sans"/>
              </a:rPr>
              <a:t>Java combines performance and networking support in its core design.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Rounded Rectangle 155"/>
          <p:cNvSpPr/>
          <p:nvPr/>
        </p:nvSpPr>
        <p:spPr>
          <a:xfrm>
            <a:off x="108684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07" name="Rounded Rectangle 156"/>
          <p:cNvSpPr/>
          <p:nvPr/>
        </p:nvSpPr>
        <p:spPr>
          <a:xfrm>
            <a:off x="1020960" y="2971800"/>
            <a:ext cx="3620880" cy="34686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High Performance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Java achieves high performance using Just-In-Time (JIT) compilation.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The JVM compiles frequently used Bytecode into optimized native code while the program is running.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Common JIT optimizations include: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Method inlining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Dead code elimination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Constant folding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Optimized method calls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Result: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Faster execution over time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Near native performance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8" name="Rounded Rectangle 157"/>
          <p:cNvSpPr/>
          <p:nvPr/>
        </p:nvSpPr>
        <p:spPr>
          <a:xfrm>
            <a:off x="49683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09" name="Rounded Rectangle 158"/>
          <p:cNvSpPr/>
          <p:nvPr/>
        </p:nvSpPr>
        <p:spPr>
          <a:xfrm>
            <a:off x="88491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10" name="Rounded Rectangle 159"/>
          <p:cNvSpPr/>
          <p:nvPr/>
        </p:nvSpPr>
        <p:spPr>
          <a:xfrm>
            <a:off x="8767440" y="342504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PerformanceDemo {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System.out.println("Fast and distributed Java applications");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1" name="TextBox 69"/>
          <p:cNvSpPr/>
          <p:nvPr/>
        </p:nvSpPr>
        <p:spPr>
          <a:xfrm>
            <a:off x="5224320" y="710460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Rounded Rectangle 160"/>
          <p:cNvSpPr/>
          <p:nvPr/>
        </p:nvSpPr>
        <p:spPr>
          <a:xfrm>
            <a:off x="4941000" y="345096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Distributed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Java is designed for distributed environments, especially the Internet.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It provides built-in support for: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• </a:t>
            </a:r>
            <a:r>
              <a:rPr b="0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Networking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• </a:t>
            </a:r>
            <a:r>
              <a:rPr b="0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Remote method calls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• </a:t>
            </a:r>
            <a:r>
              <a:rPr b="0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Distributed systems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Java applications can easily communicate over networks and run on multiple machines.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Rectangle 353"/>
          <p:cNvSpPr/>
          <p:nvPr/>
        </p:nvSpPr>
        <p:spPr>
          <a:xfrm>
            <a:off x="16920" y="1800"/>
            <a:ext cx="13428360" cy="755172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14" name="Rectangle 354"/>
          <p:cNvSpPr/>
          <p:nvPr/>
        </p:nvSpPr>
        <p:spPr>
          <a:xfrm>
            <a:off x="144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15" name="Rectangle 355"/>
          <p:cNvSpPr/>
          <p:nvPr/>
        </p:nvSpPr>
        <p:spPr>
          <a:xfrm>
            <a:off x="100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16" name="Rectangle 356"/>
          <p:cNvSpPr/>
          <p:nvPr/>
        </p:nvSpPr>
        <p:spPr>
          <a:xfrm>
            <a:off x="201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17" name="Rectangle 357"/>
          <p:cNvSpPr/>
          <p:nvPr/>
        </p:nvSpPr>
        <p:spPr>
          <a:xfrm>
            <a:off x="302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18" name="Rectangle 358"/>
          <p:cNvSpPr/>
          <p:nvPr/>
        </p:nvSpPr>
        <p:spPr>
          <a:xfrm>
            <a:off x="402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19" name="Rectangle 359"/>
          <p:cNvSpPr/>
          <p:nvPr/>
        </p:nvSpPr>
        <p:spPr>
          <a:xfrm>
            <a:off x="503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20" name="Rectangle 360"/>
          <p:cNvSpPr/>
          <p:nvPr/>
        </p:nvSpPr>
        <p:spPr>
          <a:xfrm>
            <a:off x="604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21" name="Rectangle 361"/>
          <p:cNvSpPr/>
          <p:nvPr/>
        </p:nvSpPr>
        <p:spPr>
          <a:xfrm>
            <a:off x="705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22" name="Rectangle 362"/>
          <p:cNvSpPr/>
          <p:nvPr/>
        </p:nvSpPr>
        <p:spPr>
          <a:xfrm>
            <a:off x="806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23" name="Rectangle 363"/>
          <p:cNvSpPr/>
          <p:nvPr/>
        </p:nvSpPr>
        <p:spPr>
          <a:xfrm>
            <a:off x="906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24" name="Rectangle 364"/>
          <p:cNvSpPr/>
          <p:nvPr/>
        </p:nvSpPr>
        <p:spPr>
          <a:xfrm>
            <a:off x="1007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25" name="Rectangle 365"/>
          <p:cNvSpPr/>
          <p:nvPr/>
        </p:nvSpPr>
        <p:spPr>
          <a:xfrm>
            <a:off x="1108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26" name="Rectangle 366"/>
          <p:cNvSpPr/>
          <p:nvPr/>
        </p:nvSpPr>
        <p:spPr>
          <a:xfrm>
            <a:off x="1209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27" name="Rectangle 367"/>
          <p:cNvSpPr/>
          <p:nvPr/>
        </p:nvSpPr>
        <p:spPr>
          <a:xfrm>
            <a:off x="1310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28" name="Rectangle 368"/>
          <p:cNvSpPr/>
          <p:nvPr/>
        </p:nvSpPr>
        <p:spPr>
          <a:xfrm>
            <a:off x="1440" y="1800"/>
            <a:ext cx="344520" cy="755172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29" name="Rounded Rectangle 161"/>
          <p:cNvSpPr/>
          <p:nvPr/>
        </p:nvSpPr>
        <p:spPr>
          <a:xfrm>
            <a:off x="10884960" y="401400"/>
            <a:ext cx="2208960" cy="54504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0" name="TextBox 70"/>
          <p:cNvSpPr/>
          <p:nvPr/>
        </p:nvSpPr>
        <p:spPr>
          <a:xfrm>
            <a:off x="1630080" y="1107360"/>
            <a:ext cx="88556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200" spc="-1" strike="noStrike">
                <a:solidFill>
                  <a:srgbClr val="f5f5f5"/>
                </a:solidFill>
                <a:latin typeface="Calibri"/>
                <a:ea typeface="DejaVu Sans"/>
              </a:rPr>
              <a:t>Some Other Important Features of Java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TextBox 71"/>
          <p:cNvSpPr/>
          <p:nvPr/>
        </p:nvSpPr>
        <p:spPr>
          <a:xfrm>
            <a:off x="1341720" y="2266200"/>
            <a:ext cx="10056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aaaaaa"/>
                </a:solidFill>
                <a:latin typeface="Calibri"/>
                <a:ea typeface="DejaVu Sans"/>
              </a:rPr>
              <a:t>Java provides several unique features that help developers write clean, stable, and maintainable programs.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Rounded Rectangle 162"/>
          <p:cNvSpPr/>
          <p:nvPr/>
        </p:nvSpPr>
        <p:spPr>
          <a:xfrm>
            <a:off x="108684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33" name="Rounded Rectangle 163"/>
          <p:cNvSpPr/>
          <p:nvPr/>
        </p:nvSpPr>
        <p:spPr>
          <a:xfrm>
            <a:off x="1020960" y="2971800"/>
            <a:ext cx="3620880" cy="34686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Simple &amp; Easy to Learn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Java has a clear and readable syntax. Complex features like pointers are removed, making it easier for beginners.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Strongly Typed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Every variable has a defined type. This helps detect errors at compile time instead of runtime.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Automatic Memory Management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Java automatically manages memory using Garbage Collection, so developers do not need to free memory manually.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Multithreaded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Java supports multithreading, allowing programs to perform multiple tasks at the same time.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Rich Standard Library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Java provides a large set of built-in libraries for collections, file handling, networking, and more.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4" name="Rounded Rectangle 164"/>
          <p:cNvSpPr/>
          <p:nvPr/>
        </p:nvSpPr>
        <p:spPr>
          <a:xfrm>
            <a:off x="49683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35" name="Rounded Rectangle 165"/>
          <p:cNvSpPr/>
          <p:nvPr/>
        </p:nvSpPr>
        <p:spPr>
          <a:xfrm>
            <a:off x="88491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36" name="Rounded Rectangle 166"/>
          <p:cNvSpPr/>
          <p:nvPr/>
        </p:nvSpPr>
        <p:spPr>
          <a:xfrm>
            <a:off x="8767440" y="342504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class FeatureDemo {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int number = 10;   // strongly typed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System.out.println("Java is easy and powerful");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7" name="TextBox 72"/>
          <p:cNvSpPr/>
          <p:nvPr/>
        </p:nvSpPr>
        <p:spPr>
          <a:xfrm>
            <a:off x="5224320" y="710460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Rounded Rectangle 167"/>
          <p:cNvSpPr/>
          <p:nvPr/>
        </p:nvSpPr>
        <p:spPr>
          <a:xfrm>
            <a:off x="4941000" y="345096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DejaVu Sans"/>
              </a:rPr>
              <a:t>Simple Syntax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DejaVu Sans"/>
              </a:rPr>
              <a:t>     ↓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DejaVu Sans"/>
              </a:rPr>
              <a:t>Easy to Learn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DejaVu Sans"/>
              </a:rPr>
              <a:t>     ↓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DejaVu Sans"/>
              </a:rPr>
              <a:t>Strong Typing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DejaVu Sans"/>
              </a:rPr>
              <a:t>     ↓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DejaVu Sans"/>
              </a:rPr>
              <a:t>Automatic Memory Management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DejaVu Sans"/>
              </a:rPr>
              <a:t>     ↓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DejaVu Sans"/>
              </a:rPr>
              <a:t>Multithreading Support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DejaVu Sans"/>
              </a:rPr>
              <a:t>     ↓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DejaVu Sans"/>
              </a:rPr>
              <a:t>Rich Standard Library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DejaVu Sans"/>
              </a:rPr>
              <a:t>     ↓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DejaVu Sans"/>
              </a:rPr>
              <a:t>Clean &amp; Maintainable Java Programs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Rectangle 369"/>
          <p:cNvSpPr/>
          <p:nvPr/>
        </p:nvSpPr>
        <p:spPr>
          <a:xfrm>
            <a:off x="16920" y="1800"/>
            <a:ext cx="13428360" cy="755172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40" name="Rectangle 370"/>
          <p:cNvSpPr/>
          <p:nvPr/>
        </p:nvSpPr>
        <p:spPr>
          <a:xfrm>
            <a:off x="144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41" name="Rectangle 371"/>
          <p:cNvSpPr/>
          <p:nvPr/>
        </p:nvSpPr>
        <p:spPr>
          <a:xfrm>
            <a:off x="100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42" name="Rectangle 372"/>
          <p:cNvSpPr/>
          <p:nvPr/>
        </p:nvSpPr>
        <p:spPr>
          <a:xfrm>
            <a:off x="201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43" name="Rectangle 373"/>
          <p:cNvSpPr/>
          <p:nvPr/>
        </p:nvSpPr>
        <p:spPr>
          <a:xfrm>
            <a:off x="302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44" name="Rectangle 374"/>
          <p:cNvSpPr/>
          <p:nvPr/>
        </p:nvSpPr>
        <p:spPr>
          <a:xfrm>
            <a:off x="402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45" name="Rectangle 375"/>
          <p:cNvSpPr/>
          <p:nvPr/>
        </p:nvSpPr>
        <p:spPr>
          <a:xfrm>
            <a:off x="503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46" name="Rectangle 376"/>
          <p:cNvSpPr/>
          <p:nvPr/>
        </p:nvSpPr>
        <p:spPr>
          <a:xfrm>
            <a:off x="604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47" name="Rectangle 377"/>
          <p:cNvSpPr/>
          <p:nvPr/>
        </p:nvSpPr>
        <p:spPr>
          <a:xfrm>
            <a:off x="705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48" name="Rectangle 378"/>
          <p:cNvSpPr/>
          <p:nvPr/>
        </p:nvSpPr>
        <p:spPr>
          <a:xfrm>
            <a:off x="806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49" name="Rectangle 379"/>
          <p:cNvSpPr/>
          <p:nvPr/>
        </p:nvSpPr>
        <p:spPr>
          <a:xfrm>
            <a:off x="906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50" name="Rectangle 380"/>
          <p:cNvSpPr/>
          <p:nvPr/>
        </p:nvSpPr>
        <p:spPr>
          <a:xfrm>
            <a:off x="1007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51" name="Rectangle 381"/>
          <p:cNvSpPr/>
          <p:nvPr/>
        </p:nvSpPr>
        <p:spPr>
          <a:xfrm>
            <a:off x="1108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52" name="Rectangle 382"/>
          <p:cNvSpPr/>
          <p:nvPr/>
        </p:nvSpPr>
        <p:spPr>
          <a:xfrm>
            <a:off x="1209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53" name="Rectangle 383"/>
          <p:cNvSpPr/>
          <p:nvPr/>
        </p:nvSpPr>
        <p:spPr>
          <a:xfrm>
            <a:off x="1310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54" name="Rectangle 384"/>
          <p:cNvSpPr/>
          <p:nvPr/>
        </p:nvSpPr>
        <p:spPr>
          <a:xfrm>
            <a:off x="1440" y="1800"/>
            <a:ext cx="344520" cy="755172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55" name="Rounded Rectangle 168"/>
          <p:cNvSpPr/>
          <p:nvPr/>
        </p:nvSpPr>
        <p:spPr>
          <a:xfrm>
            <a:off x="10884960" y="401400"/>
            <a:ext cx="2208960" cy="54504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6" name="TextBox 73"/>
          <p:cNvSpPr/>
          <p:nvPr/>
        </p:nvSpPr>
        <p:spPr>
          <a:xfrm>
            <a:off x="3201840" y="1107360"/>
            <a:ext cx="57110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200" spc="-1" strike="noStrike">
                <a:solidFill>
                  <a:srgbClr val="f5f5f5"/>
                </a:solidFill>
                <a:latin typeface="Calibri"/>
                <a:ea typeface="DejaVu Sans"/>
              </a:rPr>
              <a:t>A High-Level Comparison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TextBox 74"/>
          <p:cNvSpPr/>
          <p:nvPr/>
        </p:nvSpPr>
        <p:spPr>
          <a:xfrm>
            <a:off x="2435040" y="2266200"/>
            <a:ext cx="7868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aaaaaa"/>
                </a:solidFill>
                <a:latin typeface="Calibri"/>
                <a:ea typeface="DejaVu Sans"/>
              </a:rPr>
              <a:t>This slide introduces the fundamental differences between Java and C++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aaaaaa"/>
                </a:solidFill>
                <a:latin typeface="Calibri"/>
                <a:ea typeface="DejaVu Sans"/>
              </a:rPr>
              <a:t>by comparing their design philosophy, execution model, and developer experience.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Rounded Rectangle 169"/>
          <p:cNvSpPr/>
          <p:nvPr/>
        </p:nvSpPr>
        <p:spPr>
          <a:xfrm>
            <a:off x="108684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59" name="Rounded Rectangle 170"/>
          <p:cNvSpPr/>
          <p:nvPr/>
        </p:nvSpPr>
        <p:spPr>
          <a:xfrm>
            <a:off x="1020960" y="2971800"/>
            <a:ext cx="3620880" cy="34686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180" spc="-1" strike="noStrike">
                <a:solidFill>
                  <a:schemeClr val="lt1"/>
                </a:solidFill>
                <a:latin typeface="Calibri"/>
                <a:ea typeface="DejaVu Sans"/>
              </a:rPr>
              <a:t>Java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180" spc="-1" strike="noStrike">
                <a:solidFill>
                  <a:schemeClr val="lt1"/>
                </a:solidFill>
                <a:latin typeface="Calibri"/>
                <a:ea typeface="DejaVu Sans"/>
              </a:rPr>
              <a:t>Runs on the Java Virtual Machine (JVM)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180" spc="-1" strike="noStrike">
                <a:solidFill>
                  <a:schemeClr val="lt1"/>
                </a:solidFill>
                <a:latin typeface="Calibri"/>
                <a:ea typeface="DejaVu Sans"/>
              </a:rPr>
              <a:t>Platform-independent (Write Once, Run Anywhere)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180" spc="-1" strike="noStrike">
                <a:solidFill>
                  <a:schemeClr val="lt1"/>
                </a:solidFill>
                <a:latin typeface="Calibri"/>
                <a:ea typeface="DejaVu Sans"/>
              </a:rPr>
              <a:t>Automatic memory management (Garbage Collection)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180" spc="-1" strike="noStrike">
                <a:solidFill>
                  <a:schemeClr val="lt1"/>
                </a:solidFill>
                <a:latin typeface="Calibri"/>
                <a:ea typeface="DejaVu Sans"/>
              </a:rPr>
              <a:t>Focuses on safety, portability, and maintainability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180" spc="-1" strike="noStrike">
                <a:solidFill>
                  <a:schemeClr val="lt1"/>
                </a:solidFill>
                <a:latin typeface="Calibri"/>
                <a:ea typeface="DejaVu Sans"/>
              </a:rPr>
              <a:t>Widely used in enterprise, web, and cloud systems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80" spc="-1" strike="noStrike">
                <a:solidFill>
                  <a:schemeClr val="lt1"/>
                </a:solidFill>
                <a:latin typeface="Calibri"/>
                <a:ea typeface="DejaVu Sans"/>
              </a:rPr>
              <a:t>C++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180" spc="-1" strike="noStrike">
                <a:solidFill>
                  <a:schemeClr val="lt1"/>
                </a:solidFill>
                <a:latin typeface="Calibri"/>
                <a:ea typeface="DejaVu Sans"/>
              </a:rPr>
              <a:t>Compiled directly to native machine code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180" spc="-1" strike="noStrike">
                <a:solidFill>
                  <a:schemeClr val="lt1"/>
                </a:solidFill>
                <a:latin typeface="Calibri"/>
                <a:ea typeface="DejaVu Sans"/>
              </a:rPr>
              <a:t>Platform-dependent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180" spc="-1" strike="noStrike">
                <a:solidFill>
                  <a:schemeClr val="lt1"/>
                </a:solidFill>
                <a:latin typeface="Calibri"/>
                <a:ea typeface="DejaVu Sans"/>
              </a:rPr>
              <a:t>Manual memory management (pointers, memory allocation)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180" spc="-1" strike="noStrike">
                <a:solidFill>
                  <a:schemeClr val="lt1"/>
                </a:solidFill>
                <a:latin typeface="Calibri"/>
                <a:ea typeface="DejaVu Sans"/>
              </a:rPr>
              <a:t>Focuses on performance and low-level control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180" spc="-1" strike="noStrike">
                <a:solidFill>
                  <a:schemeClr val="lt1"/>
                </a:solidFill>
                <a:latin typeface="Calibri"/>
                <a:ea typeface="DejaVu Sans"/>
              </a:rPr>
              <a:t>Widely used in system software, game engines, embedded systems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0" name="Rounded Rectangle 171"/>
          <p:cNvSpPr/>
          <p:nvPr/>
        </p:nvSpPr>
        <p:spPr>
          <a:xfrm>
            <a:off x="49683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61" name="Rounded Rectangle 172"/>
          <p:cNvSpPr/>
          <p:nvPr/>
        </p:nvSpPr>
        <p:spPr>
          <a:xfrm>
            <a:off x="88491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62" name="Rounded Rectangle 173"/>
          <p:cNvSpPr/>
          <p:nvPr/>
        </p:nvSpPr>
        <p:spPr>
          <a:xfrm>
            <a:off x="8767440" y="342504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class FeatureDemo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int number = 10;   // strongly typed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"Java hides complexity"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);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3" name="TextBox 75"/>
          <p:cNvSpPr/>
          <p:nvPr/>
        </p:nvSpPr>
        <p:spPr>
          <a:xfrm>
            <a:off x="5224320" y="710460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Rounded Rectangle 174"/>
          <p:cNvSpPr/>
          <p:nvPr/>
        </p:nvSpPr>
        <p:spPr>
          <a:xfrm>
            <a:off x="4941000" y="345096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DejaVu Sans"/>
              </a:rPr>
              <a:t>Java Source → Bytecode → JVM → Any OS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DejaVu Sans"/>
              </a:rPr>
              <a:t>C++ Source  → Native Code → Specific OS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Rectangle 385"/>
          <p:cNvSpPr/>
          <p:nvPr/>
        </p:nvSpPr>
        <p:spPr>
          <a:xfrm>
            <a:off x="16920" y="1800"/>
            <a:ext cx="13428360" cy="755172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66" name="Rectangle 386"/>
          <p:cNvSpPr/>
          <p:nvPr/>
        </p:nvSpPr>
        <p:spPr>
          <a:xfrm>
            <a:off x="144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67" name="Rectangle 387"/>
          <p:cNvSpPr/>
          <p:nvPr/>
        </p:nvSpPr>
        <p:spPr>
          <a:xfrm>
            <a:off x="100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68" name="Rectangle 388"/>
          <p:cNvSpPr/>
          <p:nvPr/>
        </p:nvSpPr>
        <p:spPr>
          <a:xfrm>
            <a:off x="201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69" name="Rectangle 389"/>
          <p:cNvSpPr/>
          <p:nvPr/>
        </p:nvSpPr>
        <p:spPr>
          <a:xfrm>
            <a:off x="302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70" name="Rectangle 390"/>
          <p:cNvSpPr/>
          <p:nvPr/>
        </p:nvSpPr>
        <p:spPr>
          <a:xfrm>
            <a:off x="402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71" name="Rectangle 391"/>
          <p:cNvSpPr/>
          <p:nvPr/>
        </p:nvSpPr>
        <p:spPr>
          <a:xfrm>
            <a:off x="503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72" name="Rectangle 392"/>
          <p:cNvSpPr/>
          <p:nvPr/>
        </p:nvSpPr>
        <p:spPr>
          <a:xfrm>
            <a:off x="604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73" name="Rectangle 393"/>
          <p:cNvSpPr/>
          <p:nvPr/>
        </p:nvSpPr>
        <p:spPr>
          <a:xfrm>
            <a:off x="705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74" name="Rectangle 394"/>
          <p:cNvSpPr/>
          <p:nvPr/>
        </p:nvSpPr>
        <p:spPr>
          <a:xfrm>
            <a:off x="806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75" name="Rectangle 395"/>
          <p:cNvSpPr/>
          <p:nvPr/>
        </p:nvSpPr>
        <p:spPr>
          <a:xfrm>
            <a:off x="906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76" name="Rectangle 396"/>
          <p:cNvSpPr/>
          <p:nvPr/>
        </p:nvSpPr>
        <p:spPr>
          <a:xfrm>
            <a:off x="1007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77" name="Rectangle 397"/>
          <p:cNvSpPr/>
          <p:nvPr/>
        </p:nvSpPr>
        <p:spPr>
          <a:xfrm>
            <a:off x="1108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78" name="Rectangle 398"/>
          <p:cNvSpPr/>
          <p:nvPr/>
        </p:nvSpPr>
        <p:spPr>
          <a:xfrm>
            <a:off x="1209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79" name="Rectangle 399"/>
          <p:cNvSpPr/>
          <p:nvPr/>
        </p:nvSpPr>
        <p:spPr>
          <a:xfrm>
            <a:off x="1310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80" name="Rectangle 400"/>
          <p:cNvSpPr/>
          <p:nvPr/>
        </p:nvSpPr>
        <p:spPr>
          <a:xfrm>
            <a:off x="1440" y="1800"/>
            <a:ext cx="344520" cy="755172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81" name="Rounded Rectangle 175"/>
          <p:cNvSpPr/>
          <p:nvPr/>
        </p:nvSpPr>
        <p:spPr>
          <a:xfrm>
            <a:off x="10884960" y="401400"/>
            <a:ext cx="2208960" cy="54504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2" name="TextBox 76"/>
          <p:cNvSpPr/>
          <p:nvPr/>
        </p:nvSpPr>
        <p:spPr>
          <a:xfrm>
            <a:off x="1291320" y="1107360"/>
            <a:ext cx="95324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200" spc="-1" strike="noStrike">
                <a:solidFill>
                  <a:srgbClr val="f5f5f5"/>
                </a:solidFill>
                <a:latin typeface="Calibri"/>
                <a:ea typeface="DejaVu Sans"/>
              </a:rPr>
              <a:t>Java vs C++ – Advantages &amp; Disadvantages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TextBox 77"/>
          <p:cNvSpPr/>
          <p:nvPr/>
        </p:nvSpPr>
        <p:spPr>
          <a:xfrm>
            <a:off x="2435040" y="2266200"/>
            <a:ext cx="7868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aaaaaa"/>
                </a:solidFill>
                <a:latin typeface="Calibri"/>
                <a:ea typeface="DejaVu Sans"/>
              </a:rPr>
              <a:t>This slide introduces the fundamental differences between Java and C++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aaaaaa"/>
                </a:solidFill>
                <a:latin typeface="Calibri"/>
                <a:ea typeface="DejaVu Sans"/>
              </a:rPr>
              <a:t>by comparing their design philosophy, execution model, and developer experience.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Rounded Rectangle 176"/>
          <p:cNvSpPr/>
          <p:nvPr/>
        </p:nvSpPr>
        <p:spPr>
          <a:xfrm>
            <a:off x="108684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85" name="Rounded Rectangle 177"/>
          <p:cNvSpPr/>
          <p:nvPr/>
        </p:nvSpPr>
        <p:spPr>
          <a:xfrm>
            <a:off x="1020960" y="3506040"/>
            <a:ext cx="3620880" cy="28944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180" spc="-1" strike="noStrike">
                <a:solidFill>
                  <a:schemeClr val="lt1"/>
                </a:solidFill>
                <a:latin typeface="Calibri"/>
                <a:ea typeface="DejaVu Sans"/>
              </a:rPr>
              <a:t>Java – Advantages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180" spc="-1" strike="noStrike">
                <a:solidFill>
                  <a:schemeClr val="lt1"/>
                </a:solidFill>
                <a:latin typeface="Calibri"/>
                <a:ea typeface="DejaVu Sans"/>
              </a:rPr>
              <a:t>Platform independent (Write Once, Run Anywhere)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180" spc="-1" strike="noStrike">
                <a:solidFill>
                  <a:schemeClr val="lt1"/>
                </a:solidFill>
                <a:latin typeface="Calibri"/>
                <a:ea typeface="DejaVu Sans"/>
              </a:rPr>
              <a:t>Automatic memory management (Garbage Collection)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180" spc="-1" strike="noStrike">
                <a:solidFill>
                  <a:schemeClr val="lt1"/>
                </a:solidFill>
                <a:latin typeface="Calibri"/>
                <a:ea typeface="DejaVu Sans"/>
              </a:rPr>
              <a:t>Safer execution (no pointers, JVM security checks)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180" spc="-1" strike="noStrike">
                <a:solidFill>
                  <a:schemeClr val="lt1"/>
                </a:solidFill>
                <a:latin typeface="Calibri"/>
                <a:ea typeface="DejaVu Sans"/>
              </a:rPr>
              <a:t>Easier to learn and read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180" spc="-1" strike="noStrike">
                <a:solidFill>
                  <a:schemeClr val="lt1"/>
                </a:solidFill>
                <a:latin typeface="Calibri"/>
                <a:ea typeface="DejaVu Sans"/>
              </a:rPr>
              <a:t>Rich standard library and frameworks</a:t>
            </a:r>
            <a:br>
              <a:rPr sz="1180"/>
            </a:br>
            <a:r>
              <a:rPr b="0" lang="en-US" sz="1180" spc="-1" strike="noStrike">
                <a:solidFill>
                  <a:schemeClr val="lt1"/>
                </a:solidFill>
                <a:latin typeface="Calibri"/>
                <a:ea typeface="DejaVu Sans"/>
              </a:rPr>
              <a:t>Ideal for large, long-term, enterprise systems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80" spc="-1" strike="noStrike">
                <a:solidFill>
                  <a:schemeClr val="lt1"/>
                </a:solidFill>
                <a:latin typeface="Calibri"/>
                <a:ea typeface="DejaVu Sans"/>
              </a:rPr>
              <a:t>Java – Disadvantages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180" spc="-1" strike="noStrike">
                <a:solidFill>
                  <a:schemeClr val="lt1"/>
                </a:solidFill>
                <a:latin typeface="Calibri"/>
                <a:ea typeface="DejaVu Sans"/>
              </a:rPr>
              <a:t>Slightly slower than native C++ in some cases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180" spc="-1" strike="noStrike">
                <a:solidFill>
                  <a:schemeClr val="lt1"/>
                </a:solidFill>
                <a:latin typeface="Calibri"/>
                <a:ea typeface="DejaVu Sans"/>
              </a:rPr>
              <a:t>Less control over hardware and memory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180" spc="-1" strike="noStrike">
                <a:solidFill>
                  <a:schemeClr val="lt1"/>
                </a:solidFill>
                <a:latin typeface="Calibri"/>
                <a:ea typeface="DejaVu Sans"/>
              </a:rPr>
              <a:t>JVM overhead (startup time, memory usage)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6" name="Rounded Rectangle 178"/>
          <p:cNvSpPr/>
          <p:nvPr/>
        </p:nvSpPr>
        <p:spPr>
          <a:xfrm>
            <a:off x="49683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87" name="Rounded Rectangle 179"/>
          <p:cNvSpPr/>
          <p:nvPr/>
        </p:nvSpPr>
        <p:spPr>
          <a:xfrm>
            <a:off x="88491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88" name="Rounded Rectangle 180"/>
          <p:cNvSpPr/>
          <p:nvPr/>
        </p:nvSpPr>
        <p:spPr>
          <a:xfrm>
            <a:off x="8767440" y="342504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78ffc8"/>
                </a:solidFill>
                <a:latin typeface="Consolas"/>
                <a:ea typeface="DejaVu Sans"/>
              </a:rPr>
              <a:t>class JavaApp {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20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20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System.out.println("Java focuses on safety and portability");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20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9" name="TextBox 78"/>
          <p:cNvSpPr/>
          <p:nvPr/>
        </p:nvSpPr>
        <p:spPr>
          <a:xfrm>
            <a:off x="5224320" y="710460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Rounded Rectangle 181"/>
          <p:cNvSpPr/>
          <p:nvPr/>
        </p:nvSpPr>
        <p:spPr>
          <a:xfrm>
            <a:off x="4941000" y="345096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DejaVu Sans"/>
              </a:rPr>
              <a:t>Problem Type?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   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DejaVu Sans"/>
              </a:rPr>
              <a:t>Need portability?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DejaVu Sans"/>
              </a:rPr>
              <a:t>(Java runs everywhere)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   ↓ </a:t>
            </a: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DejaVu Sans"/>
              </a:rPr>
              <a:t>YES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 → </a:t>
            </a: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DejaVu Sans"/>
              </a:rPr>
              <a:t>JAVA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   ↓ </a:t>
            </a: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DejaVu Sans"/>
              </a:rPr>
              <a:t>NO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DejaVu Sans"/>
              </a:rPr>
              <a:t>Need maximum performance?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DejaVu Sans"/>
              </a:rPr>
              <a:t>(Low-level control)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   ↓ </a:t>
            </a: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DejaVu Sans"/>
              </a:rPr>
              <a:t>YES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 → </a:t>
            </a: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DejaVu Sans"/>
              </a:rPr>
              <a:t>C++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   ↓ </a:t>
            </a: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DejaVu Sans"/>
              </a:rPr>
              <a:t>NO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DejaVu Sans"/>
              </a:rPr>
              <a:t>Need safety &amp; maintainability?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   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 → </a:t>
            </a: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DejaVu Sans"/>
              </a:rPr>
              <a:t>JAVA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Rectangle 401"/>
          <p:cNvSpPr/>
          <p:nvPr/>
        </p:nvSpPr>
        <p:spPr>
          <a:xfrm>
            <a:off x="16920" y="1800"/>
            <a:ext cx="13428360" cy="755172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92" name="Rectangle 402"/>
          <p:cNvSpPr/>
          <p:nvPr/>
        </p:nvSpPr>
        <p:spPr>
          <a:xfrm>
            <a:off x="144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93" name="Rectangle 403"/>
          <p:cNvSpPr/>
          <p:nvPr/>
        </p:nvSpPr>
        <p:spPr>
          <a:xfrm>
            <a:off x="100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94" name="Rectangle 404"/>
          <p:cNvSpPr/>
          <p:nvPr/>
        </p:nvSpPr>
        <p:spPr>
          <a:xfrm>
            <a:off x="201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95" name="Rectangle 405"/>
          <p:cNvSpPr/>
          <p:nvPr/>
        </p:nvSpPr>
        <p:spPr>
          <a:xfrm>
            <a:off x="302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96" name="Rectangle 406"/>
          <p:cNvSpPr/>
          <p:nvPr/>
        </p:nvSpPr>
        <p:spPr>
          <a:xfrm>
            <a:off x="402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97" name="Rectangle 407"/>
          <p:cNvSpPr/>
          <p:nvPr/>
        </p:nvSpPr>
        <p:spPr>
          <a:xfrm>
            <a:off x="503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98" name="Rectangle 408"/>
          <p:cNvSpPr/>
          <p:nvPr/>
        </p:nvSpPr>
        <p:spPr>
          <a:xfrm>
            <a:off x="604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99" name="Rectangle 409"/>
          <p:cNvSpPr/>
          <p:nvPr/>
        </p:nvSpPr>
        <p:spPr>
          <a:xfrm>
            <a:off x="705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00" name="Rectangle 410"/>
          <p:cNvSpPr/>
          <p:nvPr/>
        </p:nvSpPr>
        <p:spPr>
          <a:xfrm>
            <a:off x="806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01" name="Rectangle 411"/>
          <p:cNvSpPr/>
          <p:nvPr/>
        </p:nvSpPr>
        <p:spPr>
          <a:xfrm>
            <a:off x="9069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02" name="Rectangle 412"/>
          <p:cNvSpPr/>
          <p:nvPr/>
        </p:nvSpPr>
        <p:spPr>
          <a:xfrm>
            <a:off x="10077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03" name="Rectangle 413"/>
          <p:cNvSpPr/>
          <p:nvPr/>
        </p:nvSpPr>
        <p:spPr>
          <a:xfrm>
            <a:off x="11085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04" name="Rectangle 414"/>
          <p:cNvSpPr/>
          <p:nvPr/>
        </p:nvSpPr>
        <p:spPr>
          <a:xfrm>
            <a:off x="12093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05" name="Rectangle 415"/>
          <p:cNvSpPr/>
          <p:nvPr/>
        </p:nvSpPr>
        <p:spPr>
          <a:xfrm>
            <a:off x="13101480" y="1800"/>
            <a:ext cx="12600" cy="75517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06" name="Rectangle 416"/>
          <p:cNvSpPr/>
          <p:nvPr/>
        </p:nvSpPr>
        <p:spPr>
          <a:xfrm>
            <a:off x="1440" y="1800"/>
            <a:ext cx="344520" cy="755172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07" name="Rounded Rectangle 182"/>
          <p:cNvSpPr/>
          <p:nvPr/>
        </p:nvSpPr>
        <p:spPr>
          <a:xfrm>
            <a:off x="10884960" y="401400"/>
            <a:ext cx="2208960" cy="54504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8" name="TextBox 79"/>
          <p:cNvSpPr/>
          <p:nvPr/>
        </p:nvSpPr>
        <p:spPr>
          <a:xfrm>
            <a:off x="1291320" y="1107360"/>
            <a:ext cx="95324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200" spc="-1" strike="noStrike">
                <a:solidFill>
                  <a:srgbClr val="f5f5f5"/>
                </a:solidFill>
                <a:latin typeface="Calibri"/>
                <a:ea typeface="DejaVu Sans"/>
              </a:rPr>
              <a:t>Java vs C++ – Advantages &amp; Disadvantages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TextBox 80"/>
          <p:cNvSpPr/>
          <p:nvPr/>
        </p:nvSpPr>
        <p:spPr>
          <a:xfrm>
            <a:off x="2435040" y="2266200"/>
            <a:ext cx="7868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aaaaaa"/>
                </a:solidFill>
                <a:latin typeface="Calibri"/>
                <a:ea typeface="DejaVu Sans"/>
              </a:rPr>
              <a:t>This slide introduces the fundamental differences between Java and C++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aaaaaa"/>
                </a:solidFill>
                <a:latin typeface="Calibri"/>
                <a:ea typeface="DejaVu Sans"/>
              </a:rPr>
              <a:t>by comparing their design philosophy, execution model, and developer experience.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Rounded Rectangle 183"/>
          <p:cNvSpPr/>
          <p:nvPr/>
        </p:nvSpPr>
        <p:spPr>
          <a:xfrm>
            <a:off x="108684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11" name="Rounded Rectangle 184"/>
          <p:cNvSpPr/>
          <p:nvPr/>
        </p:nvSpPr>
        <p:spPr>
          <a:xfrm>
            <a:off x="1020960" y="3506040"/>
            <a:ext cx="3620880" cy="28944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180" spc="-1" strike="noStrike">
                <a:solidFill>
                  <a:schemeClr val="lt1"/>
                </a:solidFill>
                <a:latin typeface="Calibri"/>
                <a:ea typeface="DejaVu Sans"/>
              </a:rPr>
              <a:t>C++ – Advantages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180" spc="-1" strike="noStrike">
                <a:solidFill>
                  <a:schemeClr val="lt1"/>
                </a:solidFill>
                <a:latin typeface="Calibri"/>
                <a:ea typeface="DejaVu Sans"/>
              </a:rPr>
              <a:t>Very high performance (native execution)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180" spc="-1" strike="noStrike">
                <a:solidFill>
                  <a:schemeClr val="lt1"/>
                </a:solidFill>
                <a:latin typeface="Calibri"/>
                <a:ea typeface="DejaVu Sans"/>
              </a:rPr>
              <a:t>Full control over memory and hardware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180" spc="-1" strike="noStrike">
                <a:solidFill>
                  <a:schemeClr val="lt1"/>
                </a:solidFill>
                <a:latin typeface="Calibri"/>
                <a:ea typeface="DejaVu Sans"/>
              </a:rPr>
              <a:t>No virtual machine overhead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180" spc="-1" strike="noStrike">
                <a:solidFill>
                  <a:schemeClr val="lt1"/>
                </a:solidFill>
                <a:latin typeface="Calibri"/>
                <a:ea typeface="DejaVu Sans"/>
              </a:rPr>
              <a:t>Ideal for system-level and performance-critical software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180" spc="-1" strike="noStrike">
                <a:solidFill>
                  <a:schemeClr val="lt1"/>
                </a:solidFill>
                <a:latin typeface="Calibri"/>
                <a:ea typeface="DejaVu Sans"/>
              </a:rPr>
              <a:t>Widely used in game engines and embedded systems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80" spc="-1" strike="noStrike">
                <a:solidFill>
                  <a:schemeClr val="lt1"/>
                </a:solidFill>
                <a:latin typeface="Calibri"/>
                <a:ea typeface="DejaVu Sans"/>
              </a:rPr>
              <a:t>C++ – Disadvantages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180" spc="-1" strike="noStrike">
                <a:solidFill>
                  <a:schemeClr val="lt1"/>
                </a:solidFill>
                <a:latin typeface="Calibri"/>
                <a:ea typeface="DejaVu Sans"/>
              </a:rPr>
              <a:t>Platform dependent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180" spc="-1" strike="noStrike">
                <a:solidFill>
                  <a:schemeClr val="lt1"/>
                </a:solidFill>
                <a:latin typeface="Calibri"/>
                <a:ea typeface="DejaVu Sans"/>
              </a:rPr>
              <a:t>Manual memory management (risk of memory leaks)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180" spc="-1" strike="noStrike">
                <a:solidFill>
                  <a:schemeClr val="lt1"/>
                </a:solidFill>
                <a:latin typeface="Calibri"/>
                <a:ea typeface="DejaVu Sans"/>
              </a:rPr>
              <a:t>More complex syntax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180" spc="-1" strike="noStrike">
                <a:solidFill>
                  <a:schemeClr val="lt1"/>
                </a:solidFill>
                <a:latin typeface="Calibri"/>
                <a:ea typeface="DejaVu Sans"/>
              </a:rPr>
              <a:t>Harder to learn and maintain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180" spc="-1" strike="noStrike">
                <a:solidFill>
                  <a:schemeClr val="lt1"/>
                </a:solidFill>
                <a:latin typeface="Calibri"/>
                <a:ea typeface="DejaVu Sans"/>
              </a:rPr>
              <a:t>Higher chance of runtime errors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2" name="Rounded Rectangle 185"/>
          <p:cNvSpPr/>
          <p:nvPr/>
        </p:nvSpPr>
        <p:spPr>
          <a:xfrm>
            <a:off x="49683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13" name="Rounded Rectangle 186"/>
          <p:cNvSpPr/>
          <p:nvPr/>
        </p:nvSpPr>
        <p:spPr>
          <a:xfrm>
            <a:off x="8849160" y="3506040"/>
            <a:ext cx="3620520" cy="30157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14" name="Rounded Rectangle 187"/>
          <p:cNvSpPr/>
          <p:nvPr/>
        </p:nvSpPr>
        <p:spPr>
          <a:xfrm>
            <a:off x="8767440" y="342504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78ffc8"/>
                </a:solidFill>
                <a:latin typeface="Consolas"/>
                <a:ea typeface="DejaVu Sans"/>
              </a:rPr>
              <a:t>#include &lt;iostream&gt;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78ffc8"/>
                </a:solidFill>
                <a:latin typeface="Consolas"/>
                <a:ea typeface="DejaVu Sans"/>
              </a:rPr>
              <a:t>using namespace std;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78ffc8"/>
                </a:solidFill>
                <a:latin typeface="Consolas"/>
                <a:ea typeface="DejaVu Sans"/>
              </a:rPr>
              <a:t>int main() {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2000" spc="-1" strike="noStrike">
                <a:solidFill>
                  <a:srgbClr val="78ffc8"/>
                </a:solidFill>
                <a:latin typeface="Consolas"/>
                <a:ea typeface="DejaVu Sans"/>
              </a:rPr>
              <a:t>cout &lt;&lt; "C++ focuses on performance and control";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2000" spc="-1" strike="noStrike">
                <a:solidFill>
                  <a:srgbClr val="78ffc8"/>
                </a:solidFill>
                <a:latin typeface="Consolas"/>
                <a:ea typeface="DejaVu Sans"/>
              </a:rPr>
              <a:t>return 0;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5" name="TextBox 81"/>
          <p:cNvSpPr/>
          <p:nvPr/>
        </p:nvSpPr>
        <p:spPr>
          <a:xfrm>
            <a:off x="5224320" y="710460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Rounded Rectangle 188"/>
          <p:cNvSpPr/>
          <p:nvPr/>
        </p:nvSpPr>
        <p:spPr>
          <a:xfrm>
            <a:off x="4941000" y="3450960"/>
            <a:ext cx="3620880" cy="301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Application Requirement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          ↓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Need maximum performance?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          ↓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YES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Need low-level memory control?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          ↓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YES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System / Game / Embedded?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          ↓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YES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       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C++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550</TotalTime>
  <Application>LibreOffice/7.4.2.3$Windows_X86_64 LibreOffice_project/382eef1f22670f7f4118c8c2dd222ec7ad009daf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2026-01-15T13:49:25Z</dcterms:modified>
  <cp:revision>71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