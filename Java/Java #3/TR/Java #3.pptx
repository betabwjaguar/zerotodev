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_rels/slideMaster1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8.xml.rels" ContentType="application/vnd.openxmlformats-package.relationshi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slideLayouts/slideLayout31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_rels/slideLayout31.xml.rels" ContentType="application/vnd.openxmlformats-package.relationships+xml"/>
  <Override PartName="/ppt/slideLayouts/_rels/slideLayout53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32.xml.rels" ContentType="application/vnd.openxmlformats-package.relationships+xml"/>
  <Override PartName="/ppt/slideLayouts/_rels/slideLayout54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3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55.xml.rels" ContentType="application/vnd.openxmlformats-package.relationships+xml"/>
  <Override PartName="/ppt/slideLayouts/_rels/slideLayout34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6.xml.rels" ContentType="application/vnd.openxmlformats-package.relationships+xml"/>
  <Override PartName="/ppt/slideLayouts/_rels/slideLayout35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57.xml.rels" ContentType="application/vnd.openxmlformats-package.relationships+xml"/>
  <Override PartName="/ppt/slideLayouts/_rels/slideLayout36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58.xml.rels" ContentType="application/vnd.openxmlformats-package.relationships+xml"/>
  <Override PartName="/ppt/slideLayouts/_rels/slideLayout37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59.xml.rels" ContentType="application/vnd.openxmlformats-package.relationships+xml"/>
  <Override PartName="/ppt/slideLayouts/_rels/slideLayout38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39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26.xml.rels" ContentType="application/vnd.openxmlformats-package.relationships+xml"/>
  <Override PartName="/ppt/slideLayouts/_rels/slideLayout27.xml.rels" ContentType="application/vnd.openxmlformats-package.relationships+xml"/>
  <Override PartName="/ppt/slideLayouts/_rels/slideLayout28.xml.rels" ContentType="application/vnd.openxmlformats-package.relationships+xml"/>
  <Override PartName="/ppt/slideLayouts/_rels/slideLayout29.xml.rels" ContentType="application/vnd.openxmlformats-package.relationships+xml"/>
  <Override PartName="/ppt/slideLayouts/_rels/slideLayout30.xml.rels" ContentType="application/vnd.openxmlformats-package.relationships+xml"/>
  <Override PartName="/ppt/slideLayouts/_rels/slideLayout40.xml.rels" ContentType="application/vnd.openxmlformats-package.relationships+xml"/>
  <Override PartName="/ppt/slideLayouts/_rels/slideLayout41.xml.rels" ContentType="application/vnd.openxmlformats-package.relationships+xml"/>
  <Override PartName="/ppt/slideLayouts/_rels/slideLayout42.xml.rels" ContentType="application/vnd.openxmlformats-package.relationships+xml"/>
  <Override PartName="/ppt/slideLayouts/_rels/slideLayout43.xml.rels" ContentType="application/vnd.openxmlformats-package.relationships+xml"/>
  <Override PartName="/ppt/slideLayouts/_rels/slideLayout44.xml.rels" ContentType="application/vnd.openxmlformats-package.relationships+xml"/>
  <Override PartName="/ppt/slideLayouts/_rels/slideLayout45.xml.rels" ContentType="application/vnd.openxmlformats-package.relationships+xml"/>
  <Override PartName="/ppt/slideLayouts/_rels/slideLayout46.xml.rels" ContentType="application/vnd.openxmlformats-package.relationships+xml"/>
  <Override PartName="/ppt/slideLayouts/_rels/slideLayout47.xml.rels" ContentType="application/vnd.openxmlformats-package.relationships+xml"/>
  <Override PartName="/ppt/slideLayouts/_rels/slideLayout48.xml.rels" ContentType="application/vnd.openxmlformats-package.relationships+xml"/>
  <Override PartName="/ppt/slideLayouts/_rels/slideLayout49.xml.rels" ContentType="application/vnd.openxmlformats-package.relationships+xml"/>
  <Override PartName="/ppt/slideLayouts/_rels/slideLayout50.xml.rels" ContentType="application/vnd.openxmlformats-package.relationships+xml"/>
  <Override PartName="/ppt/slideLayouts/_rels/slideLayout51.xml.rels" ContentType="application/vnd.openxmlformats-package.relationships+xml"/>
  <Override PartName="/ppt/slideLayouts/_rels/slideLayout52.xml.rels" ContentType="application/vnd.openxmlformats-package.relationships+xml"/>
  <Override PartName="/ppt/slideLayouts/_rels/slideLayout60.xml.rels" ContentType="application/vnd.openxmlformats-package.relationships+xml"/>
  <Override PartName="/ppt/slideLayouts/_rels/slideLayout61.xml.rels" ContentType="application/vnd.openxmlformats-package.relationships+xml"/>
  <Override PartName="/ppt/slideLayouts/_rels/slideLayout62.xml.rels" ContentType="application/vnd.openxmlformats-package.relationships+xml"/>
  <Override PartName="/ppt/slideLayouts/_rels/slideLayout63.xml.rels" ContentType="application/vnd.openxmlformats-package.relationships+xml"/>
  <Override PartName="/ppt/slideLayouts/_rels/slideLayout64.xml.rels" ContentType="application/vnd.openxmlformats-package.relationships+xml"/>
  <Override PartName="/ppt/slideLayouts/_rels/slideLayout65.xml.rels" ContentType="application/vnd.openxmlformats-package.relationships+xml"/>
  <Override PartName="/ppt/slideLayouts/_rels/slideLayout66.xml.rels" ContentType="application/vnd.openxmlformats-package.relationships+xml"/>
  <Override PartName="/ppt/slideLayouts/_rels/slideLayout67.xml.rels" ContentType="application/vnd.openxmlformats-package.relationships+xml"/>
  <Override PartName="/ppt/slideLayouts/_rels/slideLayout68.xml.rels" ContentType="application/vnd.openxmlformats-package.relationships+xml"/>
  <Override PartName="/ppt/slideLayouts/_rels/slideLayout69.xml.rels" ContentType="application/vnd.openxmlformats-package.relationships+xml"/>
  <Override PartName="/ppt/slideLayouts/_rels/slideLayout70.xml.rels" ContentType="application/vnd.openxmlformats-package.relationships+xml"/>
  <Override PartName="/ppt/slideLayouts/_rels/slideLayout71.xml.rels" ContentType="application/vnd.openxmlformats-package.relationships+xml"/>
  <Override PartName="/ppt/slideLayouts/_rels/slideLayout72.xml.rels" ContentType="application/vnd.openxmlformats-package.relationships+xml"/>
  <Override PartName="/ppt/slideLayouts/_rels/slideLayout73.xml.rels" ContentType="application/vnd.openxmlformats-package.relationships+xml"/>
  <Override PartName="/ppt/slideLayouts/_rels/slideLayout74.xml.rels" ContentType="application/vnd.openxmlformats-package.relationships+xml"/>
  <Override PartName="/ppt/slideLayouts/_rels/slideLayout75.xml.rels" ContentType="application/vnd.openxmlformats-package.relationships+xml"/>
  <Override PartName="/ppt/slideLayouts/_rels/slideLayout76.xml.rels" ContentType="application/vnd.openxmlformats-package.relationships+xml"/>
  <Override PartName="/ppt/slideLayouts/_rels/slideLayout77.xml.rels" ContentType="application/vnd.openxmlformats-package.relationships+xml"/>
  <Override PartName="/ppt/slideLayouts/_rels/slideLayout78.xml.rels" ContentType="application/vnd.openxmlformats-package.relationships+xml"/>
  <Override PartName="/ppt/slideLayouts/_rels/slideLayout79.xml.rels" ContentType="application/vnd.openxmlformats-package.relationships+xml"/>
  <Override PartName="/ppt/slideLayouts/_rels/slideLayout80.xml.rels" ContentType="application/vnd.openxmlformats-package.relationships+xml"/>
  <Override PartName="/ppt/slideLayouts/_rels/slideLayout81.xml.rels" ContentType="application/vnd.openxmlformats-package.relationships+xml"/>
  <Override PartName="/ppt/slideLayouts/_rels/slideLayout82.xml.rels" ContentType="application/vnd.openxmlformats-package.relationships+xml"/>
  <Override PartName="/ppt/slideLayouts/_rels/slideLayout83.xml.rels" ContentType="application/vnd.openxmlformats-package.relationships+xml"/>
  <Override PartName="/ppt/slideLayouts/_rels/slideLayout84.xml.rels" ContentType="application/vnd.openxmlformats-package.relationships+xml"/>
  <Override PartName="/ppt/slideLayouts/_rels/slideLayout85.xml.rels" ContentType="application/vnd.openxmlformats-package.relationships+xml"/>
  <Override PartName="/ppt/slideLayouts/_rels/slideLayout86.xml.rels" ContentType="application/vnd.openxmlformats-package.relationships+xml"/>
  <Override PartName="/ppt/slideLayouts/_rels/slideLayout87.xml.rels" ContentType="application/vnd.openxmlformats-package.relationships+xml"/>
  <Override PartName="/ppt/slideLayouts/_rels/slideLayout88.xml.rels" ContentType="application/vnd.openxmlformats-package.relationships+xml"/>
  <Override PartName="/ppt/slideLayouts/_rels/slideLayout89.xml.rels" ContentType="application/vnd.openxmlformats-package.relationships+xml"/>
  <Override PartName="/ppt/slideLayouts/_rels/slideLayout90.xml.rels" ContentType="application/vnd.openxmlformats-package.relationships+xml"/>
  <Override PartName="/ppt/slideLayouts/_rels/slideLayout91.xml.rels" ContentType="application/vnd.openxmlformats-package.relationships+xml"/>
  <Override PartName="/ppt/slideLayouts/_rels/slideLayout92.xml.rels" ContentType="application/vnd.openxmlformats-package.relationships+xml"/>
  <Override PartName="/ppt/slideLayouts/_rels/slideLayout93.xml.rels" ContentType="application/vnd.openxmlformats-package.relationships+xml"/>
  <Override PartName="/ppt/slideLayouts/_rels/slideLayout94.xml.rels" ContentType="application/vnd.openxmlformats-package.relationships+xml"/>
  <Override PartName="/ppt/slideLayouts/_rels/slideLayout95.xml.rels" ContentType="application/vnd.openxmlformats-package.relationships+xml"/>
  <Override PartName="/ppt/slideLayouts/_rels/slideLayout96.xml.rels" ContentType="application/vnd.openxmlformats-package.relationships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12.xml.rels" ContentType="application/vnd.openxmlformats-package.relationships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  <p:sldMasterId id="2147483674" r:id="rId4"/>
    <p:sldMasterId id="2147483687" r:id="rId5"/>
    <p:sldMasterId id="2147483700" r:id="rId6"/>
    <p:sldMasterId id="2147483713" r:id="rId7"/>
    <p:sldMasterId id="2147483726" r:id="rId8"/>
    <p:sldMasterId id="2147483739" r:id="rId9"/>
  </p:sldMasterIdLst>
  <p:sldIdLst>
    <p:sldId id="256" r:id="rId10"/>
    <p:sldId id="257" r:id="rId11"/>
    <p:sldId id="258" r:id="rId12"/>
    <p:sldId id="259" r:id="rId13"/>
    <p:sldId id="260" r:id="rId14"/>
    <p:sldId id="261" r:id="rId15"/>
    <p:sldId id="262" r:id="rId16"/>
    <p:sldId id="263" r:id="rId17"/>
    <p:sldId id="264" r:id="rId18"/>
    <p:sldId id="265" r:id="rId19"/>
    <p:sldId id="266" r:id="rId20"/>
    <p:sldId id="267" r:id="rId21"/>
  </p:sldIdLst>
  <p:sldSz cx="9144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12.xml"/><Relationship Id="rId22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8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8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8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8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A968D50-8929-4B4F-8CBC-355BB353DF44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40CEA60-023F-42A1-A850-83A4A531E7B5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D032017-8293-4017-BB81-51884BAF1755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C6A32B8-992F-41AB-81BD-BFC42892B2CE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42FCD20-97CC-4F75-B61D-56D47C5CA1AF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AD4C15C-A6C5-4B52-A217-E227BC216F57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D1F6841-CA7E-47CD-BD26-5B68FDB52E1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76EBA10-DC40-4844-8D78-ADDD6B840C5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CAC8E3A-9C92-48AE-AA45-2C0FC31EBE24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4E9D81A-99D9-4F31-A931-5473B055C879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AD23EFA-78B7-4FFA-BF55-B7BC8F2B2112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1D7FF77-023E-42D0-8A41-C291B3C6DE56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7D50B4F0-AB6F-4E0F-9000-FFCFF784DF05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E178DF19-AF3B-4418-AB88-9CD8CD3FB2E5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064E4C6D-C57C-473A-89E5-412E8B793A68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1C8EB451-0F93-4971-91A3-AFE5F61D3097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22BBD2C2-C49F-4BB8-A004-59AC2ACA4048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2EFE8A17-6C59-4917-A2E6-995B3503221F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87573524-01F0-4BC1-A23D-F3DCAC072F0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735061E8-9827-4B58-864F-6D8F5CDD5EA1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36E81BBA-CAB8-4F7F-B3AE-09267D141C13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3F498F17-F900-40C9-88A6-1251172D7E5C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9D17D0AF-806F-4047-A3C0-0331B54229CF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65BE2098-0CE0-43DA-B718-2E91FEB30D88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21D76A20-3A33-4913-8717-3BCBC59AD939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109C58EA-53EB-4C17-BF0B-855D2977C7DD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2C696A89-1C01-408E-8E95-31C6B2B428CF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DB67A337-2069-4A63-827E-0A8C5788DA8A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B68EC39A-4EDC-4868-9F73-C1092093C54D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341CFF6D-D452-4887-847B-61395C6B0022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ECE050F4-0195-47F0-9AF7-29D41247293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23CCD535-AE55-473C-966A-3CA07A568C5F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401E9D06-CE88-4E94-8D11-314CFE7B7253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08B49232-5FD1-4433-B6FC-CF0B6CD6BC32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FA50FBBC-2FA4-4EC9-9FC8-DE4FB2A98433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3113BCFE-EFCB-41EF-BB99-F084ACAFF135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3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3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42AA4CC7-A662-4B3B-ADB5-9B503E3719B9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7C7BD857-170E-4876-A51E-8AE249DB4620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21F8775F-6621-4974-9459-F6EA919FD05F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80BB04BA-6F8D-455A-8A66-E9D4ED833C04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CDC4ABFF-EAB4-4997-9890-2FF295D940B7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E0D6CC0D-2B4E-4CC2-A502-2AE4D5E10692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4E85AE94-6EA5-4178-A0AC-291EEBE31B71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09ED0B81-47FB-404F-AA6E-610A0E2A4494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DE0A39AB-0554-45EF-A9DD-52AF45729B6F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FB327265-9F91-421B-A17F-AA2E3264A356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EC95D206-4EEB-47E4-93FF-5FF2F6B1F7E5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788AA56D-2E32-45F3-90BF-D0FDF3DF23D2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4C4C9E18-AABC-4C40-8B03-AC64B5DEDB0A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2BDFBE69-81E9-4785-83B0-AA1E699CCB1B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C60DAFA5-D4A5-4883-9172-C41F5D3917F0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E1F2F421-C183-4A26-8DA8-0EAD3E265744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48F1A88C-C277-4046-92F8-5B29893AE8A3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958319F3-61A9-468B-A60F-6BC7A285B3EF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32615619-2443-4DF9-B63E-8A5C14B860C5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3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8F8E086A-7111-46F1-9B03-3C05B141441F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4247A94D-4F36-4BA8-A709-252733EEA51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7D585157-8DA9-4F82-AA16-E3946529089C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4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8635BB50-3FB9-4F01-AD12-4FAF423E0A52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9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214121AD-8C67-4FFB-BC26-ADE8137E3F6C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21CA4BFB-BA53-41B9-8BD0-5268DA780F7B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9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D6B43C4E-19CB-4E6F-9931-71446129A3BD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F03FFB95-1925-456E-991A-808F37ED8D5F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438D1F08-F03A-4DEC-9577-A99FC5F68019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5C31F7E4-E618-480F-BEE6-BD034379219F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EDC3FC76-9C63-421D-AAD8-ADB332453761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0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2328E0B1-0E4A-49BC-88C0-25337A1B7CB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4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B20FDD70-D9EA-47F8-A257-5325646A7A8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BC80A1D2-941C-43E9-90D7-A36D2A3D2EC3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B5E657AF-114A-47B6-B2E2-F005033860AC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E15D516E-E9A0-4EE0-AF88-83AFCA589C84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9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0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1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2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A656D218-0A17-4BD8-9A84-D131649CC20D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84EDECA7-1ADB-4E74-81D4-0CD98412B81E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0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D704103F-E17F-4095-B1CA-74F0F6E711C1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D47EECAC-7B46-49F0-8135-CCFF7DD0551D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D1593A47-6937-439E-AC29-FF42B9769CF3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1F85D74B-E019-4344-944F-D0BF2E601B19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95E0D2D6-D2BD-4AF3-AEF7-B21E3EF19B0B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1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C4F8CB7D-FB75-4597-B44F-A84C16FB080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5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38A4F168-67AE-4616-9796-A333339DD131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9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F4E0FA97-B088-499D-88EA-940DEE890855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2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B5BDEB9A-C2D5-407D-AE35-C796D2034361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7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91F5F77B-A11F-40DA-B5DC-6EFC5A86D42C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1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2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3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4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BD07DEB2-B89B-4DC3-8FBA-54F088F7A200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25.xml"/><Relationship Id="rId3" Type="http://schemas.openxmlformats.org/officeDocument/2006/relationships/slideLayout" Target="../slideLayouts/slideLayout26.xml"/><Relationship Id="rId4" Type="http://schemas.openxmlformats.org/officeDocument/2006/relationships/slideLayout" Target="../slideLayouts/slideLayout27.xml"/><Relationship Id="rId5" Type="http://schemas.openxmlformats.org/officeDocument/2006/relationships/slideLayout" Target="../slideLayouts/slideLayout28.xml"/><Relationship Id="rId6" Type="http://schemas.openxmlformats.org/officeDocument/2006/relationships/slideLayout" Target="../slideLayouts/slideLayout29.xml"/><Relationship Id="rId7" Type="http://schemas.openxmlformats.org/officeDocument/2006/relationships/slideLayout" Target="../slideLayouts/slideLayout30.xml"/><Relationship Id="rId8" Type="http://schemas.openxmlformats.org/officeDocument/2006/relationships/slideLayout" Target="../slideLayouts/slideLayout31.xml"/><Relationship Id="rId9" Type="http://schemas.openxmlformats.org/officeDocument/2006/relationships/slideLayout" Target="../slideLayouts/slideLayout32.xml"/><Relationship Id="rId10" Type="http://schemas.openxmlformats.org/officeDocument/2006/relationships/slideLayout" Target="../slideLayouts/slideLayout33.xml"/><Relationship Id="rId11" Type="http://schemas.openxmlformats.org/officeDocument/2006/relationships/slideLayout" Target="../slideLayouts/slideLayout34.xml"/><Relationship Id="rId12" Type="http://schemas.openxmlformats.org/officeDocument/2006/relationships/slideLayout" Target="../slideLayouts/slideLayout35.xml"/><Relationship Id="rId13" Type="http://schemas.openxmlformats.org/officeDocument/2006/relationships/slideLayout" Target="../slideLayouts/slideLayout36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37.xml"/><Relationship Id="rId3" Type="http://schemas.openxmlformats.org/officeDocument/2006/relationships/slideLayout" Target="../slideLayouts/slideLayout38.xml"/><Relationship Id="rId4" Type="http://schemas.openxmlformats.org/officeDocument/2006/relationships/slideLayout" Target="../slideLayouts/slideLayout39.xml"/><Relationship Id="rId5" Type="http://schemas.openxmlformats.org/officeDocument/2006/relationships/slideLayout" Target="../slideLayouts/slideLayout40.xml"/><Relationship Id="rId6" Type="http://schemas.openxmlformats.org/officeDocument/2006/relationships/slideLayout" Target="../slideLayouts/slideLayout41.xml"/><Relationship Id="rId7" Type="http://schemas.openxmlformats.org/officeDocument/2006/relationships/slideLayout" Target="../slideLayouts/slideLayout42.xml"/><Relationship Id="rId8" Type="http://schemas.openxmlformats.org/officeDocument/2006/relationships/slideLayout" Target="../slideLayouts/slideLayout43.xml"/><Relationship Id="rId9" Type="http://schemas.openxmlformats.org/officeDocument/2006/relationships/slideLayout" Target="../slideLayouts/slideLayout44.xml"/><Relationship Id="rId10" Type="http://schemas.openxmlformats.org/officeDocument/2006/relationships/slideLayout" Target="../slideLayouts/slideLayout45.xml"/><Relationship Id="rId11" Type="http://schemas.openxmlformats.org/officeDocument/2006/relationships/slideLayout" Target="../slideLayouts/slideLayout46.xml"/><Relationship Id="rId12" Type="http://schemas.openxmlformats.org/officeDocument/2006/relationships/slideLayout" Target="../slideLayouts/slideLayout47.xml"/><Relationship Id="rId13" Type="http://schemas.openxmlformats.org/officeDocument/2006/relationships/slideLayout" Target="../slideLayouts/slideLayout48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49.xml"/><Relationship Id="rId3" Type="http://schemas.openxmlformats.org/officeDocument/2006/relationships/slideLayout" Target="../slideLayouts/slideLayout50.xml"/><Relationship Id="rId4" Type="http://schemas.openxmlformats.org/officeDocument/2006/relationships/slideLayout" Target="../slideLayouts/slideLayout51.xml"/><Relationship Id="rId5" Type="http://schemas.openxmlformats.org/officeDocument/2006/relationships/slideLayout" Target="../slideLayouts/slideLayout52.xml"/><Relationship Id="rId6" Type="http://schemas.openxmlformats.org/officeDocument/2006/relationships/slideLayout" Target="../slideLayouts/slideLayout53.xml"/><Relationship Id="rId7" Type="http://schemas.openxmlformats.org/officeDocument/2006/relationships/slideLayout" Target="../slideLayouts/slideLayout54.xml"/><Relationship Id="rId8" Type="http://schemas.openxmlformats.org/officeDocument/2006/relationships/slideLayout" Target="../slideLayouts/slideLayout55.xml"/><Relationship Id="rId9" Type="http://schemas.openxmlformats.org/officeDocument/2006/relationships/slideLayout" Target="../slideLayouts/slideLayout56.xml"/><Relationship Id="rId10" Type="http://schemas.openxmlformats.org/officeDocument/2006/relationships/slideLayout" Target="../slideLayouts/slideLayout57.xml"/><Relationship Id="rId11" Type="http://schemas.openxmlformats.org/officeDocument/2006/relationships/slideLayout" Target="../slideLayouts/slideLayout58.xml"/><Relationship Id="rId12" Type="http://schemas.openxmlformats.org/officeDocument/2006/relationships/slideLayout" Target="../slideLayouts/slideLayout59.xml"/><Relationship Id="rId13" Type="http://schemas.openxmlformats.org/officeDocument/2006/relationships/slideLayout" Target="../slideLayouts/slideLayout60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1.xml"/><Relationship Id="rId3" Type="http://schemas.openxmlformats.org/officeDocument/2006/relationships/slideLayout" Target="../slideLayouts/slideLayout62.xml"/><Relationship Id="rId4" Type="http://schemas.openxmlformats.org/officeDocument/2006/relationships/slideLayout" Target="../slideLayouts/slideLayout63.xml"/><Relationship Id="rId5" Type="http://schemas.openxmlformats.org/officeDocument/2006/relationships/slideLayout" Target="../slideLayouts/slideLayout64.xml"/><Relationship Id="rId6" Type="http://schemas.openxmlformats.org/officeDocument/2006/relationships/slideLayout" Target="../slideLayouts/slideLayout65.xml"/><Relationship Id="rId7" Type="http://schemas.openxmlformats.org/officeDocument/2006/relationships/slideLayout" Target="../slideLayouts/slideLayout66.xml"/><Relationship Id="rId8" Type="http://schemas.openxmlformats.org/officeDocument/2006/relationships/slideLayout" Target="../slideLayouts/slideLayout67.xml"/><Relationship Id="rId9" Type="http://schemas.openxmlformats.org/officeDocument/2006/relationships/slideLayout" Target="../slideLayouts/slideLayout68.xml"/><Relationship Id="rId10" Type="http://schemas.openxmlformats.org/officeDocument/2006/relationships/slideLayout" Target="../slideLayouts/slideLayout69.xml"/><Relationship Id="rId11" Type="http://schemas.openxmlformats.org/officeDocument/2006/relationships/slideLayout" Target="../slideLayouts/slideLayout70.xml"/><Relationship Id="rId12" Type="http://schemas.openxmlformats.org/officeDocument/2006/relationships/slideLayout" Target="../slideLayouts/slideLayout71.xml"/><Relationship Id="rId13" Type="http://schemas.openxmlformats.org/officeDocument/2006/relationships/slideLayout" Target="../slideLayouts/slideLayout72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3.xml"/><Relationship Id="rId3" Type="http://schemas.openxmlformats.org/officeDocument/2006/relationships/slideLayout" Target="../slideLayouts/slideLayout74.xml"/><Relationship Id="rId4" Type="http://schemas.openxmlformats.org/officeDocument/2006/relationships/slideLayout" Target="../slideLayouts/slideLayout75.xml"/><Relationship Id="rId5" Type="http://schemas.openxmlformats.org/officeDocument/2006/relationships/slideLayout" Target="../slideLayouts/slideLayout76.xml"/><Relationship Id="rId6" Type="http://schemas.openxmlformats.org/officeDocument/2006/relationships/slideLayout" Target="../slideLayouts/slideLayout77.xml"/><Relationship Id="rId7" Type="http://schemas.openxmlformats.org/officeDocument/2006/relationships/slideLayout" Target="../slideLayouts/slideLayout78.xml"/><Relationship Id="rId8" Type="http://schemas.openxmlformats.org/officeDocument/2006/relationships/slideLayout" Target="../slideLayouts/slideLayout79.xml"/><Relationship Id="rId9" Type="http://schemas.openxmlformats.org/officeDocument/2006/relationships/slideLayout" Target="../slideLayouts/slideLayout80.xml"/><Relationship Id="rId10" Type="http://schemas.openxmlformats.org/officeDocument/2006/relationships/slideLayout" Target="../slideLayouts/slideLayout81.xml"/><Relationship Id="rId11" Type="http://schemas.openxmlformats.org/officeDocument/2006/relationships/slideLayout" Target="../slideLayouts/slideLayout82.xml"/><Relationship Id="rId12" Type="http://schemas.openxmlformats.org/officeDocument/2006/relationships/slideLayout" Target="../slideLayouts/slideLayout83.xml"/><Relationship Id="rId13" Type="http://schemas.openxmlformats.org/officeDocument/2006/relationships/slideLayout" Target="../slideLayouts/slideLayout84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5.xml"/><Relationship Id="rId3" Type="http://schemas.openxmlformats.org/officeDocument/2006/relationships/slideLayout" Target="../slideLayouts/slideLayout86.xml"/><Relationship Id="rId4" Type="http://schemas.openxmlformats.org/officeDocument/2006/relationships/slideLayout" Target="../slideLayouts/slideLayout87.xml"/><Relationship Id="rId5" Type="http://schemas.openxmlformats.org/officeDocument/2006/relationships/slideLayout" Target="../slideLayouts/slideLayout88.xml"/><Relationship Id="rId6" Type="http://schemas.openxmlformats.org/officeDocument/2006/relationships/slideLayout" Target="../slideLayouts/slideLayout89.xml"/><Relationship Id="rId7" Type="http://schemas.openxmlformats.org/officeDocument/2006/relationships/slideLayout" Target="../slideLayouts/slideLayout90.xml"/><Relationship Id="rId8" Type="http://schemas.openxmlformats.org/officeDocument/2006/relationships/slideLayout" Target="../slideLayouts/slideLayout91.xml"/><Relationship Id="rId9" Type="http://schemas.openxmlformats.org/officeDocument/2006/relationships/slideLayout" Target="../slideLayouts/slideLayout92.xml"/><Relationship Id="rId10" Type="http://schemas.openxmlformats.org/officeDocument/2006/relationships/slideLayout" Target="../slideLayouts/slideLayout93.xml"/><Relationship Id="rId11" Type="http://schemas.openxmlformats.org/officeDocument/2006/relationships/slideLayout" Target="../slideLayouts/slideLayout94.xml"/><Relationship Id="rId12" Type="http://schemas.openxmlformats.org/officeDocument/2006/relationships/slideLayout" Target="../slideLayouts/slideLayout95.xml"/><Relationship Id="rId13" Type="http://schemas.openxmlformats.org/officeDocument/2006/relationships/slideLayout" Target="../slideLayouts/slideLayout96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90800" cy="360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29040" cy="360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C2459B1-7F02-4F90-9B2F-68FCCD233B42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29040" cy="360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ftr" idx="4"/>
          </p:nvPr>
        </p:nvSpPr>
        <p:spPr>
          <a:xfrm>
            <a:off x="3124080" y="6356520"/>
            <a:ext cx="2893680" cy="36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sldNum" idx="5"/>
          </p:nvPr>
        </p:nvSpPr>
        <p:spPr>
          <a:xfrm>
            <a:off x="655308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5FDC1A8-CCC0-4869-9CF5-624CB9239C0F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dt" idx="6"/>
          </p:nvPr>
        </p:nvSpPr>
        <p:spPr>
          <a:xfrm>
            <a:off x="45720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ftr" idx="7"/>
          </p:nvPr>
        </p:nvSpPr>
        <p:spPr>
          <a:xfrm>
            <a:off x="3124080" y="6356520"/>
            <a:ext cx="2892960" cy="36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 type="sldNum" idx="8"/>
          </p:nvPr>
        </p:nvSpPr>
        <p:spPr>
          <a:xfrm>
            <a:off x="6553080" y="6356520"/>
            <a:ext cx="2131200" cy="36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AB6A463-1028-48E9-93E2-8BDA7C0C5BEB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" name="PlaceHolder 3"/>
          <p:cNvSpPr>
            <a:spLocks noGrp="1"/>
          </p:cNvSpPr>
          <p:nvPr>
            <p:ph type="dt" idx="9"/>
          </p:nvPr>
        </p:nvSpPr>
        <p:spPr>
          <a:xfrm>
            <a:off x="457200" y="6356520"/>
            <a:ext cx="2131200" cy="36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  <p:sldLayoutId id="2147483685" r:id="rId12"/>
    <p:sldLayoutId id="2147483686" r:id="rId13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8" r:id="rId2"/>
    <p:sldLayoutId id="2147483689" r:id="rId3"/>
    <p:sldLayoutId id="2147483690" r:id="rId4"/>
    <p:sldLayoutId id="2147483691" r:id="rId5"/>
    <p:sldLayoutId id="2147483692" r:id="rId6"/>
    <p:sldLayoutId id="2147483693" r:id="rId7"/>
    <p:sldLayoutId id="2147483694" r:id="rId8"/>
    <p:sldLayoutId id="2147483695" r:id="rId9"/>
    <p:sldLayoutId id="2147483696" r:id="rId10"/>
    <p:sldLayoutId id="2147483697" r:id="rId11"/>
    <p:sldLayoutId id="2147483698" r:id="rId12"/>
    <p:sldLayoutId id="2147483699" r:id="rId13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PlaceHolder 1"/>
          <p:cNvSpPr>
            <a:spLocks noGrp="1"/>
          </p:cNvSpPr>
          <p:nvPr>
            <p:ph type="ftr" idx="10"/>
          </p:nvPr>
        </p:nvSpPr>
        <p:spPr>
          <a:xfrm>
            <a:off x="3124080" y="6356520"/>
            <a:ext cx="2891520" cy="361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2" name="PlaceHolder 2"/>
          <p:cNvSpPr>
            <a:spLocks noGrp="1"/>
          </p:cNvSpPr>
          <p:nvPr>
            <p:ph type="sldNum" idx="11"/>
          </p:nvPr>
        </p:nvSpPr>
        <p:spPr>
          <a:xfrm>
            <a:off x="6553080" y="6356520"/>
            <a:ext cx="2129760" cy="361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4583A30-E920-4411-9F1F-BDD56ABA61F4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3" name="PlaceHolder 3"/>
          <p:cNvSpPr>
            <a:spLocks noGrp="1"/>
          </p:cNvSpPr>
          <p:nvPr>
            <p:ph type="dt" idx="12"/>
          </p:nvPr>
        </p:nvSpPr>
        <p:spPr>
          <a:xfrm>
            <a:off x="457200" y="6356520"/>
            <a:ext cx="2129760" cy="361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4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PlaceHolder 1"/>
          <p:cNvSpPr>
            <a:spLocks noGrp="1"/>
          </p:cNvSpPr>
          <p:nvPr>
            <p:ph type="ftr" idx="13"/>
          </p:nvPr>
        </p:nvSpPr>
        <p:spPr>
          <a:xfrm>
            <a:off x="3124080" y="6356520"/>
            <a:ext cx="2891520" cy="361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3" name="PlaceHolder 2"/>
          <p:cNvSpPr>
            <a:spLocks noGrp="1"/>
          </p:cNvSpPr>
          <p:nvPr>
            <p:ph type="sldNum" idx="14"/>
          </p:nvPr>
        </p:nvSpPr>
        <p:spPr>
          <a:xfrm>
            <a:off x="6553080" y="6356520"/>
            <a:ext cx="2129760" cy="361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DE82DF7-F18A-4AA8-B5CD-D57186661B47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4" name="PlaceHolder 3"/>
          <p:cNvSpPr>
            <a:spLocks noGrp="1"/>
          </p:cNvSpPr>
          <p:nvPr>
            <p:ph type="dt" idx="15"/>
          </p:nvPr>
        </p:nvSpPr>
        <p:spPr>
          <a:xfrm>
            <a:off x="457200" y="6356520"/>
            <a:ext cx="2129760" cy="361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5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14" r:id="rId2"/>
    <p:sldLayoutId id="2147483715" r:id="rId3"/>
    <p:sldLayoutId id="2147483716" r:id="rId4"/>
    <p:sldLayoutId id="2147483717" r:id="rId5"/>
    <p:sldLayoutId id="2147483718" r:id="rId6"/>
    <p:sldLayoutId id="2147483719" r:id="rId7"/>
    <p:sldLayoutId id="2147483720" r:id="rId8"/>
    <p:sldLayoutId id="2147483721" r:id="rId9"/>
    <p:sldLayoutId id="2147483722" r:id="rId10"/>
    <p:sldLayoutId id="2147483723" r:id="rId11"/>
    <p:sldLayoutId id="2147483724" r:id="rId12"/>
    <p:sldLayoutId id="2147483725" r:id="rId13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PlaceHolder 1"/>
          <p:cNvSpPr>
            <a:spLocks noGrp="1"/>
          </p:cNvSpPr>
          <p:nvPr>
            <p:ph type="ftr" idx="16"/>
          </p:nvPr>
        </p:nvSpPr>
        <p:spPr>
          <a:xfrm>
            <a:off x="3124080" y="6356520"/>
            <a:ext cx="289260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4" name="PlaceHolder 2"/>
          <p:cNvSpPr>
            <a:spLocks noGrp="1"/>
          </p:cNvSpPr>
          <p:nvPr>
            <p:ph type="sldNum" idx="17"/>
          </p:nvPr>
        </p:nvSpPr>
        <p:spPr>
          <a:xfrm>
            <a:off x="6553080" y="6356520"/>
            <a:ext cx="213084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0F1DCF5-B8C4-434D-AC14-4C306A97EFC6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5" name="PlaceHolder 3"/>
          <p:cNvSpPr>
            <a:spLocks noGrp="1"/>
          </p:cNvSpPr>
          <p:nvPr>
            <p:ph type="dt" idx="18"/>
          </p:nvPr>
        </p:nvSpPr>
        <p:spPr>
          <a:xfrm>
            <a:off x="457200" y="6356520"/>
            <a:ext cx="213084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6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7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27" r:id="rId2"/>
    <p:sldLayoutId id="2147483728" r:id="rId3"/>
    <p:sldLayoutId id="2147483729" r:id="rId4"/>
    <p:sldLayoutId id="2147483730" r:id="rId5"/>
    <p:sldLayoutId id="2147483731" r:id="rId6"/>
    <p:sldLayoutId id="2147483732" r:id="rId7"/>
    <p:sldLayoutId id="2147483733" r:id="rId8"/>
    <p:sldLayoutId id="2147483734" r:id="rId9"/>
    <p:sldLayoutId id="2147483735" r:id="rId10"/>
    <p:sldLayoutId id="2147483736" r:id="rId11"/>
    <p:sldLayoutId id="2147483737" r:id="rId12"/>
    <p:sldLayoutId id="2147483738" r:id="rId13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PlaceHolder 1"/>
          <p:cNvSpPr>
            <a:spLocks noGrp="1"/>
          </p:cNvSpPr>
          <p:nvPr>
            <p:ph type="ftr" idx="19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5" name="PlaceHolder 2"/>
          <p:cNvSpPr>
            <a:spLocks noGrp="1"/>
          </p:cNvSpPr>
          <p:nvPr>
            <p:ph type="sldNum" idx="20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9C4301E-463E-466A-91D3-85FAD7D25ED4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6" name="PlaceHolder 3"/>
          <p:cNvSpPr>
            <a:spLocks noGrp="1"/>
          </p:cNvSpPr>
          <p:nvPr>
            <p:ph type="dt" idx="21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7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8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40" r:id="rId2"/>
    <p:sldLayoutId id="2147483741" r:id="rId3"/>
    <p:sldLayoutId id="2147483742" r:id="rId4"/>
    <p:sldLayoutId id="2147483743" r:id="rId5"/>
    <p:sldLayoutId id="2147483744" r:id="rId6"/>
    <p:sldLayoutId id="2147483745" r:id="rId7"/>
    <p:sldLayoutId id="2147483746" r:id="rId8"/>
    <p:sldLayoutId id="2147483747" r:id="rId9"/>
    <p:sldLayoutId id="2147483748" r:id="rId10"/>
    <p:sldLayoutId id="2147483749" r:id="rId11"/>
    <p:sldLayoutId id="2147483750" r:id="rId12"/>
    <p:sldLayoutId id="2147483751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3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5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Rectangle 32"/>
          <p:cNvSpPr/>
          <p:nvPr/>
        </p:nvSpPr>
        <p:spPr>
          <a:xfrm>
            <a:off x="0" y="0"/>
            <a:ext cx="12184200" cy="68533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6" name="Rectangle 33"/>
          <p:cNvSpPr/>
          <p:nvPr/>
        </p:nvSpPr>
        <p:spPr>
          <a:xfrm>
            <a:off x="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7" name="Rectangle 34"/>
          <p:cNvSpPr/>
          <p:nvPr/>
        </p:nvSpPr>
        <p:spPr>
          <a:xfrm>
            <a:off x="914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8" name="Rectangle 35"/>
          <p:cNvSpPr/>
          <p:nvPr/>
        </p:nvSpPr>
        <p:spPr>
          <a:xfrm>
            <a:off x="1828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9" name="Rectangle 36"/>
          <p:cNvSpPr/>
          <p:nvPr/>
        </p:nvSpPr>
        <p:spPr>
          <a:xfrm>
            <a:off x="2743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0" name="Rectangle 37"/>
          <p:cNvSpPr/>
          <p:nvPr/>
        </p:nvSpPr>
        <p:spPr>
          <a:xfrm>
            <a:off x="36576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1" name="Rectangle 38"/>
          <p:cNvSpPr/>
          <p:nvPr/>
        </p:nvSpPr>
        <p:spPr>
          <a:xfrm>
            <a:off x="45720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2" name="Rectangle 39"/>
          <p:cNvSpPr/>
          <p:nvPr/>
        </p:nvSpPr>
        <p:spPr>
          <a:xfrm>
            <a:off x="5486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3" name="Rectangle 40"/>
          <p:cNvSpPr/>
          <p:nvPr/>
        </p:nvSpPr>
        <p:spPr>
          <a:xfrm>
            <a:off x="6400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4" name="Rectangle 41"/>
          <p:cNvSpPr/>
          <p:nvPr/>
        </p:nvSpPr>
        <p:spPr>
          <a:xfrm>
            <a:off x="7315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5" name="Rectangle 42"/>
          <p:cNvSpPr/>
          <p:nvPr/>
        </p:nvSpPr>
        <p:spPr>
          <a:xfrm>
            <a:off x="82296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6" name="Rectangle 43"/>
          <p:cNvSpPr/>
          <p:nvPr/>
        </p:nvSpPr>
        <p:spPr>
          <a:xfrm>
            <a:off x="91440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7" name="Rectangle 44"/>
          <p:cNvSpPr/>
          <p:nvPr/>
        </p:nvSpPr>
        <p:spPr>
          <a:xfrm>
            <a:off x="10058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8" name="Rectangle 45"/>
          <p:cNvSpPr/>
          <p:nvPr/>
        </p:nvSpPr>
        <p:spPr>
          <a:xfrm>
            <a:off x="10972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9" name="Rectangle 46"/>
          <p:cNvSpPr/>
          <p:nvPr/>
        </p:nvSpPr>
        <p:spPr>
          <a:xfrm>
            <a:off x="11887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0" name="Rectangle 47"/>
          <p:cNvSpPr/>
          <p:nvPr/>
        </p:nvSpPr>
        <p:spPr>
          <a:xfrm>
            <a:off x="0" y="0"/>
            <a:ext cx="315360" cy="68533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1" name="Rounded Rectangle 8"/>
          <p:cNvSpPr/>
          <p:nvPr/>
        </p:nvSpPr>
        <p:spPr>
          <a:xfrm>
            <a:off x="9875520" y="365760"/>
            <a:ext cx="2007000" cy="4982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2" name="TextBox 4"/>
          <p:cNvSpPr/>
          <p:nvPr/>
        </p:nvSpPr>
        <p:spPr>
          <a:xfrm>
            <a:off x="2913480" y="1005840"/>
            <a:ext cx="514476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DEĞİŞKENLERİ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3" name="TextBox 5"/>
          <p:cNvSpPr/>
          <p:nvPr/>
        </p:nvSpPr>
        <p:spPr>
          <a:xfrm>
            <a:off x="1237680" y="2057400"/>
            <a:ext cx="996840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Değişkenler, bir programda verileri saklamak için kullanılan isimlendirilmiş bellek konumlarıdır.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Java'da her değişken, hangi tür veriyi saklayabileceğini belirleyen belirli bir veri tipine sahip olmalıdır.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4" name="Rounded Rectangle 9"/>
          <p:cNvSpPr/>
          <p:nvPr/>
        </p:nvSpPr>
        <p:spPr>
          <a:xfrm>
            <a:off x="98748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5" name="Rounded Rectangle 10"/>
          <p:cNvSpPr/>
          <p:nvPr/>
        </p:nvSpPr>
        <p:spPr>
          <a:xfrm>
            <a:off x="914400" y="3108960"/>
            <a:ext cx="3287160" cy="3288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 Tanımı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Bir değişken, veriyi saklamak için kullanılan isimlendirilmiş bir bellek konumudur.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Veri Tipi Gerekliliği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Java'da her değişken belirli bir veri tipi ile tanımlanmalıdır.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Bellek Tahsisi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Veri tipi, değişkenin hangi tür değeri tutacağını ve bellekte ne kadar yer kaplayacağını belirler.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Veri Tipi Örnekleri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Örneğin, int tam sayıları saklar, double ondalık sayıları saklar ve String metin verilerini saklar.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Program Esnekliği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Değişkenler, programların çalışma sırasında veri saklamasına ve değiştirmesine olanak tanır.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6" name="Rounded Rectangle 11"/>
          <p:cNvSpPr/>
          <p:nvPr/>
        </p:nvSpPr>
        <p:spPr>
          <a:xfrm>
            <a:off x="450792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7" name="Rounded Rectangle 12"/>
          <p:cNvSpPr/>
          <p:nvPr/>
        </p:nvSpPr>
        <p:spPr>
          <a:xfrm>
            <a:off x="4434840" y="310896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Program Başlar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 Tanımla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(veri tipi + isim)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Değer Ata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Değişkeni Kullan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(yazdır / hesapla)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8" name="Rounded Rectangle 13"/>
          <p:cNvSpPr/>
          <p:nvPr/>
        </p:nvSpPr>
        <p:spPr>
          <a:xfrm>
            <a:off x="802836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9" name="Rounded Rectangle 14"/>
          <p:cNvSpPr/>
          <p:nvPr/>
        </p:nvSpPr>
        <p:spPr>
          <a:xfrm>
            <a:off x="7955280" y="3108960"/>
            <a:ext cx="3471120" cy="3288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DegiskenOrnegi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 yas = 21;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fiyat = 49.99;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isim = "Java";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System.out.println(yas);       System.out.println(fiyat);        System.out.println(isim);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0" name="TextBox 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Rectangle 16"/>
          <p:cNvSpPr/>
          <p:nvPr/>
        </p:nvSpPr>
        <p:spPr>
          <a:xfrm>
            <a:off x="0" y="0"/>
            <a:ext cx="12184200" cy="68533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2" name="Rectangle 17"/>
          <p:cNvSpPr/>
          <p:nvPr/>
        </p:nvSpPr>
        <p:spPr>
          <a:xfrm>
            <a:off x="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3" name="Rectangle 18"/>
          <p:cNvSpPr/>
          <p:nvPr/>
        </p:nvSpPr>
        <p:spPr>
          <a:xfrm>
            <a:off x="914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4" name="Rectangle 19"/>
          <p:cNvSpPr/>
          <p:nvPr/>
        </p:nvSpPr>
        <p:spPr>
          <a:xfrm>
            <a:off x="1828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5" name="Rectangle 20"/>
          <p:cNvSpPr/>
          <p:nvPr/>
        </p:nvSpPr>
        <p:spPr>
          <a:xfrm>
            <a:off x="2743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6" name="Rectangle 21"/>
          <p:cNvSpPr/>
          <p:nvPr/>
        </p:nvSpPr>
        <p:spPr>
          <a:xfrm>
            <a:off x="36576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7" name="Rectangle 22"/>
          <p:cNvSpPr/>
          <p:nvPr/>
        </p:nvSpPr>
        <p:spPr>
          <a:xfrm>
            <a:off x="45720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8" name="Rectangle 23"/>
          <p:cNvSpPr/>
          <p:nvPr/>
        </p:nvSpPr>
        <p:spPr>
          <a:xfrm>
            <a:off x="5486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9" name="Rectangle 24"/>
          <p:cNvSpPr/>
          <p:nvPr/>
        </p:nvSpPr>
        <p:spPr>
          <a:xfrm>
            <a:off x="6400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0" name="Rectangle 25"/>
          <p:cNvSpPr/>
          <p:nvPr/>
        </p:nvSpPr>
        <p:spPr>
          <a:xfrm>
            <a:off x="7315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1" name="Rectangle 26"/>
          <p:cNvSpPr/>
          <p:nvPr/>
        </p:nvSpPr>
        <p:spPr>
          <a:xfrm>
            <a:off x="82296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2" name="Rectangle 27"/>
          <p:cNvSpPr/>
          <p:nvPr/>
        </p:nvSpPr>
        <p:spPr>
          <a:xfrm>
            <a:off x="91440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3" name="Rectangle 28"/>
          <p:cNvSpPr/>
          <p:nvPr/>
        </p:nvSpPr>
        <p:spPr>
          <a:xfrm>
            <a:off x="10058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4" name="Rectangle 29"/>
          <p:cNvSpPr/>
          <p:nvPr/>
        </p:nvSpPr>
        <p:spPr>
          <a:xfrm>
            <a:off x="10972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5" name="Rectangle 30"/>
          <p:cNvSpPr/>
          <p:nvPr/>
        </p:nvSpPr>
        <p:spPr>
          <a:xfrm>
            <a:off x="11887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6" name="Rectangle 31"/>
          <p:cNvSpPr/>
          <p:nvPr/>
        </p:nvSpPr>
        <p:spPr>
          <a:xfrm>
            <a:off x="0" y="0"/>
            <a:ext cx="315360" cy="68533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7" name="Rounded Rectangle 15"/>
          <p:cNvSpPr/>
          <p:nvPr/>
        </p:nvSpPr>
        <p:spPr>
          <a:xfrm>
            <a:off x="9875520" y="365760"/>
            <a:ext cx="2007000" cy="4982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8" name="TextBox 7"/>
          <p:cNvSpPr/>
          <p:nvPr/>
        </p:nvSpPr>
        <p:spPr>
          <a:xfrm>
            <a:off x="2323800" y="1005840"/>
            <a:ext cx="63244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DEĞİŞKEN TÜRLERİ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9" name="TextBox 8"/>
          <p:cNvSpPr/>
          <p:nvPr/>
        </p:nvSpPr>
        <p:spPr>
          <a:xfrm>
            <a:off x="655560" y="2057400"/>
            <a:ext cx="1113264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 değişkenleri, nerede tanımlandıklarına ve bir sınıf veya metot içinde nasıl kullanıldıklarına göre sınıflandırılır.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0" name="Rounded Rectangle 16"/>
          <p:cNvSpPr/>
          <p:nvPr/>
        </p:nvSpPr>
        <p:spPr>
          <a:xfrm>
            <a:off x="98748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1" name="Rounded Rectangle 17"/>
          <p:cNvSpPr/>
          <p:nvPr/>
        </p:nvSpPr>
        <p:spPr>
          <a:xfrm>
            <a:off x="931680" y="2925720"/>
            <a:ext cx="3179880" cy="3700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Yerel Değişkenler (Local Variables)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Yerel değişkenler bir metot, yapıcı metot (constructor) veya kod bloğu içinde tanımlanır.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Sadece oluşturuldukları metot veya blok içerisinde erişilebilirler.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Nesne Değişkenleri (Instance Variables)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Nesne değişkenleri bir sınıf içinde fakat metotların dışında tanımlanır.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Sınıfın oluşturulan her nesnesi bu değişkenlerin kendi kopyasına sahip olur.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Statik Değişkenler (Static Variables)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Statik değişkenler static anahtar kelimesi kullanılarak tanımlanır.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Bu değişkenler sınıfa aittir ve o sınıftan oluşturulan tüm nesneler tarafından ortak olarak kullanılır.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2" name="Rounded Rectangle 18"/>
          <p:cNvSpPr/>
          <p:nvPr/>
        </p:nvSpPr>
        <p:spPr>
          <a:xfrm>
            <a:off x="450792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3" name="Rounded Rectangle 19"/>
          <p:cNvSpPr/>
          <p:nvPr/>
        </p:nvSpPr>
        <p:spPr>
          <a:xfrm>
            <a:off x="4434840" y="3108960"/>
            <a:ext cx="3287160" cy="3059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Sınıf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Statik Değişken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Nesne Değişkeni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└──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Metot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└──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Yerel Değişken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4" name="Rounded Rectangle 20"/>
          <p:cNvSpPr/>
          <p:nvPr/>
        </p:nvSpPr>
        <p:spPr>
          <a:xfrm>
            <a:off x="802836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5" name="Rounded Rectangle 21"/>
          <p:cNvSpPr/>
          <p:nvPr/>
        </p:nvSpPr>
        <p:spPr>
          <a:xfrm>
            <a:off x="7955280" y="2971800"/>
            <a:ext cx="3700080" cy="3425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DegiskenTurleri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nesneDegiskeni = 10;        // nesne değişkeni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static int statikDegisken = 20; // statik değişken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void degiskenleriGoster()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yerelDegisken = 30;     // yerel değişken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System.out.println(yerelDegisken);        System.out.println(nesneDegiskeni);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System.out.println(statikDegisken);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6" name="TextBox 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Rectangle 160"/>
          <p:cNvSpPr/>
          <p:nvPr/>
        </p:nvSpPr>
        <p:spPr>
          <a:xfrm>
            <a:off x="0" y="0"/>
            <a:ext cx="12187080" cy="68562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8" name="Rectangle 161"/>
          <p:cNvSpPr/>
          <p:nvPr/>
        </p:nvSpPr>
        <p:spPr>
          <a:xfrm>
            <a:off x="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9" name="Rectangle 162"/>
          <p:cNvSpPr/>
          <p:nvPr/>
        </p:nvSpPr>
        <p:spPr>
          <a:xfrm>
            <a:off x="914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0" name="Rectangle 163"/>
          <p:cNvSpPr/>
          <p:nvPr/>
        </p:nvSpPr>
        <p:spPr>
          <a:xfrm>
            <a:off x="1828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1" name="Rectangle 164"/>
          <p:cNvSpPr/>
          <p:nvPr/>
        </p:nvSpPr>
        <p:spPr>
          <a:xfrm>
            <a:off x="2743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2" name="Rectangle 165"/>
          <p:cNvSpPr/>
          <p:nvPr/>
        </p:nvSpPr>
        <p:spPr>
          <a:xfrm>
            <a:off x="36576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3" name="Rectangle 166"/>
          <p:cNvSpPr/>
          <p:nvPr/>
        </p:nvSpPr>
        <p:spPr>
          <a:xfrm>
            <a:off x="45720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4" name="Rectangle 167"/>
          <p:cNvSpPr/>
          <p:nvPr/>
        </p:nvSpPr>
        <p:spPr>
          <a:xfrm>
            <a:off x="5486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5" name="Rectangle 168"/>
          <p:cNvSpPr/>
          <p:nvPr/>
        </p:nvSpPr>
        <p:spPr>
          <a:xfrm>
            <a:off x="6400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6" name="Rectangle 169"/>
          <p:cNvSpPr/>
          <p:nvPr/>
        </p:nvSpPr>
        <p:spPr>
          <a:xfrm>
            <a:off x="7315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7" name="Rectangle 170"/>
          <p:cNvSpPr/>
          <p:nvPr/>
        </p:nvSpPr>
        <p:spPr>
          <a:xfrm>
            <a:off x="82296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8" name="Rectangle 171"/>
          <p:cNvSpPr/>
          <p:nvPr/>
        </p:nvSpPr>
        <p:spPr>
          <a:xfrm>
            <a:off x="91440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9" name="Rectangle 172"/>
          <p:cNvSpPr/>
          <p:nvPr/>
        </p:nvSpPr>
        <p:spPr>
          <a:xfrm>
            <a:off x="10058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0" name="Rectangle 173"/>
          <p:cNvSpPr/>
          <p:nvPr/>
        </p:nvSpPr>
        <p:spPr>
          <a:xfrm>
            <a:off x="10972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1" name="Rectangle 174"/>
          <p:cNvSpPr/>
          <p:nvPr/>
        </p:nvSpPr>
        <p:spPr>
          <a:xfrm>
            <a:off x="11887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2" name="Rectangle 175"/>
          <p:cNvSpPr/>
          <p:nvPr/>
        </p:nvSpPr>
        <p:spPr>
          <a:xfrm>
            <a:off x="0" y="0"/>
            <a:ext cx="318240" cy="68562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3" name="Rounded Rectangle 71"/>
          <p:cNvSpPr/>
          <p:nvPr/>
        </p:nvSpPr>
        <p:spPr>
          <a:xfrm>
            <a:off x="9875520" y="365760"/>
            <a:ext cx="2009880" cy="5011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4" name="TextBox 31"/>
          <p:cNvSpPr/>
          <p:nvPr/>
        </p:nvSpPr>
        <p:spPr>
          <a:xfrm>
            <a:off x="1937160" y="685800"/>
            <a:ext cx="711540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DEĞİŞKENLER ÖRNEĞİ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5" name="TextBox 32"/>
          <p:cNvSpPr/>
          <p:nvPr/>
        </p:nvSpPr>
        <p:spPr>
          <a:xfrm>
            <a:off x="2130120" y="1600200"/>
            <a:ext cx="6738840" cy="130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 programları farklı değişken türlerini birlikte kullanabilir.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Her değişken türünün farklı bir kapsamı (scope) ve yaşam süresi (lifetime) vardır.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Yerel değişkenler metodların içinde bulunur,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instance değişkenler nesnelere aittir ve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static değişkenler sınıfa aittir.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6" name="Rounded Rectangle 72"/>
          <p:cNvSpPr/>
          <p:nvPr/>
        </p:nvSpPr>
        <p:spPr>
          <a:xfrm>
            <a:off x="98748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7" name="Rounded Rectangle 73"/>
          <p:cNvSpPr/>
          <p:nvPr/>
        </p:nvSpPr>
        <p:spPr>
          <a:xfrm>
            <a:off x="685800" y="3108960"/>
            <a:ext cx="3518640" cy="3062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Variable Scope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Local Variable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Exists only inside a method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Created when method starts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Destroyed when method ends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Instance Variable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Belongs to an object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Each object has its own copy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Static Variable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Shared by all objects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Belongs to the class itself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8" name="Rounded Rectangle 74"/>
          <p:cNvSpPr/>
          <p:nvPr/>
        </p:nvSpPr>
        <p:spPr>
          <a:xfrm>
            <a:off x="450792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9" name="Rounded Rectangle 75"/>
          <p:cNvSpPr/>
          <p:nvPr/>
        </p:nvSpPr>
        <p:spPr>
          <a:xfrm>
            <a:off x="4434840" y="3108960"/>
            <a:ext cx="3290040" cy="3062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Program Başlar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Sınıf Oluştur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Static Değişken (paylaşılan)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Nesne Oluştur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Instance Değişken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Metod Çağrılır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└─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Yerel Değişken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0" name="Rounded Rectangle 76"/>
          <p:cNvSpPr/>
          <p:nvPr/>
        </p:nvSpPr>
        <p:spPr>
          <a:xfrm>
            <a:off x="802836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1" name="Rounded Rectangle 77"/>
          <p:cNvSpPr/>
          <p:nvPr/>
        </p:nvSpPr>
        <p:spPr>
          <a:xfrm>
            <a:off x="7955280" y="2971800"/>
            <a:ext cx="3702600" cy="3428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DegiskenOrnegi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static String universite = "Tech University"; // static değişken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ogrenciAdi; // instance değişken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void bilgileriGoster()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int sinif = 2; // yerel değişken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System.out.println(ogrenciAdi);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System.out.println(universite);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System.out.println(sinif);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DegiskenOrnegi s1 = new DegiskenOrnegi();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s1.ogrenciAdi = "Tuna";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s1.bilgileriGoster();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2" name="TextBox 3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Rectangle 144"/>
          <p:cNvSpPr/>
          <p:nvPr/>
        </p:nvSpPr>
        <p:spPr>
          <a:xfrm>
            <a:off x="0" y="0"/>
            <a:ext cx="12186360" cy="68554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4" name="Rectangle 145"/>
          <p:cNvSpPr/>
          <p:nvPr/>
        </p:nvSpPr>
        <p:spPr>
          <a:xfrm>
            <a:off x="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5" name="Rectangle 146"/>
          <p:cNvSpPr/>
          <p:nvPr/>
        </p:nvSpPr>
        <p:spPr>
          <a:xfrm>
            <a:off x="914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6" name="Rectangle 147"/>
          <p:cNvSpPr/>
          <p:nvPr/>
        </p:nvSpPr>
        <p:spPr>
          <a:xfrm>
            <a:off x="1828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7" name="Rectangle 148"/>
          <p:cNvSpPr/>
          <p:nvPr/>
        </p:nvSpPr>
        <p:spPr>
          <a:xfrm>
            <a:off x="2743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8" name="Rectangle 149"/>
          <p:cNvSpPr/>
          <p:nvPr/>
        </p:nvSpPr>
        <p:spPr>
          <a:xfrm>
            <a:off x="36576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9" name="Rectangle 150"/>
          <p:cNvSpPr/>
          <p:nvPr/>
        </p:nvSpPr>
        <p:spPr>
          <a:xfrm>
            <a:off x="45720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0" name="Rectangle 151"/>
          <p:cNvSpPr/>
          <p:nvPr/>
        </p:nvSpPr>
        <p:spPr>
          <a:xfrm>
            <a:off x="5486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1" name="Rectangle 152"/>
          <p:cNvSpPr/>
          <p:nvPr/>
        </p:nvSpPr>
        <p:spPr>
          <a:xfrm>
            <a:off x="6400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2" name="Rectangle 153"/>
          <p:cNvSpPr/>
          <p:nvPr/>
        </p:nvSpPr>
        <p:spPr>
          <a:xfrm>
            <a:off x="7315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3" name="Rectangle 154"/>
          <p:cNvSpPr/>
          <p:nvPr/>
        </p:nvSpPr>
        <p:spPr>
          <a:xfrm>
            <a:off x="82296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4" name="Rectangle 155"/>
          <p:cNvSpPr/>
          <p:nvPr/>
        </p:nvSpPr>
        <p:spPr>
          <a:xfrm>
            <a:off x="91440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5" name="Rectangle 156"/>
          <p:cNvSpPr/>
          <p:nvPr/>
        </p:nvSpPr>
        <p:spPr>
          <a:xfrm>
            <a:off x="10058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6" name="Rectangle 157"/>
          <p:cNvSpPr/>
          <p:nvPr/>
        </p:nvSpPr>
        <p:spPr>
          <a:xfrm>
            <a:off x="10972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7" name="Rectangle 158"/>
          <p:cNvSpPr/>
          <p:nvPr/>
        </p:nvSpPr>
        <p:spPr>
          <a:xfrm>
            <a:off x="11887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8" name="Rectangle 159"/>
          <p:cNvSpPr/>
          <p:nvPr/>
        </p:nvSpPr>
        <p:spPr>
          <a:xfrm>
            <a:off x="0" y="0"/>
            <a:ext cx="317520" cy="68554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9" name="Rounded Rectangle 64"/>
          <p:cNvSpPr/>
          <p:nvPr/>
        </p:nvSpPr>
        <p:spPr>
          <a:xfrm>
            <a:off x="9875520" y="365760"/>
            <a:ext cx="2009160" cy="5004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0" name="TextBox 28"/>
          <p:cNvSpPr/>
          <p:nvPr/>
        </p:nvSpPr>
        <p:spPr>
          <a:xfrm>
            <a:off x="3013200" y="1005840"/>
            <a:ext cx="494532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VERİ TÜRLERİ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1" name="TextBox 29"/>
          <p:cNvSpPr/>
          <p:nvPr/>
        </p:nvSpPr>
        <p:spPr>
          <a:xfrm>
            <a:off x="1657080" y="2194560"/>
            <a:ext cx="765792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Veri türleri, bir değişkenin Java’da hangi tür değeri saklayabileceğini tanımlar.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Her değişkenin belirli bir veri türü olmalıdır.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2" name="Rounded Rectangle 65"/>
          <p:cNvSpPr/>
          <p:nvPr/>
        </p:nvSpPr>
        <p:spPr>
          <a:xfrm>
            <a:off x="98748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3" name="Rounded Rectangle 66"/>
          <p:cNvSpPr/>
          <p:nvPr/>
        </p:nvSpPr>
        <p:spPr>
          <a:xfrm>
            <a:off x="685800" y="3108960"/>
            <a:ext cx="3517920" cy="3290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Veri Türleri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, bir değişkende saklanan verinin türünü belirtir.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Java’da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iki ana veri türü kategorisi vardır.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İlkel Veri Türleri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Basit değerleri doğrudan bellekte saklar.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Örnekler: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int, double, char, boolean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Veri Türleri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Nesnelere ait referansları saklar.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Örnekler: String, Diziler (Arrays), Sınıflar (Classes)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4" name="Rounded Rectangle 67"/>
          <p:cNvSpPr/>
          <p:nvPr/>
        </p:nvSpPr>
        <p:spPr>
          <a:xfrm>
            <a:off x="450792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5" name="Rounded Rectangle 68"/>
          <p:cNvSpPr/>
          <p:nvPr/>
        </p:nvSpPr>
        <p:spPr>
          <a:xfrm>
            <a:off x="4434840" y="3108960"/>
            <a:ext cx="3289320" cy="3061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 Veri Türleri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İlkel Veri Türleri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├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int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├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double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├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char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└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boolean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└─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Veri Türleri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├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String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├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Array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└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Class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6" name="Rounded Rectangle 69"/>
          <p:cNvSpPr/>
          <p:nvPr/>
        </p:nvSpPr>
        <p:spPr>
          <a:xfrm>
            <a:off x="802836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7" name="Rounded Rectangle 70"/>
          <p:cNvSpPr/>
          <p:nvPr/>
        </p:nvSpPr>
        <p:spPr>
          <a:xfrm>
            <a:off x="7955280" y="3108960"/>
            <a:ext cx="3701880" cy="3061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VeriTurleriOrnek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 yas = 25;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maas = 5500.5;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char not = 'A';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ogrenciMi = true;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isim = "Tuna";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System.out.println(isim);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System.out.println(yas);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8" name="TextBox 3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Rectangle 48"/>
          <p:cNvSpPr/>
          <p:nvPr/>
        </p:nvSpPr>
        <p:spPr>
          <a:xfrm>
            <a:off x="0" y="0"/>
            <a:ext cx="12184200" cy="68533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0" name="Rectangle 49"/>
          <p:cNvSpPr/>
          <p:nvPr/>
        </p:nvSpPr>
        <p:spPr>
          <a:xfrm>
            <a:off x="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1" name="Rectangle 50"/>
          <p:cNvSpPr/>
          <p:nvPr/>
        </p:nvSpPr>
        <p:spPr>
          <a:xfrm>
            <a:off x="914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2" name="Rectangle 51"/>
          <p:cNvSpPr/>
          <p:nvPr/>
        </p:nvSpPr>
        <p:spPr>
          <a:xfrm>
            <a:off x="1828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3" name="Rectangle 52"/>
          <p:cNvSpPr/>
          <p:nvPr/>
        </p:nvSpPr>
        <p:spPr>
          <a:xfrm>
            <a:off x="2743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4" name="Rectangle 53"/>
          <p:cNvSpPr/>
          <p:nvPr/>
        </p:nvSpPr>
        <p:spPr>
          <a:xfrm>
            <a:off x="36576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5" name="Rectangle 54"/>
          <p:cNvSpPr/>
          <p:nvPr/>
        </p:nvSpPr>
        <p:spPr>
          <a:xfrm>
            <a:off x="45720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6" name="Rectangle 55"/>
          <p:cNvSpPr/>
          <p:nvPr/>
        </p:nvSpPr>
        <p:spPr>
          <a:xfrm>
            <a:off x="5486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7" name="Rectangle 56"/>
          <p:cNvSpPr/>
          <p:nvPr/>
        </p:nvSpPr>
        <p:spPr>
          <a:xfrm>
            <a:off x="6400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8" name="Rectangle 57"/>
          <p:cNvSpPr/>
          <p:nvPr/>
        </p:nvSpPr>
        <p:spPr>
          <a:xfrm>
            <a:off x="7315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9" name="Rectangle 58"/>
          <p:cNvSpPr/>
          <p:nvPr/>
        </p:nvSpPr>
        <p:spPr>
          <a:xfrm>
            <a:off x="82296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0" name="Rectangle 59"/>
          <p:cNvSpPr/>
          <p:nvPr/>
        </p:nvSpPr>
        <p:spPr>
          <a:xfrm>
            <a:off x="91440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1" name="Rectangle 60"/>
          <p:cNvSpPr/>
          <p:nvPr/>
        </p:nvSpPr>
        <p:spPr>
          <a:xfrm>
            <a:off x="10058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2" name="Rectangle 61"/>
          <p:cNvSpPr/>
          <p:nvPr/>
        </p:nvSpPr>
        <p:spPr>
          <a:xfrm>
            <a:off x="10972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3" name="Rectangle 62"/>
          <p:cNvSpPr/>
          <p:nvPr/>
        </p:nvSpPr>
        <p:spPr>
          <a:xfrm>
            <a:off x="11887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4" name="Rectangle 63"/>
          <p:cNvSpPr/>
          <p:nvPr/>
        </p:nvSpPr>
        <p:spPr>
          <a:xfrm>
            <a:off x="0" y="0"/>
            <a:ext cx="315360" cy="68533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5" name="Rounded Rectangle 22"/>
          <p:cNvSpPr/>
          <p:nvPr/>
        </p:nvSpPr>
        <p:spPr>
          <a:xfrm>
            <a:off x="9875520" y="365760"/>
            <a:ext cx="2007000" cy="4982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6" name="TextBox 10"/>
          <p:cNvSpPr/>
          <p:nvPr/>
        </p:nvSpPr>
        <p:spPr>
          <a:xfrm>
            <a:off x="1357920" y="1005840"/>
            <a:ext cx="8255160" cy="69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000" spc="-1" strike="noStrike">
                <a:solidFill>
                  <a:srgbClr val="f5f5f5"/>
                </a:solidFill>
                <a:latin typeface="Calibri"/>
                <a:ea typeface="DejaVu Sans"/>
              </a:rPr>
              <a:t>JAVA İLKESEL (PRIMITIVE) VERİ TİPLERİ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7" name="TextBox 11"/>
          <p:cNvSpPr/>
          <p:nvPr/>
        </p:nvSpPr>
        <p:spPr>
          <a:xfrm>
            <a:off x="1810800" y="1846080"/>
            <a:ext cx="740808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İlkel veri tipleri, Java’da sayılar, karakterler ve mantıksal değerler gibi basit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verileri saklamak için kullanılan temel veri tipleridir.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8" name="Rounded Rectangle 23"/>
          <p:cNvSpPr/>
          <p:nvPr/>
        </p:nvSpPr>
        <p:spPr>
          <a:xfrm>
            <a:off x="98748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9" name="Rounded Rectangle 24"/>
          <p:cNvSpPr/>
          <p:nvPr/>
        </p:nvSpPr>
        <p:spPr>
          <a:xfrm>
            <a:off x="685800" y="2743200"/>
            <a:ext cx="3515760" cy="3654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Sayısal Veri Tipleri (Numeric Types)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Java, farklı türde sayıları saklamak için byte, short, int, long, float ve double gibi sayısal veri tipleri sağlar.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Karakter Veri Tipi (Character Type)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char veri tipi, Unicode sistemine göre tek bir karakter saklamak için kullanılır.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Mantıksal Veri Tipi (Boolean Type)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boolean veri tipi mantıksal değerleri temsil eder ve yalnızca true veya false değerlerini alabilir.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Bellek Verimliliği (Memory Efficiency)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İlkel veri tipleri doğrudan bellekte saklanır ve referans veri tiplerine göre daha hızlı ve daha verimli çalışırlar.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0" name="Rounded Rectangle 25"/>
          <p:cNvSpPr/>
          <p:nvPr/>
        </p:nvSpPr>
        <p:spPr>
          <a:xfrm>
            <a:off x="450792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1" name="Rounded Rectangle 26"/>
          <p:cNvSpPr/>
          <p:nvPr/>
        </p:nvSpPr>
        <p:spPr>
          <a:xfrm>
            <a:off x="4343400" y="2743200"/>
            <a:ext cx="3378600" cy="3654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İlkel Veri Tipleri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├──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Sayısal Tipler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byte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short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long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float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└─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double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├──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Karakter Tipi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└─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char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Mantıksal Tip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└─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boolean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2" name="Rounded Rectangle 27"/>
          <p:cNvSpPr/>
          <p:nvPr/>
        </p:nvSpPr>
        <p:spPr>
          <a:xfrm>
            <a:off x="802836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3" name="Rounded Rectangle 28"/>
          <p:cNvSpPr/>
          <p:nvPr/>
        </p:nvSpPr>
        <p:spPr>
          <a:xfrm>
            <a:off x="7955280" y="2971800"/>
            <a:ext cx="3699720" cy="3196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IlkelVeriOrnegi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yas = 25;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fiyat = 19.99;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char not = 'A';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ogrenciMi = true;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System.out.println(yas);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System.out.println(fiyat);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System.out.println(not);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System.out.println(ogrenciMi);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4" name="TextBox 1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Rectangle 80"/>
          <p:cNvSpPr/>
          <p:nvPr/>
        </p:nvSpPr>
        <p:spPr>
          <a:xfrm>
            <a:off x="0" y="0"/>
            <a:ext cx="12184920" cy="68540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6" name="Rectangle 64"/>
          <p:cNvSpPr/>
          <p:nvPr/>
        </p:nvSpPr>
        <p:spPr>
          <a:xfrm>
            <a:off x="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7" name="Rectangle 65"/>
          <p:cNvSpPr/>
          <p:nvPr/>
        </p:nvSpPr>
        <p:spPr>
          <a:xfrm>
            <a:off x="914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8" name="Rectangle 66"/>
          <p:cNvSpPr/>
          <p:nvPr/>
        </p:nvSpPr>
        <p:spPr>
          <a:xfrm>
            <a:off x="1828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9" name="Rectangle 67"/>
          <p:cNvSpPr/>
          <p:nvPr/>
        </p:nvSpPr>
        <p:spPr>
          <a:xfrm>
            <a:off x="2743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0" name="Rectangle 68"/>
          <p:cNvSpPr/>
          <p:nvPr/>
        </p:nvSpPr>
        <p:spPr>
          <a:xfrm>
            <a:off x="36576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1" name="Rectangle 69"/>
          <p:cNvSpPr/>
          <p:nvPr/>
        </p:nvSpPr>
        <p:spPr>
          <a:xfrm>
            <a:off x="45720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2" name="Rectangle 70"/>
          <p:cNvSpPr/>
          <p:nvPr/>
        </p:nvSpPr>
        <p:spPr>
          <a:xfrm>
            <a:off x="5486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3" name="Rectangle 71"/>
          <p:cNvSpPr/>
          <p:nvPr/>
        </p:nvSpPr>
        <p:spPr>
          <a:xfrm>
            <a:off x="6400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4" name="Rectangle 72"/>
          <p:cNvSpPr/>
          <p:nvPr/>
        </p:nvSpPr>
        <p:spPr>
          <a:xfrm>
            <a:off x="7315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5" name="Rectangle 73"/>
          <p:cNvSpPr/>
          <p:nvPr/>
        </p:nvSpPr>
        <p:spPr>
          <a:xfrm>
            <a:off x="82296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6" name="Rectangle 74"/>
          <p:cNvSpPr/>
          <p:nvPr/>
        </p:nvSpPr>
        <p:spPr>
          <a:xfrm>
            <a:off x="91440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7" name="Rectangle 75"/>
          <p:cNvSpPr/>
          <p:nvPr/>
        </p:nvSpPr>
        <p:spPr>
          <a:xfrm>
            <a:off x="10058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8" name="Rectangle 76"/>
          <p:cNvSpPr/>
          <p:nvPr/>
        </p:nvSpPr>
        <p:spPr>
          <a:xfrm>
            <a:off x="10972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9" name="Rectangle 77"/>
          <p:cNvSpPr/>
          <p:nvPr/>
        </p:nvSpPr>
        <p:spPr>
          <a:xfrm>
            <a:off x="11887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0" name="Rectangle 78"/>
          <p:cNvSpPr/>
          <p:nvPr/>
        </p:nvSpPr>
        <p:spPr>
          <a:xfrm>
            <a:off x="0" y="0"/>
            <a:ext cx="316080" cy="68540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1" name="Rounded Rectangle 29"/>
          <p:cNvSpPr/>
          <p:nvPr/>
        </p:nvSpPr>
        <p:spPr>
          <a:xfrm>
            <a:off x="9875520" y="365760"/>
            <a:ext cx="2007720" cy="4989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2" name="TextBox 13"/>
          <p:cNvSpPr/>
          <p:nvPr/>
        </p:nvSpPr>
        <p:spPr>
          <a:xfrm>
            <a:off x="2441520" y="1005840"/>
            <a:ext cx="608652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REFERANS VERİ TİPLERİ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3" name="TextBox 14"/>
          <p:cNvSpPr/>
          <p:nvPr/>
        </p:nvSpPr>
        <p:spPr>
          <a:xfrm>
            <a:off x="2802600" y="2074680"/>
            <a:ext cx="536580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Referans veri tipleri, gerçek değerleri değil nesnelere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ait referansları (bellek adreslerini) saklar.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4" name="Rounded Rectangle 30"/>
          <p:cNvSpPr/>
          <p:nvPr/>
        </p:nvSpPr>
        <p:spPr>
          <a:xfrm>
            <a:off x="98748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5" name="Rounded Rectangle 31"/>
          <p:cNvSpPr/>
          <p:nvPr/>
        </p:nvSpPr>
        <p:spPr>
          <a:xfrm>
            <a:off x="685800" y="2971800"/>
            <a:ext cx="3516480" cy="3654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Nesne Tabanlı Tipler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tipleri, sınıflardan oluşturulan nesneleri temsil eder.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Bellek Referansı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Gerçek verinin kendisi yerine nesnenin bellekteki adresi saklanır.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Yaygın Örnekler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Örnekler arasında String, diziler (arrays), sınıflar (classes) ve nesneler (objects) bulunur.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Esnek Yapı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tipleri, karmaşık veri yapılarının ve birden fazla değerin saklanmasına olanak tanır.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6" name="Rounded Rectangle 32"/>
          <p:cNvSpPr/>
          <p:nvPr/>
        </p:nvSpPr>
        <p:spPr>
          <a:xfrm>
            <a:off x="450792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7" name="Rounded Rectangle 33"/>
          <p:cNvSpPr/>
          <p:nvPr/>
        </p:nvSpPr>
        <p:spPr>
          <a:xfrm>
            <a:off x="4434840" y="310896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Tipleri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├── </a:t>
            </a: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String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├── </a:t>
            </a: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Diziler (Arrays)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├── </a:t>
            </a: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Sınıflar (Classes)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      └── </a:t>
            </a: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Nesneler (Objects)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8" name="Rounded Rectangle 34"/>
          <p:cNvSpPr/>
          <p:nvPr/>
        </p:nvSpPr>
        <p:spPr>
          <a:xfrm>
            <a:off x="802836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9" name="Rounded Rectangle 35"/>
          <p:cNvSpPr/>
          <p:nvPr/>
        </p:nvSpPr>
        <p:spPr>
          <a:xfrm>
            <a:off x="7955280" y="3108960"/>
            <a:ext cx="3700440" cy="3060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ReferansOrnegi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isim = "Java";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int[] sayilar = {10, 20, 30};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System.out.println(isim);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System.out.println(sayilar[0]);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0" name="TextBox 1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" name="Rectangle 79"/>
          <p:cNvSpPr/>
          <p:nvPr/>
        </p:nvSpPr>
        <p:spPr>
          <a:xfrm>
            <a:off x="0" y="0"/>
            <a:ext cx="12184920" cy="68540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2" name="Rectangle 81"/>
          <p:cNvSpPr/>
          <p:nvPr/>
        </p:nvSpPr>
        <p:spPr>
          <a:xfrm>
            <a:off x="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3" name="Rectangle 82"/>
          <p:cNvSpPr/>
          <p:nvPr/>
        </p:nvSpPr>
        <p:spPr>
          <a:xfrm>
            <a:off x="914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4" name="Rectangle 83"/>
          <p:cNvSpPr/>
          <p:nvPr/>
        </p:nvSpPr>
        <p:spPr>
          <a:xfrm>
            <a:off x="1828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5" name="Rectangle 84"/>
          <p:cNvSpPr/>
          <p:nvPr/>
        </p:nvSpPr>
        <p:spPr>
          <a:xfrm>
            <a:off x="2743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6" name="Rectangle 85"/>
          <p:cNvSpPr/>
          <p:nvPr/>
        </p:nvSpPr>
        <p:spPr>
          <a:xfrm>
            <a:off x="36576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7" name="Rectangle 86"/>
          <p:cNvSpPr/>
          <p:nvPr/>
        </p:nvSpPr>
        <p:spPr>
          <a:xfrm>
            <a:off x="45720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8" name="Rectangle 87"/>
          <p:cNvSpPr/>
          <p:nvPr/>
        </p:nvSpPr>
        <p:spPr>
          <a:xfrm>
            <a:off x="5486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9" name="Rectangle 88"/>
          <p:cNvSpPr/>
          <p:nvPr/>
        </p:nvSpPr>
        <p:spPr>
          <a:xfrm>
            <a:off x="6400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0" name="Rectangle 89"/>
          <p:cNvSpPr/>
          <p:nvPr/>
        </p:nvSpPr>
        <p:spPr>
          <a:xfrm>
            <a:off x="7315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1" name="Rectangle 90"/>
          <p:cNvSpPr/>
          <p:nvPr/>
        </p:nvSpPr>
        <p:spPr>
          <a:xfrm>
            <a:off x="82296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2" name="Rectangle 91"/>
          <p:cNvSpPr/>
          <p:nvPr/>
        </p:nvSpPr>
        <p:spPr>
          <a:xfrm>
            <a:off x="91440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3" name="Rectangle 92"/>
          <p:cNvSpPr/>
          <p:nvPr/>
        </p:nvSpPr>
        <p:spPr>
          <a:xfrm>
            <a:off x="10058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4" name="Rectangle 93"/>
          <p:cNvSpPr/>
          <p:nvPr/>
        </p:nvSpPr>
        <p:spPr>
          <a:xfrm>
            <a:off x="10972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5" name="Rectangle 94"/>
          <p:cNvSpPr/>
          <p:nvPr/>
        </p:nvSpPr>
        <p:spPr>
          <a:xfrm>
            <a:off x="11887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6" name="Rectangle 95"/>
          <p:cNvSpPr/>
          <p:nvPr/>
        </p:nvSpPr>
        <p:spPr>
          <a:xfrm>
            <a:off x="0" y="0"/>
            <a:ext cx="316080" cy="68540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7" name="Rounded Rectangle 36"/>
          <p:cNvSpPr/>
          <p:nvPr/>
        </p:nvSpPr>
        <p:spPr>
          <a:xfrm>
            <a:off x="9875520" y="365760"/>
            <a:ext cx="2007720" cy="4989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8" name="TextBox 16"/>
          <p:cNvSpPr/>
          <p:nvPr/>
        </p:nvSpPr>
        <p:spPr>
          <a:xfrm>
            <a:off x="1422000" y="1005840"/>
            <a:ext cx="81259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İLKESEL (PRIMITIVE) VE REFERANS TİPLERİ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9" name="TextBox 17"/>
          <p:cNvSpPr/>
          <p:nvPr/>
        </p:nvSpPr>
        <p:spPr>
          <a:xfrm>
            <a:off x="1388160" y="2057400"/>
            <a:ext cx="878112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 veri tipleri iki ana kategoriye ayrılır: ilkel (primitive) tipler ve referans tipleri.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İlkel tipler gerçek değerleri saklarken, referans tipleri nesnelerin bellek adreslerini saklar.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0" name="Rounded Rectangle 37"/>
          <p:cNvSpPr/>
          <p:nvPr/>
        </p:nvSpPr>
        <p:spPr>
          <a:xfrm>
            <a:off x="98748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1" name="Rounded Rectangle 38"/>
          <p:cNvSpPr/>
          <p:nvPr/>
        </p:nvSpPr>
        <p:spPr>
          <a:xfrm>
            <a:off x="457200" y="2971800"/>
            <a:ext cx="3745080" cy="3426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İlkel Tipler (Primitive Types)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İlkel veri tipleri gerçek değeri doğrudan bellekte saklar.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Örnekler: int, double, char, boolean.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Tipleri (Reference Types)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tipleri nesnenin kendisini değil, bellekteki adresini saklar.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Örnekler: String, diziler (arrays) ve sınıf nesneleri.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Bellek Saklama (Memory Storage)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İlkel değerler doğrudan bellekte tutulur, referans tipleri ise bellekteki nesnelere işaret eder.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Kullanım Farkı (Usage Difference)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İlkel tipler basit değerler için kullanılırken, referans tipleri daha karmaşık veri yapıları ve nesneler için kullanılır.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2" name="Rounded Rectangle 39"/>
          <p:cNvSpPr/>
          <p:nvPr/>
        </p:nvSpPr>
        <p:spPr>
          <a:xfrm>
            <a:off x="450792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3" name="Rounded Rectangle 40"/>
          <p:cNvSpPr/>
          <p:nvPr/>
        </p:nvSpPr>
        <p:spPr>
          <a:xfrm>
            <a:off x="4343400" y="2971800"/>
            <a:ext cx="3426120" cy="3288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Veri Tipleri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İlkel Tipler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    ├─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int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    ├─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double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    ├─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char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    └─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boolean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└──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Tipleri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├─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String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├─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Diziler (Arrays)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└─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Nesneler (Objects)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4" name="Rounded Rectangle 41"/>
          <p:cNvSpPr/>
          <p:nvPr/>
        </p:nvSpPr>
        <p:spPr>
          <a:xfrm>
            <a:off x="802836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5" name="Rounded Rectangle 42"/>
          <p:cNvSpPr/>
          <p:nvPr/>
        </p:nvSpPr>
        <p:spPr>
          <a:xfrm>
            <a:off x="7955280" y="3108960"/>
            <a:ext cx="3700440" cy="3060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PrimitiveVsReference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int sayi = 10;           // ilkel tip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fiyat = 19.99;    // ilkel tip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metin = "Java";   // referans tip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int[] sayilar = {1, 2, 3}; // referans tip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System.out.println(sayi);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System.out.println(fiyat);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System.out.println(metin);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System.out.println(sayilar[0]);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6" name="TextBox 18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7" name="Rectangle 96"/>
          <p:cNvSpPr/>
          <p:nvPr/>
        </p:nvSpPr>
        <p:spPr>
          <a:xfrm>
            <a:off x="0" y="0"/>
            <a:ext cx="12184920" cy="68540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8" name="Rectangle 97"/>
          <p:cNvSpPr/>
          <p:nvPr/>
        </p:nvSpPr>
        <p:spPr>
          <a:xfrm>
            <a:off x="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9" name="Rectangle 98"/>
          <p:cNvSpPr/>
          <p:nvPr/>
        </p:nvSpPr>
        <p:spPr>
          <a:xfrm>
            <a:off x="914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0" name="Rectangle 99"/>
          <p:cNvSpPr/>
          <p:nvPr/>
        </p:nvSpPr>
        <p:spPr>
          <a:xfrm>
            <a:off x="1828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1" name="Rectangle 100"/>
          <p:cNvSpPr/>
          <p:nvPr/>
        </p:nvSpPr>
        <p:spPr>
          <a:xfrm>
            <a:off x="2743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2" name="Rectangle 101"/>
          <p:cNvSpPr/>
          <p:nvPr/>
        </p:nvSpPr>
        <p:spPr>
          <a:xfrm>
            <a:off x="36576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3" name="Rectangle 102"/>
          <p:cNvSpPr/>
          <p:nvPr/>
        </p:nvSpPr>
        <p:spPr>
          <a:xfrm>
            <a:off x="45720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4" name="Rectangle 103"/>
          <p:cNvSpPr/>
          <p:nvPr/>
        </p:nvSpPr>
        <p:spPr>
          <a:xfrm>
            <a:off x="5486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5" name="Rectangle 104"/>
          <p:cNvSpPr/>
          <p:nvPr/>
        </p:nvSpPr>
        <p:spPr>
          <a:xfrm>
            <a:off x="6400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6" name="Rectangle 105"/>
          <p:cNvSpPr/>
          <p:nvPr/>
        </p:nvSpPr>
        <p:spPr>
          <a:xfrm>
            <a:off x="7315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7" name="Rectangle 106"/>
          <p:cNvSpPr/>
          <p:nvPr/>
        </p:nvSpPr>
        <p:spPr>
          <a:xfrm>
            <a:off x="82296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8" name="Rectangle 107"/>
          <p:cNvSpPr/>
          <p:nvPr/>
        </p:nvSpPr>
        <p:spPr>
          <a:xfrm>
            <a:off x="91440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9" name="Rectangle 108"/>
          <p:cNvSpPr/>
          <p:nvPr/>
        </p:nvSpPr>
        <p:spPr>
          <a:xfrm>
            <a:off x="10058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0" name="Rectangle 109"/>
          <p:cNvSpPr/>
          <p:nvPr/>
        </p:nvSpPr>
        <p:spPr>
          <a:xfrm>
            <a:off x="10972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1" name="Rectangle 110"/>
          <p:cNvSpPr/>
          <p:nvPr/>
        </p:nvSpPr>
        <p:spPr>
          <a:xfrm>
            <a:off x="11887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2" name="Rectangle 111"/>
          <p:cNvSpPr/>
          <p:nvPr/>
        </p:nvSpPr>
        <p:spPr>
          <a:xfrm>
            <a:off x="0" y="0"/>
            <a:ext cx="316080" cy="68540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3" name="Rounded Rectangle 43"/>
          <p:cNvSpPr/>
          <p:nvPr/>
        </p:nvSpPr>
        <p:spPr>
          <a:xfrm>
            <a:off x="9875520" y="365760"/>
            <a:ext cx="2007720" cy="4989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4" name="TextBox 19"/>
          <p:cNvSpPr/>
          <p:nvPr/>
        </p:nvSpPr>
        <p:spPr>
          <a:xfrm>
            <a:off x="1252800" y="1005840"/>
            <a:ext cx="846396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DEĞİŞKEN İSİMLENDİRME KURALLARI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5" name="TextBox 20"/>
          <p:cNvSpPr/>
          <p:nvPr/>
        </p:nvSpPr>
        <p:spPr>
          <a:xfrm>
            <a:off x="1866960" y="1828800"/>
            <a:ext cx="723564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Değişken isimlendirme kuralları, Java’da değişkenlerin doğru, anlaşılır ve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okunabilir şekilde yazılmasını sağlayan kurallardır.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6" name="Rounded Rectangle 44"/>
          <p:cNvSpPr/>
          <p:nvPr/>
        </p:nvSpPr>
        <p:spPr>
          <a:xfrm>
            <a:off x="98748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7" name="Rounded Rectangle 45"/>
          <p:cNvSpPr/>
          <p:nvPr/>
        </p:nvSpPr>
        <p:spPr>
          <a:xfrm>
            <a:off x="475560" y="2514600"/>
            <a:ext cx="3726720" cy="3883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Harf, _ veya $ ile Başlamalı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Bir değişken adı bir harf, alt çizgi (_) veya dolar işareti ($) ile başlamalıdır.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Boşluk Kullanılamaz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 isimleri boşluk içeremez.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Büyük/Küçük Harf Duyarlılığı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Java'da değişken isimleri büyük-küçük harfe duyarlıdır.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Örneğin age ve Age farklı değişkenlerdir.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Anahtar Kelimeler Kullanılamaz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Java'nın rezerv anahtar kelimeleri (örneğin int, class, public) değişken adı olarak kullanılamaz.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Anlamlı İsimler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 isimleri anlamlı ve açıklayıcı olmalıdır.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Bu, kodun okunabilirliğini artırır.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8" name="Rounded Rectangle 46"/>
          <p:cNvSpPr/>
          <p:nvPr/>
        </p:nvSpPr>
        <p:spPr>
          <a:xfrm>
            <a:off x="450792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9" name="Rounded Rectangle 47"/>
          <p:cNvSpPr/>
          <p:nvPr/>
        </p:nvSpPr>
        <p:spPr>
          <a:xfrm>
            <a:off x="4434840" y="310896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 İsim Kuralları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Harf / _ / $ ile başlar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Boşluk içermez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Büyük-küçük harf duyarlıdır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Anahtar kelime olamaz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└──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Anlamlı isimler kullanılmalıdır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0" name="Rounded Rectangle 48"/>
          <p:cNvSpPr/>
          <p:nvPr/>
        </p:nvSpPr>
        <p:spPr>
          <a:xfrm>
            <a:off x="802836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1" name="Rounded Rectangle 49"/>
          <p:cNvSpPr/>
          <p:nvPr/>
        </p:nvSpPr>
        <p:spPr>
          <a:xfrm>
            <a:off x="7955280" y="2304000"/>
            <a:ext cx="3929400" cy="3617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DegiskenIsimlendirme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yas = 25;                 // geçerli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ogrenciSayisi = 30;       // geçerli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// int 2yas = 20;             // geçersiz (sayı ile başlayamaz)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// int ogrenci sayisi = 5;    // geçersiz (boşluk kullanılamaz)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// int class = 10;            // geçersiz (anahtar kelime)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System.out.println(yas);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System.out.println(ogrenciSayisi);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2" name="TextBox 21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3" name="Rectangle 112"/>
          <p:cNvSpPr/>
          <p:nvPr/>
        </p:nvSpPr>
        <p:spPr>
          <a:xfrm>
            <a:off x="0" y="0"/>
            <a:ext cx="12184920" cy="68540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4" name="Rectangle 113"/>
          <p:cNvSpPr/>
          <p:nvPr/>
        </p:nvSpPr>
        <p:spPr>
          <a:xfrm>
            <a:off x="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5" name="Rectangle 114"/>
          <p:cNvSpPr/>
          <p:nvPr/>
        </p:nvSpPr>
        <p:spPr>
          <a:xfrm>
            <a:off x="914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6" name="Rectangle 115"/>
          <p:cNvSpPr/>
          <p:nvPr/>
        </p:nvSpPr>
        <p:spPr>
          <a:xfrm>
            <a:off x="1828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7" name="Rectangle 116"/>
          <p:cNvSpPr/>
          <p:nvPr/>
        </p:nvSpPr>
        <p:spPr>
          <a:xfrm>
            <a:off x="2743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8" name="Rectangle 117"/>
          <p:cNvSpPr/>
          <p:nvPr/>
        </p:nvSpPr>
        <p:spPr>
          <a:xfrm>
            <a:off x="36576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9" name="Rectangle 118"/>
          <p:cNvSpPr/>
          <p:nvPr/>
        </p:nvSpPr>
        <p:spPr>
          <a:xfrm>
            <a:off x="45720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0" name="Rectangle 119"/>
          <p:cNvSpPr/>
          <p:nvPr/>
        </p:nvSpPr>
        <p:spPr>
          <a:xfrm>
            <a:off x="5486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1" name="Rectangle 120"/>
          <p:cNvSpPr/>
          <p:nvPr/>
        </p:nvSpPr>
        <p:spPr>
          <a:xfrm>
            <a:off x="6400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2" name="Rectangle 121"/>
          <p:cNvSpPr/>
          <p:nvPr/>
        </p:nvSpPr>
        <p:spPr>
          <a:xfrm>
            <a:off x="7315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3" name="Rectangle 122"/>
          <p:cNvSpPr/>
          <p:nvPr/>
        </p:nvSpPr>
        <p:spPr>
          <a:xfrm>
            <a:off x="82296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4" name="Rectangle 123"/>
          <p:cNvSpPr/>
          <p:nvPr/>
        </p:nvSpPr>
        <p:spPr>
          <a:xfrm>
            <a:off x="91440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5" name="Rectangle 124"/>
          <p:cNvSpPr/>
          <p:nvPr/>
        </p:nvSpPr>
        <p:spPr>
          <a:xfrm>
            <a:off x="10058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6" name="Rectangle 125"/>
          <p:cNvSpPr/>
          <p:nvPr/>
        </p:nvSpPr>
        <p:spPr>
          <a:xfrm>
            <a:off x="10972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7" name="Rectangle 126"/>
          <p:cNvSpPr/>
          <p:nvPr/>
        </p:nvSpPr>
        <p:spPr>
          <a:xfrm>
            <a:off x="11887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8" name="Rectangle 127"/>
          <p:cNvSpPr/>
          <p:nvPr/>
        </p:nvSpPr>
        <p:spPr>
          <a:xfrm>
            <a:off x="0" y="0"/>
            <a:ext cx="316080" cy="68540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9" name="Rounded Rectangle 50"/>
          <p:cNvSpPr/>
          <p:nvPr/>
        </p:nvSpPr>
        <p:spPr>
          <a:xfrm>
            <a:off x="9875520" y="365760"/>
            <a:ext cx="2007720" cy="4989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0" name="TextBox 22"/>
          <p:cNvSpPr/>
          <p:nvPr/>
        </p:nvSpPr>
        <p:spPr>
          <a:xfrm>
            <a:off x="2667240" y="1005840"/>
            <a:ext cx="56354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DEĞİŞKEN BAŞLATMA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1" name="TextBox 23"/>
          <p:cNvSpPr/>
          <p:nvPr/>
        </p:nvSpPr>
        <p:spPr>
          <a:xfrm>
            <a:off x="2033640" y="2074680"/>
            <a:ext cx="691884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Değişken başlatma, bir değişken tanımlandığında veya kullanılmadan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önce ona bir değer atanması işlemidir.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2" name="Rounded Rectangle 51"/>
          <p:cNvSpPr/>
          <p:nvPr/>
        </p:nvSpPr>
        <p:spPr>
          <a:xfrm>
            <a:off x="98748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3" name="Rounded Rectangle 52"/>
          <p:cNvSpPr/>
          <p:nvPr/>
        </p:nvSpPr>
        <p:spPr>
          <a:xfrm>
            <a:off x="685800" y="2971800"/>
            <a:ext cx="3516480" cy="3426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Tanımlama (Declaration)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Bir değişken önce veri tipi ve adı ile tanımlanmalıdır.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Başlatma (Initialization)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Başlatma, değişkene ilk değerin atanması anlamına gelir.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Varsayılan Değerler (Default Values)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Bazı değişkenler, veri tiplerine bağlı olarak otomatik olarak varsayılan değerler alabilir.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Kullanımdan Önce (Before Usage)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Yerel değişkenler, program içinde kullanılmadan önce başlatılmış olmalıdır.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4" name="Rounded Rectangle 53"/>
          <p:cNvSpPr/>
          <p:nvPr/>
        </p:nvSpPr>
        <p:spPr>
          <a:xfrm>
            <a:off x="450792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5" name="Rounded Rectangle 54"/>
          <p:cNvSpPr/>
          <p:nvPr/>
        </p:nvSpPr>
        <p:spPr>
          <a:xfrm>
            <a:off x="4434840" y="310896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 Başlatma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 Tanımla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      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int yas;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Değer Ata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      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yas = 20;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└──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Değişkeni Kullan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System.out.println(yas);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6" name="Rounded Rectangle 55"/>
          <p:cNvSpPr/>
          <p:nvPr/>
        </p:nvSpPr>
        <p:spPr>
          <a:xfrm>
            <a:off x="802836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7" name="Rounded Rectangle 56"/>
          <p:cNvSpPr/>
          <p:nvPr/>
        </p:nvSpPr>
        <p:spPr>
          <a:xfrm>
            <a:off x="7955280" y="2971800"/>
            <a:ext cx="3471840" cy="2968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DegiskenBaslatma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yas;        // tanımlama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yas = 20;       // başlatma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fiyat = 19.99;   // tanımlama + başlatma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System.out.println(yas);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System.out.println(fiyat);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8" name="TextBox 24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9" name="Rectangle 128"/>
          <p:cNvSpPr/>
          <p:nvPr/>
        </p:nvSpPr>
        <p:spPr>
          <a:xfrm>
            <a:off x="0" y="0"/>
            <a:ext cx="12186000" cy="68551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0" name="Rectangle 129"/>
          <p:cNvSpPr/>
          <p:nvPr/>
        </p:nvSpPr>
        <p:spPr>
          <a:xfrm>
            <a:off x="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1" name="Rectangle 130"/>
          <p:cNvSpPr/>
          <p:nvPr/>
        </p:nvSpPr>
        <p:spPr>
          <a:xfrm>
            <a:off x="914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2" name="Rectangle 131"/>
          <p:cNvSpPr/>
          <p:nvPr/>
        </p:nvSpPr>
        <p:spPr>
          <a:xfrm>
            <a:off x="1828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3" name="Rectangle 132"/>
          <p:cNvSpPr/>
          <p:nvPr/>
        </p:nvSpPr>
        <p:spPr>
          <a:xfrm>
            <a:off x="2743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4" name="Rectangle 133"/>
          <p:cNvSpPr/>
          <p:nvPr/>
        </p:nvSpPr>
        <p:spPr>
          <a:xfrm>
            <a:off x="36576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5" name="Rectangle 134"/>
          <p:cNvSpPr/>
          <p:nvPr/>
        </p:nvSpPr>
        <p:spPr>
          <a:xfrm>
            <a:off x="45720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6" name="Rectangle 135"/>
          <p:cNvSpPr/>
          <p:nvPr/>
        </p:nvSpPr>
        <p:spPr>
          <a:xfrm>
            <a:off x="5486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7" name="Rectangle 136"/>
          <p:cNvSpPr/>
          <p:nvPr/>
        </p:nvSpPr>
        <p:spPr>
          <a:xfrm>
            <a:off x="6400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8" name="Rectangle 137"/>
          <p:cNvSpPr/>
          <p:nvPr/>
        </p:nvSpPr>
        <p:spPr>
          <a:xfrm>
            <a:off x="7315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9" name="Rectangle 138"/>
          <p:cNvSpPr/>
          <p:nvPr/>
        </p:nvSpPr>
        <p:spPr>
          <a:xfrm>
            <a:off x="82296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0" name="Rectangle 139"/>
          <p:cNvSpPr/>
          <p:nvPr/>
        </p:nvSpPr>
        <p:spPr>
          <a:xfrm>
            <a:off x="91440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1" name="Rectangle 140"/>
          <p:cNvSpPr/>
          <p:nvPr/>
        </p:nvSpPr>
        <p:spPr>
          <a:xfrm>
            <a:off x="10058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2" name="Rectangle 141"/>
          <p:cNvSpPr/>
          <p:nvPr/>
        </p:nvSpPr>
        <p:spPr>
          <a:xfrm>
            <a:off x="10972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3" name="Rectangle 142"/>
          <p:cNvSpPr/>
          <p:nvPr/>
        </p:nvSpPr>
        <p:spPr>
          <a:xfrm>
            <a:off x="11887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4" name="Rectangle 143"/>
          <p:cNvSpPr/>
          <p:nvPr/>
        </p:nvSpPr>
        <p:spPr>
          <a:xfrm>
            <a:off x="0" y="0"/>
            <a:ext cx="317160" cy="68551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5" name="Rounded Rectangle 57"/>
          <p:cNvSpPr/>
          <p:nvPr/>
        </p:nvSpPr>
        <p:spPr>
          <a:xfrm>
            <a:off x="9875520" y="365760"/>
            <a:ext cx="2008800" cy="5000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6" name="TextBox 25"/>
          <p:cNvSpPr/>
          <p:nvPr/>
        </p:nvSpPr>
        <p:spPr>
          <a:xfrm>
            <a:off x="2837520" y="1005840"/>
            <a:ext cx="52988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WRAPPER SINIFLARI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7" name="TextBox 26"/>
          <p:cNvSpPr/>
          <p:nvPr/>
        </p:nvSpPr>
        <p:spPr>
          <a:xfrm>
            <a:off x="3007440" y="2194560"/>
            <a:ext cx="495576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Wrapper sınıfları, Java’da primitive veri tiplerinin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nesne (object) olarak kullanılmasını sağlar.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8" name="Rounded Rectangle 58"/>
          <p:cNvSpPr/>
          <p:nvPr/>
        </p:nvSpPr>
        <p:spPr>
          <a:xfrm>
            <a:off x="98748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9" name="Rounded Rectangle 59"/>
          <p:cNvSpPr/>
          <p:nvPr/>
        </p:nvSpPr>
        <p:spPr>
          <a:xfrm>
            <a:off x="685800" y="3108960"/>
            <a:ext cx="3517560" cy="3290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Wrapper sınıfları primitive değerleri nesnelere dönüştürür.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Genellikle koleksiyonlarda ve nesne tabanlı işlemlerde kullanılır.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→ Wrapper örnekleri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int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→ Integer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double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→ Double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char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→ Character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boolean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→ Boolean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Wrapper sınıfları dönüşüm ve veri işleme için kullanışlı metodlar sağlar.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0" name="Rounded Rectangle 60"/>
          <p:cNvSpPr/>
          <p:nvPr/>
        </p:nvSpPr>
        <p:spPr>
          <a:xfrm>
            <a:off x="450792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1" name="Rounded Rectangle 61"/>
          <p:cNvSpPr/>
          <p:nvPr/>
        </p:nvSpPr>
        <p:spPr>
          <a:xfrm>
            <a:off x="4434840" y="310896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 Değer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Wrapper Sınıfına Dönüştürme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Nesne Temsili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Koleksiyonlarda / Metotlarda Kullanım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Örnekler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int → Integer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double → Double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boolean → Boolean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2" name="Rounded Rectangle 62"/>
          <p:cNvSpPr/>
          <p:nvPr/>
        </p:nvSpPr>
        <p:spPr>
          <a:xfrm>
            <a:off x="802836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3" name="Rounded Rectangle 63"/>
          <p:cNvSpPr/>
          <p:nvPr/>
        </p:nvSpPr>
        <p:spPr>
          <a:xfrm>
            <a:off x="7955280" y="2743200"/>
            <a:ext cx="3472920" cy="3655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WrapperOrnek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number = 10;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Integer wrapperNumber = number;   // otomatik kutulama (autoboxing)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price = 19.99;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wrapperPrice = price;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System.out.println(wrapperNumber);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System.out.println(wrapperPrice);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4" name="TextBox 27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5" name="Rectangle 176"/>
          <p:cNvSpPr/>
          <p:nvPr/>
        </p:nvSpPr>
        <p:spPr>
          <a:xfrm>
            <a:off x="0" y="0"/>
            <a:ext cx="12187080" cy="68562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6" name="Rectangle 177"/>
          <p:cNvSpPr/>
          <p:nvPr/>
        </p:nvSpPr>
        <p:spPr>
          <a:xfrm>
            <a:off x="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7" name="Rectangle 178"/>
          <p:cNvSpPr/>
          <p:nvPr/>
        </p:nvSpPr>
        <p:spPr>
          <a:xfrm>
            <a:off x="914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8" name="Rectangle 179"/>
          <p:cNvSpPr/>
          <p:nvPr/>
        </p:nvSpPr>
        <p:spPr>
          <a:xfrm>
            <a:off x="1828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9" name="Rectangle 180"/>
          <p:cNvSpPr/>
          <p:nvPr/>
        </p:nvSpPr>
        <p:spPr>
          <a:xfrm>
            <a:off x="2743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0" name="Rectangle 181"/>
          <p:cNvSpPr/>
          <p:nvPr/>
        </p:nvSpPr>
        <p:spPr>
          <a:xfrm>
            <a:off x="36576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1" name="Rectangle 182"/>
          <p:cNvSpPr/>
          <p:nvPr/>
        </p:nvSpPr>
        <p:spPr>
          <a:xfrm>
            <a:off x="45720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2" name="Rectangle 183"/>
          <p:cNvSpPr/>
          <p:nvPr/>
        </p:nvSpPr>
        <p:spPr>
          <a:xfrm>
            <a:off x="5486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3" name="Rectangle 184"/>
          <p:cNvSpPr/>
          <p:nvPr/>
        </p:nvSpPr>
        <p:spPr>
          <a:xfrm>
            <a:off x="6400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4" name="Rectangle 185"/>
          <p:cNvSpPr/>
          <p:nvPr/>
        </p:nvSpPr>
        <p:spPr>
          <a:xfrm>
            <a:off x="7315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5" name="Rectangle 186"/>
          <p:cNvSpPr/>
          <p:nvPr/>
        </p:nvSpPr>
        <p:spPr>
          <a:xfrm>
            <a:off x="82296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6" name="Rectangle 187"/>
          <p:cNvSpPr/>
          <p:nvPr/>
        </p:nvSpPr>
        <p:spPr>
          <a:xfrm>
            <a:off x="91440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7" name="Rectangle 188"/>
          <p:cNvSpPr/>
          <p:nvPr/>
        </p:nvSpPr>
        <p:spPr>
          <a:xfrm>
            <a:off x="10058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8" name="Rectangle 189"/>
          <p:cNvSpPr/>
          <p:nvPr/>
        </p:nvSpPr>
        <p:spPr>
          <a:xfrm>
            <a:off x="10972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9" name="Rectangle 190"/>
          <p:cNvSpPr/>
          <p:nvPr/>
        </p:nvSpPr>
        <p:spPr>
          <a:xfrm>
            <a:off x="11887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0" name="Rectangle 191"/>
          <p:cNvSpPr/>
          <p:nvPr/>
        </p:nvSpPr>
        <p:spPr>
          <a:xfrm>
            <a:off x="0" y="0"/>
            <a:ext cx="318240" cy="68562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1" name="Rounded Rectangle 78"/>
          <p:cNvSpPr/>
          <p:nvPr/>
        </p:nvSpPr>
        <p:spPr>
          <a:xfrm>
            <a:off x="9875520" y="365760"/>
            <a:ext cx="2009880" cy="5011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2" name="TextBox 34"/>
          <p:cNvSpPr/>
          <p:nvPr/>
        </p:nvSpPr>
        <p:spPr>
          <a:xfrm>
            <a:off x="1285920" y="1005840"/>
            <a:ext cx="8399160" cy="69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000" spc="-1" strike="noStrike">
                <a:solidFill>
                  <a:srgbClr val="f5f5f5"/>
                </a:solidFill>
                <a:latin typeface="Calibri"/>
                <a:ea typeface="DejaVu Sans"/>
              </a:rPr>
              <a:t>JAVA TÜR DÖNÜŞÜMÜ (TYPE CASTING)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3" name="TextBox 35"/>
          <p:cNvSpPr/>
          <p:nvPr/>
        </p:nvSpPr>
        <p:spPr>
          <a:xfrm>
            <a:off x="1716840" y="2057400"/>
            <a:ext cx="760932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Java’da type casting, bir veri tipini başka bir veri tipine dönüştürme işlemidir.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İki türü vardır: örtük (otomatik) ve açık (manuel) dönüşüm.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4" name="Rounded Rectangle 79"/>
          <p:cNvSpPr/>
          <p:nvPr/>
        </p:nvSpPr>
        <p:spPr>
          <a:xfrm>
            <a:off x="98748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5" name="Rounded Rectangle 80"/>
          <p:cNvSpPr/>
          <p:nvPr/>
        </p:nvSpPr>
        <p:spPr>
          <a:xfrm>
            <a:off x="685800" y="2971800"/>
            <a:ext cx="3518640" cy="3656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Örtük Dönüşüm (Implicit Casting – Widening)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tarafından otomatik olarak yapılır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Daha küçük veri tiplerini daha büyük veri tiplerine dönüştürür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Örnek: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int → long → float → double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Açık Dönüşüm (Explicit Casting – Narrowing)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Programcı tarafından manuel olarak yapılır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Daha büyük veri tiplerini daha küçük veri tiplerine dönüştürür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Örnek: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double → float → int → byte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6" name="Rounded Rectangle 81"/>
          <p:cNvSpPr/>
          <p:nvPr/>
        </p:nvSpPr>
        <p:spPr>
          <a:xfrm>
            <a:off x="450792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7" name="Rounded Rectangle 82"/>
          <p:cNvSpPr/>
          <p:nvPr/>
        </p:nvSpPr>
        <p:spPr>
          <a:xfrm>
            <a:off x="4434840" y="310896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Tür Dönüşümü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├─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Örtük Dönüşüm (Otomatik)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  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byte → short → int → long → float → double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└─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Açık Dönüşüm (Manuel)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double → float → long → int → short → byte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8" name="Rounded Rectangle 83"/>
          <p:cNvSpPr/>
          <p:nvPr/>
        </p:nvSpPr>
        <p:spPr>
          <a:xfrm>
            <a:off x="802836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9" name="Rounded Rectangle 84"/>
          <p:cNvSpPr/>
          <p:nvPr/>
        </p:nvSpPr>
        <p:spPr>
          <a:xfrm>
            <a:off x="7955280" y="2971800"/>
            <a:ext cx="3702600" cy="3199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TurDonusumuOrnek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// Örtük Tür Dönüşümü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sayi = 25;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sonuc = sayi;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System.out.println(sonuc);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// Açık Tür Dönüşümü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fiyat = 49.99;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yeniFiyat = (int) fiyat;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System.out.println(yeniFiyat);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0" name="TextBox 3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Rectangle 192"/>
          <p:cNvSpPr/>
          <p:nvPr/>
        </p:nvSpPr>
        <p:spPr>
          <a:xfrm>
            <a:off x="0" y="0"/>
            <a:ext cx="12187800" cy="68569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2" name="Rectangle 193"/>
          <p:cNvSpPr/>
          <p:nvPr/>
        </p:nvSpPr>
        <p:spPr>
          <a:xfrm>
            <a:off x="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3" name="Rectangle 194"/>
          <p:cNvSpPr/>
          <p:nvPr/>
        </p:nvSpPr>
        <p:spPr>
          <a:xfrm>
            <a:off x="9144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4" name="Rectangle 195"/>
          <p:cNvSpPr/>
          <p:nvPr/>
        </p:nvSpPr>
        <p:spPr>
          <a:xfrm>
            <a:off x="18288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5" name="Rectangle 196"/>
          <p:cNvSpPr/>
          <p:nvPr/>
        </p:nvSpPr>
        <p:spPr>
          <a:xfrm>
            <a:off x="27432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6" name="Rectangle 197"/>
          <p:cNvSpPr/>
          <p:nvPr/>
        </p:nvSpPr>
        <p:spPr>
          <a:xfrm>
            <a:off x="36576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7" name="Rectangle 198"/>
          <p:cNvSpPr/>
          <p:nvPr/>
        </p:nvSpPr>
        <p:spPr>
          <a:xfrm>
            <a:off x="45720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8" name="Rectangle 199"/>
          <p:cNvSpPr/>
          <p:nvPr/>
        </p:nvSpPr>
        <p:spPr>
          <a:xfrm>
            <a:off x="54864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9" name="Rectangle 200"/>
          <p:cNvSpPr/>
          <p:nvPr/>
        </p:nvSpPr>
        <p:spPr>
          <a:xfrm>
            <a:off x="64008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0" name="Rectangle 201"/>
          <p:cNvSpPr/>
          <p:nvPr/>
        </p:nvSpPr>
        <p:spPr>
          <a:xfrm>
            <a:off x="73152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1" name="Rectangle 202"/>
          <p:cNvSpPr/>
          <p:nvPr/>
        </p:nvSpPr>
        <p:spPr>
          <a:xfrm>
            <a:off x="82296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2" name="Rectangle 203"/>
          <p:cNvSpPr/>
          <p:nvPr/>
        </p:nvSpPr>
        <p:spPr>
          <a:xfrm>
            <a:off x="91440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3" name="Rectangle 204"/>
          <p:cNvSpPr/>
          <p:nvPr/>
        </p:nvSpPr>
        <p:spPr>
          <a:xfrm>
            <a:off x="100584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4" name="Rectangle 205"/>
          <p:cNvSpPr/>
          <p:nvPr/>
        </p:nvSpPr>
        <p:spPr>
          <a:xfrm>
            <a:off x="109728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5" name="Rectangle 206"/>
          <p:cNvSpPr/>
          <p:nvPr/>
        </p:nvSpPr>
        <p:spPr>
          <a:xfrm>
            <a:off x="118872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6" name="Rectangle 207"/>
          <p:cNvSpPr/>
          <p:nvPr/>
        </p:nvSpPr>
        <p:spPr>
          <a:xfrm>
            <a:off x="0" y="0"/>
            <a:ext cx="318960" cy="68569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7" name="Rounded Rectangle 85"/>
          <p:cNvSpPr/>
          <p:nvPr/>
        </p:nvSpPr>
        <p:spPr>
          <a:xfrm>
            <a:off x="9875520" y="365760"/>
            <a:ext cx="2010600" cy="5018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8" name="TextBox 37"/>
          <p:cNvSpPr/>
          <p:nvPr/>
        </p:nvSpPr>
        <p:spPr>
          <a:xfrm>
            <a:off x="1504080" y="900360"/>
            <a:ext cx="7962480" cy="69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000" spc="-1" strike="noStrike">
                <a:solidFill>
                  <a:srgbClr val="f5f5f5"/>
                </a:solidFill>
                <a:latin typeface="Calibri"/>
                <a:ea typeface="DejaVu Sans"/>
              </a:rPr>
              <a:t>Implicit Casting (Otomatik Dönüşüm)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9" name="TextBox 38"/>
          <p:cNvSpPr/>
          <p:nvPr/>
        </p:nvSpPr>
        <p:spPr>
          <a:xfrm>
            <a:off x="2681280" y="1600200"/>
            <a:ext cx="5655240" cy="100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Implicit casting, Java’nın daha küçük bir veri tipini otomatik 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olarak daha büyük bir veri tipine dönüştürmesi durumunda gerçekleşir.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Bu dönüşüm güvenlidir çünkü daha büyük veri tipi, daha küçük veri 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tipinin tüm değerlerini veri kaybı olmadan saklayabilir.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0" name="Rounded Rectangle 86"/>
          <p:cNvSpPr/>
          <p:nvPr/>
        </p:nvSpPr>
        <p:spPr>
          <a:xfrm>
            <a:off x="987480" y="318204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1" name="Rounded Rectangle 87"/>
          <p:cNvSpPr/>
          <p:nvPr/>
        </p:nvSpPr>
        <p:spPr>
          <a:xfrm>
            <a:off x="595440" y="2743200"/>
            <a:ext cx="3519360" cy="3657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Implicit Casting, Java’da daha küçük bir veri tipinin daha büyük bir veri tipine otomatik olarak dönüştürülmesidir.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bu dönüşümü veri kaybı riski olmadığında otomatik olarak gerçekleştirir.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Ayrıca Genişletme Dönüşümü (Widening Casting) olarak da adlandırılır.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Temel noktalar: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Derleyici tarafından otomatik yapılır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Küçük veri tiplerini daha büyük veri tiplerine dönüştürür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Manuel dönüşüm gerekmez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Örnek: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int → long → float → double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2" name="Rounded Rectangle 88"/>
          <p:cNvSpPr/>
          <p:nvPr/>
        </p:nvSpPr>
        <p:spPr>
          <a:xfrm>
            <a:off x="4507920" y="318204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3" name="Rounded Rectangle 89"/>
          <p:cNvSpPr/>
          <p:nvPr/>
        </p:nvSpPr>
        <p:spPr>
          <a:xfrm>
            <a:off x="4343400" y="2880360"/>
            <a:ext cx="3657600" cy="3429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Implicit Casting Akışı (Genişletme Dönüşümü)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byte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short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long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float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double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Her adım, önceki veri tipini güvenli şekilde saklayabilen bir veri tipini temsil eder.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4" name="Rounded Rectangle 90"/>
          <p:cNvSpPr/>
          <p:nvPr/>
        </p:nvSpPr>
        <p:spPr>
          <a:xfrm>
            <a:off x="8028360" y="318204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5" name="Rounded Rectangle 91"/>
          <p:cNvSpPr/>
          <p:nvPr/>
        </p:nvSpPr>
        <p:spPr>
          <a:xfrm>
            <a:off x="8229600" y="2972880"/>
            <a:ext cx="3657600" cy="3199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ImplicitCastingExample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sayi = 25;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// int'ten double'a otomatik dönüşüm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sonuc = sayi;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System.out.println("Sayı: " + sayi);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System.out.println("Dönüştürülen değer: " + sonuc);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6" name="TextBox 39"/>
          <p:cNvSpPr/>
          <p:nvPr/>
        </p:nvSpPr>
        <p:spPr>
          <a:xfrm>
            <a:off x="4600080" y="6446520"/>
            <a:ext cx="30517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6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7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8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121</TotalTime>
  <Application>LibreOffice/7.4.2.3$Windows_X86_64 LibreOffice_project/382eef1f22670f7f4118c8c2dd222ec7ad009daf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2026-03-15T17:12:44Z</dcterms:modified>
  <cp:revision>19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